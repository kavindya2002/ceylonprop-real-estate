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36"/>
  </p:notesMasterIdLst>
  <p:handoutMasterIdLst>
    <p:handoutMasterId r:id="rId37"/>
  </p:handoutMasterIdLst>
  <p:sldIdLst>
    <p:sldId id="256" r:id="rId5"/>
    <p:sldId id="416" r:id="rId6"/>
    <p:sldId id="466" r:id="rId7"/>
    <p:sldId id="418" r:id="rId8"/>
    <p:sldId id="420" r:id="rId9"/>
    <p:sldId id="423" r:id="rId10"/>
    <p:sldId id="424" r:id="rId11"/>
    <p:sldId id="421" r:id="rId12"/>
    <p:sldId id="422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51" r:id="rId22"/>
    <p:sldId id="433" r:id="rId23"/>
    <p:sldId id="452" r:id="rId24"/>
    <p:sldId id="453" r:id="rId25"/>
    <p:sldId id="442" r:id="rId26"/>
    <p:sldId id="443" r:id="rId27"/>
    <p:sldId id="445" r:id="rId28"/>
    <p:sldId id="450" r:id="rId29"/>
    <p:sldId id="465" r:id="rId30"/>
    <p:sldId id="444" r:id="rId31"/>
    <p:sldId id="460" r:id="rId32"/>
    <p:sldId id="461" r:id="rId33"/>
    <p:sldId id="462" r:id="rId34"/>
    <p:sldId id="260" r:id="rId3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926" autoAdjust="0"/>
    <p:restoredTop sz="94648" autoAdjust="0"/>
  </p:normalViewPr>
  <p:slideViewPr>
    <p:cSldViewPr snapToGrid="0">
      <p:cViewPr varScale="1">
        <p:scale>
          <a:sx n="47" d="100"/>
          <a:sy n="47" d="100"/>
        </p:scale>
        <p:origin x="6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52984-7118-460F-BE3F-B40B1CE0FCE0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27C0E-6BF5-444D-BA45-C000BCEF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9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F61FC-3CBB-492D-93E2-717AFAB25665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F617C-9D3C-4250-94CF-9FB5E3B74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xmlns="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xmlns="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Time series and trend analysis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Data Science &amp; analytics (it3080)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time series</a:t>
            </a:r>
          </a:p>
          <a:p>
            <a:r>
              <a:rPr lang="en-US" dirty="0" smtClean="0"/>
              <a:t>Components of time series</a:t>
            </a:r>
          </a:p>
          <a:p>
            <a:r>
              <a:rPr lang="en-US" dirty="0" smtClean="0"/>
              <a:t>Forecasting with time series</a:t>
            </a:r>
          </a:p>
          <a:p>
            <a:r>
              <a:rPr lang="en-US" dirty="0" smtClean="0"/>
              <a:t>Decomposition method for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4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the end of this session, students should be able to</a:t>
            </a:r>
          </a:p>
          <a:p>
            <a:pPr lvl="1"/>
            <a:r>
              <a:rPr lang="en-US" dirty="0" smtClean="0"/>
              <a:t>Identify applications of time series</a:t>
            </a:r>
          </a:p>
          <a:p>
            <a:pPr lvl="1"/>
            <a:r>
              <a:rPr lang="en-US" dirty="0" smtClean="0"/>
              <a:t>Explain different components of a time series</a:t>
            </a:r>
          </a:p>
          <a:p>
            <a:pPr lvl="1"/>
            <a:r>
              <a:rPr lang="en-US" dirty="0" smtClean="0"/>
              <a:t>Explain how decomposition method could be used for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664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Many </a:t>
            </a:r>
            <a:r>
              <a:rPr lang="en-US" dirty="0"/>
              <a:t>prediction problems </a:t>
            </a:r>
            <a:r>
              <a:rPr lang="en-US" dirty="0" smtClean="0"/>
              <a:t>are associated with a </a:t>
            </a:r>
            <a:r>
              <a:rPr lang="en-US" dirty="0"/>
              <a:t>time </a:t>
            </a:r>
            <a:r>
              <a:rPr lang="en-US" dirty="0" smtClean="0"/>
              <a:t>component.</a:t>
            </a:r>
          </a:p>
          <a:p>
            <a:r>
              <a:rPr lang="en-US" dirty="0" smtClean="0"/>
              <a:t>Time series refers to a set of data collected at specific intervals over a period of time.</a:t>
            </a:r>
          </a:p>
          <a:p>
            <a:r>
              <a:rPr lang="en-US" altLang="en-US" dirty="0"/>
              <a:t>Time series </a:t>
            </a:r>
            <a:r>
              <a:rPr lang="en-US" altLang="en-US" dirty="0" smtClean="0"/>
              <a:t>analysis examines </a:t>
            </a:r>
            <a:r>
              <a:rPr lang="en-US" altLang="en-US" dirty="0"/>
              <a:t>a series of data over </a:t>
            </a:r>
            <a:r>
              <a:rPr lang="en-US" altLang="en-US" dirty="0" smtClean="0"/>
              <a:t>time.</a:t>
            </a:r>
            <a:endParaRPr lang="en-US" altLang="en-US" dirty="0"/>
          </a:p>
          <a:p>
            <a:r>
              <a:rPr lang="en-US" altLang="en-US" dirty="0"/>
              <a:t>In studying the series, patterns become evident and these patterns are used to assist with future decision </a:t>
            </a:r>
            <a:r>
              <a:rPr lang="en-US" altLang="en-US" dirty="0" smtClean="0"/>
              <a:t>making.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time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Economic Forecasting</a:t>
            </a:r>
          </a:p>
          <a:p>
            <a:r>
              <a:rPr lang="en-US" dirty="0" smtClean="0"/>
              <a:t>Sales Forecasting</a:t>
            </a:r>
          </a:p>
          <a:p>
            <a:r>
              <a:rPr lang="en-US" dirty="0" smtClean="0"/>
              <a:t>Budgetary Analysis</a:t>
            </a:r>
          </a:p>
          <a:p>
            <a:r>
              <a:rPr lang="en-US" dirty="0" smtClean="0"/>
              <a:t>Stock </a:t>
            </a:r>
            <a:r>
              <a:rPr lang="en-US" dirty="0"/>
              <a:t>Market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Census Analysis &amp;</a:t>
            </a:r>
          </a:p>
          <a:p>
            <a:r>
              <a:rPr lang="en-US" dirty="0" smtClean="0"/>
              <a:t>Etc..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0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Time series analysis is used to understand a time series dataset.</a:t>
            </a:r>
          </a:p>
          <a:p>
            <a:r>
              <a:rPr lang="en-US" dirty="0"/>
              <a:t> Time series analysis involves developing models that best capture or describe an observed time series in order to understand the underlying causes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Time series analysis is used in two ways</a:t>
            </a:r>
          </a:p>
          <a:p>
            <a:pPr lvl="1"/>
            <a:r>
              <a:rPr lang="en-US" dirty="0"/>
              <a:t>Obtain an understanding of the underlying forces and structure that produced the observed data.</a:t>
            </a:r>
            <a:endParaRPr lang="en-US" dirty="0" smtClean="0"/>
          </a:p>
          <a:p>
            <a:pPr lvl="1"/>
            <a:r>
              <a:rPr lang="en-US" dirty="0"/>
              <a:t>Fit a model and proceed to the next level, which is time series forecasting, monitoring or even feedback and feedforward control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6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forecasting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Time series forecasting involves making predictions about the </a:t>
            </a:r>
            <a:r>
              <a:rPr lang="en-US" dirty="0" smtClean="0"/>
              <a:t>future.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Time </a:t>
            </a:r>
            <a:r>
              <a:rPr lang="en-US" dirty="0"/>
              <a:t>series forecasting involves taking models fit on historical data and using them to predict future observations</a:t>
            </a:r>
            <a:r>
              <a:rPr lang="en-US" dirty="0" smtClean="0"/>
              <a:t>.</a:t>
            </a:r>
          </a:p>
          <a:p>
            <a:r>
              <a:rPr lang="en-US" dirty="0"/>
              <a:t>The skill of a time series forecasting model is determined by its performance at predicting the future</a:t>
            </a:r>
            <a:r>
              <a:rPr lang="en-US" dirty="0" smtClean="0"/>
              <a:t>.</a:t>
            </a:r>
          </a:p>
          <a:p>
            <a:r>
              <a:rPr lang="en-US" dirty="0"/>
              <a:t>Different factors may affect the values of an observation in a time series, and these factors are called </a:t>
            </a:r>
            <a:r>
              <a:rPr lang="en-US" i="1" dirty="0"/>
              <a:t>components</a:t>
            </a:r>
            <a:r>
              <a:rPr lang="en-US" dirty="0"/>
              <a:t> of a time series.</a:t>
            </a:r>
          </a:p>
        </p:txBody>
      </p:sp>
    </p:spTree>
    <p:extLst>
      <p:ext uri="{BB962C8B-B14F-4D97-AF65-F5344CB8AC3E}">
        <p14:creationId xmlns:p14="http://schemas.microsoft.com/office/powerpoint/2010/main" val="109410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time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four main components of time series are</a:t>
            </a:r>
            <a:r>
              <a:rPr lang="en-US" altLang="en-US" dirty="0" smtClean="0"/>
              <a:t>;</a:t>
            </a:r>
          </a:p>
          <a:p>
            <a:pPr lvl="1" fontAlgn="base"/>
            <a:r>
              <a:rPr lang="en-US" dirty="0"/>
              <a:t>Trend</a:t>
            </a:r>
          </a:p>
          <a:p>
            <a:pPr lvl="1" fontAlgn="base"/>
            <a:r>
              <a:rPr lang="en-US" dirty="0"/>
              <a:t>Seasonal Variations</a:t>
            </a:r>
          </a:p>
          <a:p>
            <a:pPr lvl="1" fontAlgn="base"/>
            <a:r>
              <a:rPr lang="en-US" dirty="0"/>
              <a:t>Cyclic Variations</a:t>
            </a:r>
          </a:p>
          <a:p>
            <a:pPr lvl="1" fontAlgn="base"/>
            <a:r>
              <a:rPr lang="en-US" dirty="0"/>
              <a:t>Random or Irregular movements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567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Trend refers to the general tendency of the time series data to increase or decrease during a long period of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Trend </a:t>
            </a:r>
            <a:r>
              <a:rPr lang="en-US" dirty="0"/>
              <a:t>may increase or decrease (or remain stable) at different moments in the given period of time that you are observing.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overall </a:t>
            </a:r>
            <a:r>
              <a:rPr lang="en-US" dirty="0" smtClean="0"/>
              <a:t>there is a overarching </a:t>
            </a:r>
            <a:r>
              <a:rPr lang="en-US" dirty="0"/>
              <a:t>trend </a:t>
            </a:r>
            <a:endParaRPr lang="en-US" dirty="0" smtClean="0"/>
          </a:p>
          <a:p>
            <a:r>
              <a:rPr lang="en-US" dirty="0" smtClean="0"/>
              <a:t>Ex:  </a:t>
            </a:r>
            <a:r>
              <a:rPr lang="en-US" dirty="0"/>
              <a:t>Population counts, agricultural production, items manufactured, number of births and </a:t>
            </a:r>
            <a:r>
              <a:rPr lang="en-US" dirty="0" smtClean="0"/>
              <a:t>deaths.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74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486" y="2180496"/>
            <a:ext cx="6565520" cy="392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9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Seasonal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Seasonal variations are the rhythmic forces which operate in a regular and periodic manner over a span of less than a year.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have the same or almost the same pattern during a period of 12 months.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variation will be present in a time series if the data are recorded hourly, daily, weekly, quarterly, or monthly</a:t>
            </a:r>
            <a:r>
              <a:rPr lang="en-US" dirty="0" smtClean="0"/>
              <a:t>.</a:t>
            </a:r>
          </a:p>
          <a:p>
            <a:r>
              <a:rPr lang="en-US" dirty="0"/>
              <a:t>These variations come into play either because of the natural forces or man-made conventions.</a:t>
            </a:r>
          </a:p>
        </p:txBody>
      </p:sp>
    </p:spTree>
    <p:extLst>
      <p:ext uri="{BB962C8B-B14F-4D97-AF65-F5344CB8AC3E}">
        <p14:creationId xmlns:p14="http://schemas.microsoft.com/office/powerpoint/2010/main" val="364443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Seasonal variations (contd.)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949" y="1988912"/>
            <a:ext cx="6892120" cy="4647258"/>
          </a:xfrm>
        </p:spPr>
      </p:pic>
    </p:spTree>
    <p:extLst>
      <p:ext uri="{BB962C8B-B14F-4D97-AF65-F5344CB8AC3E}">
        <p14:creationId xmlns:p14="http://schemas.microsoft.com/office/powerpoint/2010/main" val="413859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Cyclic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Cyclic variations are oscillations in a time series which operate over a span of more than one year. </a:t>
            </a:r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complete period is a cycle, but a cycle will not have a specific fixed length of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cyclic movement is sometimes called the ‘Business Cycle’.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four-phase cycle comprising of the phases of prosperity, recession, depression, and recovery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upswings and the downswings in business depend upon the joint nature of the economic forces and the interaction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13697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Cyclic variations (contd.)</a:t>
            </a:r>
            <a:endParaRPr lang="en-US" dirty="0"/>
          </a:p>
        </p:txBody>
      </p:sp>
      <p:pic>
        <p:nvPicPr>
          <p:cNvPr id="5122" name="Picture 2" descr="Image result for cyclic component pl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190" y="2063879"/>
            <a:ext cx="6564926" cy="409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517" t="6031" r="1905" b="2150"/>
          <a:stretch/>
        </p:blipFill>
        <p:spPr>
          <a:xfrm>
            <a:off x="699247" y="2077326"/>
            <a:ext cx="4773706" cy="363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0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or irregular movements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random variations of the data comprise the deviations of the observed time series from the underlying pattern.</a:t>
            </a:r>
            <a:endParaRPr lang="en-US" i="1" dirty="0" smtClean="0"/>
          </a:p>
          <a:p>
            <a:r>
              <a:rPr lang="en-US" dirty="0" smtClean="0"/>
              <a:t>Random</a:t>
            </a:r>
            <a:r>
              <a:rPr lang="en-US" dirty="0"/>
              <a:t>, or irregular, fluctuations are the last factor to cause variations in our time series data are.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fluctuations are unforeseen, uncontrollable, unpredictable, and are erratic, such as earthquakes, wars, flood, famines, and any other natural disasters.</a:t>
            </a:r>
          </a:p>
        </p:txBody>
      </p:sp>
    </p:spTree>
    <p:extLst>
      <p:ext uri="{BB962C8B-B14F-4D97-AF65-F5344CB8AC3E}">
        <p14:creationId xmlns:p14="http://schemas.microsoft.com/office/powerpoint/2010/main" val="249419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Random or irregular movements (Contd.)</a:t>
            </a:r>
            <a:endParaRPr lang="en-US" dirty="0"/>
          </a:p>
        </p:txBody>
      </p:sp>
      <p:sp>
        <p:nvSpPr>
          <p:cNvPr id="5" name="AutoShape 2" descr="Image result for irregularcomponent plo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9659"/>
          <a:stretch/>
        </p:blipFill>
        <p:spPr>
          <a:xfrm>
            <a:off x="2274732" y="2043953"/>
            <a:ext cx="6896161" cy="433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2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series in real life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four components of a time series (</a:t>
            </a:r>
            <a:r>
              <a:rPr lang="en-US" i="1" dirty="0"/>
              <a:t>T</a:t>
            </a:r>
            <a:r>
              <a:rPr lang="en-US" dirty="0"/>
              <a:t>: trend, </a:t>
            </a:r>
            <a:r>
              <a:rPr lang="en-US" i="1" dirty="0"/>
              <a:t>S</a:t>
            </a:r>
            <a:r>
              <a:rPr lang="en-US" dirty="0"/>
              <a:t>: seasonal, </a:t>
            </a:r>
            <a:r>
              <a:rPr lang="en-US" i="1" dirty="0"/>
              <a:t>C</a:t>
            </a:r>
            <a:r>
              <a:rPr lang="en-US" dirty="0"/>
              <a:t>: cyclical, </a:t>
            </a:r>
            <a:r>
              <a:rPr lang="en-US" i="1" dirty="0"/>
              <a:t>R</a:t>
            </a:r>
            <a:r>
              <a:rPr lang="en-US" dirty="0"/>
              <a:t>: random) can be combined in different ways.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60" b="51650"/>
          <a:stretch/>
        </p:blipFill>
        <p:spPr>
          <a:xfrm>
            <a:off x="927847" y="3564730"/>
            <a:ext cx="2923894" cy="27586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50"/>
          <a:stretch/>
        </p:blipFill>
        <p:spPr>
          <a:xfrm>
            <a:off x="4359928" y="3564730"/>
            <a:ext cx="6296025" cy="29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2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Forecasting with time 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84464"/>
          </a:xfrm>
        </p:spPr>
        <p:txBody>
          <a:bodyPr/>
          <a:lstStyle/>
          <a:p>
            <a:r>
              <a:rPr lang="en-US" dirty="0"/>
              <a:t>Decomposition methods </a:t>
            </a:r>
            <a:r>
              <a:rPr lang="en-US" dirty="0" smtClean="0"/>
              <a:t>/Classical </a:t>
            </a:r>
            <a:r>
              <a:rPr lang="en-US" dirty="0" smtClean="0"/>
              <a:t>Models</a:t>
            </a:r>
          </a:p>
          <a:p>
            <a:pPr lvl="1"/>
            <a:r>
              <a:rPr lang="en-US" dirty="0" smtClean="0"/>
              <a:t>Additive models</a:t>
            </a:r>
          </a:p>
          <a:p>
            <a:pPr lvl="1"/>
            <a:r>
              <a:rPr lang="en-US" dirty="0" smtClean="0"/>
              <a:t>Multiplicative models</a:t>
            </a:r>
            <a:endParaRPr lang="en-US" dirty="0" smtClean="0"/>
          </a:p>
          <a:p>
            <a:r>
              <a:rPr lang="en-US" dirty="0" smtClean="0"/>
              <a:t>Probabilistic Model</a:t>
            </a:r>
          </a:p>
          <a:p>
            <a:pPr lvl="1"/>
            <a:r>
              <a:rPr lang="en-US" dirty="0" smtClean="0"/>
              <a:t>AR model</a:t>
            </a:r>
          </a:p>
          <a:p>
            <a:pPr lvl="1"/>
            <a:r>
              <a:rPr lang="en-US" dirty="0" smtClean="0"/>
              <a:t>MA model</a:t>
            </a:r>
          </a:p>
          <a:p>
            <a:pPr lvl="1"/>
            <a:r>
              <a:rPr lang="en-US" dirty="0" smtClean="0"/>
              <a:t>Mix models (Ex: ARMA, ARIMA, SARIMA &amp;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3204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 smtClean="0"/>
              <a:t>Describing a time </a:t>
            </a:r>
            <a:r>
              <a:rPr lang="en-US" dirty="0"/>
              <a:t>series </a:t>
            </a:r>
            <a:r>
              <a:rPr lang="en-US" dirty="0" smtClean="0"/>
              <a:t>could be done by creating </a:t>
            </a:r>
            <a:r>
              <a:rPr lang="en-US" dirty="0"/>
              <a:t>separate models for </a:t>
            </a:r>
            <a:r>
              <a:rPr lang="en-US" dirty="0" smtClean="0"/>
              <a:t>the four elements T(Trend), S(Seasonal), C(Cyclical), I(Irregular)  </a:t>
            </a:r>
            <a:r>
              <a:rPr lang="en-US" dirty="0"/>
              <a:t>and then </a:t>
            </a:r>
            <a:r>
              <a:rPr lang="en-US" dirty="0" smtClean="0"/>
              <a:t>by combining them in to following methods </a:t>
            </a:r>
            <a:endParaRPr lang="en-US" dirty="0"/>
          </a:p>
          <a:p>
            <a:pPr lvl="1"/>
            <a:r>
              <a:rPr lang="en-US" dirty="0" smtClean="0"/>
              <a:t>Additive Model</a:t>
            </a:r>
          </a:p>
          <a:p>
            <a:pPr marL="324000" lvl="1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Y</a:t>
            </a:r>
            <a:r>
              <a:rPr lang="en-US" baseline="-25000" dirty="0" err="1" smtClean="0"/>
              <a:t>t</a:t>
            </a:r>
            <a:r>
              <a:rPr lang="en-US" dirty="0"/>
              <a:t>= </a:t>
            </a:r>
            <a:r>
              <a:rPr lang="en-US" dirty="0" err="1"/>
              <a:t>T</a:t>
            </a:r>
            <a:r>
              <a:rPr lang="en-US" baseline="-25000" dirty="0" err="1"/>
              <a:t>t</a:t>
            </a:r>
            <a:r>
              <a:rPr lang="en-US" dirty="0" err="1"/>
              <a:t>+S</a:t>
            </a:r>
            <a:r>
              <a:rPr lang="en-US" baseline="-25000" dirty="0" err="1"/>
              <a:t>t</a:t>
            </a:r>
            <a:r>
              <a:rPr lang="en-US" dirty="0"/>
              <a:t>+ </a:t>
            </a:r>
            <a:r>
              <a:rPr lang="en-US" dirty="0" err="1"/>
              <a:t>C</a:t>
            </a:r>
            <a:r>
              <a:rPr lang="en-US" baseline="-25000" dirty="0" err="1"/>
              <a:t>t</a:t>
            </a:r>
            <a:r>
              <a:rPr lang="en-US" dirty="0" err="1"/>
              <a:t>+I</a:t>
            </a:r>
            <a:r>
              <a:rPr lang="en-US" baseline="-25000" dirty="0" err="1"/>
              <a:t>t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Multiplicative Model:</a:t>
            </a:r>
          </a:p>
          <a:p>
            <a:pPr marL="324000" lvl="1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 err="1" smtClean="0"/>
              <a:t>Y</a:t>
            </a:r>
            <a:r>
              <a:rPr lang="en-US" baseline="-25000" dirty="0" err="1" smtClean="0"/>
              <a:t>t</a:t>
            </a:r>
            <a:r>
              <a:rPr lang="en-US" dirty="0"/>
              <a:t>= </a:t>
            </a:r>
            <a:r>
              <a:rPr lang="en-US" dirty="0" smtClean="0"/>
              <a:t>T</a:t>
            </a:r>
            <a:r>
              <a:rPr lang="en-US" baseline="-25000" dirty="0" smtClean="0"/>
              <a:t>t </a:t>
            </a:r>
            <a:r>
              <a:rPr lang="en-US" dirty="0" smtClean="0"/>
              <a:t>x S</a:t>
            </a:r>
            <a:r>
              <a:rPr lang="en-US" baseline="-25000" dirty="0" smtClean="0"/>
              <a:t>t </a:t>
            </a:r>
            <a:r>
              <a:rPr lang="en-US" dirty="0" smtClean="0"/>
              <a:t>x C</a:t>
            </a:r>
            <a:r>
              <a:rPr lang="en-US" baseline="-25000" dirty="0" smtClean="0"/>
              <a:t>t </a:t>
            </a:r>
            <a:r>
              <a:rPr lang="en-US" dirty="0" smtClean="0"/>
              <a:t>x I</a:t>
            </a:r>
            <a:r>
              <a:rPr lang="en-US" baseline="-25000" dirty="0" smtClean="0"/>
              <a:t>t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0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Decomposition methods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33" y="2131653"/>
            <a:ext cx="11029616" cy="3678303"/>
          </a:xfrm>
        </p:spPr>
        <p:txBody>
          <a:bodyPr/>
          <a:lstStyle/>
          <a:p>
            <a:r>
              <a:rPr lang="en-US" sz="2400" dirty="0"/>
              <a:t>The additive model is useful when the seasonal variation is relatively constant over time.</a:t>
            </a:r>
          </a:p>
          <a:p>
            <a:r>
              <a:rPr lang="en-US" sz="2400" dirty="0"/>
              <a:t>The multiplicative model is useful when the seasonal variation increases over time.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3970804"/>
            <a:ext cx="3705225" cy="2466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761" y="3910564"/>
            <a:ext cx="3124204" cy="282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9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Forecasting using decomposition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Estimate </a:t>
            </a:r>
            <a:r>
              <a:rPr lang="en-US" dirty="0"/>
              <a:t>the </a:t>
            </a:r>
            <a:r>
              <a:rPr lang="en-US" dirty="0" smtClean="0"/>
              <a:t>trend</a:t>
            </a:r>
          </a:p>
          <a:p>
            <a:r>
              <a:rPr lang="en-US" dirty="0" smtClean="0"/>
              <a:t>“</a:t>
            </a:r>
            <a:r>
              <a:rPr lang="en-US" dirty="0"/>
              <a:t>D</a:t>
            </a:r>
            <a:r>
              <a:rPr lang="en-US" dirty="0" smtClean="0"/>
              <a:t>e-trend</a:t>
            </a:r>
            <a:r>
              <a:rPr lang="en-US" dirty="0"/>
              <a:t>” the series.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an additive decomposition, this is done by subtracting the trend estimates from the series.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a multiplicative decomposition, this is done by dividing the series by the trend values</a:t>
            </a:r>
            <a:r>
              <a:rPr lang="en-US" dirty="0" smtClean="0"/>
              <a:t>.</a:t>
            </a:r>
          </a:p>
          <a:p>
            <a:r>
              <a:rPr lang="en-US" dirty="0"/>
              <a:t>Estimate the seasonal trend using de-trend </a:t>
            </a:r>
            <a:r>
              <a:rPr lang="en-US" dirty="0" smtClean="0"/>
              <a:t>series</a:t>
            </a:r>
          </a:p>
          <a:p>
            <a:r>
              <a:rPr lang="en-US" dirty="0" smtClean="0"/>
              <a:t>De-</a:t>
            </a:r>
            <a:r>
              <a:rPr lang="en-US" dirty="0" err="1" smtClean="0"/>
              <a:t>seasonalize</a:t>
            </a:r>
            <a:r>
              <a:rPr lang="en-US" dirty="0" smtClean="0"/>
              <a:t> the data</a:t>
            </a:r>
          </a:p>
          <a:p>
            <a:r>
              <a:rPr lang="en-US" dirty="0" smtClean="0"/>
              <a:t>Determine </a:t>
            </a:r>
            <a:r>
              <a:rPr lang="en-US" dirty="0"/>
              <a:t>the random (irregular) component.</a:t>
            </a:r>
          </a:p>
        </p:txBody>
      </p:sp>
    </p:spTree>
    <p:extLst>
      <p:ext uri="{BB962C8B-B14F-4D97-AF65-F5344CB8AC3E}">
        <p14:creationId xmlns:p14="http://schemas.microsoft.com/office/powerpoint/2010/main" val="279478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– additive </a:t>
            </a:r>
            <a:r>
              <a:rPr lang="en-US" dirty="0" err="1" smtClean="0"/>
              <a:t>decompositioN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599" y="1775712"/>
            <a:ext cx="5654466" cy="5082288"/>
          </a:xfrm>
        </p:spPr>
      </p:pic>
    </p:spTree>
    <p:extLst>
      <p:ext uri="{BB962C8B-B14F-4D97-AF65-F5344CB8AC3E}">
        <p14:creationId xmlns:p14="http://schemas.microsoft.com/office/powerpoint/2010/main" val="317273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estimating trend – Moving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approach </a:t>
            </a:r>
            <a:r>
              <a:rPr lang="en-US" dirty="0" smtClean="0"/>
              <a:t>to </a:t>
            </a:r>
            <a:r>
              <a:rPr lang="en-US" dirty="0"/>
              <a:t>estimate the trend </a:t>
            </a:r>
            <a:r>
              <a:rPr lang="en-US" dirty="0" smtClean="0"/>
              <a:t>is using </a:t>
            </a:r>
            <a:r>
              <a:rPr lang="en-US" dirty="0"/>
              <a:t>moving averages.</a:t>
            </a:r>
            <a:endParaRPr lang="en-US" altLang="en-US" dirty="0" smtClean="0"/>
          </a:p>
          <a:p>
            <a:r>
              <a:rPr lang="en-US" altLang="en-US" dirty="0" smtClean="0"/>
              <a:t>Moving </a:t>
            </a:r>
            <a:r>
              <a:rPr lang="en-US" altLang="en-US" dirty="0"/>
              <a:t>average is a technique that replaces a data value with the average of that data value and neighboring data </a:t>
            </a:r>
            <a:r>
              <a:rPr lang="en-US" altLang="en-US" dirty="0" smtClean="0"/>
              <a:t>values.</a:t>
            </a:r>
          </a:p>
          <a:p>
            <a:r>
              <a:rPr lang="en-US" altLang="en-US" dirty="0"/>
              <a:t>A moving average for a time period is the average of </a:t>
            </a:r>
            <a:r>
              <a:rPr lang="en-US" altLang="en-US" i="1" dirty="0"/>
              <a:t>N</a:t>
            </a:r>
            <a:r>
              <a:rPr lang="en-US" altLang="en-US" dirty="0"/>
              <a:t> consecutive data values, including the data value for that time period.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77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estimating trend – Moving </a:t>
            </a:r>
            <a:r>
              <a:rPr lang="en-US" dirty="0" smtClean="0"/>
              <a:t>average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The technique for finding a moving average for a particular observation is to find the average of the </a:t>
            </a:r>
            <a:r>
              <a:rPr lang="en-US" altLang="en-US" i="1" dirty="0"/>
              <a:t>m </a:t>
            </a:r>
            <a:r>
              <a:rPr lang="en-US" altLang="en-US" dirty="0"/>
              <a:t>observations before the observation, the observation itself and the </a:t>
            </a:r>
            <a:r>
              <a:rPr lang="en-US" altLang="en-US" i="1" dirty="0"/>
              <a:t>m</a:t>
            </a:r>
            <a:r>
              <a:rPr lang="en-US" altLang="en-US" dirty="0"/>
              <a:t> observations after the observation</a:t>
            </a:r>
          </a:p>
          <a:p>
            <a:r>
              <a:rPr lang="en-US" altLang="en-US" dirty="0"/>
              <a:t>Thus a total of (2</a:t>
            </a:r>
            <a:r>
              <a:rPr lang="en-US" altLang="en-US" i="1" dirty="0"/>
              <a:t>m</a:t>
            </a:r>
            <a:r>
              <a:rPr lang="en-US" altLang="en-US" dirty="0"/>
              <a:t> + 1) observations must be averaged each time a moving average is </a:t>
            </a:r>
            <a:r>
              <a:rPr lang="en-US" altLang="en-US" dirty="0" smtClean="0"/>
              <a:t>calculated.</a:t>
            </a:r>
          </a:p>
          <a:p>
            <a:r>
              <a:rPr lang="en-US" altLang="en-US" dirty="0"/>
              <a:t>A centered moving average is a moving average such that the time period is at the center of the N time periods used to determine which values to average.</a:t>
            </a:r>
          </a:p>
          <a:p>
            <a:r>
              <a:rPr lang="en-US" dirty="0" smtClean="0"/>
              <a:t>The </a:t>
            </a:r>
            <a:r>
              <a:rPr lang="en-US" dirty="0"/>
              <a:t>trend values were determined as “centered“ moving average</a:t>
            </a:r>
            <a:endParaRPr lang="en-AU" alt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2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690409"/>
              </p:ext>
            </p:extLst>
          </p:nvPr>
        </p:nvGraphicFramePr>
        <p:xfrm>
          <a:off x="534752" y="1890963"/>
          <a:ext cx="5919836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110">
                  <a:extLst>
                    <a:ext uri="{9D8B030D-6E8A-4147-A177-3AD203B41FA5}">
                      <a16:colId xmlns:a16="http://schemas.microsoft.com/office/drawing/2014/main" xmlns="" val="2001124570"/>
                    </a:ext>
                  </a:extLst>
                </a:gridCol>
                <a:gridCol w="1244110">
                  <a:extLst>
                    <a:ext uri="{9D8B030D-6E8A-4147-A177-3AD203B41FA5}">
                      <a16:colId xmlns:a16="http://schemas.microsoft.com/office/drawing/2014/main" xmlns="" val="2382082215"/>
                    </a:ext>
                  </a:extLst>
                </a:gridCol>
                <a:gridCol w="1912099">
                  <a:extLst>
                    <a:ext uri="{9D8B030D-6E8A-4147-A177-3AD203B41FA5}">
                      <a16:colId xmlns:a16="http://schemas.microsoft.com/office/drawing/2014/main" xmlns="" val="3226654808"/>
                    </a:ext>
                  </a:extLst>
                </a:gridCol>
                <a:gridCol w="1519517">
                  <a:extLst>
                    <a:ext uri="{9D8B030D-6E8A-4147-A177-3AD203B41FA5}">
                      <a16:colId xmlns:a16="http://schemas.microsoft.com/office/drawing/2014/main" xmlns="" val="1068377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 smtClean="0"/>
                        <a:t>X</a:t>
                      </a:r>
                      <a:r>
                        <a:rPr lang="en-US" baseline="-25000" dirty="0" err="1" smtClean="0"/>
                        <a:t>t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 point 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CMA= </a:t>
                      </a:r>
                      <a:r>
                        <a:rPr lang="en-US" baseline="0" dirty="0" err="1" smtClean="0"/>
                        <a:t>Y</a:t>
                      </a:r>
                      <a:r>
                        <a:rPr lang="en-US" baseline="-25000" dirty="0" err="1" smtClean="0"/>
                        <a:t>t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50701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0969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1797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1058.375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3181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1084.25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9549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1073.75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878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1040.75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5666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1003.625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9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986.875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9370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995.5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375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1029.125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2239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8564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006683"/>
                  </a:ext>
                </a:extLst>
              </a:tr>
            </a:tbl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3022972" y="2934271"/>
            <a:ext cx="1073630" cy="3232537"/>
            <a:chOff x="2941084" y="2347416"/>
            <a:chExt cx="1073630" cy="3232537"/>
          </a:xfrm>
        </p:grpSpPr>
        <p:grpSp>
          <p:nvGrpSpPr>
            <p:cNvPr id="12" name="Group 11"/>
            <p:cNvGrpSpPr/>
            <p:nvPr/>
          </p:nvGrpSpPr>
          <p:grpSpPr>
            <a:xfrm>
              <a:off x="2966108" y="2347416"/>
              <a:ext cx="1048606" cy="1808588"/>
              <a:chOff x="3143529" y="3657601"/>
              <a:chExt cx="1048606" cy="180858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1035.5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1"/>
                    </a:solidFill>
                  </a:rPr>
                  <a:t>1081.25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1087.25</a:t>
                </a:r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1060.25</a:t>
                </a:r>
                <a:endParaRPr 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143529" y="509685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1021.25</a:t>
                </a: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941084" y="4140697"/>
              <a:ext cx="1048606" cy="1439256"/>
              <a:chOff x="3143529" y="3657601"/>
              <a:chExt cx="1048606" cy="1439256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986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987.75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1003.25</a:t>
                </a:r>
                <a:endParaRPr 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1055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355541" y="2238233"/>
                <a:ext cx="4040340" cy="1429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To find 4 point MA;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1223+973+769+1177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   =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1035.5</a:t>
                </a:r>
              </a:p>
              <a:p>
                <a:r>
                  <a:rPr lang="en-US" dirty="0" smtClean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973+769+1177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+1406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   </a:t>
                </a:r>
                <a:r>
                  <a:rPr lang="en-US" dirty="0"/>
                  <a:t>=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1081.25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541" y="2238233"/>
                <a:ext cx="4040340" cy="1429750"/>
              </a:xfrm>
              <a:prstGeom prst="rect">
                <a:avLst/>
              </a:prstGeom>
              <a:blipFill rotWithShape="0">
                <a:blip r:embed="rId2"/>
                <a:stretch>
                  <a:fillRect l="-1360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21071" y="3843318"/>
                <a:ext cx="4286266" cy="1041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To find CMA;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1035.5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1081.25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   =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1058.375</a:t>
                </a:r>
              </a:p>
              <a:p>
                <a:r>
                  <a:rPr lang="en-US" dirty="0" smtClean="0"/>
                  <a:t>     </a:t>
                </a:r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071" y="3843318"/>
                <a:ext cx="4286266" cy="1041952"/>
              </a:xfrm>
              <a:prstGeom prst="rect">
                <a:avLst/>
              </a:prstGeom>
              <a:blipFill rotWithShape="0">
                <a:blip r:embed="rId3"/>
                <a:stretch>
                  <a:fillRect l="-1280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 smtClean="0"/>
              <a:t>Moving average -example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48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 trending – multiplicative Decomposition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601926"/>
              </p:ext>
            </p:extLst>
          </p:nvPr>
        </p:nvGraphicFramePr>
        <p:xfrm>
          <a:off x="446554" y="1810085"/>
          <a:ext cx="8683998" cy="49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24"/>
                <a:gridCol w="1467365"/>
                <a:gridCol w="2365925"/>
                <a:gridCol w="1917632"/>
                <a:gridCol w="1752652"/>
              </a:tblGrid>
              <a:tr h="4086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err="1" smtClean="0"/>
                        <a:t>X</a:t>
                      </a:r>
                      <a:r>
                        <a:rPr lang="en-US" sz="1600" baseline="-25000" dirty="0" err="1" smtClean="0"/>
                        <a:t>t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 point MA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CMA= </a:t>
                      </a:r>
                      <a:r>
                        <a:rPr lang="en-US" sz="1600" baseline="0" dirty="0" err="1" smtClean="0"/>
                        <a:t>Y</a:t>
                      </a:r>
                      <a:r>
                        <a:rPr lang="en-US" sz="1600" baseline="-25000" dirty="0" err="1" smtClean="0"/>
                        <a:t>t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err="1" smtClean="0"/>
                        <a:t>X</a:t>
                      </a:r>
                      <a:r>
                        <a:rPr lang="en-US" sz="1600" baseline="-25000" dirty="0" err="1" smtClean="0"/>
                        <a:t>t</a:t>
                      </a:r>
                      <a:r>
                        <a:rPr lang="en-US" sz="1600" baseline="-25000" dirty="0" smtClean="0"/>
                        <a:t> </a:t>
                      </a:r>
                      <a:r>
                        <a:rPr lang="en-US" sz="1600" baseline="0" dirty="0" smtClean="0"/>
                        <a:t>/</a:t>
                      </a:r>
                      <a:r>
                        <a:rPr lang="en-US" sz="1600" baseline="0" dirty="0" err="1" smtClean="0"/>
                        <a:t>Y</a:t>
                      </a:r>
                      <a:r>
                        <a:rPr lang="en-US" sz="1600" baseline="-25000" dirty="0" err="1" smtClean="0"/>
                        <a:t>t</a:t>
                      </a:r>
                      <a:r>
                        <a:rPr lang="en-US" sz="1600" baseline="-25000" dirty="0" smtClean="0"/>
                        <a:t> (De-trend data)</a:t>
                      </a:r>
                      <a:endParaRPr lang="en-US" sz="1600" baseline="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1223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973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</a:tr>
              <a:tr h="4217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769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1058.375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0.7266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1177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1084.25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1.0855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1406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1073.75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1.3094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997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1040.75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0.9580</a:t>
                      </a:r>
                      <a:endParaRPr lang="en-US" sz="1600" dirty="0"/>
                    </a:p>
                  </a:txBody>
                  <a:tcPr/>
                </a:tc>
              </a:tr>
              <a:tr h="45845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661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1003.625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0.6586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986.875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1.0346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1265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995.5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1.2707</a:t>
                      </a:r>
                      <a:endParaRPr lang="en-US" sz="1600" dirty="0"/>
                    </a:p>
                  </a:txBody>
                  <a:tcPr/>
                </a:tc>
              </a:tr>
              <a:tr h="4148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1029.125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0.9756</a:t>
                      </a:r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723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  <a:tr h="3657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1228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332254" y="3014954"/>
            <a:ext cx="1073630" cy="3232537"/>
            <a:chOff x="2941084" y="2347416"/>
            <a:chExt cx="1073630" cy="3232537"/>
          </a:xfrm>
        </p:grpSpPr>
        <p:grpSp>
          <p:nvGrpSpPr>
            <p:cNvPr id="8" name="Group 7"/>
            <p:cNvGrpSpPr/>
            <p:nvPr/>
          </p:nvGrpSpPr>
          <p:grpSpPr>
            <a:xfrm>
              <a:off x="2966108" y="2347416"/>
              <a:ext cx="1048606" cy="1808588"/>
              <a:chOff x="3143529" y="3657601"/>
              <a:chExt cx="1048606" cy="1808588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1035.5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1"/>
                    </a:solidFill>
                  </a:rPr>
                  <a:t>1081.25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1087.25</a:t>
                </a:r>
                <a:endParaRPr 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1060.25</a:t>
                </a:r>
                <a:endParaRPr lang="en-US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143529" y="509685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1021.25</a:t>
                </a:r>
                <a:endParaRPr lang="en-US" dirty="0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941084" y="4140697"/>
              <a:ext cx="1048606" cy="1439256"/>
              <a:chOff x="3143529" y="3657601"/>
              <a:chExt cx="1048606" cy="143925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986</a:t>
                </a:r>
                <a:endParaRPr lang="en-US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987.75</a:t>
                </a:r>
                <a:endParaRPr 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1003.25</a:t>
                </a:r>
                <a:endParaRPr 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1055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78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De-</a:t>
            </a:r>
            <a:r>
              <a:rPr lang="en-US" dirty="0" err="1" smtClean="0"/>
              <a:t>seasonalizing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SzTx/>
              <a:buFontTx/>
              <a:buChar char="•"/>
            </a:pPr>
            <a:endParaRPr lang="en-US" altLang="en-US" dirty="0" smtClean="0"/>
          </a:p>
          <a:p>
            <a:pPr>
              <a:buSzTx/>
              <a:buFontTx/>
              <a:buChar char="•"/>
            </a:pPr>
            <a:r>
              <a:rPr lang="en-US" altLang="en-US" dirty="0" smtClean="0"/>
              <a:t>De-</a:t>
            </a:r>
            <a:r>
              <a:rPr lang="en-US" altLang="en-US" dirty="0" err="1" smtClean="0"/>
              <a:t>seasonalizing</a:t>
            </a:r>
            <a:r>
              <a:rPr lang="en-US" altLang="en-US" dirty="0" smtClean="0"/>
              <a:t> refers to a </a:t>
            </a:r>
            <a:r>
              <a:rPr lang="en-US" altLang="en-US" dirty="0"/>
              <a:t>procedure involves use of a seasonal index to remove the effect of typical seasonal fluctuation from a time series data </a:t>
            </a:r>
            <a:r>
              <a:rPr lang="en-US" altLang="en-US" dirty="0" smtClean="0"/>
              <a:t>value.</a:t>
            </a:r>
          </a:p>
          <a:p>
            <a:pPr>
              <a:buSzTx/>
              <a:buFontTx/>
              <a:buChar char="•"/>
            </a:pPr>
            <a:r>
              <a:rPr lang="en-US" altLang="en-US" dirty="0" smtClean="0"/>
              <a:t>A </a:t>
            </a:r>
            <a:r>
              <a:rPr lang="en-US" altLang="en-US" dirty="0"/>
              <a:t>seasonal index is a factor that adjusts a trend value to compensate for typical seasonal fluctuation in that period of a seasonal cycle.</a:t>
            </a:r>
          </a:p>
          <a:p>
            <a:pPr>
              <a:buSzTx/>
              <a:buFontTx/>
              <a:buChar char="•"/>
            </a:pPr>
            <a:r>
              <a:rPr lang="en-US" dirty="0" smtClean="0"/>
              <a:t>A </a:t>
            </a:r>
            <a:r>
              <a:rPr lang="en-US" dirty="0"/>
              <a:t>seasonal index is a measure of how a particular season compares with the average season.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3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79073509"/>
                  </p:ext>
                </p:extLst>
              </p:nvPr>
            </p:nvGraphicFramePr>
            <p:xfrm>
              <a:off x="441073" y="1890664"/>
              <a:ext cx="7344774" cy="4817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3299">
                      <a:extLst>
                        <a:ext uri="{9D8B030D-6E8A-4147-A177-3AD203B41FA5}">
                          <a16:colId xmlns:a16="http://schemas.microsoft.com/office/drawing/2014/main" xmlns="" val="2001124570"/>
                        </a:ext>
                      </a:extLst>
                    </a:gridCol>
                    <a:gridCol w="753035">
                      <a:extLst>
                        <a:ext uri="{9D8B030D-6E8A-4147-A177-3AD203B41FA5}">
                          <a16:colId xmlns:a16="http://schemas.microsoft.com/office/drawing/2014/main" xmlns="" val="2382082215"/>
                        </a:ext>
                      </a:extLst>
                    </a:gridCol>
                    <a:gridCol w="1438836">
                      <a:extLst>
                        <a:ext uri="{9D8B030D-6E8A-4147-A177-3AD203B41FA5}">
                          <a16:colId xmlns:a16="http://schemas.microsoft.com/office/drawing/2014/main" xmlns="" val="3226654808"/>
                        </a:ext>
                      </a:extLst>
                    </a:gridCol>
                    <a:gridCol w="1250576">
                      <a:extLst>
                        <a:ext uri="{9D8B030D-6E8A-4147-A177-3AD203B41FA5}">
                          <a16:colId xmlns:a16="http://schemas.microsoft.com/office/drawing/2014/main" xmlns="" val="1068377925"/>
                        </a:ext>
                      </a:extLst>
                    </a:gridCol>
                    <a:gridCol w="1116106">
                      <a:extLst>
                        <a:ext uri="{9D8B030D-6E8A-4147-A177-3AD203B41FA5}">
                          <a16:colId xmlns:a16="http://schemas.microsoft.com/office/drawing/2014/main" xmlns="" val="3819719289"/>
                        </a:ext>
                      </a:extLst>
                    </a:gridCol>
                    <a:gridCol w="2302922">
                      <a:extLst>
                        <a:ext uri="{9D8B030D-6E8A-4147-A177-3AD203B41FA5}">
                          <a16:colId xmlns:a16="http://schemas.microsoft.com/office/drawing/2014/main" xmlns="" val="41197490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SN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 smtClean="0"/>
                            <a:t> = </a:t>
                          </a:r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unadjusted SI</a:t>
                          </a:r>
                          <a:endParaRPr lang="en-US" sz="1800" b="1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17974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0.7266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1.0855</a:t>
                          </a:r>
                          <a:endParaRPr lang="en-US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2060"/>
                              </a:solidFill>
                            </a:rPr>
                            <a:t>1.3094</a:t>
                          </a:r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0.9580</a:t>
                          </a:r>
                          <a:endParaRPr lang="en-US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0.6586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1.0346</a:t>
                          </a:r>
                          <a:endParaRPr lang="en-US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2060"/>
                              </a:solidFill>
                            </a:rPr>
                            <a:t>1.2707</a:t>
                          </a:r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0.9756</a:t>
                          </a:r>
                          <a:endParaRPr lang="en-US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8006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79073509"/>
                  </p:ext>
                </p:extLst>
              </p:nvPr>
            </p:nvGraphicFramePr>
            <p:xfrm>
              <a:off x="441073" y="1890664"/>
              <a:ext cx="7344774" cy="48178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329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1124570"/>
                        </a:ext>
                      </a:extLst>
                    </a:gridCol>
                    <a:gridCol w="75303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382082215"/>
                        </a:ext>
                      </a:extLst>
                    </a:gridCol>
                    <a:gridCol w="143883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226654808"/>
                        </a:ext>
                      </a:extLst>
                    </a:gridCol>
                    <a:gridCol w="125057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068377925"/>
                        </a:ext>
                      </a:extLst>
                    </a:gridCol>
                    <a:gridCol w="11161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819719289"/>
                        </a:ext>
                      </a:extLst>
                    </a:gridCol>
                    <a:gridCol w="2302922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119749012"/>
                        </a:ext>
                      </a:extLst>
                    </a:gridCol>
                  </a:tblGrid>
                  <a:tr h="3677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19312" t="-8333" r="-1058" b="-12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17974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0.7266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1.0855</a:t>
                          </a:r>
                          <a:endParaRPr lang="en-US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2060"/>
                              </a:solidFill>
                            </a:rPr>
                            <a:t>1.3094</a:t>
                          </a:r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0.9580</a:t>
                          </a:r>
                          <a:endParaRPr lang="en-US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0.6586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1.0346</a:t>
                          </a:r>
                          <a:endParaRPr lang="en-US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2060"/>
                              </a:solidFill>
                            </a:rPr>
                            <a:t>1.2707</a:t>
                          </a:r>
                          <a:endParaRPr lang="en-US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2060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0.9756</a:t>
                          </a:r>
                          <a:endParaRPr lang="en-US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0.6936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7030A0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80066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" name="Group 18"/>
          <p:cNvGrpSpPr/>
          <p:nvPr/>
        </p:nvGrpSpPr>
        <p:grpSpPr>
          <a:xfrm>
            <a:off x="1691713" y="2783223"/>
            <a:ext cx="1073630" cy="3232537"/>
            <a:chOff x="2941084" y="2347416"/>
            <a:chExt cx="1073630" cy="3232537"/>
          </a:xfrm>
        </p:grpSpPr>
        <p:grpSp>
          <p:nvGrpSpPr>
            <p:cNvPr id="12" name="Group 11"/>
            <p:cNvGrpSpPr/>
            <p:nvPr/>
          </p:nvGrpSpPr>
          <p:grpSpPr>
            <a:xfrm>
              <a:off x="2966108" y="2347416"/>
              <a:ext cx="1048606" cy="1808588"/>
              <a:chOff x="3143529" y="3657601"/>
              <a:chExt cx="1048606" cy="180858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1035.5</a:t>
                </a:r>
                <a:endParaRPr lang="en-US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1081.25</a:t>
                </a:r>
                <a:endParaRPr 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1087.25</a:t>
                </a:r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1060.25</a:t>
                </a:r>
                <a:endParaRPr 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143529" y="509685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1021.25</a:t>
                </a: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941084" y="4140697"/>
              <a:ext cx="1048606" cy="1439256"/>
              <a:chOff x="3143529" y="3657601"/>
              <a:chExt cx="1048606" cy="1439256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986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987.75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1003.25</a:t>
                </a:r>
                <a:endParaRPr 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1055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065827" y="2256974"/>
                <a:ext cx="4476466" cy="3758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Cambria Math" panose="02040503050406030204" pitchFamily="18" charset="0"/>
                  </a:rPr>
                  <a:t>To find Unadjusted SI:</a:t>
                </a:r>
              </a:p>
              <a:p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1">
                            <a:latin typeface="Cambria Math" panose="02040503050406030204" pitchFamily="18" charset="0"/>
                          </a:rPr>
                          <m:t>SN</m:t>
                        </m:r>
                        <m:r>
                          <m:rPr>
                            <m:nor/>
                          </m:rPr>
                          <a:rPr lang="en-US" baseline="-2500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baseline="-25000" dirty="0" smtClean="0"/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= </a:t>
                </a:r>
                <a:r>
                  <a:rPr lang="en-US" sz="1700" dirty="0" smtClean="0"/>
                  <a:t>Quarter wise average of de-trend data </a:t>
                </a:r>
              </a:p>
              <a:p>
                <a:r>
                  <a:rPr lang="en-US" sz="1700" dirty="0" smtClean="0"/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600" b="1">
                            <a:latin typeface="Cambria Math" panose="02040503050406030204" pitchFamily="18" charset="0"/>
                          </a:rPr>
                          <m:t>SN</m:t>
                        </m:r>
                        <m:r>
                          <m:rPr>
                            <m:nor/>
                          </m:rPr>
                          <a:rPr lang="en-US" sz="1600" b="0" i="0" baseline="-2500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1600" baseline="-25000" dirty="0"/>
                          <m:t> </m:t>
                        </m:r>
                      </m:e>
                    </m:acc>
                  </m:oMath>
                </a14:m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1.3094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1.2707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 = </a:t>
                </a:r>
                <a:r>
                  <a:rPr lang="en-US" sz="1600" dirty="0" smtClean="0">
                    <a:solidFill>
                      <a:srgbClr val="002060"/>
                    </a:solidFill>
                  </a:rPr>
                  <a:t>1.2900</a:t>
                </a:r>
                <a:endParaRPr lang="en-US" sz="1600" dirty="0">
                  <a:solidFill>
                    <a:srgbClr val="002060"/>
                  </a:solidFill>
                </a:endParaRPr>
              </a:p>
              <a:p>
                <a:endParaRPr lang="en-US" sz="170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1600" b="1">
                            <a:latin typeface="Cambria Math" panose="02040503050406030204" pitchFamily="18" charset="0"/>
                          </a:rPr>
                          <m:t>SN</m:t>
                        </m:r>
                        <m:r>
                          <m:rPr>
                            <m:nor/>
                          </m:rPr>
                          <a:rPr lang="en-US" sz="1600" b="0" i="0" baseline="-25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1600" baseline="-25000" dirty="0"/>
                          <m:t> </m:t>
                        </m:r>
                      </m:e>
                    </m:acc>
                  </m:oMath>
                </a14:m>
                <a:r>
                  <a:rPr lang="en-US" sz="1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9580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+0.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9756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 = </a:t>
                </a:r>
                <a:r>
                  <a:rPr lang="en-US" sz="1600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0.9667</a:t>
                </a:r>
                <a:endParaRPr lang="en-US" sz="170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sz="17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1">
                            <a:latin typeface="Cambria Math" panose="02040503050406030204" pitchFamily="18" charset="0"/>
                          </a:rPr>
                          <m:t>SN</m:t>
                        </m:r>
                        <m:r>
                          <m:rPr>
                            <m:nor/>
                          </m:rPr>
                          <a:rPr lang="en-US" b="0" i="0" baseline="-2500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</m:e>
                    </m:acc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0.7266+0.6586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  =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0.6936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1">
                            <a:latin typeface="Cambria Math" panose="02040503050406030204" pitchFamily="18" charset="0"/>
                          </a:rPr>
                          <m:t>SN</m:t>
                        </m:r>
                        <m:r>
                          <m:rPr>
                            <m:nor/>
                          </m:rPr>
                          <a:rPr lang="en-US" b="0" i="0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1.0855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1.0346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  <a:r>
                  <a:rPr lang="en-US" dirty="0" smtClean="0"/>
                  <a:t>=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1.0600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27" y="2256974"/>
                <a:ext cx="4476466" cy="3758786"/>
              </a:xfrm>
              <a:prstGeom prst="rect">
                <a:avLst/>
              </a:prstGeom>
              <a:blipFill>
                <a:blip r:embed="rId3"/>
                <a:stretch>
                  <a:fillRect l="-1090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Computing the unadjusted seasonal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5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57795170"/>
                  </p:ext>
                </p:extLst>
              </p:nvPr>
            </p:nvGraphicFramePr>
            <p:xfrm>
              <a:off x="444548" y="1801600"/>
              <a:ext cx="8994273" cy="50172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980">
                      <a:extLst>
                        <a:ext uri="{9D8B030D-6E8A-4147-A177-3AD203B41FA5}">
                          <a16:colId xmlns:a16="http://schemas.microsoft.com/office/drawing/2014/main" xmlns="" val="2001124570"/>
                        </a:ext>
                      </a:extLst>
                    </a:gridCol>
                    <a:gridCol w="815143">
                      <a:extLst>
                        <a:ext uri="{9D8B030D-6E8A-4147-A177-3AD203B41FA5}">
                          <a16:colId xmlns:a16="http://schemas.microsoft.com/office/drawing/2014/main" xmlns="" val="2382082215"/>
                        </a:ext>
                      </a:extLst>
                    </a:gridCol>
                    <a:gridCol w="1411941">
                      <a:extLst>
                        <a:ext uri="{9D8B030D-6E8A-4147-A177-3AD203B41FA5}">
                          <a16:colId xmlns:a16="http://schemas.microsoft.com/office/drawing/2014/main" xmlns="" val="3226654808"/>
                        </a:ext>
                      </a:extLst>
                    </a:gridCol>
                    <a:gridCol w="1210235">
                      <a:extLst>
                        <a:ext uri="{9D8B030D-6E8A-4147-A177-3AD203B41FA5}">
                          <a16:colId xmlns:a16="http://schemas.microsoft.com/office/drawing/2014/main" xmlns="" val="106837792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xmlns="" val="3819719289"/>
                        </a:ext>
                      </a:extLst>
                    </a:gridCol>
                    <a:gridCol w="1936377">
                      <a:extLst>
                        <a:ext uri="{9D8B030D-6E8A-4147-A177-3AD203B41FA5}">
                          <a16:colId xmlns:a16="http://schemas.microsoft.com/office/drawing/2014/main" xmlns="" val="4119749012"/>
                        </a:ext>
                      </a:extLst>
                    </a:gridCol>
                    <a:gridCol w="2002597">
                      <a:extLst>
                        <a:ext uri="{9D8B030D-6E8A-4147-A177-3AD203B41FA5}">
                          <a16:colId xmlns:a16="http://schemas.microsoft.com/office/drawing/2014/main" xmlns="" val="37752466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SN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 smtClean="0"/>
                            <a:t> = </a:t>
                          </a:r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unadjusted SI</a:t>
                          </a:r>
                          <a:endParaRPr lang="en-US" sz="1800" b="1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SN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 smtClean="0"/>
                            <a:t>=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f>
                                    <m:f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SN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 smtClean="0"/>
                                        <m:t>t</m:t>
                                      </m:r>
                                    </m:num>
                                    <m:den>
                                      <m:r>
                                        <a:rPr lang="en-US" b="1" i="1" baseline="0" dirty="0" smtClean="0">
                                          <a:latin typeface="Cambria Math" panose="02040503050406030204" pitchFamily="18" charset="0"/>
                                        </a:rPr>
                                        <m:t>𝑮𝑴</m:t>
                                      </m:r>
                                    </m:den>
                                  </m:f>
                                </m:e>
                              </m:acc>
                            </m:oMath>
                          </a14:m>
                          <a:endParaRPr lang="en-US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17974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0.7266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1.0855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1.3094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0.9580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0.6586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1.0346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1.2707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0.9756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8006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57795170"/>
                  </p:ext>
                </p:extLst>
              </p:nvPr>
            </p:nvGraphicFramePr>
            <p:xfrm>
              <a:off x="444548" y="1801600"/>
              <a:ext cx="8994273" cy="50172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49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1124570"/>
                        </a:ext>
                      </a:extLst>
                    </a:gridCol>
                    <a:gridCol w="81514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382082215"/>
                        </a:ext>
                      </a:extLst>
                    </a:gridCol>
                    <a:gridCol w="141194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226654808"/>
                        </a:ext>
                      </a:extLst>
                    </a:gridCol>
                    <a:gridCol w="121023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068377925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819719289"/>
                        </a:ext>
                      </a:extLst>
                    </a:gridCol>
                    <a:gridCol w="193637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119749012"/>
                        </a:ext>
                      </a:extLst>
                    </a:gridCol>
                    <a:gridCol w="200259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775246695"/>
                        </a:ext>
                      </a:extLst>
                    </a:gridCol>
                  </a:tblGrid>
                  <a:tr h="5671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61321" t="-5376" r="-104717" b="-8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49240" t="-5376" r="-1216" b="-8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17974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0.7266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1.0855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1.3094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0.9580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0.6586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1.0346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1.2707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0.9756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80066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" name="Group 18"/>
          <p:cNvGrpSpPr/>
          <p:nvPr/>
        </p:nvGrpSpPr>
        <p:grpSpPr>
          <a:xfrm>
            <a:off x="1758948" y="3093510"/>
            <a:ext cx="1073630" cy="3232537"/>
            <a:chOff x="2941084" y="2347416"/>
            <a:chExt cx="1073630" cy="3232537"/>
          </a:xfrm>
        </p:grpSpPr>
        <p:grpSp>
          <p:nvGrpSpPr>
            <p:cNvPr id="12" name="Group 11"/>
            <p:cNvGrpSpPr/>
            <p:nvPr/>
          </p:nvGrpSpPr>
          <p:grpSpPr>
            <a:xfrm>
              <a:off x="2966108" y="2347416"/>
              <a:ext cx="1048606" cy="1808588"/>
              <a:chOff x="3143529" y="3657601"/>
              <a:chExt cx="1048606" cy="180858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1035.5</a:t>
                </a:r>
                <a:endParaRPr lang="en-US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1081.25</a:t>
                </a:r>
                <a:endParaRPr 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1087.25</a:t>
                </a:r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1060.25</a:t>
                </a:r>
                <a:endParaRPr 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143529" y="509685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1021.25</a:t>
                </a: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941084" y="4140697"/>
              <a:ext cx="1048606" cy="1439256"/>
              <a:chOff x="3143529" y="3657601"/>
              <a:chExt cx="1048606" cy="1439256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986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987.75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1003.25</a:t>
                </a:r>
                <a:endParaRPr 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1055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595058" y="2171135"/>
                <a:ext cx="2279176" cy="2538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To find GM</a:t>
                </a:r>
              </a:p>
              <a:p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 smtClean="0"/>
                  <a:t>GM =Average of unadjusted SI</a:t>
                </a:r>
              </a:p>
              <a:p>
                <a:endParaRPr lang="en-US" dirty="0"/>
              </a:p>
              <a:p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b="1">
                                <a:latin typeface="Cambria Math" panose="02040503050406030204" pitchFamily="18" charset="0"/>
                              </a:rPr>
                              <m:t>SN</m:t>
                            </m:r>
                            <m:r>
                              <m:rPr>
                                <m:nor/>
                              </m:rPr>
                              <a:rPr lang="en-US" baseline="-25000" dirty="0"/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baseline="-25000" dirty="0"/>
                              <m:t> </m:t>
                            </m:r>
                          </m:e>
                        </m:acc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1.2900+0.9667+0.6936+1.0600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058" y="2171135"/>
                <a:ext cx="2279176" cy="2538644"/>
              </a:xfrm>
              <a:prstGeom prst="rect">
                <a:avLst/>
              </a:prstGeom>
              <a:blipFill rotWithShape="0">
                <a:blip r:embed="rId3"/>
                <a:stretch>
                  <a:fillRect l="-2406" t="-1199" r="-13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 smtClean="0"/>
              <a:t>Computing the adjusted seasonal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3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97375223"/>
                  </p:ext>
                </p:extLst>
              </p:nvPr>
            </p:nvGraphicFramePr>
            <p:xfrm>
              <a:off x="417654" y="1855694"/>
              <a:ext cx="10931664" cy="53936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0193">
                      <a:extLst>
                        <a:ext uri="{9D8B030D-6E8A-4147-A177-3AD203B41FA5}">
                          <a16:colId xmlns:a16="http://schemas.microsoft.com/office/drawing/2014/main" xmlns="" val="2001124570"/>
                        </a:ext>
                      </a:extLst>
                    </a:gridCol>
                    <a:gridCol w="887506">
                      <a:extLst>
                        <a:ext uri="{9D8B030D-6E8A-4147-A177-3AD203B41FA5}">
                          <a16:colId xmlns:a16="http://schemas.microsoft.com/office/drawing/2014/main" xmlns="" val="238208221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="" val="3226654808"/>
                        </a:ext>
                      </a:extLst>
                    </a:gridCol>
                    <a:gridCol w="1398494">
                      <a:extLst>
                        <a:ext uri="{9D8B030D-6E8A-4147-A177-3AD203B41FA5}">
                          <a16:colId xmlns:a16="http://schemas.microsoft.com/office/drawing/2014/main" xmlns="" val="1068377925"/>
                        </a:ext>
                      </a:extLst>
                    </a:gridCol>
                    <a:gridCol w="1196788">
                      <a:extLst>
                        <a:ext uri="{9D8B030D-6E8A-4147-A177-3AD203B41FA5}">
                          <a16:colId xmlns:a16="http://schemas.microsoft.com/office/drawing/2014/main" xmlns="" val="381971928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="" val="4119749012"/>
                        </a:ext>
                      </a:extLst>
                    </a:gridCol>
                    <a:gridCol w="2259370">
                      <a:extLst>
                        <a:ext uri="{9D8B030D-6E8A-4147-A177-3AD203B41FA5}">
                          <a16:colId xmlns:a16="http://schemas.microsoft.com/office/drawing/2014/main" xmlns="" val="3775246695"/>
                        </a:ext>
                      </a:extLst>
                    </a:gridCol>
                    <a:gridCol w="1478913">
                      <a:extLst>
                        <a:ext uri="{9D8B030D-6E8A-4147-A177-3AD203B41FA5}">
                          <a16:colId xmlns:a16="http://schemas.microsoft.com/office/drawing/2014/main" xmlns="" val="4075432272"/>
                        </a:ext>
                      </a:extLst>
                    </a:gridCol>
                  </a:tblGrid>
                  <a:tr h="5324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 smtClean="0"/>
                        </a:p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-25000" dirty="0" smtClean="0"/>
                            <a:t>De-trend data</a:t>
                          </a:r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SN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 smtClean="0"/>
                            <a:t> = </a:t>
                          </a:r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unadjusted SI</a:t>
                          </a:r>
                          <a:endParaRPr lang="en-US" sz="1800" b="1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SN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 smtClean="0"/>
                            <a:t>=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f>
                                    <m:f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SN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 smtClean="0"/>
                                        <m:t>t</m:t>
                                      </m:r>
                                    </m:num>
                                    <m:den>
                                      <m:r>
                                        <a:rPr lang="en-US" b="1" i="1" baseline="0" dirty="0" smtClean="0">
                                          <a:latin typeface="Cambria Math" panose="02040503050406030204" pitchFamily="18" charset="0"/>
                                        </a:rPr>
                                        <m:t>𝑮𝑴</m:t>
                                      </m:r>
                                    </m:den>
                                  </m:f>
                                </m:e>
                              </m:acc>
                            </m:oMath>
                          </a14:m>
                          <a:endParaRPr lang="en-US" dirty="0" smtClean="0"/>
                        </a:p>
                        <a:p>
                          <a:pPr algn="ctr"/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adjusted SI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d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dirty="0" smtClean="0"/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baseline="0" dirty="0" smtClean="0"/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-25000" dirty="0" smtClean="0"/>
                                    <m:t> </m:t>
                                  </m:r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SN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 smtClean="0"/>
                                        <m:t>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baseline="-25000" dirty="0" smtClean="0"/>
                                        <m:t> </m:t>
                                      </m:r>
                                    </m:e>
                                  </m:acc>
                                </m:den>
                              </m:f>
                            </m:oMath>
                          </a14:m>
                          <a:r>
                            <a:rPr lang="en-US" dirty="0" smtClean="0"/>
                            <a:t> </a:t>
                          </a:r>
                        </a:p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De-</a:t>
                          </a:r>
                          <a:r>
                            <a:rPr lang="en-US" sz="1800" b="1" kern="1200" baseline="-25000" dirty="0" err="1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seasonalized</a:t>
                          </a:r>
                          <a:r>
                            <a:rPr lang="en-US" sz="1800" b="1" kern="1200" baseline="-25000" dirty="0" smtClean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data</a:t>
                          </a:r>
                          <a:endParaRPr lang="en-US" sz="1800" b="1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950.2719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1008.92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17974033"/>
                      </a:ext>
                    </a:extLst>
                  </a:tr>
                  <a:tr h="38627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0.7266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1113.04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1.0855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1113.00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1.3094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1092.46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0.9580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1031.34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0.6586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956.72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1.0346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965.48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1.2707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982.91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0.9756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1041.06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1046.46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1161.22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8006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97375223"/>
                  </p:ext>
                </p:extLst>
              </p:nvPr>
            </p:nvGraphicFramePr>
            <p:xfrm>
              <a:off x="417654" y="1855694"/>
              <a:ext cx="10931664" cy="53936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019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1124570"/>
                        </a:ext>
                      </a:extLst>
                    </a:gridCol>
                    <a:gridCol w="887506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38208221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226654808"/>
                        </a:ext>
                      </a:extLst>
                    </a:gridCol>
                    <a:gridCol w="1398494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068377925"/>
                        </a:ext>
                      </a:extLst>
                    </a:gridCol>
                    <a:gridCol w="1196788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819719289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119749012"/>
                        </a:ext>
                      </a:extLst>
                    </a:gridCol>
                    <a:gridCol w="225937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775246695"/>
                        </a:ext>
                      </a:extLst>
                    </a:gridCol>
                    <a:gridCol w="147891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075432272"/>
                        </a:ext>
                      </a:extLst>
                    </a:gridCol>
                  </a:tblGrid>
                  <a:tr h="928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 point MA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CMA= 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 err="1" smtClean="0"/>
                            <a:t>X</a:t>
                          </a:r>
                          <a:r>
                            <a:rPr lang="en-US" baseline="-25000" dirty="0" err="1" smtClean="0"/>
                            <a:t>t</a:t>
                          </a:r>
                          <a:r>
                            <a:rPr lang="en-US" baseline="-25000" dirty="0" smtClean="0"/>
                            <a:t> </a:t>
                          </a:r>
                          <a:r>
                            <a:rPr lang="en-US" baseline="0" dirty="0" smtClean="0"/>
                            <a:t>/</a:t>
                          </a:r>
                          <a:r>
                            <a:rPr lang="en-US" baseline="0" dirty="0" err="1" smtClean="0"/>
                            <a:t>Y</a:t>
                          </a:r>
                          <a:r>
                            <a:rPr lang="en-US" baseline="-25000" dirty="0" err="1" smtClean="0"/>
                            <a:t>t</a:t>
                          </a:r>
                          <a:endParaRPr lang="en-US" baseline="-25000" dirty="0" smtClean="0"/>
                        </a:p>
                        <a:p>
                          <a:pPr marL="0" marR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-25000" dirty="0" smtClean="0"/>
                            <a:t>De-trend data</a:t>
                          </a:r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92691" t="-3289" r="-204983" b="-49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19459" t="-3289" r="-66757" b="-49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38683" t="-3289" r="-1646" b="-49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5070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950.2719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0969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973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1008.92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17974033"/>
                      </a:ext>
                    </a:extLst>
                  </a:tr>
                  <a:tr h="386272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769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1058.375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0.7266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1113.04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318119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1084.25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1.0855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1113.00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099549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1406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1073.75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1.3094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1092.46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088789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1040.75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0.9580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1031.34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8056661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661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1003.625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0.6586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956.72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699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986.875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1.0346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965.48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993709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995.5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1.2707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1.2900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1.2870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982.91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13759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1029.125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0.9756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chemeClr val="tx1"/>
                              </a:solidFill>
                            </a:rPr>
                            <a:t>0.9667</a:t>
                          </a:r>
                          <a:endParaRPr lang="en-US" sz="2000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0.9644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1041.06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1223903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0.6936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0.6909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1046.46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856458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</a:rPr>
                            <a:t>1.0600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1.0575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1161.22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80066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" name="Group 18"/>
          <p:cNvGrpSpPr/>
          <p:nvPr/>
        </p:nvGrpSpPr>
        <p:grpSpPr>
          <a:xfrm>
            <a:off x="1726646" y="2955545"/>
            <a:ext cx="1087267" cy="3281480"/>
            <a:chOff x="2927447" y="2347416"/>
            <a:chExt cx="1087267" cy="3281480"/>
          </a:xfrm>
        </p:grpSpPr>
        <p:grpSp>
          <p:nvGrpSpPr>
            <p:cNvPr id="12" name="Group 11"/>
            <p:cNvGrpSpPr/>
            <p:nvPr/>
          </p:nvGrpSpPr>
          <p:grpSpPr>
            <a:xfrm>
              <a:off x="2966108" y="2347416"/>
              <a:ext cx="1048606" cy="1808588"/>
              <a:chOff x="3143529" y="3657601"/>
              <a:chExt cx="1048606" cy="1808588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1035.5</a:t>
                </a:r>
                <a:endParaRPr lang="en-US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168553" y="397377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1081.25</a:t>
                </a:r>
                <a:endParaRPr lang="en-US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143529" y="4358193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1087.25</a:t>
                </a:r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143529" y="472752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1060.25</a:t>
                </a:r>
                <a:endParaRPr lang="en-US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143529" y="5096857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1021.25</a:t>
                </a:r>
                <a:endParaRPr lang="en-US" dirty="0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2927447" y="4140697"/>
              <a:ext cx="1059971" cy="1488199"/>
              <a:chOff x="3129892" y="3657601"/>
              <a:chExt cx="1059971" cy="1488199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166281" y="3657601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986</a:t>
                </a:r>
                <a:endParaRPr 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166281" y="4037804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987.75</a:t>
                </a:r>
                <a:endParaRPr 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29892" y="4396265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1003.25</a:t>
                </a:r>
                <a:endParaRPr 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166281" y="4776468"/>
                <a:ext cx="1023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1055</a:t>
                </a:r>
                <a:endParaRPr lang="en-US" dirty="0"/>
              </a:p>
            </p:txBody>
          </p:sp>
        </p:grp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 smtClean="0"/>
              <a:t>De-</a:t>
            </a:r>
            <a:r>
              <a:rPr lang="en-US" dirty="0" err="1" smtClean="0"/>
              <a:t>seasonalized</a:t>
            </a:r>
            <a:r>
              <a:rPr lang="en-US" dirty="0" smtClean="0"/>
              <a:t>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01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xmlns="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documentManagement/types"/>
    <ds:schemaRef ds:uri="http://purl.org/dc/elements/1.1/"/>
    <ds:schemaRef ds:uri="71af3243-3dd4-4a8d-8c0d-dd76da1f02a5"/>
    <ds:schemaRef ds:uri="http://purl.org/dc/dcmitype/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Dividend design</Template>
  <TotalTime>0</TotalTime>
  <Words>1260</Words>
  <Application>Microsoft Office PowerPoint</Application>
  <PresentationFormat>Widescreen</PresentationFormat>
  <Paragraphs>486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Cambria Math</vt:lpstr>
      <vt:lpstr>Gill Sans MT</vt:lpstr>
      <vt:lpstr>Wingdings 2</vt:lpstr>
      <vt:lpstr>Dividend</vt:lpstr>
      <vt:lpstr>Time series and trend analysis</vt:lpstr>
      <vt:lpstr>Overview</vt:lpstr>
      <vt:lpstr>Learning outcomes</vt:lpstr>
      <vt:lpstr>introduction</vt:lpstr>
      <vt:lpstr>Applications of time series</vt:lpstr>
      <vt:lpstr>Time series analysis</vt:lpstr>
      <vt:lpstr>Time series forecasting</vt:lpstr>
      <vt:lpstr>Components of time series</vt:lpstr>
      <vt:lpstr>trend</vt:lpstr>
      <vt:lpstr>Trend (contd.)</vt:lpstr>
      <vt:lpstr>Seasonal variations</vt:lpstr>
      <vt:lpstr>Seasonal variations (contd.)</vt:lpstr>
      <vt:lpstr>Cyclic variations</vt:lpstr>
      <vt:lpstr>Cyclic variations (contd.)</vt:lpstr>
      <vt:lpstr>Random or irregular movements</vt:lpstr>
      <vt:lpstr>Random or irregular movements (Contd.)</vt:lpstr>
      <vt:lpstr>Time series in real life</vt:lpstr>
      <vt:lpstr>Forecasting with time series</vt:lpstr>
      <vt:lpstr>Decomposition methods</vt:lpstr>
      <vt:lpstr>Decomposition methods (contd.)</vt:lpstr>
      <vt:lpstr>Forecasting using decomposition methods</vt:lpstr>
      <vt:lpstr>An example – additive decompositioN</vt:lpstr>
      <vt:lpstr>estimating trend – Moving average</vt:lpstr>
      <vt:lpstr>estimating trend – Moving average (Contd.)</vt:lpstr>
      <vt:lpstr>Moving average -example</vt:lpstr>
      <vt:lpstr>De trending – multiplicative Decomposition</vt:lpstr>
      <vt:lpstr>De-seasonalizing data</vt:lpstr>
      <vt:lpstr>Computing the unadjusted seasonal index</vt:lpstr>
      <vt:lpstr>Computing the adjusted seasonal index</vt:lpstr>
      <vt:lpstr>De-seasonalized data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2019-02-27T03:17:00Z</dcterms:created>
  <dcterms:modified xsi:type="dcterms:W3CDTF">2020-08-14T18:20:48Z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