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72" r:id="rId4"/>
  </p:sldMasterIdLst>
  <p:notesMasterIdLst>
    <p:notesMasterId r:id="rId61"/>
  </p:notesMasterIdLst>
  <p:sldIdLst>
    <p:sldId id="256" r:id="rId5"/>
    <p:sldId id="266" r:id="rId6"/>
    <p:sldId id="282" r:id="rId7"/>
    <p:sldId id="323" r:id="rId8"/>
    <p:sldId id="324" r:id="rId9"/>
    <p:sldId id="265" r:id="rId10"/>
    <p:sldId id="276" r:id="rId11"/>
    <p:sldId id="298" r:id="rId12"/>
    <p:sldId id="299" r:id="rId13"/>
    <p:sldId id="263" r:id="rId14"/>
    <p:sldId id="267" r:id="rId15"/>
    <p:sldId id="268" r:id="rId16"/>
    <p:sldId id="272" r:id="rId17"/>
    <p:sldId id="269" r:id="rId18"/>
    <p:sldId id="273" r:id="rId19"/>
    <p:sldId id="270" r:id="rId20"/>
    <p:sldId id="274" r:id="rId21"/>
    <p:sldId id="293" r:id="rId22"/>
    <p:sldId id="294" r:id="rId23"/>
    <p:sldId id="290" r:id="rId24"/>
    <p:sldId id="277" r:id="rId25"/>
    <p:sldId id="278" r:id="rId26"/>
    <p:sldId id="292" r:id="rId27"/>
    <p:sldId id="326" r:id="rId28"/>
    <p:sldId id="279" r:id="rId29"/>
    <p:sldId id="327" r:id="rId30"/>
    <p:sldId id="328" r:id="rId31"/>
    <p:sldId id="284" r:id="rId32"/>
    <p:sldId id="297" r:id="rId33"/>
    <p:sldId id="325" r:id="rId34"/>
    <p:sldId id="287" r:id="rId35"/>
    <p:sldId id="330" r:id="rId36"/>
    <p:sldId id="331" r:id="rId37"/>
    <p:sldId id="332" r:id="rId38"/>
    <p:sldId id="286" r:id="rId39"/>
    <p:sldId id="296" r:id="rId40"/>
    <p:sldId id="288" r:id="rId41"/>
    <p:sldId id="305" r:id="rId42"/>
    <p:sldId id="304" r:id="rId43"/>
    <p:sldId id="289" r:id="rId44"/>
    <p:sldId id="309" r:id="rId45"/>
    <p:sldId id="306" r:id="rId46"/>
    <p:sldId id="307" r:id="rId47"/>
    <p:sldId id="310" r:id="rId48"/>
    <p:sldId id="314" r:id="rId49"/>
    <p:sldId id="315" r:id="rId50"/>
    <p:sldId id="316" r:id="rId51"/>
    <p:sldId id="318" r:id="rId52"/>
    <p:sldId id="319" r:id="rId53"/>
    <p:sldId id="311" r:id="rId54"/>
    <p:sldId id="320" r:id="rId55"/>
    <p:sldId id="321" r:id="rId56"/>
    <p:sldId id="322" r:id="rId57"/>
    <p:sldId id="312" r:id="rId58"/>
    <p:sldId id="313" r:id="rId59"/>
    <p:sldId id="260" r:id="rId60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48" autoAdjust="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C1FFD-66D4-4ABA-93EA-49D67166451A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3C8B4D-D529-4E1D-9D8D-C6BD6E2699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494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01A9CD-7FF2-42FE-8C79-DC57766FA16C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919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2475"/>
            <a:ext cx="6675438" cy="3756025"/>
          </a:xfrm>
          <a:ln/>
        </p:spPr>
      </p:sp>
      <p:sp>
        <p:nvSpPr>
          <p:cNvPr id="91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54" y="4758441"/>
            <a:ext cx="5042467" cy="4506645"/>
          </a:xfrm>
        </p:spPr>
        <p:txBody>
          <a:bodyPr/>
          <a:lstStyle/>
          <a:p>
            <a:r>
              <a:rPr lang="en-US" altLang="en-US" sz="2400"/>
              <a:t>Here I’m showing some data to cluster</a:t>
            </a:r>
          </a:p>
          <a:p>
            <a:r>
              <a:rPr lang="en-US" altLang="en-US" sz="2400"/>
              <a:t>Let’s say high-D data, but projected it down to 2 most important dimensions for clustering</a:t>
            </a:r>
          </a:p>
          <a:p>
            <a:r>
              <a:rPr lang="en-US" altLang="en-US" sz="2400"/>
              <a:t>It’s obvious to us even with 2-D projection that red points shouldn’t be in same cluster</a:t>
            </a:r>
          </a:p>
          <a:p>
            <a:r>
              <a:rPr lang="en-US" altLang="en-US" sz="2400"/>
              <a:t>But, standard clustering algorithm like GAC needs to compare these using all dimensions of the data</a:t>
            </a:r>
          </a:p>
          <a:p>
            <a:endParaRPr lang="en-US" altLang="en-US" sz="2400"/>
          </a:p>
          <a:p>
            <a:r>
              <a:rPr lang="en-US" altLang="en-US" sz="2400"/>
              <a:t>However, different story for the blue points.</a:t>
            </a:r>
          </a:p>
          <a:p>
            <a:r>
              <a:rPr lang="en-US" altLang="en-US" sz="2400"/>
              <a:t>Here, using the projection, we don’t know if they are in the same cluster.</a:t>
            </a:r>
          </a:p>
          <a:p>
            <a:r>
              <a:rPr lang="en-US" altLang="en-US" sz="2400"/>
              <a:t>We’d want to use the high-D metric to determine if there should be clustered together or apart.</a:t>
            </a:r>
          </a:p>
          <a:p>
            <a:endParaRPr lang="en-US" altLang="en-US" sz="2400"/>
          </a:p>
          <a:p>
            <a:r>
              <a:rPr lang="en-US" altLang="en-US" sz="2400"/>
              <a:t>We can encode exactly this type of information in an overlapping clustering of the data created by the inexpensive distance metric</a:t>
            </a:r>
          </a:p>
        </p:txBody>
      </p:sp>
    </p:spTree>
    <p:extLst>
      <p:ext uri="{BB962C8B-B14F-4D97-AF65-F5344CB8AC3E}">
        <p14:creationId xmlns:p14="http://schemas.microsoft.com/office/powerpoint/2010/main" val="279731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47D8F7-A3C5-4655-A86E-4C7A937EBD8A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921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8425" y="752475"/>
            <a:ext cx="6675438" cy="3756025"/>
          </a:xfrm>
          <a:ln/>
        </p:spPr>
      </p:sp>
      <p:sp>
        <p:nvSpPr>
          <p:cNvPr id="921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254" y="4758441"/>
            <a:ext cx="5042467" cy="4506645"/>
          </a:xfrm>
        </p:spPr>
        <p:txBody>
          <a:bodyPr/>
          <a:lstStyle/>
          <a:p>
            <a:r>
              <a:rPr lang="en-US" altLang="en-US" sz="2400"/>
              <a:t>Here I’m showing some data to cluster</a:t>
            </a:r>
          </a:p>
          <a:p>
            <a:r>
              <a:rPr lang="en-US" altLang="en-US" sz="2400"/>
              <a:t>Let’s say high-D data, but projected it down to 2 most important dimensions for clustering</a:t>
            </a:r>
          </a:p>
          <a:p>
            <a:r>
              <a:rPr lang="en-US" altLang="en-US" sz="2400"/>
              <a:t>It’s obvious to us even with 2-D projection that red points shouldn’t be in same cluster</a:t>
            </a:r>
          </a:p>
          <a:p>
            <a:r>
              <a:rPr lang="en-US" altLang="en-US" sz="2400"/>
              <a:t>But, standard clustering algorithm like GAC needs to compare these using all dimensions of the data</a:t>
            </a:r>
          </a:p>
          <a:p>
            <a:endParaRPr lang="en-US" altLang="en-US" sz="2400"/>
          </a:p>
          <a:p>
            <a:r>
              <a:rPr lang="en-US" altLang="en-US" sz="2400"/>
              <a:t>However, different story for the blue points.</a:t>
            </a:r>
          </a:p>
          <a:p>
            <a:r>
              <a:rPr lang="en-US" altLang="en-US" sz="2400"/>
              <a:t>Here, using the projection, we don’t know if they are in the same cluster.</a:t>
            </a:r>
          </a:p>
          <a:p>
            <a:r>
              <a:rPr lang="en-US" altLang="en-US" sz="2400"/>
              <a:t>We’d want to use the high-D metric to determine if there should be clustered together or apart.</a:t>
            </a:r>
          </a:p>
          <a:p>
            <a:endParaRPr lang="en-US" altLang="en-US" sz="2400"/>
          </a:p>
          <a:p>
            <a:r>
              <a:rPr lang="en-US" altLang="en-US" sz="2400"/>
              <a:t>We can encode exactly this type of information in an overlapping clustering of the data created by the inexpensive distance metric</a:t>
            </a:r>
          </a:p>
        </p:txBody>
      </p:sp>
    </p:spTree>
    <p:extLst>
      <p:ext uri="{BB962C8B-B14F-4D97-AF65-F5344CB8AC3E}">
        <p14:creationId xmlns:p14="http://schemas.microsoft.com/office/powerpoint/2010/main" val="3617534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Data Science &amp; analytics (it3080)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Supervised and unsupervised learning</a:t>
            </a:r>
          </a:p>
          <a:p>
            <a:r>
              <a:rPr lang="en-US" dirty="0"/>
              <a:t>What is a cluster and cluster analysis?</a:t>
            </a:r>
          </a:p>
          <a:p>
            <a:r>
              <a:rPr lang="en-US" dirty="0"/>
              <a:t>Applications of cluster analysis</a:t>
            </a:r>
          </a:p>
          <a:p>
            <a:r>
              <a:rPr lang="en-US" dirty="0"/>
              <a:t>Methods of clustering</a:t>
            </a:r>
          </a:p>
          <a:p>
            <a:r>
              <a:rPr lang="en-US" dirty="0"/>
              <a:t>K-means algorithm</a:t>
            </a:r>
          </a:p>
          <a:p>
            <a:r>
              <a:rPr lang="en-US" dirty="0"/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602805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dirty="0"/>
              <a:t>Compare and contrast supervised and unsupervised learning</a:t>
            </a:r>
          </a:p>
          <a:p>
            <a:r>
              <a:rPr lang="en-US" dirty="0"/>
              <a:t>Explain what is cluster analysis</a:t>
            </a:r>
          </a:p>
          <a:p>
            <a:r>
              <a:rPr lang="en-US" dirty="0"/>
              <a:t>Identify applications of cluster analysis</a:t>
            </a:r>
          </a:p>
          <a:p>
            <a:r>
              <a:rPr lang="en-US"/>
              <a:t>Apply </a:t>
            </a:r>
            <a:r>
              <a:rPr lang="en-US" dirty="0"/>
              <a:t>k-means algorithm for cluster analysis</a:t>
            </a:r>
          </a:p>
          <a:p>
            <a:r>
              <a:rPr lang="en-US" dirty="0"/>
              <a:t>Apply Agglomerative hierarchical clustering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160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3E99-318A-4F7C-B654-4CEE17D4E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914CA-DD55-4248-8A2B-769044D96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3038"/>
            <a:ext cx="11029615" cy="416403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Supervised learning is a learning in which we teach or train the machine using data which is well labeled that means some data is already tagged with the correct answer.</a:t>
            </a:r>
          </a:p>
          <a:p>
            <a:pPr lvl="1"/>
            <a:r>
              <a:rPr lang="en-US" dirty="0"/>
              <a:t>Ex:  In the email spam filter problem, we have a dataset of emails with all the text within each and every email. </a:t>
            </a:r>
          </a:p>
          <a:p>
            <a:pPr lvl="1"/>
            <a:r>
              <a:rPr lang="en-US" dirty="0"/>
              <a:t>We also know which of these emails are spam or not (the so-called </a:t>
            </a:r>
            <a:r>
              <a:rPr lang="en-US" i="1" dirty="0"/>
              <a:t>labels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These labels are very valuable in helping the supervised learning to separate the spam emails from the rest.</a:t>
            </a:r>
          </a:p>
          <a:p>
            <a:r>
              <a:rPr lang="en-US" dirty="0"/>
              <a:t>Classification and regression are common examples for supervised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1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E51C-1583-42D6-9F71-C7E4A440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8E671-91B7-4A12-B708-DF9DEB54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7541"/>
            <a:ext cx="11029615" cy="3678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 unsupervised learning, labels are not available. </a:t>
            </a:r>
          </a:p>
          <a:p>
            <a:pPr lvl="1"/>
            <a:r>
              <a:rPr lang="en-US" dirty="0"/>
              <a:t>Ex: Consider the email spam filter problem, this time without labels. </a:t>
            </a:r>
          </a:p>
          <a:p>
            <a:pPr lvl="1"/>
            <a:r>
              <a:rPr lang="en-US" dirty="0"/>
              <a:t>To identify a spam email, now the underlying structure of emails should be understood and emails should be separated into different groups such that emails within a group are similar to each other but different from emails in other groups.</a:t>
            </a:r>
          </a:p>
          <a:p>
            <a:r>
              <a:rPr lang="en-US" dirty="0"/>
              <a:t>Clustering is the most common type of unsupervised learning.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4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Cluster analysis </a:t>
            </a:r>
            <a:r>
              <a:rPr lang="en-US" dirty="0"/>
              <a:t>or simply </a:t>
            </a:r>
            <a:r>
              <a:rPr lang="en-US" b="1" dirty="0"/>
              <a:t>clustering </a:t>
            </a:r>
            <a:r>
              <a:rPr lang="en-US" dirty="0"/>
              <a:t>is the process of partitioning a set of data objects (or observations) into subsets. </a:t>
            </a:r>
          </a:p>
          <a:p>
            <a:r>
              <a:rPr lang="en-US" dirty="0"/>
              <a:t>Each subset is a </a:t>
            </a:r>
            <a:r>
              <a:rPr lang="en-US" b="1" dirty="0"/>
              <a:t>cluster</a:t>
            </a:r>
            <a:r>
              <a:rPr lang="en-US" dirty="0"/>
              <a:t>, such that objects in a cluster are similar to one another, yet dissimilar to objects in other clusters. </a:t>
            </a:r>
          </a:p>
          <a:p>
            <a:r>
              <a:rPr lang="en-US" dirty="0"/>
              <a:t>The goal of clustering is to maximize the similarity of observations within a cluster and maximize the dissimilarity between clusters.</a:t>
            </a:r>
          </a:p>
        </p:txBody>
      </p:sp>
    </p:spTree>
    <p:extLst>
      <p:ext uri="{BB962C8B-B14F-4D97-AF65-F5344CB8AC3E}">
        <p14:creationId xmlns:p14="http://schemas.microsoft.com/office/powerpoint/2010/main" val="383200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cluster analysis?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 analysis does not have any labels</a:t>
            </a:r>
          </a:p>
          <a:p>
            <a:r>
              <a:rPr lang="en-US" dirty="0"/>
              <a:t>When cluster analysis is done, the analyst is not aware of number of clusters that are available, whether they are correct or whether they are useful</a:t>
            </a:r>
          </a:p>
          <a:p>
            <a:r>
              <a:rPr lang="en-US" dirty="0"/>
              <a:t>Labelling outputs is up to the analyst or other stake holders</a:t>
            </a:r>
          </a:p>
        </p:txBody>
      </p:sp>
    </p:spTree>
    <p:extLst>
      <p:ext uri="{BB962C8B-B14F-4D97-AF65-F5344CB8AC3E}">
        <p14:creationId xmlns:p14="http://schemas.microsoft.com/office/powerpoint/2010/main" val="4064807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An</a:t>
            </a:r>
            <a:r>
              <a:rPr lang="en-US" altLang="en-US" dirty="0"/>
              <a:t> </a:t>
            </a:r>
            <a:r>
              <a:rPr lang="en-US" altLang="en-US" sz="4000" dirty="0"/>
              <a:t>example</a:t>
            </a:r>
          </a:p>
        </p:txBody>
      </p:sp>
      <p:sp>
        <p:nvSpPr>
          <p:cNvPr id="918531" name="Oval 3"/>
          <p:cNvSpPr>
            <a:spLocks noChangeArrowheads="1"/>
          </p:cNvSpPr>
          <p:nvPr/>
        </p:nvSpPr>
        <p:spPr bwMode="auto">
          <a:xfrm>
            <a:off x="3429000" y="236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2" name="Oval 4"/>
          <p:cNvSpPr>
            <a:spLocks noChangeArrowheads="1"/>
          </p:cNvSpPr>
          <p:nvPr/>
        </p:nvSpPr>
        <p:spPr bwMode="auto">
          <a:xfrm>
            <a:off x="3657600" y="228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3" name="Oval 5"/>
          <p:cNvSpPr>
            <a:spLocks noChangeArrowheads="1"/>
          </p:cNvSpPr>
          <p:nvPr/>
        </p:nvSpPr>
        <p:spPr bwMode="auto">
          <a:xfrm>
            <a:off x="4038600" y="236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4" name="Oval 6"/>
          <p:cNvSpPr>
            <a:spLocks noChangeArrowheads="1"/>
          </p:cNvSpPr>
          <p:nvPr/>
        </p:nvSpPr>
        <p:spPr bwMode="auto">
          <a:xfrm>
            <a:off x="38100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5" name="Oval 7"/>
          <p:cNvSpPr>
            <a:spLocks noChangeArrowheads="1"/>
          </p:cNvSpPr>
          <p:nvPr/>
        </p:nvSpPr>
        <p:spPr bwMode="auto">
          <a:xfrm>
            <a:off x="35814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6" name="Oval 8"/>
          <p:cNvSpPr>
            <a:spLocks noChangeArrowheads="1"/>
          </p:cNvSpPr>
          <p:nvPr/>
        </p:nvSpPr>
        <p:spPr bwMode="auto">
          <a:xfrm>
            <a:off x="40386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7" name="Oval 9"/>
          <p:cNvSpPr>
            <a:spLocks noChangeArrowheads="1"/>
          </p:cNvSpPr>
          <p:nvPr/>
        </p:nvSpPr>
        <p:spPr bwMode="auto">
          <a:xfrm>
            <a:off x="2514600" y="3505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8" name="Oval 10"/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39" name="Oval 11"/>
          <p:cNvSpPr>
            <a:spLocks noChangeArrowheads="1"/>
          </p:cNvSpPr>
          <p:nvPr/>
        </p:nvSpPr>
        <p:spPr bwMode="auto">
          <a:xfrm>
            <a:off x="28956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0" name="Oval 12"/>
          <p:cNvSpPr>
            <a:spLocks noChangeArrowheads="1"/>
          </p:cNvSpPr>
          <p:nvPr/>
        </p:nvSpPr>
        <p:spPr bwMode="auto">
          <a:xfrm>
            <a:off x="2514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1" name="Oval 13"/>
          <p:cNvSpPr>
            <a:spLocks noChangeArrowheads="1"/>
          </p:cNvSpPr>
          <p:nvPr/>
        </p:nvSpPr>
        <p:spPr bwMode="auto">
          <a:xfrm>
            <a:off x="2971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2" name="Oval 14"/>
          <p:cNvSpPr>
            <a:spLocks noChangeArrowheads="1"/>
          </p:cNvSpPr>
          <p:nvPr/>
        </p:nvSpPr>
        <p:spPr bwMode="auto">
          <a:xfrm>
            <a:off x="32766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3" name="Oval 15"/>
          <p:cNvSpPr>
            <a:spLocks noChangeArrowheads="1"/>
          </p:cNvSpPr>
          <p:nvPr/>
        </p:nvSpPr>
        <p:spPr bwMode="auto">
          <a:xfrm>
            <a:off x="3276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4" name="Oval 16"/>
          <p:cNvSpPr>
            <a:spLocks noChangeArrowheads="1"/>
          </p:cNvSpPr>
          <p:nvPr/>
        </p:nvSpPr>
        <p:spPr bwMode="auto">
          <a:xfrm>
            <a:off x="43434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5" name="Oval 17"/>
          <p:cNvSpPr>
            <a:spLocks noChangeArrowheads="1"/>
          </p:cNvSpPr>
          <p:nvPr/>
        </p:nvSpPr>
        <p:spPr bwMode="auto">
          <a:xfrm>
            <a:off x="4572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6" name="Oval 18"/>
          <p:cNvSpPr>
            <a:spLocks noChangeArrowheads="1"/>
          </p:cNvSpPr>
          <p:nvPr/>
        </p:nvSpPr>
        <p:spPr bwMode="auto">
          <a:xfrm>
            <a:off x="46482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7" name="Oval 19"/>
          <p:cNvSpPr>
            <a:spLocks noChangeArrowheads="1"/>
          </p:cNvSpPr>
          <p:nvPr/>
        </p:nvSpPr>
        <p:spPr bwMode="auto">
          <a:xfrm>
            <a:off x="4419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8" name="Oval 20"/>
          <p:cNvSpPr>
            <a:spLocks noChangeArrowheads="1"/>
          </p:cNvSpPr>
          <p:nvPr/>
        </p:nvSpPr>
        <p:spPr bwMode="auto">
          <a:xfrm>
            <a:off x="4419600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49" name="Oval 21"/>
          <p:cNvSpPr>
            <a:spLocks noChangeArrowheads="1"/>
          </p:cNvSpPr>
          <p:nvPr/>
        </p:nvSpPr>
        <p:spPr bwMode="auto">
          <a:xfrm>
            <a:off x="48006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0" name="Oval 22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1" name="Oval 23"/>
          <p:cNvSpPr>
            <a:spLocks noChangeArrowheads="1"/>
          </p:cNvSpPr>
          <p:nvPr/>
        </p:nvSpPr>
        <p:spPr bwMode="auto">
          <a:xfrm>
            <a:off x="4953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2" name="Oval 24"/>
          <p:cNvSpPr>
            <a:spLocks noChangeArrowheads="1"/>
          </p:cNvSpPr>
          <p:nvPr/>
        </p:nvSpPr>
        <p:spPr bwMode="auto">
          <a:xfrm>
            <a:off x="51816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3" name="Oval 25"/>
          <p:cNvSpPr>
            <a:spLocks noChangeArrowheads="1"/>
          </p:cNvSpPr>
          <p:nvPr/>
        </p:nvSpPr>
        <p:spPr bwMode="auto">
          <a:xfrm>
            <a:off x="533400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4" name="Oval 26"/>
          <p:cNvSpPr>
            <a:spLocks noChangeArrowheads="1"/>
          </p:cNvSpPr>
          <p:nvPr/>
        </p:nvSpPr>
        <p:spPr bwMode="auto">
          <a:xfrm>
            <a:off x="54864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5" name="Oval 27"/>
          <p:cNvSpPr>
            <a:spLocks noChangeArrowheads="1"/>
          </p:cNvSpPr>
          <p:nvPr/>
        </p:nvSpPr>
        <p:spPr bwMode="auto">
          <a:xfrm>
            <a:off x="51816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6" name="Oval 28"/>
          <p:cNvSpPr>
            <a:spLocks noChangeArrowheads="1"/>
          </p:cNvSpPr>
          <p:nvPr/>
        </p:nvSpPr>
        <p:spPr bwMode="auto">
          <a:xfrm>
            <a:off x="54864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7" name="Oval 29"/>
          <p:cNvSpPr>
            <a:spLocks noChangeArrowheads="1"/>
          </p:cNvSpPr>
          <p:nvPr/>
        </p:nvSpPr>
        <p:spPr bwMode="auto">
          <a:xfrm>
            <a:off x="8153400" y="198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8" name="Oval 30"/>
          <p:cNvSpPr>
            <a:spLocks noChangeArrowheads="1"/>
          </p:cNvSpPr>
          <p:nvPr/>
        </p:nvSpPr>
        <p:spPr bwMode="auto">
          <a:xfrm>
            <a:off x="8458200" y="213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59" name="Oval 31"/>
          <p:cNvSpPr>
            <a:spLocks noChangeArrowheads="1"/>
          </p:cNvSpPr>
          <p:nvPr/>
        </p:nvSpPr>
        <p:spPr bwMode="auto">
          <a:xfrm>
            <a:off x="80772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0" name="Oval 32"/>
          <p:cNvSpPr>
            <a:spLocks noChangeArrowheads="1"/>
          </p:cNvSpPr>
          <p:nvPr/>
        </p:nvSpPr>
        <p:spPr bwMode="auto">
          <a:xfrm>
            <a:off x="7848600" y="228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1" name="Oval 33"/>
          <p:cNvSpPr>
            <a:spLocks noChangeArrowheads="1"/>
          </p:cNvSpPr>
          <p:nvPr/>
        </p:nvSpPr>
        <p:spPr bwMode="auto">
          <a:xfrm>
            <a:off x="8763000" y="198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2" name="Oval 34"/>
          <p:cNvSpPr>
            <a:spLocks noChangeArrowheads="1"/>
          </p:cNvSpPr>
          <p:nvPr/>
        </p:nvSpPr>
        <p:spPr bwMode="auto">
          <a:xfrm>
            <a:off x="85344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3" name="Oval 35"/>
          <p:cNvSpPr>
            <a:spLocks noChangeArrowheads="1"/>
          </p:cNvSpPr>
          <p:nvPr/>
        </p:nvSpPr>
        <p:spPr bwMode="auto">
          <a:xfrm>
            <a:off x="79248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4" name="Oval 36"/>
          <p:cNvSpPr>
            <a:spLocks noChangeArrowheads="1"/>
          </p:cNvSpPr>
          <p:nvPr/>
        </p:nvSpPr>
        <p:spPr bwMode="auto">
          <a:xfrm>
            <a:off x="80010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5" name="Oval 37"/>
          <p:cNvSpPr>
            <a:spLocks noChangeArrowheads="1"/>
          </p:cNvSpPr>
          <p:nvPr/>
        </p:nvSpPr>
        <p:spPr bwMode="auto">
          <a:xfrm>
            <a:off x="81534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6" name="Oval 38"/>
          <p:cNvSpPr>
            <a:spLocks noChangeArrowheads="1"/>
          </p:cNvSpPr>
          <p:nvPr/>
        </p:nvSpPr>
        <p:spPr bwMode="auto">
          <a:xfrm>
            <a:off x="85344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7" name="Oval 39"/>
          <p:cNvSpPr>
            <a:spLocks noChangeArrowheads="1"/>
          </p:cNvSpPr>
          <p:nvPr/>
        </p:nvSpPr>
        <p:spPr bwMode="auto">
          <a:xfrm>
            <a:off x="84582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8" name="Oval 40"/>
          <p:cNvSpPr>
            <a:spLocks noChangeArrowheads="1"/>
          </p:cNvSpPr>
          <p:nvPr/>
        </p:nvSpPr>
        <p:spPr bwMode="auto">
          <a:xfrm>
            <a:off x="82296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69" name="Oval 41"/>
          <p:cNvSpPr>
            <a:spLocks noChangeArrowheads="1"/>
          </p:cNvSpPr>
          <p:nvPr/>
        </p:nvSpPr>
        <p:spPr bwMode="auto">
          <a:xfrm>
            <a:off x="5105400" y="594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0" name="Oval 42"/>
          <p:cNvSpPr>
            <a:spLocks noChangeArrowheads="1"/>
          </p:cNvSpPr>
          <p:nvPr/>
        </p:nvSpPr>
        <p:spPr bwMode="auto">
          <a:xfrm>
            <a:off x="51816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1" name="Oval 43"/>
          <p:cNvSpPr>
            <a:spLocks noChangeArrowheads="1"/>
          </p:cNvSpPr>
          <p:nvPr/>
        </p:nvSpPr>
        <p:spPr bwMode="auto">
          <a:xfrm>
            <a:off x="5334000" y="586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2" name="Oval 44"/>
          <p:cNvSpPr>
            <a:spLocks noChangeArrowheads="1"/>
          </p:cNvSpPr>
          <p:nvPr/>
        </p:nvSpPr>
        <p:spPr bwMode="auto">
          <a:xfrm>
            <a:off x="5715000" y="609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3" name="Oval 45"/>
          <p:cNvSpPr>
            <a:spLocks noChangeArrowheads="1"/>
          </p:cNvSpPr>
          <p:nvPr/>
        </p:nvSpPr>
        <p:spPr bwMode="auto">
          <a:xfrm>
            <a:off x="5638800" y="579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4" name="Oval 46"/>
          <p:cNvSpPr>
            <a:spLocks noChangeArrowheads="1"/>
          </p:cNvSpPr>
          <p:nvPr/>
        </p:nvSpPr>
        <p:spPr bwMode="auto">
          <a:xfrm>
            <a:off x="54102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8575" name="Oval 47"/>
          <p:cNvSpPr>
            <a:spLocks noChangeArrowheads="1"/>
          </p:cNvSpPr>
          <p:nvPr/>
        </p:nvSpPr>
        <p:spPr bwMode="auto">
          <a:xfrm>
            <a:off x="4419600" y="2971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57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5553" y="723927"/>
            <a:ext cx="11029616" cy="988332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An example</a:t>
            </a:r>
          </a:p>
        </p:txBody>
      </p:sp>
      <p:sp>
        <p:nvSpPr>
          <p:cNvPr id="920579" name="Oval 3"/>
          <p:cNvSpPr>
            <a:spLocks noChangeArrowheads="1"/>
          </p:cNvSpPr>
          <p:nvPr/>
        </p:nvSpPr>
        <p:spPr bwMode="auto">
          <a:xfrm>
            <a:off x="3429000" y="236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0" name="Oval 4"/>
          <p:cNvSpPr>
            <a:spLocks noChangeArrowheads="1"/>
          </p:cNvSpPr>
          <p:nvPr/>
        </p:nvSpPr>
        <p:spPr bwMode="auto">
          <a:xfrm>
            <a:off x="3657600" y="228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1" name="Oval 5"/>
          <p:cNvSpPr>
            <a:spLocks noChangeArrowheads="1"/>
          </p:cNvSpPr>
          <p:nvPr/>
        </p:nvSpPr>
        <p:spPr bwMode="auto">
          <a:xfrm>
            <a:off x="4038600" y="2362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2" name="Oval 6"/>
          <p:cNvSpPr>
            <a:spLocks noChangeArrowheads="1"/>
          </p:cNvSpPr>
          <p:nvPr/>
        </p:nvSpPr>
        <p:spPr bwMode="auto">
          <a:xfrm>
            <a:off x="3810000" y="2590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3" name="Oval 7"/>
          <p:cNvSpPr>
            <a:spLocks noChangeArrowheads="1"/>
          </p:cNvSpPr>
          <p:nvPr/>
        </p:nvSpPr>
        <p:spPr bwMode="auto">
          <a:xfrm>
            <a:off x="35814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4" name="Oval 8"/>
          <p:cNvSpPr>
            <a:spLocks noChangeArrowheads="1"/>
          </p:cNvSpPr>
          <p:nvPr/>
        </p:nvSpPr>
        <p:spPr bwMode="auto">
          <a:xfrm>
            <a:off x="4038600" y="2819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5" name="Oval 9"/>
          <p:cNvSpPr>
            <a:spLocks noChangeArrowheads="1"/>
          </p:cNvSpPr>
          <p:nvPr/>
        </p:nvSpPr>
        <p:spPr bwMode="auto">
          <a:xfrm>
            <a:off x="2514600" y="3505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6" name="Oval 10"/>
          <p:cNvSpPr>
            <a:spLocks noChangeArrowheads="1"/>
          </p:cNvSpPr>
          <p:nvPr/>
        </p:nvSpPr>
        <p:spPr bwMode="auto">
          <a:xfrm>
            <a:off x="3124200" y="3505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7" name="Oval 11"/>
          <p:cNvSpPr>
            <a:spLocks noChangeArrowheads="1"/>
          </p:cNvSpPr>
          <p:nvPr/>
        </p:nvSpPr>
        <p:spPr bwMode="auto">
          <a:xfrm>
            <a:off x="28956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8" name="Oval 12"/>
          <p:cNvSpPr>
            <a:spLocks noChangeArrowheads="1"/>
          </p:cNvSpPr>
          <p:nvPr/>
        </p:nvSpPr>
        <p:spPr bwMode="auto">
          <a:xfrm>
            <a:off x="25146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89" name="Oval 13"/>
          <p:cNvSpPr>
            <a:spLocks noChangeArrowheads="1"/>
          </p:cNvSpPr>
          <p:nvPr/>
        </p:nvSpPr>
        <p:spPr bwMode="auto">
          <a:xfrm>
            <a:off x="2971800" y="4267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0" name="Oval 14"/>
          <p:cNvSpPr>
            <a:spLocks noChangeArrowheads="1"/>
          </p:cNvSpPr>
          <p:nvPr/>
        </p:nvSpPr>
        <p:spPr bwMode="auto">
          <a:xfrm>
            <a:off x="32766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1" name="Oval 15"/>
          <p:cNvSpPr>
            <a:spLocks noChangeArrowheads="1"/>
          </p:cNvSpPr>
          <p:nvPr/>
        </p:nvSpPr>
        <p:spPr bwMode="auto">
          <a:xfrm>
            <a:off x="3276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2" name="Oval 16"/>
          <p:cNvSpPr>
            <a:spLocks noChangeArrowheads="1"/>
          </p:cNvSpPr>
          <p:nvPr/>
        </p:nvSpPr>
        <p:spPr bwMode="auto">
          <a:xfrm>
            <a:off x="43434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3" name="Oval 17"/>
          <p:cNvSpPr>
            <a:spLocks noChangeArrowheads="1"/>
          </p:cNvSpPr>
          <p:nvPr/>
        </p:nvSpPr>
        <p:spPr bwMode="auto">
          <a:xfrm>
            <a:off x="4572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4" name="Oval 18"/>
          <p:cNvSpPr>
            <a:spLocks noChangeArrowheads="1"/>
          </p:cNvSpPr>
          <p:nvPr/>
        </p:nvSpPr>
        <p:spPr bwMode="auto">
          <a:xfrm>
            <a:off x="46482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5" name="Oval 19"/>
          <p:cNvSpPr>
            <a:spLocks noChangeArrowheads="1"/>
          </p:cNvSpPr>
          <p:nvPr/>
        </p:nvSpPr>
        <p:spPr bwMode="auto">
          <a:xfrm>
            <a:off x="44196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6" name="Oval 20"/>
          <p:cNvSpPr>
            <a:spLocks noChangeArrowheads="1"/>
          </p:cNvSpPr>
          <p:nvPr/>
        </p:nvSpPr>
        <p:spPr bwMode="auto">
          <a:xfrm>
            <a:off x="4419600" y="3352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7" name="Oval 21"/>
          <p:cNvSpPr>
            <a:spLocks noChangeArrowheads="1"/>
          </p:cNvSpPr>
          <p:nvPr/>
        </p:nvSpPr>
        <p:spPr bwMode="auto">
          <a:xfrm>
            <a:off x="48006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8" name="Oval 22"/>
          <p:cNvSpPr>
            <a:spLocks noChangeArrowheads="1"/>
          </p:cNvSpPr>
          <p:nvPr/>
        </p:nvSpPr>
        <p:spPr bwMode="auto">
          <a:xfrm>
            <a:off x="5334000" y="4343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599" name="Oval 23"/>
          <p:cNvSpPr>
            <a:spLocks noChangeArrowheads="1"/>
          </p:cNvSpPr>
          <p:nvPr/>
        </p:nvSpPr>
        <p:spPr bwMode="auto">
          <a:xfrm>
            <a:off x="4953000" y="3657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0" name="Oval 24"/>
          <p:cNvSpPr>
            <a:spLocks noChangeArrowheads="1"/>
          </p:cNvSpPr>
          <p:nvPr/>
        </p:nvSpPr>
        <p:spPr bwMode="auto">
          <a:xfrm>
            <a:off x="5181600" y="3962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1" name="Oval 25"/>
          <p:cNvSpPr>
            <a:spLocks noChangeArrowheads="1"/>
          </p:cNvSpPr>
          <p:nvPr/>
        </p:nvSpPr>
        <p:spPr bwMode="auto">
          <a:xfrm>
            <a:off x="533400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2" name="Oval 26"/>
          <p:cNvSpPr>
            <a:spLocks noChangeArrowheads="1"/>
          </p:cNvSpPr>
          <p:nvPr/>
        </p:nvSpPr>
        <p:spPr bwMode="auto">
          <a:xfrm>
            <a:off x="5486400" y="4038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3" name="Oval 27"/>
          <p:cNvSpPr>
            <a:spLocks noChangeArrowheads="1"/>
          </p:cNvSpPr>
          <p:nvPr/>
        </p:nvSpPr>
        <p:spPr bwMode="auto">
          <a:xfrm>
            <a:off x="5181600" y="3048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4" name="Oval 28"/>
          <p:cNvSpPr>
            <a:spLocks noChangeArrowheads="1"/>
          </p:cNvSpPr>
          <p:nvPr/>
        </p:nvSpPr>
        <p:spPr bwMode="auto">
          <a:xfrm>
            <a:off x="5486400" y="3810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5" name="Oval 29"/>
          <p:cNvSpPr>
            <a:spLocks noChangeArrowheads="1"/>
          </p:cNvSpPr>
          <p:nvPr/>
        </p:nvSpPr>
        <p:spPr bwMode="auto">
          <a:xfrm>
            <a:off x="8153400" y="198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6" name="Oval 30"/>
          <p:cNvSpPr>
            <a:spLocks noChangeArrowheads="1"/>
          </p:cNvSpPr>
          <p:nvPr/>
        </p:nvSpPr>
        <p:spPr bwMode="auto">
          <a:xfrm>
            <a:off x="8458200" y="213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7" name="Oval 31"/>
          <p:cNvSpPr>
            <a:spLocks noChangeArrowheads="1"/>
          </p:cNvSpPr>
          <p:nvPr/>
        </p:nvSpPr>
        <p:spPr bwMode="auto">
          <a:xfrm>
            <a:off x="80772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8" name="Oval 32"/>
          <p:cNvSpPr>
            <a:spLocks noChangeArrowheads="1"/>
          </p:cNvSpPr>
          <p:nvPr/>
        </p:nvSpPr>
        <p:spPr bwMode="auto">
          <a:xfrm>
            <a:off x="7848600" y="228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09" name="Oval 33"/>
          <p:cNvSpPr>
            <a:spLocks noChangeArrowheads="1"/>
          </p:cNvSpPr>
          <p:nvPr/>
        </p:nvSpPr>
        <p:spPr bwMode="auto">
          <a:xfrm>
            <a:off x="8763000" y="198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0" name="Oval 34"/>
          <p:cNvSpPr>
            <a:spLocks noChangeArrowheads="1"/>
          </p:cNvSpPr>
          <p:nvPr/>
        </p:nvSpPr>
        <p:spPr bwMode="auto">
          <a:xfrm>
            <a:off x="8534400" y="2514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1" name="Oval 35"/>
          <p:cNvSpPr>
            <a:spLocks noChangeArrowheads="1"/>
          </p:cNvSpPr>
          <p:nvPr/>
        </p:nvSpPr>
        <p:spPr bwMode="auto">
          <a:xfrm>
            <a:off x="7924800" y="5334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2" name="Oval 36"/>
          <p:cNvSpPr>
            <a:spLocks noChangeArrowheads="1"/>
          </p:cNvSpPr>
          <p:nvPr/>
        </p:nvSpPr>
        <p:spPr bwMode="auto">
          <a:xfrm>
            <a:off x="8001000" y="5105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3" name="Oval 37"/>
          <p:cNvSpPr>
            <a:spLocks noChangeArrowheads="1"/>
          </p:cNvSpPr>
          <p:nvPr/>
        </p:nvSpPr>
        <p:spPr bwMode="auto">
          <a:xfrm>
            <a:off x="8153400" y="5257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4" name="Oval 38"/>
          <p:cNvSpPr>
            <a:spLocks noChangeArrowheads="1"/>
          </p:cNvSpPr>
          <p:nvPr/>
        </p:nvSpPr>
        <p:spPr bwMode="auto">
          <a:xfrm>
            <a:off x="8534400" y="5486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5" name="Oval 39"/>
          <p:cNvSpPr>
            <a:spLocks noChangeArrowheads="1"/>
          </p:cNvSpPr>
          <p:nvPr/>
        </p:nvSpPr>
        <p:spPr bwMode="auto">
          <a:xfrm>
            <a:off x="8458200" y="5181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6" name="Oval 40"/>
          <p:cNvSpPr>
            <a:spLocks noChangeArrowheads="1"/>
          </p:cNvSpPr>
          <p:nvPr/>
        </p:nvSpPr>
        <p:spPr bwMode="auto">
          <a:xfrm>
            <a:off x="8229600" y="4953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7" name="Oval 41"/>
          <p:cNvSpPr>
            <a:spLocks noChangeArrowheads="1"/>
          </p:cNvSpPr>
          <p:nvPr/>
        </p:nvSpPr>
        <p:spPr bwMode="auto">
          <a:xfrm>
            <a:off x="5105400" y="5943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8" name="Oval 42"/>
          <p:cNvSpPr>
            <a:spLocks noChangeArrowheads="1"/>
          </p:cNvSpPr>
          <p:nvPr/>
        </p:nvSpPr>
        <p:spPr bwMode="auto">
          <a:xfrm>
            <a:off x="5181600" y="5715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19" name="Oval 43"/>
          <p:cNvSpPr>
            <a:spLocks noChangeArrowheads="1"/>
          </p:cNvSpPr>
          <p:nvPr/>
        </p:nvSpPr>
        <p:spPr bwMode="auto">
          <a:xfrm>
            <a:off x="5334000" y="58674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0" name="Oval 44"/>
          <p:cNvSpPr>
            <a:spLocks noChangeArrowheads="1"/>
          </p:cNvSpPr>
          <p:nvPr/>
        </p:nvSpPr>
        <p:spPr bwMode="auto">
          <a:xfrm>
            <a:off x="5715000" y="6096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1" name="Oval 45"/>
          <p:cNvSpPr>
            <a:spLocks noChangeArrowheads="1"/>
          </p:cNvSpPr>
          <p:nvPr/>
        </p:nvSpPr>
        <p:spPr bwMode="auto">
          <a:xfrm>
            <a:off x="5638800" y="5791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2" name="Oval 46"/>
          <p:cNvSpPr>
            <a:spLocks noChangeArrowheads="1"/>
          </p:cNvSpPr>
          <p:nvPr/>
        </p:nvSpPr>
        <p:spPr bwMode="auto">
          <a:xfrm>
            <a:off x="5410200" y="5562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3" name="Oval 47"/>
          <p:cNvSpPr>
            <a:spLocks noChangeArrowheads="1"/>
          </p:cNvSpPr>
          <p:nvPr/>
        </p:nvSpPr>
        <p:spPr bwMode="auto">
          <a:xfrm>
            <a:off x="4419600" y="2971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4" name="Oval 48"/>
          <p:cNvSpPr>
            <a:spLocks noChangeArrowheads="1"/>
          </p:cNvSpPr>
          <p:nvPr/>
        </p:nvSpPr>
        <p:spPr bwMode="auto">
          <a:xfrm>
            <a:off x="7696200" y="4724400"/>
            <a:ext cx="12192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5" name="Oval 49"/>
          <p:cNvSpPr>
            <a:spLocks noChangeArrowheads="1"/>
          </p:cNvSpPr>
          <p:nvPr/>
        </p:nvSpPr>
        <p:spPr bwMode="auto">
          <a:xfrm>
            <a:off x="7772400" y="1676400"/>
            <a:ext cx="1371600" cy="1295400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6" name="Oval 50"/>
          <p:cNvSpPr>
            <a:spLocks noChangeArrowheads="1"/>
          </p:cNvSpPr>
          <p:nvPr/>
        </p:nvSpPr>
        <p:spPr bwMode="auto">
          <a:xfrm>
            <a:off x="4876800" y="5334000"/>
            <a:ext cx="1295400" cy="1219200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7" name="Oval 51"/>
          <p:cNvSpPr>
            <a:spLocks noChangeArrowheads="1"/>
          </p:cNvSpPr>
          <p:nvPr/>
        </p:nvSpPr>
        <p:spPr bwMode="auto">
          <a:xfrm>
            <a:off x="2286000" y="3276600"/>
            <a:ext cx="1447800" cy="1295400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0628" name="Oval 52"/>
          <p:cNvSpPr>
            <a:spLocks noChangeArrowheads="1"/>
          </p:cNvSpPr>
          <p:nvPr/>
        </p:nvSpPr>
        <p:spPr bwMode="auto">
          <a:xfrm rot="-2500613">
            <a:off x="3781426" y="1676400"/>
            <a:ext cx="1628775" cy="3352800"/>
          </a:xfrm>
          <a:prstGeom prst="ellips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03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293038"/>
            <a:ext cx="11029615" cy="4193410"/>
          </a:xfrm>
        </p:spPr>
        <p:txBody>
          <a:bodyPr>
            <a:normAutofit/>
          </a:bodyPr>
          <a:lstStyle/>
          <a:p>
            <a:pPr marL="306000" lvl="1">
              <a:lnSpc>
                <a:spcPct val="90000"/>
              </a:lnSpc>
            </a:pPr>
            <a:r>
              <a:rPr lang="en-US" altLang="en-US" sz="3000" dirty="0">
                <a:ea typeface="SimSun" panose="02010600030101010101" pitchFamily="2" charset="-122"/>
              </a:rPr>
              <a:t>Information retrieval/organization: topic-based news</a:t>
            </a:r>
          </a:p>
          <a:p>
            <a:pPr marL="306000" lvl="1">
              <a:lnSpc>
                <a:spcPct val="90000"/>
              </a:lnSpc>
            </a:pPr>
            <a:r>
              <a:rPr lang="en-US" altLang="en-US" sz="3000" dirty="0">
                <a:ea typeface="SimSun" panose="02010600030101010101" pitchFamily="2" charset="-122"/>
              </a:rPr>
              <a:t>Land use: Identification of areas of similar land use in an earth observation database</a:t>
            </a:r>
          </a:p>
          <a:p>
            <a:pPr marL="306000" lvl="1">
              <a:lnSpc>
                <a:spcPct val="90000"/>
              </a:lnSpc>
            </a:pPr>
            <a:r>
              <a:rPr lang="en-US" altLang="en-US" sz="3000" dirty="0">
                <a:ea typeface="SimSun" panose="02010600030101010101" pitchFamily="2" charset="-122"/>
              </a:rPr>
              <a:t>Marketing: Help marketers discover distinct groups in their customer bases, and then use this knowledge to develop targeted marketing programs</a:t>
            </a:r>
          </a:p>
          <a:p>
            <a:pPr marL="306000" lvl="1">
              <a:lnSpc>
                <a:spcPct val="90000"/>
              </a:lnSpc>
            </a:pPr>
            <a:r>
              <a:rPr lang="en-US" altLang="en-US" sz="3000" dirty="0">
                <a:ea typeface="SimSun" panose="02010600030101010101" pitchFamily="2" charset="-122"/>
              </a:rPr>
              <a:t>Social network mining: special interest group automatic discovery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7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Partitioning Method</a:t>
            </a:r>
          </a:p>
          <a:p>
            <a:r>
              <a:rPr lang="en-US" dirty="0"/>
              <a:t>Hierarchical Method</a:t>
            </a:r>
          </a:p>
          <a:p>
            <a:r>
              <a:rPr lang="en-US" dirty="0"/>
              <a:t>Density-based Method</a:t>
            </a:r>
          </a:p>
          <a:p>
            <a:r>
              <a:rPr lang="en-US" dirty="0"/>
              <a:t>Fuzzy clustering</a:t>
            </a:r>
          </a:p>
          <a:p>
            <a:r>
              <a:rPr lang="en-US" dirty="0"/>
              <a:t>Model-Based Method</a:t>
            </a:r>
          </a:p>
        </p:txBody>
      </p:sp>
    </p:spTree>
    <p:extLst>
      <p:ext uri="{BB962C8B-B14F-4D97-AF65-F5344CB8AC3E}">
        <p14:creationId xmlns:p14="http://schemas.microsoft.com/office/powerpoint/2010/main" val="2519024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methods – partitioning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set of </a:t>
            </a:r>
            <a:r>
              <a:rPr lang="en-US" i="1" dirty="0"/>
              <a:t>n </a:t>
            </a:r>
            <a:r>
              <a:rPr lang="en-US" dirty="0"/>
              <a:t>objects, a partitioning method constructs </a:t>
            </a:r>
            <a:r>
              <a:rPr lang="en-US" i="1" dirty="0"/>
              <a:t>k </a:t>
            </a:r>
            <a:r>
              <a:rPr lang="en-US" dirty="0"/>
              <a:t>partitions of the data, where each partition represents a cluster and </a:t>
            </a:r>
            <a:r>
              <a:rPr lang="en-US" i="1" dirty="0"/>
              <a:t>k&lt;=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. </a:t>
            </a:r>
          </a:p>
          <a:p>
            <a:r>
              <a:rPr lang="en-US" dirty="0"/>
              <a:t>That is, it divides the data into </a:t>
            </a:r>
            <a:r>
              <a:rPr lang="en-US" i="1" dirty="0"/>
              <a:t>k </a:t>
            </a:r>
            <a:r>
              <a:rPr lang="en-US" dirty="0"/>
              <a:t>groups such that each group must contain at least one object.</a:t>
            </a:r>
          </a:p>
          <a:p>
            <a:r>
              <a:rPr lang="en-US" dirty="0"/>
              <a:t>Most partitioning methods are distance-based. </a:t>
            </a:r>
          </a:p>
        </p:txBody>
      </p:sp>
    </p:spTree>
    <p:extLst>
      <p:ext uri="{BB962C8B-B14F-4D97-AF65-F5344CB8AC3E}">
        <p14:creationId xmlns:p14="http://schemas.microsoft.com/office/powerpoint/2010/main" val="1433510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methods – partitioning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Typical methods: </a:t>
            </a:r>
            <a:r>
              <a:rPr lang="en-US" altLang="en-US" dirty="0">
                <a:solidFill>
                  <a:srgbClr val="FF0000"/>
                </a:solidFill>
              </a:rPr>
              <a:t>K-means</a:t>
            </a:r>
            <a:r>
              <a:rPr lang="en-US" altLang="en-US" dirty="0"/>
              <a:t>, K-</a:t>
            </a:r>
            <a:r>
              <a:rPr lang="en-US" altLang="en-US" dirty="0" err="1"/>
              <a:t>medoids</a:t>
            </a:r>
            <a:r>
              <a:rPr lang="en-US" altLang="en-US" dirty="0"/>
              <a:t>, CLARANS, ……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2454275" y="3271278"/>
            <a:ext cx="6705600" cy="2422525"/>
            <a:chOff x="1765300" y="3475831"/>
            <a:chExt cx="6705600" cy="2424027"/>
          </a:xfrm>
        </p:grpSpPr>
        <p:graphicFrame>
          <p:nvGraphicFramePr>
            <p:cNvPr id="5" name="Object 196"/>
            <p:cNvGraphicFramePr>
              <a:graphicFrameLocks noChangeAspect="1"/>
            </p:cNvGraphicFramePr>
            <p:nvPr/>
          </p:nvGraphicFramePr>
          <p:xfrm>
            <a:off x="1765300" y="3475831"/>
            <a:ext cx="2590800" cy="24240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6" name="SmartDraw" r:id="rId3" imgW="3479292" imgH="3255264" progId="">
                    <p:embed/>
                  </p:oleObj>
                </mc:Choice>
                <mc:Fallback>
                  <p:oleObj name="SmartDraw" r:id="rId3" imgW="3479292" imgH="3255264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5300" y="3475831"/>
                          <a:ext cx="2590800" cy="24240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99"/>
            <p:cNvGraphicFramePr>
              <a:graphicFrameLocks noChangeAspect="1"/>
            </p:cNvGraphicFramePr>
            <p:nvPr/>
          </p:nvGraphicFramePr>
          <p:xfrm>
            <a:off x="5946519" y="3475831"/>
            <a:ext cx="2524381" cy="2362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97" name="SmartDraw" r:id="rId5" imgW="3479292" imgH="3255264" progId="">
                    <p:embed/>
                  </p:oleObj>
                </mc:Choice>
                <mc:Fallback>
                  <p:oleObj name="SmartDraw" r:id="rId5" imgW="3479292" imgH="3255264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46519" y="3475831"/>
                          <a:ext cx="2524381" cy="2362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183"/>
            <p:cNvSpPr>
              <a:spLocks noChangeShapeType="1"/>
            </p:cNvSpPr>
            <p:nvPr/>
          </p:nvSpPr>
          <p:spPr bwMode="auto">
            <a:xfrm>
              <a:off x="4660900" y="4695031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921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methods – Hierarchical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765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Hierarchical method creates a hierarchical decomposition of the given set of data objects. </a:t>
            </a:r>
          </a:p>
          <a:p>
            <a:r>
              <a:rPr lang="en-US" dirty="0"/>
              <a:t>A hierarchical method can be classified as being either </a:t>
            </a:r>
            <a:r>
              <a:rPr lang="en-US" i="1" dirty="0"/>
              <a:t>agglomerative </a:t>
            </a:r>
            <a:r>
              <a:rPr lang="en-US" dirty="0"/>
              <a:t>or </a:t>
            </a:r>
            <a:r>
              <a:rPr lang="en-US" i="1" dirty="0"/>
              <a:t>divisive</a:t>
            </a:r>
            <a:r>
              <a:rPr lang="en-US" dirty="0"/>
              <a:t>, based on how the hierarchical decomposition is formed.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agglomerative approach</a:t>
            </a:r>
            <a:r>
              <a:rPr lang="en-US" dirty="0"/>
              <a:t>, also called the </a:t>
            </a:r>
            <a:r>
              <a:rPr lang="en-US" i="1" dirty="0"/>
              <a:t>bottom-up </a:t>
            </a:r>
            <a:r>
              <a:rPr lang="en-US" dirty="0"/>
              <a:t>approach, starts with each object forming a separate group. </a:t>
            </a:r>
          </a:p>
          <a:p>
            <a:pPr lvl="2"/>
            <a:r>
              <a:rPr lang="en-US" dirty="0"/>
              <a:t>It successively merges the objects or groups close to one another, until all the groups are merged into one 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divisive approach</a:t>
            </a:r>
            <a:r>
              <a:rPr lang="en-US" dirty="0"/>
              <a:t>, also called the </a:t>
            </a:r>
            <a:r>
              <a:rPr lang="en-US" i="1" dirty="0"/>
              <a:t>top-down </a:t>
            </a:r>
            <a:r>
              <a:rPr lang="en-US" dirty="0"/>
              <a:t>approach, starts with all the objects in the same cluster. </a:t>
            </a:r>
          </a:p>
          <a:p>
            <a:pPr lvl="2"/>
            <a:r>
              <a:rPr lang="en-US" dirty="0"/>
              <a:t>In each successive iteration, a cluster is split into smaller clusters, until eventually each object is in one cluster, or a termination condition holds.</a:t>
            </a:r>
          </a:p>
        </p:txBody>
      </p:sp>
    </p:spTree>
    <p:extLst>
      <p:ext uri="{BB962C8B-B14F-4D97-AF65-F5344CB8AC3E}">
        <p14:creationId xmlns:p14="http://schemas.microsoft.com/office/powerpoint/2010/main" val="677400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methods – Hierarchical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Typical methods: </a:t>
            </a:r>
            <a:r>
              <a:rPr lang="en-US" altLang="en-US" dirty="0">
                <a:solidFill>
                  <a:srgbClr val="FF0000"/>
                </a:solidFill>
              </a:rPr>
              <a:t>Agglomerative</a:t>
            </a:r>
            <a:r>
              <a:rPr lang="en-US" altLang="en-US" dirty="0"/>
              <a:t>, Diana, Agnes, BIRCH, ROCK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930275" y="3322638"/>
            <a:ext cx="9448800" cy="2706687"/>
            <a:chOff x="546100" y="3399631"/>
            <a:chExt cx="9448800" cy="2706069"/>
          </a:xfrm>
        </p:grpSpPr>
        <p:pic>
          <p:nvPicPr>
            <p:cNvPr id="5" name="Picture 2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6100" y="3628231"/>
              <a:ext cx="2778020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32225" y="3628231"/>
              <a:ext cx="2809875" cy="2438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Oval 7"/>
            <p:cNvSpPr>
              <a:spLocks noChangeArrowheads="1"/>
            </p:cNvSpPr>
            <p:nvPr/>
          </p:nvSpPr>
          <p:spPr bwMode="auto">
            <a:xfrm rot="3600000">
              <a:off x="4543818" y="3520270"/>
              <a:ext cx="1596178" cy="258690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defTabSz="1042988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defTabSz="1042988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defTabSz="1042988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defTabSz="1042988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defTabSz="1042988">
                <a:spcBef>
                  <a:spcPct val="20000"/>
                </a:spcBef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defTabSz="1042988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5000">
                <a:latin typeface="Times New Roman" panose="02020603050405020304" pitchFamily="18" charset="0"/>
              </a:endParaRPr>
            </a:p>
          </p:txBody>
        </p:sp>
        <p:pic>
          <p:nvPicPr>
            <p:cNvPr id="8" name="Picture 1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1700" y="3399631"/>
              <a:ext cx="2743200" cy="27060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Line 183"/>
            <p:cNvSpPr>
              <a:spLocks noChangeShapeType="1"/>
            </p:cNvSpPr>
            <p:nvPr/>
          </p:nvSpPr>
          <p:spPr bwMode="auto">
            <a:xfrm>
              <a:off x="3136900" y="4695031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" name="Line 183"/>
            <p:cNvSpPr>
              <a:spLocks noChangeShapeType="1"/>
            </p:cNvSpPr>
            <p:nvPr/>
          </p:nvSpPr>
          <p:spPr bwMode="auto">
            <a:xfrm>
              <a:off x="6642100" y="4695031"/>
              <a:ext cx="609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57128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Clustering methods – Density-Based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Most partitioning methods cluster objects based on the distance between objects. </a:t>
            </a:r>
          </a:p>
          <a:p>
            <a:r>
              <a:rPr lang="en-US" dirty="0"/>
              <a:t>Such methods can find only spherical-shaped clusters and encounter difficulty in discovering clusters of arbitrary shapes. </a:t>
            </a:r>
          </a:p>
          <a:p>
            <a:r>
              <a:rPr lang="en-US" dirty="0"/>
              <a:t>Other clustering methods have been developed based on the notion of </a:t>
            </a:r>
            <a:r>
              <a:rPr lang="en-US" i="1" dirty="0"/>
              <a:t>density</a:t>
            </a:r>
            <a:r>
              <a:rPr lang="en-US" dirty="0"/>
              <a:t>. </a:t>
            </a:r>
          </a:p>
          <a:p>
            <a:r>
              <a:rPr lang="en-US" dirty="0"/>
              <a:t>Their general idea is to continue growing a given cluster as long as the density (number of objects or data points) in the “neighborhood” exceeds some threshold. </a:t>
            </a:r>
          </a:p>
          <a:p>
            <a:r>
              <a:rPr lang="en-US" dirty="0"/>
              <a:t>For example, for each  data point within a given cluster, the neighborhood of a given radius has to contain at least a minimum number of points. </a:t>
            </a:r>
          </a:p>
          <a:p>
            <a:r>
              <a:rPr lang="en-US" dirty="0"/>
              <a:t>Such a method can be used to filter out noise or outliers and discover clusters of arbitrary shape</a:t>
            </a:r>
          </a:p>
        </p:txBody>
      </p:sp>
    </p:spTree>
    <p:extLst>
      <p:ext uri="{BB962C8B-B14F-4D97-AF65-F5344CB8AC3E}">
        <p14:creationId xmlns:p14="http://schemas.microsoft.com/office/powerpoint/2010/main" val="3209969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/>
              <a:t>Clustering methods – Density-Based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Typical methods: DBSACN, OPTICS, </a:t>
            </a:r>
            <a:r>
              <a:rPr lang="en-US" altLang="en-US" dirty="0" err="1"/>
              <a:t>DenClue</a:t>
            </a:r>
            <a:endParaRPr lang="en-US" alt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1562287" y="3140999"/>
            <a:ext cx="8077200" cy="2717800"/>
            <a:chOff x="1308100" y="3552031"/>
            <a:chExt cx="8077200" cy="2719079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8100" y="3552031"/>
              <a:ext cx="3048000" cy="27190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2628" y="3628231"/>
              <a:ext cx="3592672" cy="259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7" name="Straight Arrow Connector 7"/>
            <p:cNvCxnSpPr>
              <a:cxnSpLocks noChangeShapeType="1"/>
            </p:cNvCxnSpPr>
            <p:nvPr/>
          </p:nvCxnSpPr>
          <p:spPr bwMode="auto">
            <a:xfrm>
              <a:off x="4737100" y="4999831"/>
              <a:ext cx="914400" cy="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533974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Clustering procedure- what is to consider?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variables</a:t>
            </a:r>
          </a:p>
          <a:p>
            <a:r>
              <a:rPr lang="en-US" dirty="0"/>
              <a:t>Similarity and dissimilarity measurement</a:t>
            </a:r>
          </a:p>
          <a:p>
            <a:r>
              <a:rPr lang="en-US" dirty="0"/>
              <a:t>Standardization</a:t>
            </a:r>
          </a:p>
          <a:p>
            <a:r>
              <a:rPr lang="en-US" dirty="0"/>
              <a:t>Weights and thresholds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99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Choosing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 relevant variables </a:t>
            </a:r>
          </a:p>
          <a:p>
            <a:pPr lvl="1"/>
            <a:r>
              <a:rPr lang="en-US" dirty="0"/>
              <a:t>Ex: identifying which type of drivers are at high risk of insurance claims</a:t>
            </a:r>
          </a:p>
          <a:p>
            <a:pPr lvl="2"/>
            <a:r>
              <a:rPr lang="en-US" dirty="0"/>
              <a:t>Relevant variables : age, penalties, marital status</a:t>
            </a:r>
          </a:p>
          <a:p>
            <a:pPr lvl="2"/>
            <a:r>
              <a:rPr lang="en-US" dirty="0"/>
              <a:t>Irrelevant : height, weight of vehicle</a:t>
            </a:r>
          </a:p>
          <a:p>
            <a:pPr lvl="1"/>
            <a:r>
              <a:rPr lang="en-US" dirty="0"/>
              <a:t>Inclusion of a variable such as the height or weight of an automobile may adversely affect the outcome of the categorization because they are not relevant to the problem.</a:t>
            </a:r>
          </a:p>
          <a:p>
            <a:r>
              <a:rPr lang="en-US" dirty="0"/>
              <a:t> fewer the better to adequately address the problem</a:t>
            </a:r>
          </a:p>
        </p:txBody>
      </p:sp>
    </p:spTree>
    <p:extLst>
      <p:ext uri="{BB962C8B-B14F-4D97-AF65-F5344CB8AC3E}">
        <p14:creationId xmlns:p14="http://schemas.microsoft.com/office/powerpoint/2010/main" val="581651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Similarity and dissimilarity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49966"/>
          </a:xfrm>
        </p:spPr>
        <p:txBody>
          <a:bodyPr>
            <a:normAutofit/>
          </a:bodyPr>
          <a:lstStyle/>
          <a:p>
            <a:r>
              <a:rPr lang="en-US" dirty="0"/>
              <a:t>Similarity or dissimilarity refers to the likeness of two objects. </a:t>
            </a:r>
          </a:p>
          <a:p>
            <a:r>
              <a:rPr lang="en-US" dirty="0"/>
              <a:t>A proximity measure can be used to describe similarity or dissimilarity. </a:t>
            </a:r>
          </a:p>
          <a:p>
            <a:r>
              <a:rPr lang="en-US" dirty="0"/>
              <a:t>There are several techniques in widespread use to determine the proximity of one object in relation to another. </a:t>
            </a:r>
          </a:p>
          <a:p>
            <a:r>
              <a:rPr lang="en-US" dirty="0"/>
              <a:t>Ex: Euclidean distance</a:t>
            </a:r>
          </a:p>
          <a:p>
            <a:pPr marL="3240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37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Similarity and dissimilarity measurement(contd.)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80938" y="3712108"/>
                <a:ext cx="6048208" cy="3678303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Euclidean distance</a:t>
                </a:r>
              </a:p>
              <a:p>
                <a:pPr lvl="1"/>
                <a:r>
                  <a:rPr lang="en-US" dirty="0"/>
                  <a:t>How can distance between two points in a 2D space could be calculated? Pythagoras theorem could be used</a:t>
                </a:r>
              </a:p>
              <a:p>
                <a:pPr lvl="1"/>
                <a:r>
                  <a:rPr lang="en-US" dirty="0"/>
                  <a:t>A general form: distance between two points A(x1,y1) and B(x2, y2) :</a:t>
                </a:r>
              </a:p>
              <a:p>
                <a:pPr marL="3240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1)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dirty="0"/>
              </a:p>
              <a:p>
                <a:pPr marL="324000" lvl="1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80938" y="3712108"/>
                <a:ext cx="6048208" cy="3678303"/>
              </a:xfrm>
              <a:blipFill rotWithShape="0">
                <a:blip r:embed="rId2"/>
                <a:stretch>
                  <a:fillRect l="-1613" t="-38308" r="-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193" y="3097319"/>
            <a:ext cx="4789114" cy="294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13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81193" y="2180496"/>
                <a:ext cx="11029615" cy="4677504"/>
              </a:xfrm>
            </p:spPr>
            <p:txBody>
              <a:bodyPr>
                <a:normAutofit fontScale="85000" lnSpcReduction="20000"/>
              </a:bodyPr>
              <a:lstStyle/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In a 3D space</a:t>
                </a:r>
              </a:p>
              <a:p>
                <a:pPr marL="0" indent="0">
                  <a:buNone/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1)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2−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1)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dirty="0"/>
              </a:p>
              <a:p>
                <a:r>
                  <a:rPr lang="en-US" dirty="0"/>
                  <a:t>In a N dimension space, if coordinates of A is (a1,a2,a3….an) and B is (b1,b2,b3….</a:t>
                </a:r>
                <a:r>
                  <a:rPr lang="en-US" dirty="0" err="1"/>
                  <a:t>bn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endParaRPr lang="en-US" dirty="0"/>
              </a:p>
              <a:p>
                <a:r>
                  <a:rPr lang="en-US" dirty="0"/>
                  <a:t>In cluster analysis the distance between two points are known within-cluster sum of squares(WCSS)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3" y="2180496"/>
                <a:ext cx="11029615" cy="4677504"/>
              </a:xfrm>
              <a:blipFill rotWithShape="0">
                <a:blip r:embed="rId2"/>
                <a:stretch>
                  <a:fillRect l="-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861299" y="4546385"/>
                <a:ext cx="9587065" cy="9065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6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ctrlP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+(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2−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6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p>
                            <m:sSupPr>
                              <m:ctrlP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𝑎𝑛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600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𝑏𝑛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600" i="1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99" y="4546385"/>
                <a:ext cx="9587065" cy="90653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00" dirty="0"/>
              <a:t>Similarity and dissimilarity measurement(contd.)</a:t>
            </a:r>
          </a:p>
        </p:txBody>
      </p:sp>
    </p:spTree>
    <p:extLst>
      <p:ext uri="{BB962C8B-B14F-4D97-AF65-F5344CB8AC3E}">
        <p14:creationId xmlns:p14="http://schemas.microsoft.com/office/powerpoint/2010/main" val="4215628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different variables are often represented in different dimensions (units) standardization of variables might be required.</a:t>
            </a:r>
          </a:p>
          <a:p>
            <a:r>
              <a:rPr lang="en-US" dirty="0"/>
              <a:t>The standardization of an attribute involves two steps: </a:t>
            </a:r>
          </a:p>
          <a:p>
            <a:pPr lvl="1"/>
            <a:r>
              <a:rPr lang="en-US" dirty="0"/>
              <a:t>calculate the difference between the value of the attribute and the mean of all samples involving the attribute, and </a:t>
            </a:r>
          </a:p>
          <a:p>
            <a:pPr lvl="1"/>
            <a:r>
              <a:rPr lang="en-US" dirty="0"/>
              <a:t>divide the difference by its 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851536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With an input of k, which denotes the number of expected clusters, k centers or centroids will be defined that will facilitate defining the k partitions. </a:t>
            </a:r>
          </a:p>
          <a:p>
            <a:r>
              <a:rPr lang="en-US" altLang="en-US" dirty="0"/>
              <a:t>The centroid is (typically) the mean of the points in the cluster.</a:t>
            </a:r>
          </a:p>
          <a:p>
            <a:r>
              <a:rPr lang="en-US" altLang="en-US" dirty="0"/>
              <a:t>‘Closeness’ is measured by Euclidean distance, cosine similarity, correlation, etc.</a:t>
            </a:r>
          </a:p>
          <a:p>
            <a:r>
              <a:rPr lang="en-US" altLang="en-US" sz="3300" dirty="0"/>
              <a:t>Initial centroids are often chosen randomly.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9224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centroid?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centroid is the mean position of a group of points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915" y="2772478"/>
            <a:ext cx="6006073" cy="35508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05" y="3213847"/>
            <a:ext cx="5445310" cy="323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86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Based on these centers (centroids), the algorithm identifies the members and thus builds a partition followed by the re-computation of the new centers based on the identified members. </a:t>
            </a:r>
          </a:p>
          <a:p>
            <a:r>
              <a:rPr lang="en-US" dirty="0"/>
              <a:t>This process is iterated until the clear, and optimal dissimilarities that make the partition really unique are exposed. </a:t>
            </a:r>
          </a:p>
          <a:p>
            <a:r>
              <a:rPr lang="en-US" dirty="0"/>
              <a:t>Hence, the accuracy of the centroids is the key for the partition-based clustering algorithm to be successful. </a:t>
            </a:r>
          </a:p>
        </p:txBody>
      </p:sp>
    </p:spTree>
    <p:extLst>
      <p:ext uri="{BB962C8B-B14F-4D97-AF65-F5344CB8AC3E}">
        <p14:creationId xmlns:p14="http://schemas.microsoft.com/office/powerpoint/2010/main" val="2978045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2133600" y="4959351"/>
            <a:ext cx="8001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3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954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576" y="2203170"/>
            <a:ext cx="5529263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the clusters are computed</a:t>
            </a:r>
          </a:p>
        </p:txBody>
      </p:sp>
    </p:spTree>
    <p:extLst>
      <p:ext uri="{BB962C8B-B14F-4D97-AF65-F5344CB8AC3E}">
        <p14:creationId xmlns:p14="http://schemas.microsoft.com/office/powerpoint/2010/main" val="339879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9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Input: S (instance set), K (number of cluster)</a:t>
            </a:r>
          </a:p>
          <a:p>
            <a:pPr marL="0" indent="0">
              <a:buNone/>
            </a:pPr>
            <a:r>
              <a:rPr lang="en-US" dirty="0"/>
              <a:t>Output: clusters </a:t>
            </a:r>
          </a:p>
          <a:p>
            <a:pPr marL="0" indent="0">
              <a:buNone/>
            </a:pPr>
            <a:r>
              <a:rPr lang="en-US" dirty="0"/>
              <a:t>1: Initialize K cluster centers. </a:t>
            </a:r>
          </a:p>
          <a:p>
            <a:pPr marL="0" indent="0">
              <a:buNone/>
            </a:pPr>
            <a:r>
              <a:rPr lang="en-US" dirty="0"/>
              <a:t>2: while termination condition is not satisfied do </a:t>
            </a:r>
          </a:p>
          <a:p>
            <a:pPr marL="324000" lvl="1" indent="0">
              <a:buNone/>
            </a:pPr>
            <a:r>
              <a:rPr lang="en-US" dirty="0"/>
              <a:t>3: Assign instances to the closest cluster center. </a:t>
            </a:r>
          </a:p>
          <a:p>
            <a:pPr marL="324000" lvl="1" indent="0">
              <a:buNone/>
            </a:pPr>
            <a:r>
              <a:rPr lang="en-US" dirty="0"/>
              <a:t>4: Update cluster centers based on the assignment. </a:t>
            </a:r>
          </a:p>
          <a:p>
            <a:pPr marL="0" indent="0">
              <a:buNone/>
            </a:pPr>
            <a:r>
              <a:rPr lang="en-US" dirty="0"/>
              <a:t>5: end while</a:t>
            </a:r>
          </a:p>
        </p:txBody>
      </p:sp>
    </p:spTree>
    <p:extLst>
      <p:ext uri="{BB962C8B-B14F-4D97-AF65-F5344CB8AC3E}">
        <p14:creationId xmlns:p14="http://schemas.microsoft.com/office/powerpoint/2010/main" val="3526650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992587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AD703-5A8D-4B09-9DE9-4BD2E816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24A48-BF9F-4C6C-99D6-C9E0B9FD3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178659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Consider the following observations. Assuming k=2 and initial centroids are A and C.</a:t>
            </a:r>
          </a:p>
          <a:p>
            <a:pPr lvl="1"/>
            <a:r>
              <a:rPr lang="en-US" dirty="0"/>
              <a:t>Identify the observations belonging to each cluster after the first epoch</a:t>
            </a:r>
          </a:p>
          <a:p>
            <a:pPr lvl="1"/>
            <a:r>
              <a:rPr lang="en-US" dirty="0"/>
              <a:t>Calculate the </a:t>
            </a:r>
            <a:r>
              <a:rPr lang="en-US"/>
              <a:t>new centroid.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861F3D4-A5E9-4D88-A4CE-01207E5F7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967535"/>
              </p:ext>
            </p:extLst>
          </p:nvPr>
        </p:nvGraphicFramePr>
        <p:xfrm>
          <a:off x="3621649" y="3967088"/>
          <a:ext cx="4382869" cy="221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110">
                  <a:extLst>
                    <a:ext uri="{9D8B030D-6E8A-4147-A177-3AD203B41FA5}">
                      <a16:colId xmlns:a16="http://schemas.microsoft.com/office/drawing/2014/main" val="1250933533"/>
                    </a:ext>
                  </a:extLst>
                </a:gridCol>
                <a:gridCol w="1378634">
                  <a:extLst>
                    <a:ext uri="{9D8B030D-6E8A-4147-A177-3AD203B41FA5}">
                      <a16:colId xmlns:a16="http://schemas.microsoft.com/office/drawing/2014/main" val="2789440356"/>
                    </a:ext>
                  </a:extLst>
                </a:gridCol>
                <a:gridCol w="1688125">
                  <a:extLst>
                    <a:ext uri="{9D8B030D-6E8A-4147-A177-3AD203B41FA5}">
                      <a16:colId xmlns:a16="http://schemas.microsoft.com/office/drawing/2014/main" val="6286614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380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097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45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79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732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861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8294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k-means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K should be picked </a:t>
            </a:r>
          </a:p>
          <a:p>
            <a:r>
              <a:rPr lang="en-US" dirty="0"/>
              <a:t>Sensitive to initialization of centroids</a:t>
            </a:r>
          </a:p>
          <a:p>
            <a:r>
              <a:rPr lang="en-US" dirty="0"/>
              <a:t>Issues in clustering data of varying sizes and density.</a:t>
            </a:r>
          </a:p>
          <a:p>
            <a:r>
              <a:rPr lang="en-US" dirty="0"/>
              <a:t>Sensitive to outliers</a:t>
            </a:r>
          </a:p>
          <a:p>
            <a:r>
              <a:rPr lang="en-US" dirty="0"/>
              <a:t>Produce spherical solutions since Euclidean distance from centroids are used</a:t>
            </a:r>
          </a:p>
        </p:txBody>
      </p:sp>
    </p:spTree>
    <p:extLst>
      <p:ext uri="{BB962C8B-B14F-4D97-AF65-F5344CB8AC3E}">
        <p14:creationId xmlns:p14="http://schemas.microsoft.com/office/powerpoint/2010/main" val="1086914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339851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buNone/>
            </a:pPr>
            <a:endParaRPr lang="en-US" altLang="en-US" sz="2000"/>
          </a:p>
        </p:txBody>
      </p:sp>
      <p:pic>
        <p:nvPicPr>
          <p:cNvPr id="419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764" y="2316164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280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3964" y="2316164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90" name="Text Box 6"/>
          <p:cNvSpPr txBox="1">
            <a:spLocks noChangeArrowheads="1"/>
          </p:cNvSpPr>
          <p:nvPr/>
        </p:nvSpPr>
        <p:spPr bwMode="auto">
          <a:xfrm>
            <a:off x="2850777" y="5633945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  <p:sp>
        <p:nvSpPr>
          <p:cNvPr id="1612807" name="Rectangle 7"/>
          <p:cNvSpPr>
            <a:spLocks noChangeArrowheads="1"/>
          </p:cNvSpPr>
          <p:nvPr/>
        </p:nvSpPr>
        <p:spPr bwMode="auto">
          <a:xfrm>
            <a:off x="6839409" y="5631326"/>
            <a:ext cx="21595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K-means (3 Clusters)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k-means (Contd.)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2478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2807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339851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buNone/>
            </a:pPr>
            <a:endParaRPr lang="en-US" altLang="en-US" sz="2000"/>
          </a:p>
        </p:txBody>
      </p:sp>
      <p:sp>
        <p:nvSpPr>
          <p:cNvPr id="43012" name="Text Box 4"/>
          <p:cNvSpPr txBox="1">
            <a:spLocks noChangeArrowheads="1"/>
          </p:cNvSpPr>
          <p:nvPr/>
        </p:nvSpPr>
        <p:spPr bwMode="auto">
          <a:xfrm>
            <a:off x="2568388" y="5390314"/>
            <a:ext cx="2133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989" y="2199954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383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389" y="2189914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3831" name="Rectangle 7"/>
          <p:cNvSpPr>
            <a:spLocks noChangeArrowheads="1"/>
          </p:cNvSpPr>
          <p:nvPr/>
        </p:nvSpPr>
        <p:spPr bwMode="auto">
          <a:xfrm>
            <a:off x="6858000" y="5387695"/>
            <a:ext cx="21595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K-means (3 Clusters)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k-means (Contd.)</a:t>
            </a:r>
          </a:p>
        </p:txBody>
      </p:sp>
    </p:spTree>
    <p:extLst>
      <p:ext uri="{BB962C8B-B14F-4D97-AF65-F5344CB8AC3E}">
        <p14:creationId xmlns:p14="http://schemas.microsoft.com/office/powerpoint/2010/main" val="4526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3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3831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3763" y="1606551"/>
            <a:ext cx="8001000" cy="976313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/>
          </a:p>
          <a:p>
            <a:pPr marL="990600" lvl="1" indent="-533400">
              <a:lnSpc>
                <a:spcPct val="90000"/>
              </a:lnSpc>
            </a:pPr>
            <a:endParaRPr lang="en-US" altLang="en-US" sz="2000"/>
          </a:p>
          <a:p>
            <a:pPr marL="990600" lvl="1" indent="-533400">
              <a:lnSpc>
                <a:spcPct val="90000"/>
              </a:lnSpc>
              <a:buNone/>
            </a:pPr>
            <a:endParaRPr lang="en-US" altLang="en-US" sz="2000"/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2858294" y="5551725"/>
            <a:ext cx="2057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059" y="2350016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148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389" y="2374107"/>
            <a:ext cx="4268788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14855" name="Rectangle 7"/>
          <p:cNvSpPr>
            <a:spLocks noChangeArrowheads="1"/>
          </p:cNvSpPr>
          <p:nvPr/>
        </p:nvSpPr>
        <p:spPr bwMode="auto">
          <a:xfrm>
            <a:off x="6855217" y="5549106"/>
            <a:ext cx="21595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K-means (2 Clusters)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k-means (Contd.)</a:t>
            </a:r>
          </a:p>
        </p:txBody>
      </p:sp>
    </p:spTree>
    <p:extLst>
      <p:ext uri="{BB962C8B-B14F-4D97-AF65-F5344CB8AC3E}">
        <p14:creationId xmlns:p14="http://schemas.microsoft.com/office/powerpoint/2010/main" val="86953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4855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optimal number of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>
            <a:normAutofit/>
          </a:bodyPr>
          <a:lstStyle/>
          <a:p>
            <a:r>
              <a:rPr lang="en-US" dirty="0"/>
              <a:t>Minimizing WCSS leads to the perfect clustering solution</a:t>
            </a:r>
          </a:p>
          <a:p>
            <a:r>
              <a:rPr lang="en-US" dirty="0"/>
              <a:t>WCSS=0 when there is one point in every cluster, which is useless</a:t>
            </a:r>
          </a:p>
          <a:p>
            <a:r>
              <a:rPr lang="en-US" dirty="0"/>
              <a:t>Ideally it is required to have a small number for WCSS while having small number of clusters</a:t>
            </a:r>
          </a:p>
        </p:txBody>
      </p:sp>
    </p:spTree>
    <p:extLst>
      <p:ext uri="{BB962C8B-B14F-4D97-AF65-F5344CB8AC3E}">
        <p14:creationId xmlns:p14="http://schemas.microsoft.com/office/powerpoint/2010/main" val="3347805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1" y="2180496"/>
            <a:ext cx="5487771" cy="41338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When WCSS is plotted against the number of clusters, a graph which looks like an elbow is resulted.</a:t>
            </a:r>
          </a:p>
          <a:p>
            <a:r>
              <a:rPr lang="en-US" dirty="0"/>
              <a:t>At the beginning WCSS declining extremely.</a:t>
            </a:r>
          </a:p>
          <a:p>
            <a:r>
              <a:rPr lang="en-US" dirty="0"/>
              <a:t>But once it reaches the elbow not so much.</a:t>
            </a:r>
          </a:p>
          <a:p>
            <a:r>
              <a:rPr lang="en-US" dirty="0"/>
              <a:t>The biggest number of clusters for which there is still a significant amount of  decrease in WCSS is the best candidate for the number of clusters.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8963" y="2180496"/>
            <a:ext cx="5783498" cy="389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154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Hierarchical clustering  mainly involves transforming  a proximity matrix, into a sequence of nested partitions.</a:t>
            </a:r>
          </a:p>
          <a:p>
            <a:r>
              <a:rPr lang="en-US" dirty="0"/>
              <a:t> The sequence can be represented with a tree-like </a:t>
            </a:r>
            <a:r>
              <a:rPr lang="en-US" dirty="0" err="1"/>
              <a:t>dendrogram</a:t>
            </a:r>
            <a:r>
              <a:rPr lang="en-US" dirty="0"/>
              <a:t> in which each cluster is nested  into  an enclosing cluster.</a:t>
            </a:r>
          </a:p>
          <a:p>
            <a:r>
              <a:rPr lang="en-US" dirty="0"/>
              <a:t>Hierarchical algorithms can be further categorized into two kinds: agglomerative and divisive</a:t>
            </a:r>
          </a:p>
        </p:txBody>
      </p:sp>
    </p:spTree>
    <p:extLst>
      <p:ext uri="{BB962C8B-B14F-4D97-AF65-F5344CB8AC3E}">
        <p14:creationId xmlns:p14="http://schemas.microsoft.com/office/powerpoint/2010/main" val="3193469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131" y="2263942"/>
            <a:ext cx="6317495" cy="3945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1626562"/>
              </p:ext>
            </p:extLst>
          </p:nvPr>
        </p:nvGraphicFramePr>
        <p:xfrm>
          <a:off x="6837173" y="2263942"/>
          <a:ext cx="4235824" cy="43112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VISIO" r:id="rId4" imgW="3163511" imgH="3230582" progId="Visio.Drawing.6">
                  <p:embed/>
                </p:oleObj>
              </mc:Choice>
              <mc:Fallback>
                <p:oleObj name="VISIO" r:id="rId4" imgW="3163511" imgH="323058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7173" y="2263942"/>
                        <a:ext cx="4235824" cy="43112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33362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err="1"/>
              <a:t>Dendogram</a:t>
            </a:r>
            <a:r>
              <a:rPr lang="en-US" altLang="en-US" dirty="0"/>
              <a:t>: 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741943" cy="3678303"/>
          </a:xfrm>
        </p:spPr>
        <p:txBody>
          <a:bodyPr/>
          <a:lstStyle/>
          <a:p>
            <a:r>
              <a:rPr lang="en-US" altLang="zh-CN" sz="2500" dirty="0"/>
              <a:t>Clustering obtained by cutting the </a:t>
            </a:r>
            <a:r>
              <a:rPr lang="en-US" altLang="zh-CN" sz="2500" dirty="0" err="1"/>
              <a:t>dendrogram</a:t>
            </a:r>
            <a:r>
              <a:rPr lang="en-US" altLang="zh-CN" sz="2500" dirty="0"/>
              <a:t> at a desired level: each connected component forms a cluster</a:t>
            </a:r>
            <a:r>
              <a:rPr lang="en-US" altLang="zh-CN" dirty="0">
                <a:solidFill>
                  <a:srgbClr val="465142"/>
                </a:solidFill>
                <a:ea typeface="SimSun" panose="02010600030101010101" pitchFamily="2" charset="-122"/>
              </a:rPr>
              <a:t>.</a:t>
            </a:r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086600" y="2180496"/>
            <a:ext cx="4343400" cy="4495800"/>
            <a:chOff x="6172200" y="1600200"/>
            <a:chExt cx="4343400" cy="4495800"/>
          </a:xfrm>
        </p:grpSpPr>
        <p:grpSp>
          <p:nvGrpSpPr>
            <p:cNvPr id="5" name="Group 2"/>
            <p:cNvGrpSpPr>
              <a:grpSpLocks/>
            </p:cNvGrpSpPr>
            <p:nvPr/>
          </p:nvGrpSpPr>
          <p:grpSpPr bwMode="auto">
            <a:xfrm>
              <a:off x="6324600" y="1600200"/>
              <a:ext cx="4114800" cy="4267200"/>
              <a:chOff x="288" y="720"/>
              <a:chExt cx="4992" cy="3072"/>
            </a:xfrm>
          </p:grpSpPr>
          <p:sp>
            <p:nvSpPr>
              <p:cNvPr id="11" name="Oval 3"/>
              <p:cNvSpPr>
                <a:spLocks noChangeArrowheads="1"/>
              </p:cNvSpPr>
              <p:nvPr/>
            </p:nvSpPr>
            <p:spPr bwMode="auto">
              <a:xfrm>
                <a:off x="5184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" name="Oval 4"/>
              <p:cNvSpPr>
                <a:spLocks noChangeArrowheads="1"/>
              </p:cNvSpPr>
              <p:nvPr/>
            </p:nvSpPr>
            <p:spPr bwMode="auto">
              <a:xfrm>
                <a:off x="4512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Oval 5"/>
              <p:cNvSpPr>
                <a:spLocks noChangeArrowheads="1"/>
              </p:cNvSpPr>
              <p:nvPr/>
            </p:nvSpPr>
            <p:spPr bwMode="auto">
              <a:xfrm>
                <a:off x="3888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Oval 6"/>
              <p:cNvSpPr>
                <a:spLocks noChangeArrowheads="1"/>
              </p:cNvSpPr>
              <p:nvPr/>
            </p:nvSpPr>
            <p:spPr bwMode="auto">
              <a:xfrm>
                <a:off x="3312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Oval 7"/>
              <p:cNvSpPr>
                <a:spLocks noChangeArrowheads="1"/>
              </p:cNvSpPr>
              <p:nvPr/>
            </p:nvSpPr>
            <p:spPr bwMode="auto">
              <a:xfrm>
                <a:off x="2688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Oval 8"/>
              <p:cNvSpPr>
                <a:spLocks noChangeArrowheads="1"/>
              </p:cNvSpPr>
              <p:nvPr/>
            </p:nvSpPr>
            <p:spPr bwMode="auto">
              <a:xfrm>
                <a:off x="2064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Oval 9"/>
              <p:cNvSpPr>
                <a:spLocks noChangeArrowheads="1"/>
              </p:cNvSpPr>
              <p:nvPr/>
            </p:nvSpPr>
            <p:spPr bwMode="auto">
              <a:xfrm>
                <a:off x="1488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Oval 10"/>
              <p:cNvSpPr>
                <a:spLocks noChangeArrowheads="1"/>
              </p:cNvSpPr>
              <p:nvPr/>
            </p:nvSpPr>
            <p:spPr bwMode="auto">
              <a:xfrm>
                <a:off x="864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Oval 11"/>
              <p:cNvSpPr>
                <a:spLocks noChangeArrowheads="1"/>
              </p:cNvSpPr>
              <p:nvPr/>
            </p:nvSpPr>
            <p:spPr bwMode="auto">
              <a:xfrm>
                <a:off x="288" y="369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Line 12"/>
              <p:cNvSpPr>
                <a:spLocks noChangeShapeType="1"/>
              </p:cNvSpPr>
              <p:nvPr/>
            </p:nvSpPr>
            <p:spPr bwMode="auto">
              <a:xfrm>
                <a:off x="336" y="3168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Line 13"/>
              <p:cNvSpPr>
                <a:spLocks noChangeShapeType="1"/>
              </p:cNvSpPr>
              <p:nvPr/>
            </p:nvSpPr>
            <p:spPr bwMode="auto">
              <a:xfrm>
                <a:off x="912" y="31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" name="Line 14"/>
              <p:cNvSpPr>
                <a:spLocks noChangeShapeType="1"/>
              </p:cNvSpPr>
              <p:nvPr/>
            </p:nvSpPr>
            <p:spPr bwMode="auto">
              <a:xfrm>
                <a:off x="2112" y="31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15"/>
              <p:cNvSpPr>
                <a:spLocks noChangeShapeType="1"/>
              </p:cNvSpPr>
              <p:nvPr/>
            </p:nvSpPr>
            <p:spPr bwMode="auto">
              <a:xfrm>
                <a:off x="2112" y="31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16"/>
              <p:cNvSpPr>
                <a:spLocks noChangeShapeType="1"/>
              </p:cNvSpPr>
              <p:nvPr/>
            </p:nvSpPr>
            <p:spPr bwMode="auto">
              <a:xfrm>
                <a:off x="2736" y="31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17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0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Line 18"/>
              <p:cNvSpPr>
                <a:spLocks noChangeShapeType="1"/>
              </p:cNvSpPr>
              <p:nvPr/>
            </p:nvSpPr>
            <p:spPr bwMode="auto">
              <a:xfrm>
                <a:off x="4560" y="3216"/>
                <a:ext cx="6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19"/>
              <p:cNvSpPr>
                <a:spLocks noChangeShapeType="1"/>
              </p:cNvSpPr>
              <p:nvPr/>
            </p:nvSpPr>
            <p:spPr bwMode="auto">
              <a:xfrm>
                <a:off x="5232" y="3216"/>
                <a:ext cx="0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Line 20"/>
              <p:cNvSpPr>
                <a:spLocks noChangeShapeType="1"/>
              </p:cNvSpPr>
              <p:nvPr/>
            </p:nvSpPr>
            <p:spPr bwMode="auto">
              <a:xfrm>
                <a:off x="624" y="268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Line 21"/>
              <p:cNvSpPr>
                <a:spLocks noChangeShapeType="1"/>
              </p:cNvSpPr>
              <p:nvPr/>
            </p:nvSpPr>
            <p:spPr bwMode="auto">
              <a:xfrm>
                <a:off x="624" y="268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Line 22"/>
              <p:cNvSpPr>
                <a:spLocks noChangeShapeType="1"/>
              </p:cNvSpPr>
              <p:nvPr/>
            </p:nvSpPr>
            <p:spPr bwMode="auto">
              <a:xfrm>
                <a:off x="1536" y="2688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Line 23"/>
              <p:cNvSpPr>
                <a:spLocks noChangeShapeType="1"/>
              </p:cNvSpPr>
              <p:nvPr/>
            </p:nvSpPr>
            <p:spPr bwMode="auto">
              <a:xfrm>
                <a:off x="2352" y="2688"/>
                <a:ext cx="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24"/>
              <p:cNvSpPr>
                <a:spLocks noChangeShapeType="1"/>
              </p:cNvSpPr>
              <p:nvPr/>
            </p:nvSpPr>
            <p:spPr bwMode="auto">
              <a:xfrm>
                <a:off x="2400" y="2688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Line 25"/>
              <p:cNvSpPr>
                <a:spLocks noChangeShapeType="1"/>
              </p:cNvSpPr>
              <p:nvPr/>
            </p:nvSpPr>
            <p:spPr bwMode="auto">
              <a:xfrm>
                <a:off x="2448" y="268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26"/>
              <p:cNvSpPr>
                <a:spLocks noChangeShapeType="1"/>
              </p:cNvSpPr>
              <p:nvPr/>
            </p:nvSpPr>
            <p:spPr bwMode="auto">
              <a:xfrm>
                <a:off x="3360" y="2688"/>
                <a:ext cx="0" cy="10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27"/>
              <p:cNvSpPr>
                <a:spLocks noChangeShapeType="1"/>
              </p:cNvSpPr>
              <p:nvPr/>
            </p:nvSpPr>
            <p:spPr bwMode="auto">
              <a:xfrm>
                <a:off x="2400" y="2688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28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0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Line 29"/>
              <p:cNvSpPr>
                <a:spLocks noChangeShapeType="1"/>
              </p:cNvSpPr>
              <p:nvPr/>
            </p:nvSpPr>
            <p:spPr bwMode="auto">
              <a:xfrm flipV="1">
                <a:off x="3936" y="2160"/>
                <a:ext cx="0" cy="15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Line 30"/>
              <p:cNvSpPr>
                <a:spLocks noChangeShapeType="1"/>
              </p:cNvSpPr>
              <p:nvPr/>
            </p:nvSpPr>
            <p:spPr bwMode="auto">
              <a:xfrm>
                <a:off x="2880" y="2160"/>
                <a:ext cx="10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>
                <a:off x="3408" y="1632"/>
                <a:ext cx="0" cy="5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0" name="Line 32"/>
              <p:cNvSpPr>
                <a:spLocks noChangeShapeType="1"/>
              </p:cNvSpPr>
              <p:nvPr/>
            </p:nvSpPr>
            <p:spPr bwMode="auto">
              <a:xfrm flipV="1">
                <a:off x="4896" y="1584"/>
                <a:ext cx="0" cy="16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" name="Line 33"/>
              <p:cNvSpPr>
                <a:spLocks noChangeShapeType="1"/>
              </p:cNvSpPr>
              <p:nvPr/>
            </p:nvSpPr>
            <p:spPr bwMode="auto">
              <a:xfrm flipH="1">
                <a:off x="3408" y="1584"/>
                <a:ext cx="14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34"/>
              <p:cNvSpPr>
                <a:spLocks noChangeShapeType="1"/>
              </p:cNvSpPr>
              <p:nvPr/>
            </p:nvSpPr>
            <p:spPr bwMode="auto">
              <a:xfrm flipV="1">
                <a:off x="3408" y="158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35"/>
              <p:cNvSpPr>
                <a:spLocks noChangeShapeType="1"/>
              </p:cNvSpPr>
              <p:nvPr/>
            </p:nvSpPr>
            <p:spPr bwMode="auto">
              <a:xfrm>
                <a:off x="4128" y="100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36"/>
              <p:cNvSpPr>
                <a:spLocks noChangeShapeType="1"/>
              </p:cNvSpPr>
              <p:nvPr/>
            </p:nvSpPr>
            <p:spPr bwMode="auto">
              <a:xfrm flipH="1">
                <a:off x="1152" y="1008"/>
                <a:ext cx="29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37"/>
              <p:cNvSpPr>
                <a:spLocks noChangeShapeType="1"/>
              </p:cNvSpPr>
              <p:nvPr/>
            </p:nvSpPr>
            <p:spPr bwMode="auto">
              <a:xfrm flipV="1">
                <a:off x="1056" y="1008"/>
                <a:ext cx="0" cy="16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38"/>
              <p:cNvSpPr>
                <a:spLocks noChangeShapeType="1"/>
              </p:cNvSpPr>
              <p:nvPr/>
            </p:nvSpPr>
            <p:spPr bwMode="auto">
              <a:xfrm>
                <a:off x="1392" y="1008"/>
                <a:ext cx="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39"/>
              <p:cNvSpPr>
                <a:spLocks noChangeShapeType="1"/>
              </p:cNvSpPr>
              <p:nvPr/>
            </p:nvSpPr>
            <p:spPr bwMode="auto">
              <a:xfrm flipH="1">
                <a:off x="1056" y="1008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40"/>
              <p:cNvSpPr>
                <a:spLocks noChangeShapeType="1"/>
              </p:cNvSpPr>
              <p:nvPr/>
            </p:nvSpPr>
            <p:spPr bwMode="auto">
              <a:xfrm flipV="1">
                <a:off x="2592" y="72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Line 41"/>
              <p:cNvSpPr>
                <a:spLocks noChangeShapeType="1"/>
              </p:cNvSpPr>
              <p:nvPr/>
            </p:nvSpPr>
            <p:spPr bwMode="auto">
              <a:xfrm>
                <a:off x="336" y="3168"/>
                <a:ext cx="0" cy="5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" name="Line 44"/>
            <p:cNvSpPr>
              <a:spLocks noChangeShapeType="1"/>
            </p:cNvSpPr>
            <p:nvPr/>
          </p:nvSpPr>
          <p:spPr bwMode="auto">
            <a:xfrm>
              <a:off x="6477000" y="3962400"/>
              <a:ext cx="3886200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45"/>
            <p:cNvSpPr>
              <a:spLocks noChangeArrowheads="1"/>
            </p:cNvSpPr>
            <p:nvPr/>
          </p:nvSpPr>
          <p:spPr bwMode="auto">
            <a:xfrm>
              <a:off x="6172200" y="5486400"/>
              <a:ext cx="1371600" cy="609600"/>
            </a:xfrm>
            <a:prstGeom prst="ellipse">
              <a:avLst/>
            </a:prstGeom>
            <a:noFill/>
            <a:ln w="38100">
              <a:solidFill>
                <a:srgbClr val="00A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47"/>
            <p:cNvSpPr>
              <a:spLocks noChangeArrowheads="1"/>
            </p:cNvSpPr>
            <p:nvPr/>
          </p:nvSpPr>
          <p:spPr bwMode="auto">
            <a:xfrm>
              <a:off x="7696200" y="5486400"/>
              <a:ext cx="1295400" cy="609600"/>
            </a:xfrm>
            <a:prstGeom prst="ellipse">
              <a:avLst/>
            </a:prstGeom>
            <a:noFill/>
            <a:ln w="38100">
              <a:solidFill>
                <a:srgbClr val="00A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48"/>
            <p:cNvSpPr>
              <a:spLocks noChangeArrowheads="1"/>
            </p:cNvSpPr>
            <p:nvPr/>
          </p:nvSpPr>
          <p:spPr bwMode="auto">
            <a:xfrm>
              <a:off x="9144000" y="5486400"/>
              <a:ext cx="381000" cy="533400"/>
            </a:xfrm>
            <a:prstGeom prst="ellipse">
              <a:avLst/>
            </a:prstGeom>
            <a:noFill/>
            <a:ln w="38100">
              <a:solidFill>
                <a:srgbClr val="00A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49"/>
            <p:cNvSpPr>
              <a:spLocks noChangeArrowheads="1"/>
            </p:cNvSpPr>
            <p:nvPr/>
          </p:nvSpPr>
          <p:spPr bwMode="auto">
            <a:xfrm>
              <a:off x="9677400" y="5486400"/>
              <a:ext cx="838200" cy="533400"/>
            </a:xfrm>
            <a:prstGeom prst="ellipse">
              <a:avLst/>
            </a:prstGeom>
            <a:noFill/>
            <a:ln w="38100">
              <a:solidFill>
                <a:srgbClr val="00A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80091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Agglomerative hierarchical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An agglomerative algorithm starts with a disjoint clustering, which places each of the n objects in a cluster by itself and then merges clusters based on their similarities. </a:t>
            </a:r>
          </a:p>
          <a:p>
            <a:r>
              <a:rPr lang="en-US" dirty="0"/>
              <a:t>The merging continues until all the individual objects are grouped into a single cluster. </a:t>
            </a:r>
          </a:p>
          <a:p>
            <a:r>
              <a:rPr lang="en-US" dirty="0"/>
              <a:t>Whenever a merger occurs, the number of clusters is reduced by one. </a:t>
            </a:r>
          </a:p>
          <a:p>
            <a:r>
              <a:rPr lang="en-US" dirty="0"/>
              <a:t>The similarities between the new merged cluster and any of the other clusters need to be recalculated.</a:t>
            </a:r>
          </a:p>
        </p:txBody>
      </p:sp>
    </p:spTree>
    <p:extLst>
      <p:ext uri="{BB962C8B-B14F-4D97-AF65-F5344CB8AC3E}">
        <p14:creationId xmlns:p14="http://schemas.microsoft.com/office/powerpoint/2010/main" val="28561469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Agglomerative hierarchical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</a:pPr>
            <a:r>
              <a:rPr lang="en-US" altLang="en-US" sz="2400" dirty="0"/>
              <a:t>Basic algorithm is straightforward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Compute the proximity matrix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Let each data point be a cluster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/>
              <a:t>Repeat</a:t>
            </a: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dirty="0"/>
              <a:t>	Merge the two closest clusters</a:t>
            </a: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000" dirty="0"/>
              <a:t>	Update the proximity matrix</a:t>
            </a:r>
          </a:p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AutoNum type="arabicPeriod"/>
            </a:pPr>
            <a:r>
              <a:rPr lang="en-US" altLang="en-US" sz="2000" b="1" dirty="0"/>
              <a:t>Until</a:t>
            </a:r>
            <a:r>
              <a:rPr lang="en-US" altLang="en-US" sz="2000" dirty="0"/>
              <a:t> only a single cluster remains</a:t>
            </a:r>
          </a:p>
        </p:txBody>
      </p:sp>
    </p:spTree>
    <p:extLst>
      <p:ext uri="{BB962C8B-B14F-4D97-AF65-F5344CB8AC3E}">
        <p14:creationId xmlns:p14="http://schemas.microsoft.com/office/powerpoint/2010/main" val="15868433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measurement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similarity measurement with the Euclidean distance can be determined by minimum, maximum, average, or centroid distance between two clusters to be merged. </a:t>
            </a:r>
          </a:p>
          <a:p>
            <a:r>
              <a:rPr lang="en-US" dirty="0"/>
              <a:t>There are four hierarchical clustering methods corresponding to  each  criterion. </a:t>
            </a:r>
          </a:p>
          <a:p>
            <a:r>
              <a:rPr lang="en-US" dirty="0"/>
              <a:t>They are called  single-link,  complete-link, group-average, and centroid clustering methods, respectively</a:t>
            </a:r>
          </a:p>
        </p:txBody>
      </p:sp>
    </p:spTree>
    <p:extLst>
      <p:ext uri="{BB962C8B-B14F-4D97-AF65-F5344CB8AC3E}">
        <p14:creationId xmlns:p14="http://schemas.microsoft.com/office/powerpoint/2010/main" val="362912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measurement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single-link  and  complete-link  methods  consider  the  distance  between  each individual object in each cluster</a:t>
            </a:r>
          </a:p>
          <a:p>
            <a:r>
              <a:rPr lang="en-US" dirty="0"/>
              <a:t>The group-average method concerns the distances of all objects in the clusters. </a:t>
            </a:r>
          </a:p>
          <a:p>
            <a:r>
              <a:rPr lang="en-US" dirty="0"/>
              <a:t>In the centroid method, the distance between two clusters is defined as the (squared) Euclidean distance between their centroids.</a:t>
            </a:r>
          </a:p>
        </p:txBody>
      </p:sp>
    </p:spTree>
    <p:extLst>
      <p:ext uri="{BB962C8B-B14F-4D97-AF65-F5344CB8AC3E}">
        <p14:creationId xmlns:p14="http://schemas.microsoft.com/office/powerpoint/2010/main" val="3495096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Similarity measurement (contd.)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80783" y="2066551"/>
            <a:ext cx="4419600" cy="1828800"/>
            <a:chOff x="685800" y="1627188"/>
            <a:chExt cx="4419600" cy="1828800"/>
          </a:xfrm>
        </p:grpSpPr>
        <p:sp>
          <p:nvSpPr>
            <p:cNvPr id="9" name="Oval 30"/>
            <p:cNvSpPr>
              <a:spLocks noChangeArrowheads="1"/>
            </p:cNvSpPr>
            <p:nvPr/>
          </p:nvSpPr>
          <p:spPr bwMode="auto">
            <a:xfrm rot="16200000">
              <a:off x="1752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" name="Oval 31"/>
            <p:cNvSpPr>
              <a:spLocks noChangeArrowheads="1"/>
            </p:cNvSpPr>
            <p:nvPr/>
          </p:nvSpPr>
          <p:spPr bwMode="auto">
            <a:xfrm rot="16200000">
              <a:off x="1676400" y="2008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1" name="Oval 32"/>
            <p:cNvSpPr>
              <a:spLocks noChangeArrowheads="1"/>
            </p:cNvSpPr>
            <p:nvPr/>
          </p:nvSpPr>
          <p:spPr bwMode="auto">
            <a:xfrm rot="16200000">
              <a:off x="838200" y="24653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2" name="Oval 33"/>
            <p:cNvSpPr>
              <a:spLocks noChangeArrowheads="1"/>
            </p:cNvSpPr>
            <p:nvPr/>
          </p:nvSpPr>
          <p:spPr bwMode="auto">
            <a:xfrm rot="16200000">
              <a:off x="1903413" y="2311400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3" name="Oval 35"/>
            <p:cNvSpPr>
              <a:spLocks noChangeArrowheads="1"/>
            </p:cNvSpPr>
            <p:nvPr/>
          </p:nvSpPr>
          <p:spPr bwMode="auto">
            <a:xfrm rot="5400000" flipV="1">
              <a:off x="4876800" y="2160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4" name="Oval 36"/>
            <p:cNvSpPr>
              <a:spLocks noChangeArrowheads="1"/>
            </p:cNvSpPr>
            <p:nvPr/>
          </p:nvSpPr>
          <p:spPr bwMode="auto">
            <a:xfrm rot="5400000" flipV="1">
              <a:off x="3516313" y="2159000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" name="Oval 37"/>
            <p:cNvSpPr>
              <a:spLocks noChangeArrowheads="1"/>
            </p:cNvSpPr>
            <p:nvPr/>
          </p:nvSpPr>
          <p:spPr bwMode="auto">
            <a:xfrm rot="5400000" flipV="1">
              <a:off x="4038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6" name="Oval 38"/>
            <p:cNvSpPr>
              <a:spLocks noChangeArrowheads="1"/>
            </p:cNvSpPr>
            <p:nvPr/>
          </p:nvSpPr>
          <p:spPr bwMode="auto">
            <a:xfrm rot="5400000" flipV="1">
              <a:off x="4038600" y="1779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685800" y="1627188"/>
              <a:ext cx="4419600" cy="1828800"/>
              <a:chOff x="685800" y="1627188"/>
              <a:chExt cx="4419600" cy="1828800"/>
            </a:xfrm>
          </p:grpSpPr>
          <p:sp>
            <p:nvSpPr>
              <p:cNvPr id="18" name="Freeform 29" descr="5%"/>
              <p:cNvSpPr>
                <a:spLocks/>
              </p:cNvSpPr>
              <p:nvPr/>
            </p:nvSpPr>
            <p:spPr bwMode="auto">
              <a:xfrm rot="16200000">
                <a:off x="462757" y="1850231"/>
                <a:ext cx="1828800" cy="1382713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chemeClr val="tx1"/>
                      </a:fgClr>
                      <a:bgClr>
                        <a:srgbClr val="FFFFFF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4" descr="5%"/>
              <p:cNvSpPr>
                <a:spLocks/>
              </p:cNvSpPr>
              <p:nvPr/>
            </p:nvSpPr>
            <p:spPr bwMode="auto">
              <a:xfrm rot="5400000" flipV="1">
                <a:off x="3352800" y="1703388"/>
                <a:ext cx="1828800" cy="1676400"/>
              </a:xfrm>
              <a:custGeom>
                <a:avLst/>
                <a:gdLst>
                  <a:gd name="T0" fmla="*/ 2147483646 w 598"/>
                  <a:gd name="T1" fmla="*/ 2147483646 h 652"/>
                  <a:gd name="T2" fmla="*/ 2147483646 w 598"/>
                  <a:gd name="T3" fmla="*/ 0 h 652"/>
                  <a:gd name="T4" fmla="*/ 2147483646 w 598"/>
                  <a:gd name="T5" fmla="*/ 2147483646 h 652"/>
                  <a:gd name="T6" fmla="*/ 2147483646 w 598"/>
                  <a:gd name="T7" fmla="*/ 2147483646 h 652"/>
                  <a:gd name="T8" fmla="*/ 2147483646 w 598"/>
                  <a:gd name="T9" fmla="*/ 2147483646 h 652"/>
                  <a:gd name="T10" fmla="*/ 2147483646 w 598"/>
                  <a:gd name="T11" fmla="*/ 2147483646 h 652"/>
                  <a:gd name="T12" fmla="*/ 2147483646 w 598"/>
                  <a:gd name="T13" fmla="*/ 2147483646 h 652"/>
                  <a:gd name="T14" fmla="*/ 2147483646 w 598"/>
                  <a:gd name="T15" fmla="*/ 2147483646 h 652"/>
                  <a:gd name="T16" fmla="*/ 2147483646 w 598"/>
                  <a:gd name="T17" fmla="*/ 2147483646 h 652"/>
                  <a:gd name="T18" fmla="*/ 2147483646 w 598"/>
                  <a:gd name="T19" fmla="*/ 2147483646 h 652"/>
                  <a:gd name="T20" fmla="*/ 2147483646 w 598"/>
                  <a:gd name="T21" fmla="*/ 2147483646 h 652"/>
                  <a:gd name="T22" fmla="*/ 2147483646 w 598"/>
                  <a:gd name="T23" fmla="*/ 2147483646 h 652"/>
                  <a:gd name="T24" fmla="*/ 2147483646 w 598"/>
                  <a:gd name="T25" fmla="*/ 2147483646 h 652"/>
                  <a:gd name="T26" fmla="*/ 2147483646 w 598"/>
                  <a:gd name="T27" fmla="*/ 2147483646 h 652"/>
                  <a:gd name="T28" fmla="*/ 2147483646 w 598"/>
                  <a:gd name="T29" fmla="*/ 2147483646 h 652"/>
                  <a:gd name="T30" fmla="*/ 2147483646 w 598"/>
                  <a:gd name="T31" fmla="*/ 2147483646 h 652"/>
                  <a:gd name="T32" fmla="*/ 2147483646 w 598"/>
                  <a:gd name="T33" fmla="*/ 2147483646 h 652"/>
                  <a:gd name="T34" fmla="*/ 2147483646 w 598"/>
                  <a:gd name="T35" fmla="*/ 2147483646 h 652"/>
                  <a:gd name="T36" fmla="*/ 2147483646 w 598"/>
                  <a:gd name="T37" fmla="*/ 2147483646 h 652"/>
                  <a:gd name="T38" fmla="*/ 2147483646 w 598"/>
                  <a:gd name="T39" fmla="*/ 2147483646 h 652"/>
                  <a:gd name="T40" fmla="*/ 2147483646 w 598"/>
                  <a:gd name="T41" fmla="*/ 2147483646 h 652"/>
                  <a:gd name="T42" fmla="*/ 2147483646 w 598"/>
                  <a:gd name="T43" fmla="*/ 2147483646 h 652"/>
                  <a:gd name="T44" fmla="*/ 2147483646 w 598"/>
                  <a:gd name="T45" fmla="*/ 2147483646 h 652"/>
                  <a:gd name="T46" fmla="*/ 2147483646 w 598"/>
                  <a:gd name="T47" fmla="*/ 2147483646 h 652"/>
                  <a:gd name="T48" fmla="*/ 2147483646 w 598"/>
                  <a:gd name="T49" fmla="*/ 2147483646 h 6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98" h="652">
                    <a:moveTo>
                      <a:pt x="433" y="69"/>
                    </a:moveTo>
                    <a:cubicBezTo>
                      <a:pt x="379" y="31"/>
                      <a:pt x="310" y="21"/>
                      <a:pt x="248" y="0"/>
                    </a:cubicBezTo>
                    <a:cubicBezTo>
                      <a:pt x="195" y="7"/>
                      <a:pt x="192" y="10"/>
                      <a:pt x="152" y="34"/>
                    </a:cubicBezTo>
                    <a:cubicBezTo>
                      <a:pt x="144" y="57"/>
                      <a:pt x="132" y="73"/>
                      <a:pt x="125" y="96"/>
                    </a:cubicBezTo>
                    <a:cubicBezTo>
                      <a:pt x="133" y="189"/>
                      <a:pt x="154" y="159"/>
                      <a:pt x="70" y="172"/>
                    </a:cubicBezTo>
                    <a:cubicBezTo>
                      <a:pt x="63" y="173"/>
                      <a:pt x="56" y="176"/>
                      <a:pt x="49" y="178"/>
                    </a:cubicBezTo>
                    <a:cubicBezTo>
                      <a:pt x="29" y="209"/>
                      <a:pt x="39" y="188"/>
                      <a:pt x="29" y="220"/>
                    </a:cubicBezTo>
                    <a:cubicBezTo>
                      <a:pt x="25" y="234"/>
                      <a:pt x="15" y="261"/>
                      <a:pt x="15" y="261"/>
                    </a:cubicBezTo>
                    <a:cubicBezTo>
                      <a:pt x="18" y="302"/>
                      <a:pt x="0" y="355"/>
                      <a:pt x="29" y="384"/>
                    </a:cubicBezTo>
                    <a:cubicBezTo>
                      <a:pt x="46" y="401"/>
                      <a:pt x="97" y="412"/>
                      <a:pt x="97" y="412"/>
                    </a:cubicBezTo>
                    <a:cubicBezTo>
                      <a:pt x="92" y="438"/>
                      <a:pt x="84" y="462"/>
                      <a:pt x="77" y="487"/>
                    </a:cubicBezTo>
                    <a:cubicBezTo>
                      <a:pt x="79" y="523"/>
                      <a:pt x="71" y="585"/>
                      <a:pt x="104" y="617"/>
                    </a:cubicBezTo>
                    <a:cubicBezTo>
                      <a:pt x="121" y="634"/>
                      <a:pt x="144" y="638"/>
                      <a:pt x="166" y="645"/>
                    </a:cubicBezTo>
                    <a:cubicBezTo>
                      <a:pt x="173" y="647"/>
                      <a:pt x="186" y="652"/>
                      <a:pt x="186" y="652"/>
                    </a:cubicBezTo>
                    <a:cubicBezTo>
                      <a:pt x="214" y="643"/>
                      <a:pt x="224" y="628"/>
                      <a:pt x="241" y="604"/>
                    </a:cubicBezTo>
                    <a:cubicBezTo>
                      <a:pt x="276" y="626"/>
                      <a:pt x="311" y="642"/>
                      <a:pt x="351" y="652"/>
                    </a:cubicBezTo>
                    <a:cubicBezTo>
                      <a:pt x="400" y="644"/>
                      <a:pt x="419" y="631"/>
                      <a:pt x="447" y="590"/>
                    </a:cubicBezTo>
                    <a:cubicBezTo>
                      <a:pt x="467" y="531"/>
                      <a:pt x="403" y="553"/>
                      <a:pt x="522" y="542"/>
                    </a:cubicBezTo>
                    <a:cubicBezTo>
                      <a:pt x="555" y="520"/>
                      <a:pt x="557" y="482"/>
                      <a:pt x="570" y="446"/>
                    </a:cubicBezTo>
                    <a:cubicBezTo>
                      <a:pt x="561" y="418"/>
                      <a:pt x="562" y="408"/>
                      <a:pt x="536" y="391"/>
                    </a:cubicBezTo>
                    <a:cubicBezTo>
                      <a:pt x="512" y="355"/>
                      <a:pt x="529" y="362"/>
                      <a:pt x="563" y="350"/>
                    </a:cubicBezTo>
                    <a:cubicBezTo>
                      <a:pt x="595" y="303"/>
                      <a:pt x="586" y="325"/>
                      <a:pt x="598" y="288"/>
                    </a:cubicBezTo>
                    <a:cubicBezTo>
                      <a:pt x="596" y="271"/>
                      <a:pt x="597" y="218"/>
                      <a:pt x="584" y="192"/>
                    </a:cubicBezTo>
                    <a:cubicBezTo>
                      <a:pt x="560" y="146"/>
                      <a:pt x="494" y="112"/>
                      <a:pt x="447" y="96"/>
                    </a:cubicBezTo>
                    <a:cubicBezTo>
                      <a:pt x="437" y="93"/>
                      <a:pt x="438" y="78"/>
                      <a:pt x="433" y="69"/>
                    </a:cubicBezTo>
                    <a:close/>
                  </a:path>
                </a:pathLst>
              </a:custGeom>
              <a:noFill/>
              <a:ln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pattFill prst="pct5">
                      <a:fgClr>
                        <a:schemeClr val="tx1"/>
                      </a:fgClr>
                      <a:bgClr>
                        <a:srgbClr val="FFFFFF"/>
                      </a:bgClr>
                    </a:patt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Line 39"/>
              <p:cNvSpPr>
                <a:spLocks noChangeShapeType="1"/>
              </p:cNvSpPr>
              <p:nvPr/>
            </p:nvSpPr>
            <p:spPr bwMode="auto">
              <a:xfrm flipV="1">
                <a:off x="1981200" y="2160588"/>
                <a:ext cx="1524000" cy="15240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3" name="Group 32"/>
          <p:cNvGrpSpPr/>
          <p:nvPr/>
        </p:nvGrpSpPr>
        <p:grpSpPr>
          <a:xfrm>
            <a:off x="6671983" y="2066550"/>
            <a:ext cx="4419600" cy="1828800"/>
            <a:chOff x="685800" y="1627188"/>
            <a:chExt cx="4419600" cy="1828800"/>
          </a:xfrm>
        </p:grpSpPr>
        <p:sp>
          <p:nvSpPr>
            <p:cNvPr id="34" name="Freeform 29" descr="5%"/>
            <p:cNvSpPr>
              <a:spLocks/>
            </p:cNvSpPr>
            <p:nvPr/>
          </p:nvSpPr>
          <p:spPr bwMode="auto">
            <a:xfrm rot="16200000">
              <a:off x="462757" y="1850231"/>
              <a:ext cx="1828800" cy="1382713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Oval 30"/>
            <p:cNvSpPr>
              <a:spLocks noChangeArrowheads="1"/>
            </p:cNvSpPr>
            <p:nvPr/>
          </p:nvSpPr>
          <p:spPr bwMode="auto">
            <a:xfrm rot="16200000">
              <a:off x="1752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6" name="Oval 31"/>
            <p:cNvSpPr>
              <a:spLocks noChangeArrowheads="1"/>
            </p:cNvSpPr>
            <p:nvPr/>
          </p:nvSpPr>
          <p:spPr bwMode="auto">
            <a:xfrm rot="16200000">
              <a:off x="1676400" y="2008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7" name="Oval 32"/>
            <p:cNvSpPr>
              <a:spLocks noChangeArrowheads="1"/>
            </p:cNvSpPr>
            <p:nvPr/>
          </p:nvSpPr>
          <p:spPr bwMode="auto">
            <a:xfrm rot="16200000">
              <a:off x="838200" y="24653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" name="Oval 33"/>
            <p:cNvSpPr>
              <a:spLocks noChangeArrowheads="1"/>
            </p:cNvSpPr>
            <p:nvPr/>
          </p:nvSpPr>
          <p:spPr bwMode="auto">
            <a:xfrm rot="16200000">
              <a:off x="1903413" y="2311400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9" name="Freeform 34" descr="5%"/>
            <p:cNvSpPr>
              <a:spLocks/>
            </p:cNvSpPr>
            <p:nvPr/>
          </p:nvSpPr>
          <p:spPr bwMode="auto">
            <a:xfrm rot="5400000" flipV="1">
              <a:off x="3352800" y="1703388"/>
              <a:ext cx="1828800" cy="1676400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35"/>
            <p:cNvSpPr>
              <a:spLocks noChangeArrowheads="1"/>
            </p:cNvSpPr>
            <p:nvPr/>
          </p:nvSpPr>
          <p:spPr bwMode="auto">
            <a:xfrm rot="5400000" flipV="1">
              <a:off x="4876800" y="2160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1" name="Oval 36"/>
            <p:cNvSpPr>
              <a:spLocks noChangeArrowheads="1"/>
            </p:cNvSpPr>
            <p:nvPr/>
          </p:nvSpPr>
          <p:spPr bwMode="auto">
            <a:xfrm rot="5400000" flipV="1">
              <a:off x="3516313" y="2159000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2" name="Oval 37"/>
            <p:cNvSpPr>
              <a:spLocks noChangeArrowheads="1"/>
            </p:cNvSpPr>
            <p:nvPr/>
          </p:nvSpPr>
          <p:spPr bwMode="auto">
            <a:xfrm rot="5400000" flipV="1">
              <a:off x="4038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3" name="Oval 38"/>
            <p:cNvSpPr>
              <a:spLocks noChangeArrowheads="1"/>
            </p:cNvSpPr>
            <p:nvPr/>
          </p:nvSpPr>
          <p:spPr bwMode="auto">
            <a:xfrm rot="5400000" flipV="1">
              <a:off x="4038600" y="1779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" name="Line 39"/>
            <p:cNvSpPr>
              <a:spLocks noChangeShapeType="1"/>
            </p:cNvSpPr>
            <p:nvPr/>
          </p:nvSpPr>
          <p:spPr bwMode="auto">
            <a:xfrm flipV="1">
              <a:off x="914400" y="2236788"/>
              <a:ext cx="3962400" cy="22860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987146" y="5857500"/>
            <a:ext cx="4800600" cy="33035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90600" lvl="1" indent="-533400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910946" y="4409699"/>
            <a:ext cx="4419600" cy="1828800"/>
            <a:chOff x="685800" y="1627188"/>
            <a:chExt cx="4419600" cy="1828800"/>
          </a:xfrm>
        </p:grpSpPr>
        <p:sp>
          <p:nvSpPr>
            <p:cNvPr id="47" name="Freeform 29" descr="5%"/>
            <p:cNvSpPr>
              <a:spLocks/>
            </p:cNvSpPr>
            <p:nvPr/>
          </p:nvSpPr>
          <p:spPr bwMode="auto">
            <a:xfrm rot="16200000">
              <a:off x="462757" y="1850231"/>
              <a:ext cx="1828800" cy="1382713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30"/>
            <p:cNvSpPr>
              <a:spLocks noChangeArrowheads="1"/>
            </p:cNvSpPr>
            <p:nvPr/>
          </p:nvSpPr>
          <p:spPr bwMode="auto">
            <a:xfrm rot="16200000">
              <a:off x="1752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9" name="Oval 31"/>
            <p:cNvSpPr>
              <a:spLocks noChangeArrowheads="1"/>
            </p:cNvSpPr>
            <p:nvPr/>
          </p:nvSpPr>
          <p:spPr bwMode="auto">
            <a:xfrm rot="16200000">
              <a:off x="1676400" y="2008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0" name="Oval 32"/>
            <p:cNvSpPr>
              <a:spLocks noChangeArrowheads="1"/>
            </p:cNvSpPr>
            <p:nvPr/>
          </p:nvSpPr>
          <p:spPr bwMode="auto">
            <a:xfrm rot="16200000">
              <a:off x="838200" y="24653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" name="Oval 33"/>
            <p:cNvSpPr>
              <a:spLocks noChangeArrowheads="1"/>
            </p:cNvSpPr>
            <p:nvPr/>
          </p:nvSpPr>
          <p:spPr bwMode="auto">
            <a:xfrm rot="16200000">
              <a:off x="1903413" y="2311400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2" name="Freeform 34" descr="5%"/>
            <p:cNvSpPr>
              <a:spLocks/>
            </p:cNvSpPr>
            <p:nvPr/>
          </p:nvSpPr>
          <p:spPr bwMode="auto">
            <a:xfrm rot="5400000" flipV="1">
              <a:off x="3352800" y="1703388"/>
              <a:ext cx="1828800" cy="1676400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Oval 35"/>
            <p:cNvSpPr>
              <a:spLocks noChangeArrowheads="1"/>
            </p:cNvSpPr>
            <p:nvPr/>
          </p:nvSpPr>
          <p:spPr bwMode="auto">
            <a:xfrm rot="5400000" flipV="1">
              <a:off x="4876800" y="2160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4" name="Oval 36"/>
            <p:cNvSpPr>
              <a:spLocks noChangeArrowheads="1"/>
            </p:cNvSpPr>
            <p:nvPr/>
          </p:nvSpPr>
          <p:spPr bwMode="auto">
            <a:xfrm rot="5400000" flipV="1">
              <a:off x="3516313" y="2160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5" name="Oval 37"/>
            <p:cNvSpPr>
              <a:spLocks noChangeArrowheads="1"/>
            </p:cNvSpPr>
            <p:nvPr/>
          </p:nvSpPr>
          <p:spPr bwMode="auto">
            <a:xfrm rot="5400000" flipV="1">
              <a:off x="4038600" y="27701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6" name="Oval 38"/>
            <p:cNvSpPr>
              <a:spLocks noChangeArrowheads="1"/>
            </p:cNvSpPr>
            <p:nvPr/>
          </p:nvSpPr>
          <p:spPr bwMode="auto">
            <a:xfrm rot="5400000" flipV="1">
              <a:off x="4038600" y="1779588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>
              <a:off x="1828800" y="2770188"/>
              <a:ext cx="2209800" cy="762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 flipV="1">
              <a:off x="1828800" y="2236788"/>
              <a:ext cx="1676400" cy="533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 flipV="1">
              <a:off x="1828800" y="1855788"/>
              <a:ext cx="2209800" cy="914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42"/>
            <p:cNvSpPr>
              <a:spLocks noChangeShapeType="1"/>
            </p:cNvSpPr>
            <p:nvPr/>
          </p:nvSpPr>
          <p:spPr bwMode="auto">
            <a:xfrm flipV="1">
              <a:off x="1828800" y="2236788"/>
              <a:ext cx="3048000" cy="533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43"/>
            <p:cNvSpPr>
              <a:spLocks noChangeShapeType="1"/>
            </p:cNvSpPr>
            <p:nvPr/>
          </p:nvSpPr>
          <p:spPr bwMode="auto">
            <a:xfrm>
              <a:off x="1981200" y="2389188"/>
              <a:ext cx="2057400" cy="4572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44"/>
            <p:cNvSpPr>
              <a:spLocks noChangeShapeType="1"/>
            </p:cNvSpPr>
            <p:nvPr/>
          </p:nvSpPr>
          <p:spPr bwMode="auto">
            <a:xfrm flipV="1">
              <a:off x="1981200" y="2236788"/>
              <a:ext cx="1524000" cy="152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45"/>
            <p:cNvSpPr>
              <a:spLocks noChangeShapeType="1"/>
            </p:cNvSpPr>
            <p:nvPr/>
          </p:nvSpPr>
          <p:spPr bwMode="auto">
            <a:xfrm flipV="1">
              <a:off x="1981200" y="1855788"/>
              <a:ext cx="2057400" cy="533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46"/>
            <p:cNvSpPr>
              <a:spLocks noChangeShapeType="1"/>
            </p:cNvSpPr>
            <p:nvPr/>
          </p:nvSpPr>
          <p:spPr bwMode="auto">
            <a:xfrm flipV="1">
              <a:off x="1981200" y="2236788"/>
              <a:ext cx="2895600" cy="152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47"/>
            <p:cNvSpPr>
              <a:spLocks noChangeShapeType="1"/>
            </p:cNvSpPr>
            <p:nvPr/>
          </p:nvSpPr>
          <p:spPr bwMode="auto">
            <a:xfrm>
              <a:off x="914400" y="2465388"/>
              <a:ext cx="3124200" cy="3810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48"/>
            <p:cNvSpPr>
              <a:spLocks noChangeShapeType="1"/>
            </p:cNvSpPr>
            <p:nvPr/>
          </p:nvSpPr>
          <p:spPr bwMode="auto">
            <a:xfrm flipV="1">
              <a:off x="914400" y="2236788"/>
              <a:ext cx="3962400" cy="2286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V="1">
              <a:off x="914400" y="1855788"/>
              <a:ext cx="3124200" cy="6096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50"/>
            <p:cNvSpPr>
              <a:spLocks noChangeShapeType="1"/>
            </p:cNvSpPr>
            <p:nvPr/>
          </p:nvSpPr>
          <p:spPr bwMode="auto">
            <a:xfrm flipV="1">
              <a:off x="914400" y="2236788"/>
              <a:ext cx="2590800" cy="2286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51"/>
            <p:cNvSpPr>
              <a:spLocks noChangeShapeType="1"/>
            </p:cNvSpPr>
            <p:nvPr/>
          </p:nvSpPr>
          <p:spPr bwMode="auto">
            <a:xfrm>
              <a:off x="1752600" y="2008188"/>
              <a:ext cx="2286000" cy="8382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52"/>
            <p:cNvSpPr>
              <a:spLocks noChangeShapeType="1"/>
            </p:cNvSpPr>
            <p:nvPr/>
          </p:nvSpPr>
          <p:spPr bwMode="auto">
            <a:xfrm>
              <a:off x="1752600" y="2008188"/>
              <a:ext cx="1752600" cy="2286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53"/>
            <p:cNvSpPr>
              <a:spLocks noChangeShapeType="1"/>
            </p:cNvSpPr>
            <p:nvPr/>
          </p:nvSpPr>
          <p:spPr bwMode="auto">
            <a:xfrm flipV="1">
              <a:off x="1752600" y="1855788"/>
              <a:ext cx="2286000" cy="1524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54"/>
            <p:cNvSpPr>
              <a:spLocks noChangeShapeType="1"/>
            </p:cNvSpPr>
            <p:nvPr/>
          </p:nvSpPr>
          <p:spPr bwMode="auto">
            <a:xfrm>
              <a:off x="1752600" y="2008188"/>
              <a:ext cx="3124200" cy="228600"/>
            </a:xfrm>
            <a:prstGeom prst="line">
              <a:avLst/>
            </a:prstGeom>
            <a:noFill/>
            <a:ln w="6350">
              <a:solidFill>
                <a:srgbClr val="FFC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6862483" y="4485900"/>
            <a:ext cx="4419600" cy="1828800"/>
            <a:chOff x="685800" y="1700213"/>
            <a:chExt cx="4419600" cy="1828800"/>
          </a:xfrm>
        </p:grpSpPr>
        <p:sp>
          <p:nvSpPr>
            <p:cNvPr id="88" name="Line 2"/>
            <p:cNvSpPr>
              <a:spLocks noChangeShapeType="1"/>
            </p:cNvSpPr>
            <p:nvPr/>
          </p:nvSpPr>
          <p:spPr bwMode="auto">
            <a:xfrm flipV="1">
              <a:off x="1371600" y="2614613"/>
              <a:ext cx="289560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3" descr="5%"/>
            <p:cNvSpPr>
              <a:spLocks/>
            </p:cNvSpPr>
            <p:nvPr/>
          </p:nvSpPr>
          <p:spPr bwMode="auto">
            <a:xfrm rot="16200000">
              <a:off x="462757" y="1923256"/>
              <a:ext cx="1828800" cy="1382713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Oval 31"/>
            <p:cNvSpPr>
              <a:spLocks noChangeArrowheads="1"/>
            </p:cNvSpPr>
            <p:nvPr/>
          </p:nvSpPr>
          <p:spPr bwMode="auto">
            <a:xfrm rot="16200000">
              <a:off x="1752600" y="28432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1" name="Oval 32"/>
            <p:cNvSpPr>
              <a:spLocks noChangeArrowheads="1"/>
            </p:cNvSpPr>
            <p:nvPr/>
          </p:nvSpPr>
          <p:spPr bwMode="auto">
            <a:xfrm rot="16200000">
              <a:off x="1676400" y="20812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" name="Oval 33"/>
            <p:cNvSpPr>
              <a:spLocks noChangeArrowheads="1"/>
            </p:cNvSpPr>
            <p:nvPr/>
          </p:nvSpPr>
          <p:spPr bwMode="auto">
            <a:xfrm rot="16200000">
              <a:off x="838200" y="25384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3" name="Oval 34"/>
            <p:cNvSpPr>
              <a:spLocks noChangeArrowheads="1"/>
            </p:cNvSpPr>
            <p:nvPr/>
          </p:nvSpPr>
          <p:spPr bwMode="auto">
            <a:xfrm rot="16200000">
              <a:off x="1903413" y="2384425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4" name="Freeform 35" descr="5%"/>
            <p:cNvSpPr>
              <a:spLocks/>
            </p:cNvSpPr>
            <p:nvPr/>
          </p:nvSpPr>
          <p:spPr bwMode="auto">
            <a:xfrm rot="5400000" flipV="1">
              <a:off x="3352800" y="1776413"/>
              <a:ext cx="1828800" cy="1676400"/>
            </a:xfrm>
            <a:custGeom>
              <a:avLst/>
              <a:gdLst>
                <a:gd name="T0" fmla="*/ 2147483646 w 598"/>
                <a:gd name="T1" fmla="*/ 2147483646 h 652"/>
                <a:gd name="T2" fmla="*/ 2147483646 w 598"/>
                <a:gd name="T3" fmla="*/ 0 h 652"/>
                <a:gd name="T4" fmla="*/ 2147483646 w 598"/>
                <a:gd name="T5" fmla="*/ 2147483646 h 652"/>
                <a:gd name="T6" fmla="*/ 2147483646 w 598"/>
                <a:gd name="T7" fmla="*/ 2147483646 h 652"/>
                <a:gd name="T8" fmla="*/ 2147483646 w 598"/>
                <a:gd name="T9" fmla="*/ 2147483646 h 652"/>
                <a:gd name="T10" fmla="*/ 2147483646 w 598"/>
                <a:gd name="T11" fmla="*/ 2147483646 h 652"/>
                <a:gd name="T12" fmla="*/ 2147483646 w 598"/>
                <a:gd name="T13" fmla="*/ 2147483646 h 652"/>
                <a:gd name="T14" fmla="*/ 2147483646 w 598"/>
                <a:gd name="T15" fmla="*/ 2147483646 h 652"/>
                <a:gd name="T16" fmla="*/ 2147483646 w 598"/>
                <a:gd name="T17" fmla="*/ 2147483646 h 652"/>
                <a:gd name="T18" fmla="*/ 2147483646 w 598"/>
                <a:gd name="T19" fmla="*/ 2147483646 h 652"/>
                <a:gd name="T20" fmla="*/ 2147483646 w 598"/>
                <a:gd name="T21" fmla="*/ 2147483646 h 652"/>
                <a:gd name="T22" fmla="*/ 2147483646 w 598"/>
                <a:gd name="T23" fmla="*/ 2147483646 h 652"/>
                <a:gd name="T24" fmla="*/ 2147483646 w 598"/>
                <a:gd name="T25" fmla="*/ 2147483646 h 652"/>
                <a:gd name="T26" fmla="*/ 2147483646 w 598"/>
                <a:gd name="T27" fmla="*/ 2147483646 h 652"/>
                <a:gd name="T28" fmla="*/ 2147483646 w 598"/>
                <a:gd name="T29" fmla="*/ 2147483646 h 652"/>
                <a:gd name="T30" fmla="*/ 2147483646 w 598"/>
                <a:gd name="T31" fmla="*/ 2147483646 h 652"/>
                <a:gd name="T32" fmla="*/ 2147483646 w 598"/>
                <a:gd name="T33" fmla="*/ 2147483646 h 652"/>
                <a:gd name="T34" fmla="*/ 2147483646 w 598"/>
                <a:gd name="T35" fmla="*/ 2147483646 h 652"/>
                <a:gd name="T36" fmla="*/ 2147483646 w 598"/>
                <a:gd name="T37" fmla="*/ 2147483646 h 652"/>
                <a:gd name="T38" fmla="*/ 2147483646 w 598"/>
                <a:gd name="T39" fmla="*/ 2147483646 h 652"/>
                <a:gd name="T40" fmla="*/ 2147483646 w 598"/>
                <a:gd name="T41" fmla="*/ 2147483646 h 652"/>
                <a:gd name="T42" fmla="*/ 2147483646 w 598"/>
                <a:gd name="T43" fmla="*/ 2147483646 h 652"/>
                <a:gd name="T44" fmla="*/ 2147483646 w 598"/>
                <a:gd name="T45" fmla="*/ 2147483646 h 652"/>
                <a:gd name="T46" fmla="*/ 2147483646 w 598"/>
                <a:gd name="T47" fmla="*/ 2147483646 h 652"/>
                <a:gd name="T48" fmla="*/ 2147483646 w 598"/>
                <a:gd name="T49" fmla="*/ 2147483646 h 6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98" h="652">
                  <a:moveTo>
                    <a:pt x="433" y="69"/>
                  </a:moveTo>
                  <a:cubicBezTo>
                    <a:pt x="379" y="31"/>
                    <a:pt x="310" y="21"/>
                    <a:pt x="248" y="0"/>
                  </a:cubicBezTo>
                  <a:cubicBezTo>
                    <a:pt x="195" y="7"/>
                    <a:pt x="192" y="10"/>
                    <a:pt x="152" y="34"/>
                  </a:cubicBezTo>
                  <a:cubicBezTo>
                    <a:pt x="144" y="57"/>
                    <a:pt x="132" y="73"/>
                    <a:pt x="125" y="96"/>
                  </a:cubicBezTo>
                  <a:cubicBezTo>
                    <a:pt x="133" y="189"/>
                    <a:pt x="154" y="159"/>
                    <a:pt x="70" y="172"/>
                  </a:cubicBezTo>
                  <a:cubicBezTo>
                    <a:pt x="63" y="173"/>
                    <a:pt x="56" y="176"/>
                    <a:pt x="49" y="178"/>
                  </a:cubicBezTo>
                  <a:cubicBezTo>
                    <a:pt x="29" y="209"/>
                    <a:pt x="39" y="188"/>
                    <a:pt x="29" y="220"/>
                  </a:cubicBezTo>
                  <a:cubicBezTo>
                    <a:pt x="25" y="234"/>
                    <a:pt x="15" y="261"/>
                    <a:pt x="15" y="261"/>
                  </a:cubicBezTo>
                  <a:cubicBezTo>
                    <a:pt x="18" y="302"/>
                    <a:pt x="0" y="355"/>
                    <a:pt x="29" y="384"/>
                  </a:cubicBezTo>
                  <a:cubicBezTo>
                    <a:pt x="46" y="401"/>
                    <a:pt x="97" y="412"/>
                    <a:pt x="97" y="412"/>
                  </a:cubicBezTo>
                  <a:cubicBezTo>
                    <a:pt x="92" y="438"/>
                    <a:pt x="84" y="462"/>
                    <a:pt x="77" y="487"/>
                  </a:cubicBezTo>
                  <a:cubicBezTo>
                    <a:pt x="79" y="523"/>
                    <a:pt x="71" y="585"/>
                    <a:pt x="104" y="617"/>
                  </a:cubicBezTo>
                  <a:cubicBezTo>
                    <a:pt x="121" y="634"/>
                    <a:pt x="144" y="638"/>
                    <a:pt x="166" y="645"/>
                  </a:cubicBezTo>
                  <a:cubicBezTo>
                    <a:pt x="173" y="647"/>
                    <a:pt x="186" y="652"/>
                    <a:pt x="186" y="652"/>
                  </a:cubicBezTo>
                  <a:cubicBezTo>
                    <a:pt x="214" y="643"/>
                    <a:pt x="224" y="628"/>
                    <a:pt x="241" y="604"/>
                  </a:cubicBezTo>
                  <a:cubicBezTo>
                    <a:pt x="276" y="626"/>
                    <a:pt x="311" y="642"/>
                    <a:pt x="351" y="652"/>
                  </a:cubicBezTo>
                  <a:cubicBezTo>
                    <a:pt x="400" y="644"/>
                    <a:pt x="419" y="631"/>
                    <a:pt x="447" y="590"/>
                  </a:cubicBezTo>
                  <a:cubicBezTo>
                    <a:pt x="467" y="531"/>
                    <a:pt x="403" y="553"/>
                    <a:pt x="522" y="542"/>
                  </a:cubicBezTo>
                  <a:cubicBezTo>
                    <a:pt x="555" y="520"/>
                    <a:pt x="557" y="482"/>
                    <a:pt x="570" y="446"/>
                  </a:cubicBezTo>
                  <a:cubicBezTo>
                    <a:pt x="561" y="418"/>
                    <a:pt x="562" y="408"/>
                    <a:pt x="536" y="391"/>
                  </a:cubicBezTo>
                  <a:cubicBezTo>
                    <a:pt x="512" y="355"/>
                    <a:pt x="529" y="362"/>
                    <a:pt x="563" y="350"/>
                  </a:cubicBezTo>
                  <a:cubicBezTo>
                    <a:pt x="595" y="303"/>
                    <a:pt x="586" y="325"/>
                    <a:pt x="598" y="288"/>
                  </a:cubicBezTo>
                  <a:cubicBezTo>
                    <a:pt x="596" y="271"/>
                    <a:pt x="597" y="218"/>
                    <a:pt x="584" y="192"/>
                  </a:cubicBezTo>
                  <a:cubicBezTo>
                    <a:pt x="560" y="146"/>
                    <a:pt x="494" y="112"/>
                    <a:pt x="447" y="96"/>
                  </a:cubicBezTo>
                  <a:cubicBezTo>
                    <a:pt x="437" y="93"/>
                    <a:pt x="438" y="78"/>
                    <a:pt x="433" y="69"/>
                  </a:cubicBezTo>
                  <a:close/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tx1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Oval 36"/>
            <p:cNvSpPr>
              <a:spLocks noChangeArrowheads="1"/>
            </p:cNvSpPr>
            <p:nvPr/>
          </p:nvSpPr>
          <p:spPr bwMode="auto">
            <a:xfrm rot="5400000" flipV="1">
              <a:off x="4876800" y="22336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6" name="Oval 37"/>
            <p:cNvSpPr>
              <a:spLocks noChangeArrowheads="1"/>
            </p:cNvSpPr>
            <p:nvPr/>
          </p:nvSpPr>
          <p:spPr bwMode="auto">
            <a:xfrm rot="5400000" flipV="1">
              <a:off x="3516313" y="2232025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7" name="Oval 38"/>
            <p:cNvSpPr>
              <a:spLocks noChangeArrowheads="1"/>
            </p:cNvSpPr>
            <p:nvPr/>
          </p:nvSpPr>
          <p:spPr bwMode="auto">
            <a:xfrm rot="5400000" flipV="1">
              <a:off x="4038600" y="28432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8" name="Oval 39"/>
            <p:cNvSpPr>
              <a:spLocks noChangeArrowheads="1"/>
            </p:cNvSpPr>
            <p:nvPr/>
          </p:nvSpPr>
          <p:spPr bwMode="auto">
            <a:xfrm rot="5400000" flipV="1">
              <a:off x="4038600" y="1852613"/>
              <a:ext cx="76200" cy="762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9" name="Text Box 42"/>
            <p:cNvSpPr txBox="1">
              <a:spLocks noChangeArrowheads="1"/>
            </p:cNvSpPr>
            <p:nvPr/>
          </p:nvSpPr>
          <p:spPr bwMode="auto">
            <a:xfrm>
              <a:off x="1219200" y="2462213"/>
              <a:ext cx="228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  <p:sp>
          <p:nvSpPr>
            <p:cNvPr id="100" name="Text Box 43"/>
            <p:cNvSpPr txBox="1">
              <a:spLocks noChangeArrowheads="1"/>
            </p:cNvSpPr>
            <p:nvPr/>
          </p:nvSpPr>
          <p:spPr bwMode="auto">
            <a:xfrm>
              <a:off x="4114800" y="2462213"/>
              <a:ext cx="228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>
                  <a:solidFill>
                    <a:srgbClr val="FF0000"/>
                  </a:solidFill>
                  <a:sym typeface="Symbol" panose="05050102010706020507" pitchFamily="18" charset="2"/>
                </a:rPr>
                <a:t></a:t>
              </a:r>
            </a:p>
          </p:txBody>
        </p:sp>
      </p:grpSp>
      <p:sp>
        <p:nvSpPr>
          <p:cNvPr id="101" name="TextBox 100"/>
          <p:cNvSpPr txBox="1"/>
          <p:nvPr/>
        </p:nvSpPr>
        <p:spPr>
          <a:xfrm>
            <a:off x="2331000" y="3811768"/>
            <a:ext cx="17347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Single-link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008322" y="3830590"/>
            <a:ext cx="23599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Complete-link 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95690" y="6129290"/>
            <a:ext cx="2478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Group Average 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687570" y="6189941"/>
            <a:ext cx="3101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Centroid Clustering</a:t>
            </a:r>
          </a:p>
        </p:txBody>
      </p:sp>
    </p:spTree>
    <p:extLst>
      <p:ext uri="{BB962C8B-B14F-4D97-AF65-F5344CB8AC3E}">
        <p14:creationId xmlns:p14="http://schemas.microsoft.com/office/powerpoint/2010/main" val="31734318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70" y="2312324"/>
            <a:ext cx="7425759" cy="3832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4797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- Single-Link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867" y="1963869"/>
            <a:ext cx="4461455" cy="256774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055554" y="1963869"/>
            <a:ext cx="2730971" cy="2310758"/>
            <a:chOff x="747713" y="1773238"/>
            <a:chExt cx="3175000" cy="2790825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5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32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3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6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10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3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</p:grpSp>
      <p:grpSp>
        <p:nvGrpSpPr>
          <p:cNvPr id="38" name="Group 4"/>
          <p:cNvGrpSpPr>
            <a:grpSpLocks noChangeAspect="1"/>
          </p:cNvGrpSpPr>
          <p:nvPr/>
        </p:nvGrpSpPr>
        <p:grpSpPr bwMode="auto">
          <a:xfrm>
            <a:off x="7934325" y="2001838"/>
            <a:ext cx="4400550" cy="2754313"/>
            <a:chOff x="4998" y="1261"/>
            <a:chExt cx="2772" cy="1735"/>
          </a:xfrm>
        </p:grpSpPr>
        <p:sp>
          <p:nvSpPr>
            <p:cNvPr id="39" name="AutoShape 3"/>
            <p:cNvSpPr>
              <a:spLocks noChangeAspect="1" noChangeArrowheads="1" noTextEdit="1"/>
            </p:cNvSpPr>
            <p:nvPr/>
          </p:nvSpPr>
          <p:spPr bwMode="auto">
            <a:xfrm>
              <a:off x="4998" y="1261"/>
              <a:ext cx="2626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5"/>
            <p:cNvSpPr>
              <a:spLocks noChangeArrowheads="1"/>
            </p:cNvSpPr>
            <p:nvPr/>
          </p:nvSpPr>
          <p:spPr bwMode="auto">
            <a:xfrm>
              <a:off x="4998" y="1261"/>
              <a:ext cx="2772" cy="1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Rectangle 6"/>
            <p:cNvSpPr>
              <a:spLocks noChangeArrowheads="1"/>
            </p:cNvSpPr>
            <p:nvPr/>
          </p:nvSpPr>
          <p:spPr bwMode="auto">
            <a:xfrm>
              <a:off x="5354" y="1389"/>
              <a:ext cx="2146" cy="1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7"/>
            <p:cNvSpPr>
              <a:spLocks noChangeArrowheads="1"/>
            </p:cNvSpPr>
            <p:nvPr/>
          </p:nvSpPr>
          <p:spPr bwMode="auto">
            <a:xfrm>
              <a:off x="5354" y="1389"/>
              <a:ext cx="2146" cy="14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>
              <a:off x="5354" y="2799"/>
              <a:ext cx="214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 flipV="1">
              <a:off x="5354" y="1389"/>
              <a:ext cx="0" cy="14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 flipV="1">
              <a:off x="5534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11"/>
            <p:cNvSpPr>
              <a:spLocks noChangeArrowheads="1"/>
            </p:cNvSpPr>
            <p:nvPr/>
          </p:nvSpPr>
          <p:spPr bwMode="auto">
            <a:xfrm>
              <a:off x="5513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 flipV="1">
              <a:off x="5893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13"/>
            <p:cNvSpPr>
              <a:spLocks noChangeArrowheads="1"/>
            </p:cNvSpPr>
            <p:nvPr/>
          </p:nvSpPr>
          <p:spPr bwMode="auto">
            <a:xfrm>
              <a:off x="5869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Line 14"/>
            <p:cNvSpPr>
              <a:spLocks noChangeShapeType="1"/>
            </p:cNvSpPr>
            <p:nvPr/>
          </p:nvSpPr>
          <p:spPr bwMode="auto">
            <a:xfrm flipV="1">
              <a:off x="6249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15"/>
            <p:cNvSpPr>
              <a:spLocks noChangeArrowheads="1"/>
            </p:cNvSpPr>
            <p:nvPr/>
          </p:nvSpPr>
          <p:spPr bwMode="auto">
            <a:xfrm>
              <a:off x="6228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Line 16"/>
            <p:cNvSpPr>
              <a:spLocks noChangeShapeType="1"/>
            </p:cNvSpPr>
            <p:nvPr/>
          </p:nvSpPr>
          <p:spPr bwMode="auto">
            <a:xfrm flipV="1">
              <a:off x="6609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17"/>
            <p:cNvSpPr>
              <a:spLocks noChangeArrowheads="1"/>
            </p:cNvSpPr>
            <p:nvPr/>
          </p:nvSpPr>
          <p:spPr bwMode="auto">
            <a:xfrm>
              <a:off x="6584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Line 18"/>
            <p:cNvSpPr>
              <a:spLocks noChangeShapeType="1"/>
            </p:cNvSpPr>
            <p:nvPr/>
          </p:nvSpPr>
          <p:spPr bwMode="auto">
            <a:xfrm flipV="1">
              <a:off x="6965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Rectangle 19"/>
            <p:cNvSpPr>
              <a:spLocks noChangeArrowheads="1"/>
            </p:cNvSpPr>
            <p:nvPr/>
          </p:nvSpPr>
          <p:spPr bwMode="auto">
            <a:xfrm>
              <a:off x="6944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Line 20"/>
            <p:cNvSpPr>
              <a:spLocks noChangeShapeType="1"/>
            </p:cNvSpPr>
            <p:nvPr/>
          </p:nvSpPr>
          <p:spPr bwMode="auto">
            <a:xfrm flipV="1">
              <a:off x="7321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1"/>
            <p:cNvSpPr>
              <a:spLocks noChangeArrowheads="1"/>
            </p:cNvSpPr>
            <p:nvPr/>
          </p:nvSpPr>
          <p:spPr bwMode="auto">
            <a:xfrm>
              <a:off x="7300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Line 22"/>
            <p:cNvSpPr>
              <a:spLocks noChangeShapeType="1"/>
            </p:cNvSpPr>
            <p:nvPr/>
          </p:nvSpPr>
          <p:spPr bwMode="auto">
            <a:xfrm>
              <a:off x="5354" y="2799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Rectangle 23"/>
            <p:cNvSpPr>
              <a:spLocks noChangeArrowheads="1"/>
            </p:cNvSpPr>
            <p:nvPr/>
          </p:nvSpPr>
          <p:spPr bwMode="auto">
            <a:xfrm>
              <a:off x="5292" y="2751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Line 24"/>
            <p:cNvSpPr>
              <a:spLocks noChangeShapeType="1"/>
            </p:cNvSpPr>
            <p:nvPr/>
          </p:nvSpPr>
          <p:spPr bwMode="auto">
            <a:xfrm>
              <a:off x="5354" y="2495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Rectangle 25"/>
            <p:cNvSpPr>
              <a:spLocks noChangeArrowheads="1"/>
            </p:cNvSpPr>
            <p:nvPr/>
          </p:nvSpPr>
          <p:spPr bwMode="auto">
            <a:xfrm>
              <a:off x="5178" y="2446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Line 26"/>
            <p:cNvSpPr>
              <a:spLocks noChangeShapeType="1"/>
            </p:cNvSpPr>
            <p:nvPr/>
          </p:nvSpPr>
          <p:spPr bwMode="auto">
            <a:xfrm>
              <a:off x="5354" y="2191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Rectangle 27"/>
            <p:cNvSpPr>
              <a:spLocks noChangeArrowheads="1"/>
            </p:cNvSpPr>
            <p:nvPr/>
          </p:nvSpPr>
          <p:spPr bwMode="auto">
            <a:xfrm>
              <a:off x="5223" y="2146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5354" y="1890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Rectangle 29"/>
            <p:cNvSpPr>
              <a:spLocks noChangeArrowheads="1"/>
            </p:cNvSpPr>
            <p:nvPr/>
          </p:nvSpPr>
          <p:spPr bwMode="auto">
            <a:xfrm>
              <a:off x="5178" y="1845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5354" y="1586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Rectangle 31"/>
            <p:cNvSpPr>
              <a:spLocks noChangeArrowheads="1"/>
            </p:cNvSpPr>
            <p:nvPr/>
          </p:nvSpPr>
          <p:spPr bwMode="auto">
            <a:xfrm>
              <a:off x="5223" y="1541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Freeform 32"/>
            <p:cNvSpPr>
              <a:spLocks/>
            </p:cNvSpPr>
            <p:nvPr/>
          </p:nvSpPr>
          <p:spPr bwMode="auto">
            <a:xfrm>
              <a:off x="5534" y="2128"/>
              <a:ext cx="359" cy="671"/>
            </a:xfrm>
            <a:custGeom>
              <a:avLst/>
              <a:gdLst>
                <a:gd name="T0" fmla="*/ 0 w 359"/>
                <a:gd name="T1" fmla="*/ 671 h 671"/>
                <a:gd name="T2" fmla="*/ 0 w 359"/>
                <a:gd name="T3" fmla="*/ 0 h 671"/>
                <a:gd name="T4" fmla="*/ 359 w 359"/>
                <a:gd name="T5" fmla="*/ 0 h 671"/>
                <a:gd name="T6" fmla="*/ 359 w 359"/>
                <a:gd name="T7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671">
                  <a:moveTo>
                    <a:pt x="0" y="671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67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2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67" y="4556125"/>
            <a:ext cx="3841935" cy="210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887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Single-Link (Contd.)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037790"/>
            <a:ext cx="3867150" cy="21907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22720" y="1904650"/>
            <a:ext cx="2919665" cy="2457030"/>
            <a:chOff x="527050" y="1773238"/>
            <a:chExt cx="3395663" cy="279082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2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18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</p:grpSp>
      <p:grpSp>
        <p:nvGrpSpPr>
          <p:cNvPr id="35" name="Group 4"/>
          <p:cNvGrpSpPr>
            <a:grpSpLocks noChangeAspect="1"/>
          </p:cNvGrpSpPr>
          <p:nvPr/>
        </p:nvGrpSpPr>
        <p:grpSpPr bwMode="auto">
          <a:xfrm>
            <a:off x="7678739" y="1992313"/>
            <a:ext cx="4398963" cy="2754313"/>
            <a:chOff x="4837" y="1255"/>
            <a:chExt cx="2771" cy="1735"/>
          </a:xfrm>
        </p:grpSpPr>
        <p:sp>
          <p:nvSpPr>
            <p:cNvPr id="3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837" y="1255"/>
              <a:ext cx="2764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4837" y="1255"/>
              <a:ext cx="2771" cy="1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6"/>
            <p:cNvSpPr>
              <a:spLocks noChangeArrowheads="1"/>
            </p:cNvSpPr>
            <p:nvPr/>
          </p:nvSpPr>
          <p:spPr bwMode="auto">
            <a:xfrm>
              <a:off x="5193" y="1383"/>
              <a:ext cx="2145" cy="1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5193" y="1383"/>
              <a:ext cx="2145" cy="14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5193" y="2793"/>
              <a:ext cx="214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V="1">
              <a:off x="5193" y="1383"/>
              <a:ext cx="0" cy="14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auto">
            <a:xfrm flipV="1">
              <a:off x="5373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5352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V="1">
              <a:off x="5732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5708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 flipV="1">
              <a:off x="6088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6067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 flipV="1">
              <a:off x="6447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6423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 flipV="1">
              <a:off x="6803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6782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20"/>
            <p:cNvSpPr>
              <a:spLocks noChangeShapeType="1"/>
            </p:cNvSpPr>
            <p:nvPr/>
          </p:nvSpPr>
          <p:spPr bwMode="auto">
            <a:xfrm flipV="1">
              <a:off x="7159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7138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5193" y="2793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3"/>
            <p:cNvSpPr>
              <a:spLocks noChangeArrowheads="1"/>
            </p:cNvSpPr>
            <p:nvPr/>
          </p:nvSpPr>
          <p:spPr bwMode="auto">
            <a:xfrm>
              <a:off x="5131" y="2745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>
              <a:off x="5193" y="2489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5"/>
            <p:cNvSpPr>
              <a:spLocks noChangeArrowheads="1"/>
            </p:cNvSpPr>
            <p:nvPr/>
          </p:nvSpPr>
          <p:spPr bwMode="auto">
            <a:xfrm>
              <a:off x="5017" y="2440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5193" y="2185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5062" y="2140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5193" y="1884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9"/>
            <p:cNvSpPr>
              <a:spLocks noChangeArrowheads="1"/>
            </p:cNvSpPr>
            <p:nvPr/>
          </p:nvSpPr>
          <p:spPr bwMode="auto">
            <a:xfrm>
              <a:off x="5017" y="1839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5193" y="1580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5062" y="1535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32"/>
            <p:cNvSpPr>
              <a:spLocks/>
            </p:cNvSpPr>
            <p:nvPr/>
          </p:nvSpPr>
          <p:spPr bwMode="auto">
            <a:xfrm>
              <a:off x="5373" y="2122"/>
              <a:ext cx="359" cy="671"/>
            </a:xfrm>
            <a:custGeom>
              <a:avLst/>
              <a:gdLst>
                <a:gd name="T0" fmla="*/ 0 w 359"/>
                <a:gd name="T1" fmla="*/ 671 h 671"/>
                <a:gd name="T2" fmla="*/ 0 w 359"/>
                <a:gd name="T3" fmla="*/ 0 h 671"/>
                <a:gd name="T4" fmla="*/ 359 w 359"/>
                <a:gd name="T5" fmla="*/ 0 h 671"/>
                <a:gd name="T6" fmla="*/ 359 w 359"/>
                <a:gd name="T7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671">
                  <a:moveTo>
                    <a:pt x="0" y="671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67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3"/>
            <p:cNvSpPr>
              <a:spLocks/>
            </p:cNvSpPr>
            <p:nvPr/>
          </p:nvSpPr>
          <p:spPr bwMode="auto">
            <a:xfrm>
              <a:off x="6088" y="1953"/>
              <a:ext cx="359" cy="840"/>
            </a:xfrm>
            <a:custGeom>
              <a:avLst/>
              <a:gdLst>
                <a:gd name="T0" fmla="*/ 0 w 359"/>
                <a:gd name="T1" fmla="*/ 840 h 840"/>
                <a:gd name="T2" fmla="*/ 0 w 359"/>
                <a:gd name="T3" fmla="*/ 0 h 840"/>
                <a:gd name="T4" fmla="*/ 359 w 359"/>
                <a:gd name="T5" fmla="*/ 0 h 840"/>
                <a:gd name="T6" fmla="*/ 359 w 359"/>
                <a:gd name="T7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840">
                  <a:moveTo>
                    <a:pt x="0" y="840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84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9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729" y="4562942"/>
            <a:ext cx="364807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960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Single-Link (Contd.)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96" y="2037623"/>
            <a:ext cx="4088982" cy="2264502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685904" y="2094064"/>
            <a:ext cx="2457528" cy="1923748"/>
            <a:chOff x="444500" y="1773238"/>
            <a:chExt cx="3675063" cy="279082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2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 dirty="0">
                    <a:solidFill>
                      <a:srgbClr val="000000"/>
                    </a:solidFill>
                  </a:rPr>
                  <a:t>1</a:t>
                </a:r>
                <a:endParaRPr lang="en-US" altLang="en-US" dirty="0"/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18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444500" y="2071688"/>
              <a:ext cx="3675063" cy="2097087"/>
              <a:chOff x="280" y="1305"/>
              <a:chExt cx="2315" cy="1321"/>
            </a:xfrm>
          </p:grpSpPr>
          <p:sp>
            <p:nvSpPr>
              <p:cNvPr id="16" name="Freeform 25"/>
              <p:cNvSpPr>
                <a:spLocks/>
              </p:cNvSpPr>
              <p:nvPr/>
            </p:nvSpPr>
            <p:spPr bwMode="auto">
              <a:xfrm>
                <a:off x="280" y="1314"/>
                <a:ext cx="2315" cy="1312"/>
              </a:xfrm>
              <a:custGeom>
                <a:avLst/>
                <a:gdLst>
                  <a:gd name="T0" fmla="*/ 1326 w 2315"/>
                  <a:gd name="T1" fmla="*/ 23 h 1312"/>
                  <a:gd name="T2" fmla="*/ 1519 w 2315"/>
                  <a:gd name="T3" fmla="*/ 64 h 1312"/>
                  <a:gd name="T4" fmla="*/ 1698 w 2315"/>
                  <a:gd name="T5" fmla="*/ 121 h 1312"/>
                  <a:gd name="T6" fmla="*/ 1865 w 2315"/>
                  <a:gd name="T7" fmla="*/ 194 h 1312"/>
                  <a:gd name="T8" fmla="*/ 2008 w 2315"/>
                  <a:gd name="T9" fmla="*/ 278 h 1312"/>
                  <a:gd name="T10" fmla="*/ 2129 w 2315"/>
                  <a:gd name="T11" fmla="*/ 375 h 1312"/>
                  <a:gd name="T12" fmla="*/ 2222 w 2315"/>
                  <a:gd name="T13" fmla="*/ 479 h 1312"/>
                  <a:gd name="T14" fmla="*/ 2282 w 2315"/>
                  <a:gd name="T15" fmla="*/ 589 h 1312"/>
                  <a:gd name="T16" fmla="*/ 2313 w 2315"/>
                  <a:gd name="T17" fmla="*/ 699 h 1312"/>
                  <a:gd name="T18" fmla="*/ 2308 w 2315"/>
                  <a:gd name="T19" fmla="*/ 809 h 1312"/>
                  <a:gd name="T20" fmla="*/ 2272 w 2315"/>
                  <a:gd name="T21" fmla="*/ 915 h 1312"/>
                  <a:gd name="T22" fmla="*/ 2202 w 2315"/>
                  <a:gd name="T23" fmla="*/ 1014 h 1312"/>
                  <a:gd name="T24" fmla="*/ 2105 w 2315"/>
                  <a:gd name="T25" fmla="*/ 1101 h 1312"/>
                  <a:gd name="T26" fmla="*/ 1977 w 2315"/>
                  <a:gd name="T27" fmla="*/ 1176 h 1312"/>
                  <a:gd name="T28" fmla="*/ 1828 w 2315"/>
                  <a:gd name="T29" fmla="*/ 1237 h 1312"/>
                  <a:gd name="T30" fmla="*/ 1659 w 2315"/>
                  <a:gd name="T31" fmla="*/ 1280 h 1312"/>
                  <a:gd name="T32" fmla="*/ 1476 w 2315"/>
                  <a:gd name="T33" fmla="*/ 1306 h 1312"/>
                  <a:gd name="T34" fmla="*/ 1283 w 2315"/>
                  <a:gd name="T35" fmla="*/ 1312 h 1312"/>
                  <a:gd name="T36" fmla="*/ 1086 w 2315"/>
                  <a:gd name="T37" fmla="*/ 1299 h 1312"/>
                  <a:gd name="T38" fmla="*/ 894 w 2315"/>
                  <a:gd name="T39" fmla="*/ 1269 h 1312"/>
                  <a:gd name="T40" fmla="*/ 705 w 2315"/>
                  <a:gd name="T41" fmla="*/ 1220 h 1312"/>
                  <a:gd name="T42" fmla="*/ 532 w 2315"/>
                  <a:gd name="T43" fmla="*/ 1155 h 1312"/>
                  <a:gd name="T44" fmla="*/ 377 w 2315"/>
                  <a:gd name="T45" fmla="*/ 1077 h 1312"/>
                  <a:gd name="T46" fmla="*/ 245 w 2315"/>
                  <a:gd name="T47" fmla="*/ 984 h 1312"/>
                  <a:gd name="T48" fmla="*/ 137 w 2315"/>
                  <a:gd name="T49" fmla="*/ 885 h 1312"/>
                  <a:gd name="T50" fmla="*/ 61 w 2315"/>
                  <a:gd name="T51" fmla="*/ 777 h 1312"/>
                  <a:gd name="T52" fmla="*/ 13 w 2315"/>
                  <a:gd name="T53" fmla="*/ 667 h 1312"/>
                  <a:gd name="T54" fmla="*/ 0 w 2315"/>
                  <a:gd name="T55" fmla="*/ 555 h 1312"/>
                  <a:gd name="T56" fmla="*/ 22 w 2315"/>
                  <a:gd name="T57" fmla="*/ 447 h 1312"/>
                  <a:gd name="T58" fmla="*/ 74 w 2315"/>
                  <a:gd name="T59" fmla="*/ 345 h 1312"/>
                  <a:gd name="T60" fmla="*/ 158 w 2315"/>
                  <a:gd name="T61" fmla="*/ 252 h 1312"/>
                  <a:gd name="T62" fmla="*/ 273 w 2315"/>
                  <a:gd name="T63" fmla="*/ 170 h 1312"/>
                  <a:gd name="T64" fmla="*/ 411 w 2315"/>
                  <a:gd name="T65" fmla="*/ 103 h 1312"/>
                  <a:gd name="T66" fmla="*/ 571 w 2315"/>
                  <a:gd name="T67" fmla="*/ 49 h 1312"/>
                  <a:gd name="T68" fmla="*/ 747 w 2315"/>
                  <a:gd name="T69" fmla="*/ 17 h 1312"/>
                  <a:gd name="T70" fmla="*/ 937 w 2315"/>
                  <a:gd name="T71" fmla="*/ 0 h 1312"/>
                  <a:gd name="T72" fmla="*/ 1132 w 2315"/>
                  <a:gd name="T73" fmla="*/ 2 h 131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315" h="1312">
                    <a:moveTo>
                      <a:pt x="1229" y="10"/>
                    </a:moveTo>
                    <a:lnTo>
                      <a:pt x="1326" y="23"/>
                    </a:lnTo>
                    <a:lnTo>
                      <a:pt x="1424" y="43"/>
                    </a:lnTo>
                    <a:lnTo>
                      <a:pt x="1519" y="64"/>
                    </a:lnTo>
                    <a:lnTo>
                      <a:pt x="1610" y="90"/>
                    </a:lnTo>
                    <a:lnTo>
                      <a:pt x="1698" y="121"/>
                    </a:lnTo>
                    <a:lnTo>
                      <a:pt x="1783" y="155"/>
                    </a:lnTo>
                    <a:lnTo>
                      <a:pt x="1865" y="194"/>
                    </a:lnTo>
                    <a:lnTo>
                      <a:pt x="1938" y="235"/>
                    </a:lnTo>
                    <a:lnTo>
                      <a:pt x="2008" y="278"/>
                    </a:lnTo>
                    <a:lnTo>
                      <a:pt x="2073" y="326"/>
                    </a:lnTo>
                    <a:lnTo>
                      <a:pt x="2129" y="375"/>
                    </a:lnTo>
                    <a:lnTo>
                      <a:pt x="2179" y="425"/>
                    </a:lnTo>
                    <a:lnTo>
                      <a:pt x="2222" y="479"/>
                    </a:lnTo>
                    <a:lnTo>
                      <a:pt x="2256" y="533"/>
                    </a:lnTo>
                    <a:lnTo>
                      <a:pt x="2282" y="589"/>
                    </a:lnTo>
                    <a:lnTo>
                      <a:pt x="2302" y="643"/>
                    </a:lnTo>
                    <a:lnTo>
                      <a:pt x="2313" y="699"/>
                    </a:lnTo>
                    <a:lnTo>
                      <a:pt x="2315" y="755"/>
                    </a:lnTo>
                    <a:lnTo>
                      <a:pt x="2308" y="809"/>
                    </a:lnTo>
                    <a:lnTo>
                      <a:pt x="2295" y="863"/>
                    </a:lnTo>
                    <a:lnTo>
                      <a:pt x="2272" y="915"/>
                    </a:lnTo>
                    <a:lnTo>
                      <a:pt x="2241" y="965"/>
                    </a:lnTo>
                    <a:lnTo>
                      <a:pt x="2202" y="1014"/>
                    </a:lnTo>
                    <a:lnTo>
                      <a:pt x="2157" y="1060"/>
                    </a:lnTo>
                    <a:lnTo>
                      <a:pt x="2105" y="1101"/>
                    </a:lnTo>
                    <a:lnTo>
                      <a:pt x="2044" y="1140"/>
                    </a:lnTo>
                    <a:lnTo>
                      <a:pt x="1977" y="1176"/>
                    </a:lnTo>
                    <a:lnTo>
                      <a:pt x="1906" y="1209"/>
                    </a:lnTo>
                    <a:lnTo>
                      <a:pt x="1828" y="1237"/>
                    </a:lnTo>
                    <a:lnTo>
                      <a:pt x="1746" y="1261"/>
                    </a:lnTo>
                    <a:lnTo>
                      <a:pt x="1659" y="1280"/>
                    </a:lnTo>
                    <a:lnTo>
                      <a:pt x="1569" y="1295"/>
                    </a:lnTo>
                    <a:lnTo>
                      <a:pt x="1476" y="1306"/>
                    </a:lnTo>
                    <a:lnTo>
                      <a:pt x="1380" y="1310"/>
                    </a:lnTo>
                    <a:lnTo>
                      <a:pt x="1283" y="1312"/>
                    </a:lnTo>
                    <a:lnTo>
                      <a:pt x="1186" y="1308"/>
                    </a:lnTo>
                    <a:lnTo>
                      <a:pt x="1086" y="1299"/>
                    </a:lnTo>
                    <a:lnTo>
                      <a:pt x="989" y="1286"/>
                    </a:lnTo>
                    <a:lnTo>
                      <a:pt x="894" y="1269"/>
                    </a:lnTo>
                    <a:lnTo>
                      <a:pt x="798" y="1245"/>
                    </a:lnTo>
                    <a:lnTo>
                      <a:pt x="705" y="1220"/>
                    </a:lnTo>
                    <a:lnTo>
                      <a:pt x="617" y="1189"/>
                    </a:lnTo>
                    <a:lnTo>
                      <a:pt x="532" y="1155"/>
                    </a:lnTo>
                    <a:lnTo>
                      <a:pt x="452" y="1118"/>
                    </a:lnTo>
                    <a:lnTo>
                      <a:pt x="377" y="1077"/>
                    </a:lnTo>
                    <a:lnTo>
                      <a:pt x="307" y="1032"/>
                    </a:lnTo>
                    <a:lnTo>
                      <a:pt x="245" y="984"/>
                    </a:lnTo>
                    <a:lnTo>
                      <a:pt x="186" y="937"/>
                    </a:lnTo>
                    <a:lnTo>
                      <a:pt x="137" y="885"/>
                    </a:lnTo>
                    <a:lnTo>
                      <a:pt x="95" y="831"/>
                    </a:lnTo>
                    <a:lnTo>
                      <a:pt x="61" y="777"/>
                    </a:lnTo>
                    <a:lnTo>
                      <a:pt x="33" y="723"/>
                    </a:lnTo>
                    <a:lnTo>
                      <a:pt x="13" y="667"/>
                    </a:lnTo>
                    <a:lnTo>
                      <a:pt x="5" y="611"/>
                    </a:lnTo>
                    <a:lnTo>
                      <a:pt x="0" y="555"/>
                    </a:lnTo>
                    <a:lnTo>
                      <a:pt x="7" y="501"/>
                    </a:lnTo>
                    <a:lnTo>
                      <a:pt x="22" y="447"/>
                    </a:lnTo>
                    <a:lnTo>
                      <a:pt x="44" y="395"/>
                    </a:lnTo>
                    <a:lnTo>
                      <a:pt x="74" y="345"/>
                    </a:lnTo>
                    <a:lnTo>
                      <a:pt x="113" y="298"/>
                    </a:lnTo>
                    <a:lnTo>
                      <a:pt x="158" y="252"/>
                    </a:lnTo>
                    <a:lnTo>
                      <a:pt x="212" y="209"/>
                    </a:lnTo>
                    <a:lnTo>
                      <a:pt x="273" y="170"/>
                    </a:lnTo>
                    <a:lnTo>
                      <a:pt x="338" y="133"/>
                    </a:lnTo>
                    <a:lnTo>
                      <a:pt x="411" y="103"/>
                    </a:lnTo>
                    <a:lnTo>
                      <a:pt x="489" y="75"/>
                    </a:lnTo>
                    <a:lnTo>
                      <a:pt x="571" y="49"/>
                    </a:lnTo>
                    <a:lnTo>
                      <a:pt x="658" y="30"/>
                    </a:lnTo>
                    <a:lnTo>
                      <a:pt x="747" y="17"/>
                    </a:lnTo>
                    <a:lnTo>
                      <a:pt x="840" y="6"/>
                    </a:lnTo>
                    <a:lnTo>
                      <a:pt x="937" y="0"/>
                    </a:lnTo>
                    <a:lnTo>
                      <a:pt x="1034" y="0"/>
                    </a:lnTo>
                    <a:lnTo>
                      <a:pt x="1132" y="2"/>
                    </a:lnTo>
                    <a:lnTo>
                      <a:pt x="1229" y="1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 26"/>
              <p:cNvSpPr>
                <a:spLocks noChangeArrowheads="1"/>
              </p:cNvSpPr>
              <p:nvPr/>
            </p:nvSpPr>
            <p:spPr bwMode="auto">
              <a:xfrm>
                <a:off x="1390" y="130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</p:grpSp>
      </p:grpSp>
      <p:sp>
        <p:nvSpPr>
          <p:cNvPr id="36" name="AutoShape 3"/>
          <p:cNvSpPr>
            <a:spLocks noChangeAspect="1" noChangeArrowheads="1" noTextEdit="1"/>
          </p:cNvSpPr>
          <p:nvPr/>
        </p:nvSpPr>
        <p:spPr bwMode="auto">
          <a:xfrm>
            <a:off x="7281863" y="186055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7281863" y="1860550"/>
            <a:ext cx="4398963" cy="2754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7847013" y="2063750"/>
            <a:ext cx="3405188" cy="2238375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>
            <a:off x="7847013" y="4302125"/>
            <a:ext cx="3405188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 flipV="1">
            <a:off x="7847013" y="2063750"/>
            <a:ext cx="0" cy="2238375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Line 10"/>
          <p:cNvSpPr>
            <a:spLocks noChangeShapeType="1"/>
          </p:cNvSpPr>
          <p:nvPr/>
        </p:nvSpPr>
        <p:spPr bwMode="auto">
          <a:xfrm flipV="1">
            <a:off x="8132763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angle 11"/>
          <p:cNvSpPr>
            <a:spLocks noChangeArrowheads="1"/>
          </p:cNvSpPr>
          <p:nvPr/>
        </p:nvSpPr>
        <p:spPr bwMode="auto">
          <a:xfrm>
            <a:off x="8099426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Line 12"/>
          <p:cNvSpPr>
            <a:spLocks noChangeShapeType="1"/>
          </p:cNvSpPr>
          <p:nvPr/>
        </p:nvSpPr>
        <p:spPr bwMode="auto">
          <a:xfrm flipV="1">
            <a:off x="8702676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Rectangle 13"/>
          <p:cNvSpPr>
            <a:spLocks noChangeArrowheads="1"/>
          </p:cNvSpPr>
          <p:nvPr/>
        </p:nvSpPr>
        <p:spPr bwMode="auto">
          <a:xfrm>
            <a:off x="8664576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6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 flipV="1">
            <a:off x="9267826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Rectangle 15"/>
          <p:cNvSpPr>
            <a:spLocks noChangeArrowheads="1"/>
          </p:cNvSpPr>
          <p:nvPr/>
        </p:nvSpPr>
        <p:spPr bwMode="auto">
          <a:xfrm>
            <a:off x="9234488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Line 16"/>
          <p:cNvSpPr>
            <a:spLocks noChangeShapeType="1"/>
          </p:cNvSpPr>
          <p:nvPr/>
        </p:nvSpPr>
        <p:spPr bwMode="auto">
          <a:xfrm flipV="1">
            <a:off x="9837738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Rectangle 17"/>
          <p:cNvSpPr>
            <a:spLocks noChangeArrowheads="1"/>
          </p:cNvSpPr>
          <p:nvPr/>
        </p:nvSpPr>
        <p:spPr bwMode="auto">
          <a:xfrm>
            <a:off x="9799638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Line 18"/>
          <p:cNvSpPr>
            <a:spLocks noChangeShapeType="1"/>
          </p:cNvSpPr>
          <p:nvPr/>
        </p:nvSpPr>
        <p:spPr bwMode="auto">
          <a:xfrm flipV="1">
            <a:off x="10402888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Rectangle 19"/>
          <p:cNvSpPr>
            <a:spLocks noChangeArrowheads="1"/>
          </p:cNvSpPr>
          <p:nvPr/>
        </p:nvSpPr>
        <p:spPr bwMode="auto">
          <a:xfrm>
            <a:off x="10369551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4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Line 20"/>
          <p:cNvSpPr>
            <a:spLocks noChangeShapeType="1"/>
          </p:cNvSpPr>
          <p:nvPr/>
        </p:nvSpPr>
        <p:spPr bwMode="auto">
          <a:xfrm flipV="1">
            <a:off x="10968038" y="4268788"/>
            <a:ext cx="0" cy="33338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Rectangle 21"/>
          <p:cNvSpPr>
            <a:spLocks noChangeArrowheads="1"/>
          </p:cNvSpPr>
          <p:nvPr/>
        </p:nvSpPr>
        <p:spPr bwMode="auto">
          <a:xfrm>
            <a:off x="10934701" y="4324350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Line 22"/>
          <p:cNvSpPr>
            <a:spLocks noChangeShapeType="1"/>
          </p:cNvSpPr>
          <p:nvPr/>
        </p:nvSpPr>
        <p:spPr bwMode="auto">
          <a:xfrm>
            <a:off x="7847013" y="4302125"/>
            <a:ext cx="381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7748588" y="4225925"/>
            <a:ext cx="136525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Line 24"/>
          <p:cNvSpPr>
            <a:spLocks noChangeShapeType="1"/>
          </p:cNvSpPr>
          <p:nvPr/>
        </p:nvSpPr>
        <p:spPr bwMode="auto">
          <a:xfrm>
            <a:off x="7847013" y="3819525"/>
            <a:ext cx="381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Rectangle 25"/>
          <p:cNvSpPr>
            <a:spLocks noChangeArrowheads="1"/>
          </p:cNvSpPr>
          <p:nvPr/>
        </p:nvSpPr>
        <p:spPr bwMode="auto">
          <a:xfrm>
            <a:off x="7567613" y="3741738"/>
            <a:ext cx="32861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0.05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Line 26"/>
          <p:cNvSpPr>
            <a:spLocks noChangeShapeType="1"/>
          </p:cNvSpPr>
          <p:nvPr/>
        </p:nvSpPr>
        <p:spPr bwMode="auto">
          <a:xfrm>
            <a:off x="7847013" y="3336925"/>
            <a:ext cx="381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Rectangle 27"/>
          <p:cNvSpPr>
            <a:spLocks noChangeArrowheads="1"/>
          </p:cNvSpPr>
          <p:nvPr/>
        </p:nvSpPr>
        <p:spPr bwMode="auto">
          <a:xfrm>
            <a:off x="7639051" y="3265488"/>
            <a:ext cx="25241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0.1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Line 28"/>
          <p:cNvSpPr>
            <a:spLocks noChangeShapeType="1"/>
          </p:cNvSpPr>
          <p:nvPr/>
        </p:nvSpPr>
        <p:spPr bwMode="auto">
          <a:xfrm>
            <a:off x="7847013" y="2859088"/>
            <a:ext cx="381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Rectangle 29"/>
          <p:cNvSpPr>
            <a:spLocks noChangeArrowheads="1"/>
          </p:cNvSpPr>
          <p:nvPr/>
        </p:nvSpPr>
        <p:spPr bwMode="auto">
          <a:xfrm>
            <a:off x="7567613" y="2787650"/>
            <a:ext cx="32861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0.15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Line 30"/>
          <p:cNvSpPr>
            <a:spLocks noChangeShapeType="1"/>
          </p:cNvSpPr>
          <p:nvPr/>
        </p:nvSpPr>
        <p:spPr bwMode="auto">
          <a:xfrm>
            <a:off x="7847013" y="2376488"/>
            <a:ext cx="381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Rectangle 31"/>
          <p:cNvSpPr>
            <a:spLocks noChangeArrowheads="1"/>
          </p:cNvSpPr>
          <p:nvPr/>
        </p:nvSpPr>
        <p:spPr bwMode="auto">
          <a:xfrm>
            <a:off x="7639051" y="2305050"/>
            <a:ext cx="25241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0.2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Freeform 32"/>
          <p:cNvSpPr>
            <a:spLocks/>
          </p:cNvSpPr>
          <p:nvPr/>
        </p:nvSpPr>
        <p:spPr bwMode="auto">
          <a:xfrm>
            <a:off x="8132763" y="3236913"/>
            <a:ext cx="569913" cy="1065213"/>
          </a:xfrm>
          <a:custGeom>
            <a:avLst/>
            <a:gdLst>
              <a:gd name="T0" fmla="*/ 0 w 359"/>
              <a:gd name="T1" fmla="*/ 671 h 671"/>
              <a:gd name="T2" fmla="*/ 0 w 359"/>
              <a:gd name="T3" fmla="*/ 0 h 671"/>
              <a:gd name="T4" fmla="*/ 359 w 359"/>
              <a:gd name="T5" fmla="*/ 0 h 671"/>
              <a:gd name="T6" fmla="*/ 359 w 359"/>
              <a:gd name="T7" fmla="*/ 671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" h="671">
                <a:moveTo>
                  <a:pt x="0" y="671"/>
                </a:moveTo>
                <a:lnTo>
                  <a:pt x="0" y="0"/>
                </a:lnTo>
                <a:lnTo>
                  <a:pt x="359" y="0"/>
                </a:lnTo>
                <a:lnTo>
                  <a:pt x="359" y="671"/>
                </a:lnTo>
              </a:path>
            </a:pathLst>
          </a:custGeom>
          <a:noFill/>
          <a:ln w="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5" name="Freeform 33"/>
          <p:cNvSpPr>
            <a:spLocks/>
          </p:cNvSpPr>
          <p:nvPr/>
        </p:nvSpPr>
        <p:spPr bwMode="auto">
          <a:xfrm>
            <a:off x="9267826" y="2968625"/>
            <a:ext cx="569913" cy="1333500"/>
          </a:xfrm>
          <a:custGeom>
            <a:avLst/>
            <a:gdLst>
              <a:gd name="T0" fmla="*/ 0 w 359"/>
              <a:gd name="T1" fmla="*/ 840 h 840"/>
              <a:gd name="T2" fmla="*/ 0 w 359"/>
              <a:gd name="T3" fmla="*/ 0 h 840"/>
              <a:gd name="T4" fmla="*/ 359 w 359"/>
              <a:gd name="T5" fmla="*/ 0 h 840"/>
              <a:gd name="T6" fmla="*/ 359 w 359"/>
              <a:gd name="T7" fmla="*/ 840 h 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9" h="840">
                <a:moveTo>
                  <a:pt x="0" y="840"/>
                </a:moveTo>
                <a:lnTo>
                  <a:pt x="0" y="0"/>
                </a:lnTo>
                <a:lnTo>
                  <a:pt x="359" y="0"/>
                </a:lnTo>
                <a:lnTo>
                  <a:pt x="359" y="840"/>
                </a:lnTo>
              </a:path>
            </a:pathLst>
          </a:custGeom>
          <a:noFill/>
          <a:ln w="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6" name="Freeform 34"/>
          <p:cNvSpPr>
            <a:spLocks/>
          </p:cNvSpPr>
          <p:nvPr/>
        </p:nvSpPr>
        <p:spPr bwMode="auto">
          <a:xfrm>
            <a:off x="8416926" y="2874963"/>
            <a:ext cx="1135063" cy="361950"/>
          </a:xfrm>
          <a:custGeom>
            <a:avLst/>
            <a:gdLst>
              <a:gd name="T0" fmla="*/ 715 w 715"/>
              <a:gd name="T1" fmla="*/ 59 h 228"/>
              <a:gd name="T2" fmla="*/ 715 w 715"/>
              <a:gd name="T3" fmla="*/ 0 h 228"/>
              <a:gd name="T4" fmla="*/ 0 w 715"/>
              <a:gd name="T5" fmla="*/ 0 h 228"/>
              <a:gd name="T6" fmla="*/ 0 w 715"/>
              <a:gd name="T7" fmla="*/ 228 h 2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5" h="228">
                <a:moveTo>
                  <a:pt x="715" y="59"/>
                </a:moveTo>
                <a:lnTo>
                  <a:pt x="715" y="0"/>
                </a:lnTo>
                <a:lnTo>
                  <a:pt x="0" y="0"/>
                </a:lnTo>
                <a:lnTo>
                  <a:pt x="0" y="228"/>
                </a:lnTo>
              </a:path>
            </a:pathLst>
          </a:custGeom>
          <a:noFill/>
          <a:ln w="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80" y="4781830"/>
            <a:ext cx="4314825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120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Single-Link (Contd.)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44" y="2358516"/>
            <a:ext cx="4305300" cy="168592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882522" y="1998569"/>
            <a:ext cx="2780429" cy="2264373"/>
            <a:chOff x="382588" y="1773238"/>
            <a:chExt cx="3795712" cy="310197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2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18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9" name="Group 24"/>
            <p:cNvGrpSpPr>
              <a:grpSpLocks/>
            </p:cNvGrpSpPr>
            <p:nvPr/>
          </p:nvGrpSpPr>
          <p:grpSpPr bwMode="auto">
            <a:xfrm>
              <a:off x="444500" y="2071688"/>
              <a:ext cx="3675063" cy="2097087"/>
              <a:chOff x="280" y="1305"/>
              <a:chExt cx="2315" cy="1321"/>
            </a:xfrm>
          </p:grpSpPr>
          <p:sp>
            <p:nvSpPr>
              <p:cNvPr id="16" name="Freeform 25"/>
              <p:cNvSpPr>
                <a:spLocks/>
              </p:cNvSpPr>
              <p:nvPr/>
            </p:nvSpPr>
            <p:spPr bwMode="auto">
              <a:xfrm>
                <a:off x="280" y="1314"/>
                <a:ext cx="2315" cy="1312"/>
              </a:xfrm>
              <a:custGeom>
                <a:avLst/>
                <a:gdLst>
                  <a:gd name="T0" fmla="*/ 1326 w 2315"/>
                  <a:gd name="T1" fmla="*/ 23 h 1312"/>
                  <a:gd name="T2" fmla="*/ 1519 w 2315"/>
                  <a:gd name="T3" fmla="*/ 64 h 1312"/>
                  <a:gd name="T4" fmla="*/ 1698 w 2315"/>
                  <a:gd name="T5" fmla="*/ 121 h 1312"/>
                  <a:gd name="T6" fmla="*/ 1865 w 2315"/>
                  <a:gd name="T7" fmla="*/ 194 h 1312"/>
                  <a:gd name="T8" fmla="*/ 2008 w 2315"/>
                  <a:gd name="T9" fmla="*/ 278 h 1312"/>
                  <a:gd name="T10" fmla="*/ 2129 w 2315"/>
                  <a:gd name="T11" fmla="*/ 375 h 1312"/>
                  <a:gd name="T12" fmla="*/ 2222 w 2315"/>
                  <a:gd name="T13" fmla="*/ 479 h 1312"/>
                  <a:gd name="T14" fmla="*/ 2282 w 2315"/>
                  <a:gd name="T15" fmla="*/ 589 h 1312"/>
                  <a:gd name="T16" fmla="*/ 2313 w 2315"/>
                  <a:gd name="T17" fmla="*/ 699 h 1312"/>
                  <a:gd name="T18" fmla="*/ 2308 w 2315"/>
                  <a:gd name="T19" fmla="*/ 809 h 1312"/>
                  <a:gd name="T20" fmla="*/ 2272 w 2315"/>
                  <a:gd name="T21" fmla="*/ 915 h 1312"/>
                  <a:gd name="T22" fmla="*/ 2202 w 2315"/>
                  <a:gd name="T23" fmla="*/ 1014 h 1312"/>
                  <a:gd name="T24" fmla="*/ 2105 w 2315"/>
                  <a:gd name="T25" fmla="*/ 1101 h 1312"/>
                  <a:gd name="T26" fmla="*/ 1977 w 2315"/>
                  <a:gd name="T27" fmla="*/ 1176 h 1312"/>
                  <a:gd name="T28" fmla="*/ 1828 w 2315"/>
                  <a:gd name="T29" fmla="*/ 1237 h 1312"/>
                  <a:gd name="T30" fmla="*/ 1659 w 2315"/>
                  <a:gd name="T31" fmla="*/ 1280 h 1312"/>
                  <a:gd name="T32" fmla="*/ 1476 w 2315"/>
                  <a:gd name="T33" fmla="*/ 1306 h 1312"/>
                  <a:gd name="T34" fmla="*/ 1283 w 2315"/>
                  <a:gd name="T35" fmla="*/ 1312 h 1312"/>
                  <a:gd name="T36" fmla="*/ 1086 w 2315"/>
                  <a:gd name="T37" fmla="*/ 1299 h 1312"/>
                  <a:gd name="T38" fmla="*/ 894 w 2315"/>
                  <a:gd name="T39" fmla="*/ 1269 h 1312"/>
                  <a:gd name="T40" fmla="*/ 705 w 2315"/>
                  <a:gd name="T41" fmla="*/ 1220 h 1312"/>
                  <a:gd name="T42" fmla="*/ 532 w 2315"/>
                  <a:gd name="T43" fmla="*/ 1155 h 1312"/>
                  <a:gd name="T44" fmla="*/ 377 w 2315"/>
                  <a:gd name="T45" fmla="*/ 1077 h 1312"/>
                  <a:gd name="T46" fmla="*/ 245 w 2315"/>
                  <a:gd name="T47" fmla="*/ 984 h 1312"/>
                  <a:gd name="T48" fmla="*/ 137 w 2315"/>
                  <a:gd name="T49" fmla="*/ 885 h 1312"/>
                  <a:gd name="T50" fmla="*/ 61 w 2315"/>
                  <a:gd name="T51" fmla="*/ 777 h 1312"/>
                  <a:gd name="T52" fmla="*/ 13 w 2315"/>
                  <a:gd name="T53" fmla="*/ 667 h 1312"/>
                  <a:gd name="T54" fmla="*/ 0 w 2315"/>
                  <a:gd name="T55" fmla="*/ 555 h 1312"/>
                  <a:gd name="T56" fmla="*/ 22 w 2315"/>
                  <a:gd name="T57" fmla="*/ 447 h 1312"/>
                  <a:gd name="T58" fmla="*/ 74 w 2315"/>
                  <a:gd name="T59" fmla="*/ 345 h 1312"/>
                  <a:gd name="T60" fmla="*/ 158 w 2315"/>
                  <a:gd name="T61" fmla="*/ 252 h 1312"/>
                  <a:gd name="T62" fmla="*/ 273 w 2315"/>
                  <a:gd name="T63" fmla="*/ 170 h 1312"/>
                  <a:gd name="T64" fmla="*/ 411 w 2315"/>
                  <a:gd name="T65" fmla="*/ 103 h 1312"/>
                  <a:gd name="T66" fmla="*/ 571 w 2315"/>
                  <a:gd name="T67" fmla="*/ 49 h 1312"/>
                  <a:gd name="T68" fmla="*/ 747 w 2315"/>
                  <a:gd name="T69" fmla="*/ 17 h 1312"/>
                  <a:gd name="T70" fmla="*/ 937 w 2315"/>
                  <a:gd name="T71" fmla="*/ 0 h 1312"/>
                  <a:gd name="T72" fmla="*/ 1132 w 2315"/>
                  <a:gd name="T73" fmla="*/ 2 h 131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315" h="1312">
                    <a:moveTo>
                      <a:pt x="1229" y="10"/>
                    </a:moveTo>
                    <a:lnTo>
                      <a:pt x="1326" y="23"/>
                    </a:lnTo>
                    <a:lnTo>
                      <a:pt x="1424" y="43"/>
                    </a:lnTo>
                    <a:lnTo>
                      <a:pt x="1519" y="64"/>
                    </a:lnTo>
                    <a:lnTo>
                      <a:pt x="1610" y="90"/>
                    </a:lnTo>
                    <a:lnTo>
                      <a:pt x="1698" y="121"/>
                    </a:lnTo>
                    <a:lnTo>
                      <a:pt x="1783" y="155"/>
                    </a:lnTo>
                    <a:lnTo>
                      <a:pt x="1865" y="194"/>
                    </a:lnTo>
                    <a:lnTo>
                      <a:pt x="1938" y="235"/>
                    </a:lnTo>
                    <a:lnTo>
                      <a:pt x="2008" y="278"/>
                    </a:lnTo>
                    <a:lnTo>
                      <a:pt x="2073" y="326"/>
                    </a:lnTo>
                    <a:lnTo>
                      <a:pt x="2129" y="375"/>
                    </a:lnTo>
                    <a:lnTo>
                      <a:pt x="2179" y="425"/>
                    </a:lnTo>
                    <a:lnTo>
                      <a:pt x="2222" y="479"/>
                    </a:lnTo>
                    <a:lnTo>
                      <a:pt x="2256" y="533"/>
                    </a:lnTo>
                    <a:lnTo>
                      <a:pt x="2282" y="589"/>
                    </a:lnTo>
                    <a:lnTo>
                      <a:pt x="2302" y="643"/>
                    </a:lnTo>
                    <a:lnTo>
                      <a:pt x="2313" y="699"/>
                    </a:lnTo>
                    <a:lnTo>
                      <a:pt x="2315" y="755"/>
                    </a:lnTo>
                    <a:lnTo>
                      <a:pt x="2308" y="809"/>
                    </a:lnTo>
                    <a:lnTo>
                      <a:pt x="2295" y="863"/>
                    </a:lnTo>
                    <a:lnTo>
                      <a:pt x="2272" y="915"/>
                    </a:lnTo>
                    <a:lnTo>
                      <a:pt x="2241" y="965"/>
                    </a:lnTo>
                    <a:lnTo>
                      <a:pt x="2202" y="1014"/>
                    </a:lnTo>
                    <a:lnTo>
                      <a:pt x="2157" y="1060"/>
                    </a:lnTo>
                    <a:lnTo>
                      <a:pt x="2105" y="1101"/>
                    </a:lnTo>
                    <a:lnTo>
                      <a:pt x="2044" y="1140"/>
                    </a:lnTo>
                    <a:lnTo>
                      <a:pt x="1977" y="1176"/>
                    </a:lnTo>
                    <a:lnTo>
                      <a:pt x="1906" y="1209"/>
                    </a:lnTo>
                    <a:lnTo>
                      <a:pt x="1828" y="1237"/>
                    </a:lnTo>
                    <a:lnTo>
                      <a:pt x="1746" y="1261"/>
                    </a:lnTo>
                    <a:lnTo>
                      <a:pt x="1659" y="1280"/>
                    </a:lnTo>
                    <a:lnTo>
                      <a:pt x="1569" y="1295"/>
                    </a:lnTo>
                    <a:lnTo>
                      <a:pt x="1476" y="1306"/>
                    </a:lnTo>
                    <a:lnTo>
                      <a:pt x="1380" y="1310"/>
                    </a:lnTo>
                    <a:lnTo>
                      <a:pt x="1283" y="1312"/>
                    </a:lnTo>
                    <a:lnTo>
                      <a:pt x="1186" y="1308"/>
                    </a:lnTo>
                    <a:lnTo>
                      <a:pt x="1086" y="1299"/>
                    </a:lnTo>
                    <a:lnTo>
                      <a:pt x="989" y="1286"/>
                    </a:lnTo>
                    <a:lnTo>
                      <a:pt x="894" y="1269"/>
                    </a:lnTo>
                    <a:lnTo>
                      <a:pt x="798" y="1245"/>
                    </a:lnTo>
                    <a:lnTo>
                      <a:pt x="705" y="1220"/>
                    </a:lnTo>
                    <a:lnTo>
                      <a:pt x="617" y="1189"/>
                    </a:lnTo>
                    <a:lnTo>
                      <a:pt x="532" y="1155"/>
                    </a:lnTo>
                    <a:lnTo>
                      <a:pt x="452" y="1118"/>
                    </a:lnTo>
                    <a:lnTo>
                      <a:pt x="377" y="1077"/>
                    </a:lnTo>
                    <a:lnTo>
                      <a:pt x="307" y="1032"/>
                    </a:lnTo>
                    <a:lnTo>
                      <a:pt x="245" y="984"/>
                    </a:lnTo>
                    <a:lnTo>
                      <a:pt x="186" y="937"/>
                    </a:lnTo>
                    <a:lnTo>
                      <a:pt x="137" y="885"/>
                    </a:lnTo>
                    <a:lnTo>
                      <a:pt x="95" y="831"/>
                    </a:lnTo>
                    <a:lnTo>
                      <a:pt x="61" y="777"/>
                    </a:lnTo>
                    <a:lnTo>
                      <a:pt x="33" y="723"/>
                    </a:lnTo>
                    <a:lnTo>
                      <a:pt x="13" y="667"/>
                    </a:lnTo>
                    <a:lnTo>
                      <a:pt x="5" y="611"/>
                    </a:lnTo>
                    <a:lnTo>
                      <a:pt x="0" y="555"/>
                    </a:lnTo>
                    <a:lnTo>
                      <a:pt x="7" y="501"/>
                    </a:lnTo>
                    <a:lnTo>
                      <a:pt x="22" y="447"/>
                    </a:lnTo>
                    <a:lnTo>
                      <a:pt x="44" y="395"/>
                    </a:lnTo>
                    <a:lnTo>
                      <a:pt x="74" y="345"/>
                    </a:lnTo>
                    <a:lnTo>
                      <a:pt x="113" y="298"/>
                    </a:lnTo>
                    <a:lnTo>
                      <a:pt x="158" y="252"/>
                    </a:lnTo>
                    <a:lnTo>
                      <a:pt x="212" y="209"/>
                    </a:lnTo>
                    <a:lnTo>
                      <a:pt x="273" y="170"/>
                    </a:lnTo>
                    <a:lnTo>
                      <a:pt x="338" y="133"/>
                    </a:lnTo>
                    <a:lnTo>
                      <a:pt x="411" y="103"/>
                    </a:lnTo>
                    <a:lnTo>
                      <a:pt x="489" y="75"/>
                    </a:lnTo>
                    <a:lnTo>
                      <a:pt x="571" y="49"/>
                    </a:lnTo>
                    <a:lnTo>
                      <a:pt x="658" y="30"/>
                    </a:lnTo>
                    <a:lnTo>
                      <a:pt x="747" y="17"/>
                    </a:lnTo>
                    <a:lnTo>
                      <a:pt x="840" y="6"/>
                    </a:lnTo>
                    <a:lnTo>
                      <a:pt x="937" y="0"/>
                    </a:lnTo>
                    <a:lnTo>
                      <a:pt x="1034" y="0"/>
                    </a:lnTo>
                    <a:lnTo>
                      <a:pt x="1132" y="2"/>
                    </a:lnTo>
                    <a:lnTo>
                      <a:pt x="1229" y="1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Rectangle 26"/>
              <p:cNvSpPr>
                <a:spLocks noChangeArrowheads="1"/>
              </p:cNvSpPr>
              <p:nvPr/>
            </p:nvSpPr>
            <p:spPr bwMode="auto">
              <a:xfrm>
                <a:off x="1390" y="130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</p:grpSp>
        <p:grpSp>
          <p:nvGrpSpPr>
            <p:cNvPr id="10" name="Group 27"/>
            <p:cNvGrpSpPr>
              <a:grpSpLocks/>
            </p:cNvGrpSpPr>
            <p:nvPr/>
          </p:nvGrpSpPr>
          <p:grpSpPr bwMode="auto">
            <a:xfrm>
              <a:off x="382588" y="1951038"/>
              <a:ext cx="3795712" cy="2924175"/>
              <a:chOff x="241" y="1229"/>
              <a:chExt cx="2391" cy="1842"/>
            </a:xfrm>
          </p:grpSpPr>
          <p:sp>
            <p:nvSpPr>
              <p:cNvPr id="14" name="Freeform 28"/>
              <p:cNvSpPr>
                <a:spLocks/>
              </p:cNvSpPr>
              <p:nvPr/>
            </p:nvSpPr>
            <p:spPr bwMode="auto">
              <a:xfrm>
                <a:off x="241" y="1229"/>
                <a:ext cx="2391" cy="1611"/>
              </a:xfrm>
              <a:custGeom>
                <a:avLst/>
                <a:gdLst>
                  <a:gd name="T0" fmla="*/ 1385 w 2391"/>
                  <a:gd name="T1" fmla="*/ 24 h 1611"/>
                  <a:gd name="T2" fmla="*/ 1582 w 2391"/>
                  <a:gd name="T3" fmla="*/ 69 h 1611"/>
                  <a:gd name="T4" fmla="*/ 1768 w 2391"/>
                  <a:gd name="T5" fmla="*/ 136 h 1611"/>
                  <a:gd name="T6" fmla="*/ 1936 w 2391"/>
                  <a:gd name="T7" fmla="*/ 221 h 1611"/>
                  <a:gd name="T8" fmla="*/ 2083 w 2391"/>
                  <a:gd name="T9" fmla="*/ 322 h 1611"/>
                  <a:gd name="T10" fmla="*/ 2207 w 2391"/>
                  <a:gd name="T11" fmla="*/ 439 h 1611"/>
                  <a:gd name="T12" fmla="*/ 2300 w 2391"/>
                  <a:gd name="T13" fmla="*/ 566 h 1611"/>
                  <a:gd name="T14" fmla="*/ 2360 w 2391"/>
                  <a:gd name="T15" fmla="*/ 698 h 1611"/>
                  <a:gd name="T16" fmla="*/ 2388 w 2391"/>
                  <a:gd name="T17" fmla="*/ 836 h 1611"/>
                  <a:gd name="T18" fmla="*/ 2382 w 2391"/>
                  <a:gd name="T19" fmla="*/ 970 h 1611"/>
                  <a:gd name="T20" fmla="*/ 2343 w 2391"/>
                  <a:gd name="T21" fmla="*/ 1102 h 1611"/>
                  <a:gd name="T22" fmla="*/ 2270 w 2391"/>
                  <a:gd name="T23" fmla="*/ 1225 h 1611"/>
                  <a:gd name="T24" fmla="*/ 2166 w 2391"/>
                  <a:gd name="T25" fmla="*/ 1335 h 1611"/>
                  <a:gd name="T26" fmla="*/ 2032 w 2391"/>
                  <a:gd name="T27" fmla="*/ 1430 h 1611"/>
                  <a:gd name="T28" fmla="*/ 1876 w 2391"/>
                  <a:gd name="T29" fmla="*/ 1508 h 1611"/>
                  <a:gd name="T30" fmla="*/ 1701 w 2391"/>
                  <a:gd name="T31" fmla="*/ 1564 h 1611"/>
                  <a:gd name="T32" fmla="*/ 1510 w 2391"/>
                  <a:gd name="T33" fmla="*/ 1598 h 1611"/>
                  <a:gd name="T34" fmla="*/ 1311 w 2391"/>
                  <a:gd name="T35" fmla="*/ 1611 h 1611"/>
                  <a:gd name="T36" fmla="*/ 1108 w 2391"/>
                  <a:gd name="T37" fmla="*/ 1600 h 1611"/>
                  <a:gd name="T38" fmla="*/ 907 w 2391"/>
                  <a:gd name="T39" fmla="*/ 1568 h 1611"/>
                  <a:gd name="T40" fmla="*/ 716 w 2391"/>
                  <a:gd name="T41" fmla="*/ 1512 h 1611"/>
                  <a:gd name="T42" fmla="*/ 537 w 2391"/>
                  <a:gd name="T43" fmla="*/ 1436 h 1611"/>
                  <a:gd name="T44" fmla="*/ 379 w 2391"/>
                  <a:gd name="T45" fmla="*/ 1341 h 1611"/>
                  <a:gd name="T46" fmla="*/ 243 w 2391"/>
                  <a:gd name="T47" fmla="*/ 1233 h 1611"/>
                  <a:gd name="T48" fmla="*/ 134 w 2391"/>
                  <a:gd name="T49" fmla="*/ 1110 h 1611"/>
                  <a:gd name="T50" fmla="*/ 57 w 2391"/>
                  <a:gd name="T51" fmla="*/ 981 h 1611"/>
                  <a:gd name="T52" fmla="*/ 11 w 2391"/>
                  <a:gd name="T53" fmla="*/ 845 h 1611"/>
                  <a:gd name="T54" fmla="*/ 0 w 2391"/>
                  <a:gd name="T55" fmla="*/ 709 h 1611"/>
                  <a:gd name="T56" fmla="*/ 24 w 2391"/>
                  <a:gd name="T57" fmla="*/ 575 h 1611"/>
                  <a:gd name="T58" fmla="*/ 83 w 2391"/>
                  <a:gd name="T59" fmla="*/ 447 h 1611"/>
                  <a:gd name="T60" fmla="*/ 171 w 2391"/>
                  <a:gd name="T61" fmla="*/ 331 h 1611"/>
                  <a:gd name="T62" fmla="*/ 290 w 2391"/>
                  <a:gd name="T63" fmla="*/ 227 h 1611"/>
                  <a:gd name="T64" fmla="*/ 435 w 2391"/>
                  <a:gd name="T65" fmla="*/ 141 h 1611"/>
                  <a:gd name="T66" fmla="*/ 602 w 2391"/>
                  <a:gd name="T67" fmla="*/ 74 h 1611"/>
                  <a:gd name="T68" fmla="*/ 786 w 2391"/>
                  <a:gd name="T69" fmla="*/ 28 h 1611"/>
                  <a:gd name="T70" fmla="*/ 980 w 2391"/>
                  <a:gd name="T71" fmla="*/ 3 h 1611"/>
                  <a:gd name="T72" fmla="*/ 1181 w 2391"/>
                  <a:gd name="T73" fmla="*/ 3 h 16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391" h="1611">
                    <a:moveTo>
                      <a:pt x="1283" y="11"/>
                    </a:moveTo>
                    <a:lnTo>
                      <a:pt x="1385" y="24"/>
                    </a:lnTo>
                    <a:lnTo>
                      <a:pt x="1484" y="46"/>
                    </a:lnTo>
                    <a:lnTo>
                      <a:pt x="1582" y="69"/>
                    </a:lnTo>
                    <a:lnTo>
                      <a:pt x="1675" y="100"/>
                    </a:lnTo>
                    <a:lnTo>
                      <a:pt x="1768" y="136"/>
                    </a:lnTo>
                    <a:lnTo>
                      <a:pt x="1854" y="175"/>
                    </a:lnTo>
                    <a:lnTo>
                      <a:pt x="1936" y="221"/>
                    </a:lnTo>
                    <a:lnTo>
                      <a:pt x="2012" y="270"/>
                    </a:lnTo>
                    <a:lnTo>
                      <a:pt x="2083" y="322"/>
                    </a:lnTo>
                    <a:lnTo>
                      <a:pt x="2148" y="380"/>
                    </a:lnTo>
                    <a:lnTo>
                      <a:pt x="2207" y="439"/>
                    </a:lnTo>
                    <a:lnTo>
                      <a:pt x="2257" y="501"/>
                    </a:lnTo>
                    <a:lnTo>
                      <a:pt x="2300" y="566"/>
                    </a:lnTo>
                    <a:lnTo>
                      <a:pt x="2334" y="631"/>
                    </a:lnTo>
                    <a:lnTo>
                      <a:pt x="2360" y="698"/>
                    </a:lnTo>
                    <a:lnTo>
                      <a:pt x="2380" y="767"/>
                    </a:lnTo>
                    <a:lnTo>
                      <a:pt x="2388" y="836"/>
                    </a:lnTo>
                    <a:lnTo>
                      <a:pt x="2391" y="903"/>
                    </a:lnTo>
                    <a:lnTo>
                      <a:pt x="2382" y="970"/>
                    </a:lnTo>
                    <a:lnTo>
                      <a:pt x="2367" y="1037"/>
                    </a:lnTo>
                    <a:lnTo>
                      <a:pt x="2343" y="1102"/>
                    </a:lnTo>
                    <a:lnTo>
                      <a:pt x="2311" y="1164"/>
                    </a:lnTo>
                    <a:lnTo>
                      <a:pt x="2270" y="1225"/>
                    </a:lnTo>
                    <a:lnTo>
                      <a:pt x="2220" y="1281"/>
                    </a:lnTo>
                    <a:lnTo>
                      <a:pt x="2166" y="1335"/>
                    </a:lnTo>
                    <a:lnTo>
                      <a:pt x="2101" y="1384"/>
                    </a:lnTo>
                    <a:lnTo>
                      <a:pt x="2032" y="1430"/>
                    </a:lnTo>
                    <a:lnTo>
                      <a:pt x="1958" y="1471"/>
                    </a:lnTo>
                    <a:lnTo>
                      <a:pt x="1876" y="1508"/>
                    </a:lnTo>
                    <a:lnTo>
                      <a:pt x="1789" y="1538"/>
                    </a:lnTo>
                    <a:lnTo>
                      <a:pt x="1701" y="1564"/>
                    </a:lnTo>
                    <a:lnTo>
                      <a:pt x="1608" y="1585"/>
                    </a:lnTo>
                    <a:lnTo>
                      <a:pt x="1510" y="1598"/>
                    </a:lnTo>
                    <a:lnTo>
                      <a:pt x="1411" y="1609"/>
                    </a:lnTo>
                    <a:lnTo>
                      <a:pt x="1311" y="1611"/>
                    </a:lnTo>
                    <a:lnTo>
                      <a:pt x="1210" y="1609"/>
                    </a:lnTo>
                    <a:lnTo>
                      <a:pt x="1108" y="1600"/>
                    </a:lnTo>
                    <a:lnTo>
                      <a:pt x="1006" y="1587"/>
                    </a:lnTo>
                    <a:lnTo>
                      <a:pt x="907" y="1568"/>
                    </a:lnTo>
                    <a:lnTo>
                      <a:pt x="809" y="1542"/>
                    </a:lnTo>
                    <a:lnTo>
                      <a:pt x="716" y="1512"/>
                    </a:lnTo>
                    <a:lnTo>
                      <a:pt x="626" y="1475"/>
                    </a:lnTo>
                    <a:lnTo>
                      <a:pt x="537" y="1436"/>
                    </a:lnTo>
                    <a:lnTo>
                      <a:pt x="455" y="1391"/>
                    </a:lnTo>
                    <a:lnTo>
                      <a:pt x="379" y="1341"/>
                    </a:lnTo>
                    <a:lnTo>
                      <a:pt x="308" y="1289"/>
                    </a:lnTo>
                    <a:lnTo>
                      <a:pt x="243" y="1233"/>
                    </a:lnTo>
                    <a:lnTo>
                      <a:pt x="184" y="1173"/>
                    </a:lnTo>
                    <a:lnTo>
                      <a:pt x="134" y="1110"/>
                    </a:lnTo>
                    <a:lnTo>
                      <a:pt x="91" y="1045"/>
                    </a:lnTo>
                    <a:lnTo>
                      <a:pt x="57" y="981"/>
                    </a:lnTo>
                    <a:lnTo>
                      <a:pt x="31" y="914"/>
                    </a:lnTo>
                    <a:lnTo>
                      <a:pt x="11" y="845"/>
                    </a:lnTo>
                    <a:lnTo>
                      <a:pt x="3" y="776"/>
                    </a:lnTo>
                    <a:lnTo>
                      <a:pt x="0" y="709"/>
                    </a:lnTo>
                    <a:lnTo>
                      <a:pt x="9" y="642"/>
                    </a:lnTo>
                    <a:lnTo>
                      <a:pt x="24" y="575"/>
                    </a:lnTo>
                    <a:lnTo>
                      <a:pt x="48" y="510"/>
                    </a:lnTo>
                    <a:lnTo>
                      <a:pt x="83" y="447"/>
                    </a:lnTo>
                    <a:lnTo>
                      <a:pt x="121" y="387"/>
                    </a:lnTo>
                    <a:lnTo>
                      <a:pt x="171" y="331"/>
                    </a:lnTo>
                    <a:lnTo>
                      <a:pt x="227" y="277"/>
                    </a:lnTo>
                    <a:lnTo>
                      <a:pt x="290" y="227"/>
                    </a:lnTo>
                    <a:lnTo>
                      <a:pt x="359" y="182"/>
                    </a:lnTo>
                    <a:lnTo>
                      <a:pt x="435" y="141"/>
                    </a:lnTo>
                    <a:lnTo>
                      <a:pt x="515" y="104"/>
                    </a:lnTo>
                    <a:lnTo>
                      <a:pt x="602" y="74"/>
                    </a:lnTo>
                    <a:lnTo>
                      <a:pt x="690" y="48"/>
                    </a:lnTo>
                    <a:lnTo>
                      <a:pt x="786" y="28"/>
                    </a:lnTo>
                    <a:lnTo>
                      <a:pt x="881" y="13"/>
                    </a:lnTo>
                    <a:lnTo>
                      <a:pt x="980" y="3"/>
                    </a:lnTo>
                    <a:lnTo>
                      <a:pt x="1082" y="0"/>
                    </a:lnTo>
                    <a:lnTo>
                      <a:pt x="1181" y="3"/>
                    </a:lnTo>
                    <a:lnTo>
                      <a:pt x="1283" y="11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Rectangle 29"/>
              <p:cNvSpPr>
                <a:spLocks noChangeArrowheads="1"/>
              </p:cNvSpPr>
              <p:nvPr/>
            </p:nvSpPr>
            <p:spPr bwMode="auto">
              <a:xfrm>
                <a:off x="1239" y="282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</p:grpSp>
      </p:grpSp>
      <p:grpSp>
        <p:nvGrpSpPr>
          <p:cNvPr id="35" name="Group 4"/>
          <p:cNvGrpSpPr>
            <a:grpSpLocks noChangeAspect="1"/>
          </p:cNvGrpSpPr>
          <p:nvPr/>
        </p:nvGrpSpPr>
        <p:grpSpPr bwMode="auto">
          <a:xfrm>
            <a:off x="7848601" y="1868488"/>
            <a:ext cx="4398963" cy="2754313"/>
            <a:chOff x="4944" y="1177"/>
            <a:chExt cx="2771" cy="1735"/>
          </a:xfrm>
        </p:grpSpPr>
        <p:sp>
          <p:nvSpPr>
            <p:cNvPr id="3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944" y="1177"/>
              <a:ext cx="2764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4944" y="1177"/>
              <a:ext cx="2771" cy="1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6"/>
            <p:cNvSpPr>
              <a:spLocks noChangeArrowheads="1"/>
            </p:cNvSpPr>
            <p:nvPr/>
          </p:nvSpPr>
          <p:spPr bwMode="auto">
            <a:xfrm>
              <a:off x="5300" y="1305"/>
              <a:ext cx="2145" cy="1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5300" y="1305"/>
              <a:ext cx="2145" cy="14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5300" y="2715"/>
              <a:ext cx="214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V="1">
              <a:off x="5300" y="1305"/>
              <a:ext cx="0" cy="14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auto">
            <a:xfrm flipV="1">
              <a:off x="5480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5459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V="1">
              <a:off x="5839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5815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 flipV="1">
              <a:off x="6195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6174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 flipV="1">
              <a:off x="6554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6530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 flipV="1">
              <a:off x="6910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6889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20"/>
            <p:cNvSpPr>
              <a:spLocks noChangeShapeType="1"/>
            </p:cNvSpPr>
            <p:nvPr/>
          </p:nvSpPr>
          <p:spPr bwMode="auto">
            <a:xfrm flipV="1">
              <a:off x="7266" y="2694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7245" y="2729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5300" y="2715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3"/>
            <p:cNvSpPr>
              <a:spLocks noChangeArrowheads="1"/>
            </p:cNvSpPr>
            <p:nvPr/>
          </p:nvSpPr>
          <p:spPr bwMode="auto">
            <a:xfrm>
              <a:off x="5238" y="266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>
              <a:off x="5300" y="2411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5"/>
            <p:cNvSpPr>
              <a:spLocks noChangeArrowheads="1"/>
            </p:cNvSpPr>
            <p:nvPr/>
          </p:nvSpPr>
          <p:spPr bwMode="auto">
            <a:xfrm>
              <a:off x="5124" y="2362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5300" y="2107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5169" y="2062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5300" y="1806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9"/>
            <p:cNvSpPr>
              <a:spLocks noChangeArrowheads="1"/>
            </p:cNvSpPr>
            <p:nvPr/>
          </p:nvSpPr>
          <p:spPr bwMode="auto">
            <a:xfrm>
              <a:off x="5124" y="1761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5300" y="1502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5169" y="1457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32"/>
            <p:cNvSpPr>
              <a:spLocks/>
            </p:cNvSpPr>
            <p:nvPr/>
          </p:nvSpPr>
          <p:spPr bwMode="auto">
            <a:xfrm>
              <a:off x="5480" y="2044"/>
              <a:ext cx="359" cy="671"/>
            </a:xfrm>
            <a:custGeom>
              <a:avLst/>
              <a:gdLst>
                <a:gd name="T0" fmla="*/ 0 w 359"/>
                <a:gd name="T1" fmla="*/ 671 h 671"/>
                <a:gd name="T2" fmla="*/ 0 w 359"/>
                <a:gd name="T3" fmla="*/ 0 h 671"/>
                <a:gd name="T4" fmla="*/ 359 w 359"/>
                <a:gd name="T5" fmla="*/ 0 h 671"/>
                <a:gd name="T6" fmla="*/ 359 w 359"/>
                <a:gd name="T7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671">
                  <a:moveTo>
                    <a:pt x="0" y="671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67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3"/>
            <p:cNvSpPr>
              <a:spLocks/>
            </p:cNvSpPr>
            <p:nvPr/>
          </p:nvSpPr>
          <p:spPr bwMode="auto">
            <a:xfrm>
              <a:off x="6195" y="1875"/>
              <a:ext cx="359" cy="840"/>
            </a:xfrm>
            <a:custGeom>
              <a:avLst/>
              <a:gdLst>
                <a:gd name="T0" fmla="*/ 0 w 359"/>
                <a:gd name="T1" fmla="*/ 840 h 840"/>
                <a:gd name="T2" fmla="*/ 0 w 359"/>
                <a:gd name="T3" fmla="*/ 0 h 840"/>
                <a:gd name="T4" fmla="*/ 359 w 359"/>
                <a:gd name="T5" fmla="*/ 0 h 840"/>
                <a:gd name="T6" fmla="*/ 359 w 359"/>
                <a:gd name="T7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840">
                  <a:moveTo>
                    <a:pt x="0" y="840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84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34"/>
            <p:cNvSpPr>
              <a:spLocks/>
            </p:cNvSpPr>
            <p:nvPr/>
          </p:nvSpPr>
          <p:spPr bwMode="auto">
            <a:xfrm>
              <a:off x="5659" y="1816"/>
              <a:ext cx="715" cy="228"/>
            </a:xfrm>
            <a:custGeom>
              <a:avLst/>
              <a:gdLst>
                <a:gd name="T0" fmla="*/ 715 w 715"/>
                <a:gd name="T1" fmla="*/ 59 h 228"/>
                <a:gd name="T2" fmla="*/ 715 w 715"/>
                <a:gd name="T3" fmla="*/ 0 h 228"/>
                <a:gd name="T4" fmla="*/ 0 w 715"/>
                <a:gd name="T5" fmla="*/ 0 h 228"/>
                <a:gd name="T6" fmla="*/ 0 w 715"/>
                <a:gd name="T7" fmla="*/ 228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5" h="228">
                  <a:moveTo>
                    <a:pt x="715" y="59"/>
                  </a:moveTo>
                  <a:lnTo>
                    <a:pt x="715" y="0"/>
                  </a:lnTo>
                  <a:lnTo>
                    <a:pt x="0" y="0"/>
                  </a:lnTo>
                  <a:lnTo>
                    <a:pt x="0" y="22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35"/>
            <p:cNvSpPr>
              <a:spLocks/>
            </p:cNvSpPr>
            <p:nvPr/>
          </p:nvSpPr>
          <p:spPr bwMode="auto">
            <a:xfrm>
              <a:off x="6015" y="1799"/>
              <a:ext cx="895" cy="916"/>
            </a:xfrm>
            <a:custGeom>
              <a:avLst/>
              <a:gdLst>
                <a:gd name="T0" fmla="*/ 0 w 895"/>
                <a:gd name="T1" fmla="*/ 17 h 916"/>
                <a:gd name="T2" fmla="*/ 0 w 895"/>
                <a:gd name="T3" fmla="*/ 0 h 916"/>
                <a:gd name="T4" fmla="*/ 895 w 895"/>
                <a:gd name="T5" fmla="*/ 0 h 916"/>
                <a:gd name="T6" fmla="*/ 895 w 895"/>
                <a:gd name="T7" fmla="*/ 916 h 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95" h="916">
                  <a:moveTo>
                    <a:pt x="0" y="17"/>
                  </a:moveTo>
                  <a:lnTo>
                    <a:pt x="0" y="0"/>
                  </a:lnTo>
                  <a:lnTo>
                    <a:pt x="895" y="0"/>
                  </a:lnTo>
                  <a:lnTo>
                    <a:pt x="895" y="916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0" name="Picture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01" y="4513263"/>
            <a:ext cx="43815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42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Single-Link (contd.)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397187" y="2421872"/>
            <a:ext cx="4003675" cy="3530600"/>
            <a:chOff x="307975" y="1547813"/>
            <a:chExt cx="4003675" cy="3530600"/>
          </a:xfrm>
        </p:grpSpPr>
        <p:grpSp>
          <p:nvGrpSpPr>
            <p:cNvPr id="9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5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32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3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4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5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6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10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3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11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21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12" name="Group 24"/>
            <p:cNvGrpSpPr>
              <a:grpSpLocks/>
            </p:cNvGrpSpPr>
            <p:nvPr/>
          </p:nvGrpSpPr>
          <p:grpSpPr bwMode="auto">
            <a:xfrm>
              <a:off x="444500" y="2071688"/>
              <a:ext cx="3675063" cy="2097087"/>
              <a:chOff x="280" y="1305"/>
              <a:chExt cx="2315" cy="1321"/>
            </a:xfrm>
          </p:grpSpPr>
          <p:sp>
            <p:nvSpPr>
              <p:cNvPr id="19" name="Freeform 25"/>
              <p:cNvSpPr>
                <a:spLocks/>
              </p:cNvSpPr>
              <p:nvPr/>
            </p:nvSpPr>
            <p:spPr bwMode="auto">
              <a:xfrm>
                <a:off x="280" y="1314"/>
                <a:ext cx="2315" cy="1312"/>
              </a:xfrm>
              <a:custGeom>
                <a:avLst/>
                <a:gdLst>
                  <a:gd name="T0" fmla="*/ 1326 w 2315"/>
                  <a:gd name="T1" fmla="*/ 23 h 1312"/>
                  <a:gd name="T2" fmla="*/ 1519 w 2315"/>
                  <a:gd name="T3" fmla="*/ 64 h 1312"/>
                  <a:gd name="T4" fmla="*/ 1698 w 2315"/>
                  <a:gd name="T5" fmla="*/ 121 h 1312"/>
                  <a:gd name="T6" fmla="*/ 1865 w 2315"/>
                  <a:gd name="T7" fmla="*/ 194 h 1312"/>
                  <a:gd name="T8" fmla="*/ 2008 w 2315"/>
                  <a:gd name="T9" fmla="*/ 278 h 1312"/>
                  <a:gd name="T10" fmla="*/ 2129 w 2315"/>
                  <a:gd name="T11" fmla="*/ 375 h 1312"/>
                  <a:gd name="T12" fmla="*/ 2222 w 2315"/>
                  <a:gd name="T13" fmla="*/ 479 h 1312"/>
                  <a:gd name="T14" fmla="*/ 2282 w 2315"/>
                  <a:gd name="T15" fmla="*/ 589 h 1312"/>
                  <a:gd name="T16" fmla="*/ 2313 w 2315"/>
                  <a:gd name="T17" fmla="*/ 699 h 1312"/>
                  <a:gd name="T18" fmla="*/ 2308 w 2315"/>
                  <a:gd name="T19" fmla="*/ 809 h 1312"/>
                  <a:gd name="T20" fmla="*/ 2272 w 2315"/>
                  <a:gd name="T21" fmla="*/ 915 h 1312"/>
                  <a:gd name="T22" fmla="*/ 2202 w 2315"/>
                  <a:gd name="T23" fmla="*/ 1014 h 1312"/>
                  <a:gd name="T24" fmla="*/ 2105 w 2315"/>
                  <a:gd name="T25" fmla="*/ 1101 h 1312"/>
                  <a:gd name="T26" fmla="*/ 1977 w 2315"/>
                  <a:gd name="T27" fmla="*/ 1176 h 1312"/>
                  <a:gd name="T28" fmla="*/ 1828 w 2315"/>
                  <a:gd name="T29" fmla="*/ 1237 h 1312"/>
                  <a:gd name="T30" fmla="*/ 1659 w 2315"/>
                  <a:gd name="T31" fmla="*/ 1280 h 1312"/>
                  <a:gd name="T32" fmla="*/ 1476 w 2315"/>
                  <a:gd name="T33" fmla="*/ 1306 h 1312"/>
                  <a:gd name="T34" fmla="*/ 1283 w 2315"/>
                  <a:gd name="T35" fmla="*/ 1312 h 1312"/>
                  <a:gd name="T36" fmla="*/ 1086 w 2315"/>
                  <a:gd name="T37" fmla="*/ 1299 h 1312"/>
                  <a:gd name="T38" fmla="*/ 894 w 2315"/>
                  <a:gd name="T39" fmla="*/ 1269 h 1312"/>
                  <a:gd name="T40" fmla="*/ 705 w 2315"/>
                  <a:gd name="T41" fmla="*/ 1220 h 1312"/>
                  <a:gd name="T42" fmla="*/ 532 w 2315"/>
                  <a:gd name="T43" fmla="*/ 1155 h 1312"/>
                  <a:gd name="T44" fmla="*/ 377 w 2315"/>
                  <a:gd name="T45" fmla="*/ 1077 h 1312"/>
                  <a:gd name="T46" fmla="*/ 245 w 2315"/>
                  <a:gd name="T47" fmla="*/ 984 h 1312"/>
                  <a:gd name="T48" fmla="*/ 137 w 2315"/>
                  <a:gd name="T49" fmla="*/ 885 h 1312"/>
                  <a:gd name="T50" fmla="*/ 61 w 2315"/>
                  <a:gd name="T51" fmla="*/ 777 h 1312"/>
                  <a:gd name="T52" fmla="*/ 13 w 2315"/>
                  <a:gd name="T53" fmla="*/ 667 h 1312"/>
                  <a:gd name="T54" fmla="*/ 0 w 2315"/>
                  <a:gd name="T55" fmla="*/ 555 h 1312"/>
                  <a:gd name="T56" fmla="*/ 22 w 2315"/>
                  <a:gd name="T57" fmla="*/ 447 h 1312"/>
                  <a:gd name="T58" fmla="*/ 74 w 2315"/>
                  <a:gd name="T59" fmla="*/ 345 h 1312"/>
                  <a:gd name="T60" fmla="*/ 158 w 2315"/>
                  <a:gd name="T61" fmla="*/ 252 h 1312"/>
                  <a:gd name="T62" fmla="*/ 273 w 2315"/>
                  <a:gd name="T63" fmla="*/ 170 h 1312"/>
                  <a:gd name="T64" fmla="*/ 411 w 2315"/>
                  <a:gd name="T65" fmla="*/ 103 h 1312"/>
                  <a:gd name="T66" fmla="*/ 571 w 2315"/>
                  <a:gd name="T67" fmla="*/ 49 h 1312"/>
                  <a:gd name="T68" fmla="*/ 747 w 2315"/>
                  <a:gd name="T69" fmla="*/ 17 h 1312"/>
                  <a:gd name="T70" fmla="*/ 937 w 2315"/>
                  <a:gd name="T71" fmla="*/ 0 h 1312"/>
                  <a:gd name="T72" fmla="*/ 1132 w 2315"/>
                  <a:gd name="T73" fmla="*/ 2 h 131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315" h="1312">
                    <a:moveTo>
                      <a:pt x="1229" y="10"/>
                    </a:moveTo>
                    <a:lnTo>
                      <a:pt x="1326" y="23"/>
                    </a:lnTo>
                    <a:lnTo>
                      <a:pt x="1424" y="43"/>
                    </a:lnTo>
                    <a:lnTo>
                      <a:pt x="1519" y="64"/>
                    </a:lnTo>
                    <a:lnTo>
                      <a:pt x="1610" y="90"/>
                    </a:lnTo>
                    <a:lnTo>
                      <a:pt x="1698" y="121"/>
                    </a:lnTo>
                    <a:lnTo>
                      <a:pt x="1783" y="155"/>
                    </a:lnTo>
                    <a:lnTo>
                      <a:pt x="1865" y="194"/>
                    </a:lnTo>
                    <a:lnTo>
                      <a:pt x="1938" y="235"/>
                    </a:lnTo>
                    <a:lnTo>
                      <a:pt x="2008" y="278"/>
                    </a:lnTo>
                    <a:lnTo>
                      <a:pt x="2073" y="326"/>
                    </a:lnTo>
                    <a:lnTo>
                      <a:pt x="2129" y="375"/>
                    </a:lnTo>
                    <a:lnTo>
                      <a:pt x="2179" y="425"/>
                    </a:lnTo>
                    <a:lnTo>
                      <a:pt x="2222" y="479"/>
                    </a:lnTo>
                    <a:lnTo>
                      <a:pt x="2256" y="533"/>
                    </a:lnTo>
                    <a:lnTo>
                      <a:pt x="2282" y="589"/>
                    </a:lnTo>
                    <a:lnTo>
                      <a:pt x="2302" y="643"/>
                    </a:lnTo>
                    <a:lnTo>
                      <a:pt x="2313" y="699"/>
                    </a:lnTo>
                    <a:lnTo>
                      <a:pt x="2315" y="755"/>
                    </a:lnTo>
                    <a:lnTo>
                      <a:pt x="2308" y="809"/>
                    </a:lnTo>
                    <a:lnTo>
                      <a:pt x="2295" y="863"/>
                    </a:lnTo>
                    <a:lnTo>
                      <a:pt x="2272" y="915"/>
                    </a:lnTo>
                    <a:lnTo>
                      <a:pt x="2241" y="965"/>
                    </a:lnTo>
                    <a:lnTo>
                      <a:pt x="2202" y="1014"/>
                    </a:lnTo>
                    <a:lnTo>
                      <a:pt x="2157" y="1060"/>
                    </a:lnTo>
                    <a:lnTo>
                      <a:pt x="2105" y="1101"/>
                    </a:lnTo>
                    <a:lnTo>
                      <a:pt x="2044" y="1140"/>
                    </a:lnTo>
                    <a:lnTo>
                      <a:pt x="1977" y="1176"/>
                    </a:lnTo>
                    <a:lnTo>
                      <a:pt x="1906" y="1209"/>
                    </a:lnTo>
                    <a:lnTo>
                      <a:pt x="1828" y="1237"/>
                    </a:lnTo>
                    <a:lnTo>
                      <a:pt x="1746" y="1261"/>
                    </a:lnTo>
                    <a:lnTo>
                      <a:pt x="1659" y="1280"/>
                    </a:lnTo>
                    <a:lnTo>
                      <a:pt x="1569" y="1295"/>
                    </a:lnTo>
                    <a:lnTo>
                      <a:pt x="1476" y="1306"/>
                    </a:lnTo>
                    <a:lnTo>
                      <a:pt x="1380" y="1310"/>
                    </a:lnTo>
                    <a:lnTo>
                      <a:pt x="1283" y="1312"/>
                    </a:lnTo>
                    <a:lnTo>
                      <a:pt x="1186" y="1308"/>
                    </a:lnTo>
                    <a:lnTo>
                      <a:pt x="1086" y="1299"/>
                    </a:lnTo>
                    <a:lnTo>
                      <a:pt x="989" y="1286"/>
                    </a:lnTo>
                    <a:lnTo>
                      <a:pt x="894" y="1269"/>
                    </a:lnTo>
                    <a:lnTo>
                      <a:pt x="798" y="1245"/>
                    </a:lnTo>
                    <a:lnTo>
                      <a:pt x="705" y="1220"/>
                    </a:lnTo>
                    <a:lnTo>
                      <a:pt x="617" y="1189"/>
                    </a:lnTo>
                    <a:lnTo>
                      <a:pt x="532" y="1155"/>
                    </a:lnTo>
                    <a:lnTo>
                      <a:pt x="452" y="1118"/>
                    </a:lnTo>
                    <a:lnTo>
                      <a:pt x="377" y="1077"/>
                    </a:lnTo>
                    <a:lnTo>
                      <a:pt x="307" y="1032"/>
                    </a:lnTo>
                    <a:lnTo>
                      <a:pt x="245" y="984"/>
                    </a:lnTo>
                    <a:lnTo>
                      <a:pt x="186" y="937"/>
                    </a:lnTo>
                    <a:lnTo>
                      <a:pt x="137" y="885"/>
                    </a:lnTo>
                    <a:lnTo>
                      <a:pt x="95" y="831"/>
                    </a:lnTo>
                    <a:lnTo>
                      <a:pt x="61" y="777"/>
                    </a:lnTo>
                    <a:lnTo>
                      <a:pt x="33" y="723"/>
                    </a:lnTo>
                    <a:lnTo>
                      <a:pt x="13" y="667"/>
                    </a:lnTo>
                    <a:lnTo>
                      <a:pt x="5" y="611"/>
                    </a:lnTo>
                    <a:lnTo>
                      <a:pt x="0" y="555"/>
                    </a:lnTo>
                    <a:lnTo>
                      <a:pt x="7" y="501"/>
                    </a:lnTo>
                    <a:lnTo>
                      <a:pt x="22" y="447"/>
                    </a:lnTo>
                    <a:lnTo>
                      <a:pt x="44" y="395"/>
                    </a:lnTo>
                    <a:lnTo>
                      <a:pt x="74" y="345"/>
                    </a:lnTo>
                    <a:lnTo>
                      <a:pt x="113" y="298"/>
                    </a:lnTo>
                    <a:lnTo>
                      <a:pt x="158" y="252"/>
                    </a:lnTo>
                    <a:lnTo>
                      <a:pt x="212" y="209"/>
                    </a:lnTo>
                    <a:lnTo>
                      <a:pt x="273" y="170"/>
                    </a:lnTo>
                    <a:lnTo>
                      <a:pt x="338" y="133"/>
                    </a:lnTo>
                    <a:lnTo>
                      <a:pt x="411" y="103"/>
                    </a:lnTo>
                    <a:lnTo>
                      <a:pt x="489" y="75"/>
                    </a:lnTo>
                    <a:lnTo>
                      <a:pt x="571" y="49"/>
                    </a:lnTo>
                    <a:lnTo>
                      <a:pt x="658" y="30"/>
                    </a:lnTo>
                    <a:lnTo>
                      <a:pt x="747" y="17"/>
                    </a:lnTo>
                    <a:lnTo>
                      <a:pt x="840" y="6"/>
                    </a:lnTo>
                    <a:lnTo>
                      <a:pt x="937" y="0"/>
                    </a:lnTo>
                    <a:lnTo>
                      <a:pt x="1034" y="0"/>
                    </a:lnTo>
                    <a:lnTo>
                      <a:pt x="1132" y="2"/>
                    </a:lnTo>
                    <a:lnTo>
                      <a:pt x="1229" y="1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26"/>
              <p:cNvSpPr>
                <a:spLocks noChangeArrowheads="1"/>
              </p:cNvSpPr>
              <p:nvPr/>
            </p:nvSpPr>
            <p:spPr bwMode="auto">
              <a:xfrm>
                <a:off x="1390" y="130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</p:grpSp>
        <p:grpSp>
          <p:nvGrpSpPr>
            <p:cNvPr id="13" name="Group 27"/>
            <p:cNvGrpSpPr>
              <a:grpSpLocks/>
            </p:cNvGrpSpPr>
            <p:nvPr/>
          </p:nvGrpSpPr>
          <p:grpSpPr bwMode="auto">
            <a:xfrm>
              <a:off x="382588" y="1951038"/>
              <a:ext cx="3795712" cy="2924175"/>
              <a:chOff x="241" y="1229"/>
              <a:chExt cx="2391" cy="1842"/>
            </a:xfrm>
          </p:grpSpPr>
          <p:sp>
            <p:nvSpPr>
              <p:cNvPr id="17" name="Freeform 28"/>
              <p:cNvSpPr>
                <a:spLocks/>
              </p:cNvSpPr>
              <p:nvPr/>
            </p:nvSpPr>
            <p:spPr bwMode="auto">
              <a:xfrm>
                <a:off x="241" y="1229"/>
                <a:ext cx="2391" cy="1611"/>
              </a:xfrm>
              <a:custGeom>
                <a:avLst/>
                <a:gdLst>
                  <a:gd name="T0" fmla="*/ 1385 w 2391"/>
                  <a:gd name="T1" fmla="*/ 24 h 1611"/>
                  <a:gd name="T2" fmla="*/ 1582 w 2391"/>
                  <a:gd name="T3" fmla="*/ 69 h 1611"/>
                  <a:gd name="T4" fmla="*/ 1768 w 2391"/>
                  <a:gd name="T5" fmla="*/ 136 h 1611"/>
                  <a:gd name="T6" fmla="*/ 1936 w 2391"/>
                  <a:gd name="T7" fmla="*/ 221 h 1611"/>
                  <a:gd name="T8" fmla="*/ 2083 w 2391"/>
                  <a:gd name="T9" fmla="*/ 322 h 1611"/>
                  <a:gd name="T10" fmla="*/ 2207 w 2391"/>
                  <a:gd name="T11" fmla="*/ 439 h 1611"/>
                  <a:gd name="T12" fmla="*/ 2300 w 2391"/>
                  <a:gd name="T13" fmla="*/ 566 h 1611"/>
                  <a:gd name="T14" fmla="*/ 2360 w 2391"/>
                  <a:gd name="T15" fmla="*/ 698 h 1611"/>
                  <a:gd name="T16" fmla="*/ 2388 w 2391"/>
                  <a:gd name="T17" fmla="*/ 836 h 1611"/>
                  <a:gd name="T18" fmla="*/ 2382 w 2391"/>
                  <a:gd name="T19" fmla="*/ 970 h 1611"/>
                  <a:gd name="T20" fmla="*/ 2343 w 2391"/>
                  <a:gd name="T21" fmla="*/ 1102 h 1611"/>
                  <a:gd name="T22" fmla="*/ 2270 w 2391"/>
                  <a:gd name="T23" fmla="*/ 1225 h 1611"/>
                  <a:gd name="T24" fmla="*/ 2166 w 2391"/>
                  <a:gd name="T25" fmla="*/ 1335 h 1611"/>
                  <a:gd name="T26" fmla="*/ 2032 w 2391"/>
                  <a:gd name="T27" fmla="*/ 1430 h 1611"/>
                  <a:gd name="T28" fmla="*/ 1876 w 2391"/>
                  <a:gd name="T29" fmla="*/ 1508 h 1611"/>
                  <a:gd name="T30" fmla="*/ 1701 w 2391"/>
                  <a:gd name="T31" fmla="*/ 1564 h 1611"/>
                  <a:gd name="T32" fmla="*/ 1510 w 2391"/>
                  <a:gd name="T33" fmla="*/ 1598 h 1611"/>
                  <a:gd name="T34" fmla="*/ 1311 w 2391"/>
                  <a:gd name="T35" fmla="*/ 1611 h 1611"/>
                  <a:gd name="T36" fmla="*/ 1108 w 2391"/>
                  <a:gd name="T37" fmla="*/ 1600 h 1611"/>
                  <a:gd name="T38" fmla="*/ 907 w 2391"/>
                  <a:gd name="T39" fmla="*/ 1568 h 1611"/>
                  <a:gd name="T40" fmla="*/ 716 w 2391"/>
                  <a:gd name="T41" fmla="*/ 1512 h 1611"/>
                  <a:gd name="T42" fmla="*/ 537 w 2391"/>
                  <a:gd name="T43" fmla="*/ 1436 h 1611"/>
                  <a:gd name="T44" fmla="*/ 379 w 2391"/>
                  <a:gd name="T45" fmla="*/ 1341 h 1611"/>
                  <a:gd name="T46" fmla="*/ 243 w 2391"/>
                  <a:gd name="T47" fmla="*/ 1233 h 1611"/>
                  <a:gd name="T48" fmla="*/ 134 w 2391"/>
                  <a:gd name="T49" fmla="*/ 1110 h 1611"/>
                  <a:gd name="T50" fmla="*/ 57 w 2391"/>
                  <a:gd name="T51" fmla="*/ 981 h 1611"/>
                  <a:gd name="T52" fmla="*/ 11 w 2391"/>
                  <a:gd name="T53" fmla="*/ 845 h 1611"/>
                  <a:gd name="T54" fmla="*/ 0 w 2391"/>
                  <a:gd name="T55" fmla="*/ 709 h 1611"/>
                  <a:gd name="T56" fmla="*/ 24 w 2391"/>
                  <a:gd name="T57" fmla="*/ 575 h 1611"/>
                  <a:gd name="T58" fmla="*/ 83 w 2391"/>
                  <a:gd name="T59" fmla="*/ 447 h 1611"/>
                  <a:gd name="T60" fmla="*/ 171 w 2391"/>
                  <a:gd name="T61" fmla="*/ 331 h 1611"/>
                  <a:gd name="T62" fmla="*/ 290 w 2391"/>
                  <a:gd name="T63" fmla="*/ 227 h 1611"/>
                  <a:gd name="T64" fmla="*/ 435 w 2391"/>
                  <a:gd name="T65" fmla="*/ 141 h 1611"/>
                  <a:gd name="T66" fmla="*/ 602 w 2391"/>
                  <a:gd name="T67" fmla="*/ 74 h 1611"/>
                  <a:gd name="T68" fmla="*/ 786 w 2391"/>
                  <a:gd name="T69" fmla="*/ 28 h 1611"/>
                  <a:gd name="T70" fmla="*/ 980 w 2391"/>
                  <a:gd name="T71" fmla="*/ 3 h 1611"/>
                  <a:gd name="T72" fmla="*/ 1181 w 2391"/>
                  <a:gd name="T73" fmla="*/ 3 h 161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2391" h="1611">
                    <a:moveTo>
                      <a:pt x="1283" y="11"/>
                    </a:moveTo>
                    <a:lnTo>
                      <a:pt x="1385" y="24"/>
                    </a:lnTo>
                    <a:lnTo>
                      <a:pt x="1484" y="46"/>
                    </a:lnTo>
                    <a:lnTo>
                      <a:pt x="1582" y="69"/>
                    </a:lnTo>
                    <a:lnTo>
                      <a:pt x="1675" y="100"/>
                    </a:lnTo>
                    <a:lnTo>
                      <a:pt x="1768" y="136"/>
                    </a:lnTo>
                    <a:lnTo>
                      <a:pt x="1854" y="175"/>
                    </a:lnTo>
                    <a:lnTo>
                      <a:pt x="1936" y="221"/>
                    </a:lnTo>
                    <a:lnTo>
                      <a:pt x="2012" y="270"/>
                    </a:lnTo>
                    <a:lnTo>
                      <a:pt x="2083" y="322"/>
                    </a:lnTo>
                    <a:lnTo>
                      <a:pt x="2148" y="380"/>
                    </a:lnTo>
                    <a:lnTo>
                      <a:pt x="2207" y="439"/>
                    </a:lnTo>
                    <a:lnTo>
                      <a:pt x="2257" y="501"/>
                    </a:lnTo>
                    <a:lnTo>
                      <a:pt x="2300" y="566"/>
                    </a:lnTo>
                    <a:lnTo>
                      <a:pt x="2334" y="631"/>
                    </a:lnTo>
                    <a:lnTo>
                      <a:pt x="2360" y="698"/>
                    </a:lnTo>
                    <a:lnTo>
                      <a:pt x="2380" y="767"/>
                    </a:lnTo>
                    <a:lnTo>
                      <a:pt x="2388" y="836"/>
                    </a:lnTo>
                    <a:lnTo>
                      <a:pt x="2391" y="903"/>
                    </a:lnTo>
                    <a:lnTo>
                      <a:pt x="2382" y="970"/>
                    </a:lnTo>
                    <a:lnTo>
                      <a:pt x="2367" y="1037"/>
                    </a:lnTo>
                    <a:lnTo>
                      <a:pt x="2343" y="1102"/>
                    </a:lnTo>
                    <a:lnTo>
                      <a:pt x="2311" y="1164"/>
                    </a:lnTo>
                    <a:lnTo>
                      <a:pt x="2270" y="1225"/>
                    </a:lnTo>
                    <a:lnTo>
                      <a:pt x="2220" y="1281"/>
                    </a:lnTo>
                    <a:lnTo>
                      <a:pt x="2166" y="1335"/>
                    </a:lnTo>
                    <a:lnTo>
                      <a:pt x="2101" y="1384"/>
                    </a:lnTo>
                    <a:lnTo>
                      <a:pt x="2032" y="1430"/>
                    </a:lnTo>
                    <a:lnTo>
                      <a:pt x="1958" y="1471"/>
                    </a:lnTo>
                    <a:lnTo>
                      <a:pt x="1876" y="1508"/>
                    </a:lnTo>
                    <a:lnTo>
                      <a:pt x="1789" y="1538"/>
                    </a:lnTo>
                    <a:lnTo>
                      <a:pt x="1701" y="1564"/>
                    </a:lnTo>
                    <a:lnTo>
                      <a:pt x="1608" y="1585"/>
                    </a:lnTo>
                    <a:lnTo>
                      <a:pt x="1510" y="1598"/>
                    </a:lnTo>
                    <a:lnTo>
                      <a:pt x="1411" y="1609"/>
                    </a:lnTo>
                    <a:lnTo>
                      <a:pt x="1311" y="1611"/>
                    </a:lnTo>
                    <a:lnTo>
                      <a:pt x="1210" y="1609"/>
                    </a:lnTo>
                    <a:lnTo>
                      <a:pt x="1108" y="1600"/>
                    </a:lnTo>
                    <a:lnTo>
                      <a:pt x="1006" y="1587"/>
                    </a:lnTo>
                    <a:lnTo>
                      <a:pt x="907" y="1568"/>
                    </a:lnTo>
                    <a:lnTo>
                      <a:pt x="809" y="1542"/>
                    </a:lnTo>
                    <a:lnTo>
                      <a:pt x="716" y="1512"/>
                    </a:lnTo>
                    <a:lnTo>
                      <a:pt x="626" y="1475"/>
                    </a:lnTo>
                    <a:lnTo>
                      <a:pt x="537" y="1436"/>
                    </a:lnTo>
                    <a:lnTo>
                      <a:pt x="455" y="1391"/>
                    </a:lnTo>
                    <a:lnTo>
                      <a:pt x="379" y="1341"/>
                    </a:lnTo>
                    <a:lnTo>
                      <a:pt x="308" y="1289"/>
                    </a:lnTo>
                    <a:lnTo>
                      <a:pt x="243" y="1233"/>
                    </a:lnTo>
                    <a:lnTo>
                      <a:pt x="184" y="1173"/>
                    </a:lnTo>
                    <a:lnTo>
                      <a:pt x="134" y="1110"/>
                    </a:lnTo>
                    <a:lnTo>
                      <a:pt x="91" y="1045"/>
                    </a:lnTo>
                    <a:lnTo>
                      <a:pt x="57" y="981"/>
                    </a:lnTo>
                    <a:lnTo>
                      <a:pt x="31" y="914"/>
                    </a:lnTo>
                    <a:lnTo>
                      <a:pt x="11" y="845"/>
                    </a:lnTo>
                    <a:lnTo>
                      <a:pt x="3" y="776"/>
                    </a:lnTo>
                    <a:lnTo>
                      <a:pt x="0" y="709"/>
                    </a:lnTo>
                    <a:lnTo>
                      <a:pt x="9" y="642"/>
                    </a:lnTo>
                    <a:lnTo>
                      <a:pt x="24" y="575"/>
                    </a:lnTo>
                    <a:lnTo>
                      <a:pt x="48" y="510"/>
                    </a:lnTo>
                    <a:lnTo>
                      <a:pt x="83" y="447"/>
                    </a:lnTo>
                    <a:lnTo>
                      <a:pt x="121" y="387"/>
                    </a:lnTo>
                    <a:lnTo>
                      <a:pt x="171" y="331"/>
                    </a:lnTo>
                    <a:lnTo>
                      <a:pt x="227" y="277"/>
                    </a:lnTo>
                    <a:lnTo>
                      <a:pt x="290" y="227"/>
                    </a:lnTo>
                    <a:lnTo>
                      <a:pt x="359" y="182"/>
                    </a:lnTo>
                    <a:lnTo>
                      <a:pt x="435" y="141"/>
                    </a:lnTo>
                    <a:lnTo>
                      <a:pt x="515" y="104"/>
                    </a:lnTo>
                    <a:lnTo>
                      <a:pt x="602" y="74"/>
                    </a:lnTo>
                    <a:lnTo>
                      <a:pt x="690" y="48"/>
                    </a:lnTo>
                    <a:lnTo>
                      <a:pt x="786" y="28"/>
                    </a:lnTo>
                    <a:lnTo>
                      <a:pt x="881" y="13"/>
                    </a:lnTo>
                    <a:lnTo>
                      <a:pt x="980" y="3"/>
                    </a:lnTo>
                    <a:lnTo>
                      <a:pt x="1082" y="0"/>
                    </a:lnTo>
                    <a:lnTo>
                      <a:pt x="1181" y="3"/>
                    </a:lnTo>
                    <a:lnTo>
                      <a:pt x="1283" y="11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Rectangle 29"/>
              <p:cNvSpPr>
                <a:spLocks noChangeArrowheads="1"/>
              </p:cNvSpPr>
              <p:nvPr/>
            </p:nvSpPr>
            <p:spPr bwMode="auto">
              <a:xfrm>
                <a:off x="1239" y="282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</p:grpSp>
        <p:grpSp>
          <p:nvGrpSpPr>
            <p:cNvPr id="14" name="Group 30"/>
            <p:cNvGrpSpPr>
              <a:grpSpLocks/>
            </p:cNvGrpSpPr>
            <p:nvPr/>
          </p:nvGrpSpPr>
          <p:grpSpPr bwMode="auto">
            <a:xfrm>
              <a:off x="307975" y="1547813"/>
              <a:ext cx="4003675" cy="3530600"/>
              <a:chOff x="194" y="975"/>
              <a:chExt cx="2522" cy="2224"/>
            </a:xfrm>
          </p:grpSpPr>
          <p:sp>
            <p:nvSpPr>
              <p:cNvPr id="15" name="Rectangle 31"/>
              <p:cNvSpPr>
                <a:spLocks noChangeArrowheads="1"/>
              </p:cNvSpPr>
              <p:nvPr/>
            </p:nvSpPr>
            <p:spPr bwMode="auto">
              <a:xfrm>
                <a:off x="2138" y="975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16" name="Freeform 32"/>
              <p:cNvSpPr>
                <a:spLocks/>
              </p:cNvSpPr>
              <p:nvPr/>
            </p:nvSpPr>
            <p:spPr bwMode="auto">
              <a:xfrm>
                <a:off x="194" y="988"/>
                <a:ext cx="2522" cy="2211"/>
              </a:xfrm>
              <a:custGeom>
                <a:avLst/>
                <a:gdLst>
                  <a:gd name="T0" fmla="*/ 1363 w 2522"/>
                  <a:gd name="T1" fmla="*/ 4 h 2211"/>
                  <a:gd name="T2" fmla="*/ 1568 w 2522"/>
                  <a:gd name="T3" fmla="*/ 34 h 2211"/>
                  <a:gd name="T4" fmla="*/ 1765 w 2522"/>
                  <a:gd name="T5" fmla="*/ 92 h 2211"/>
                  <a:gd name="T6" fmla="*/ 1949 w 2522"/>
                  <a:gd name="T7" fmla="*/ 179 h 2211"/>
                  <a:gd name="T8" fmla="*/ 2113 w 2522"/>
                  <a:gd name="T9" fmla="*/ 291 h 2211"/>
                  <a:gd name="T10" fmla="*/ 2254 w 2522"/>
                  <a:gd name="T11" fmla="*/ 425 h 2211"/>
                  <a:gd name="T12" fmla="*/ 2368 w 2522"/>
                  <a:gd name="T13" fmla="*/ 578 h 2211"/>
                  <a:gd name="T14" fmla="*/ 2453 w 2522"/>
                  <a:gd name="T15" fmla="*/ 744 h 2211"/>
                  <a:gd name="T16" fmla="*/ 2505 w 2522"/>
                  <a:gd name="T17" fmla="*/ 922 h 2211"/>
                  <a:gd name="T18" fmla="*/ 2522 w 2522"/>
                  <a:gd name="T19" fmla="*/ 1103 h 2211"/>
                  <a:gd name="T20" fmla="*/ 2505 w 2522"/>
                  <a:gd name="T21" fmla="*/ 1284 h 2211"/>
                  <a:gd name="T22" fmla="*/ 2453 w 2522"/>
                  <a:gd name="T23" fmla="*/ 1461 h 2211"/>
                  <a:gd name="T24" fmla="*/ 2371 w 2522"/>
                  <a:gd name="T25" fmla="*/ 1630 h 2211"/>
                  <a:gd name="T26" fmla="*/ 2256 w 2522"/>
                  <a:gd name="T27" fmla="*/ 1783 h 2211"/>
                  <a:gd name="T28" fmla="*/ 2115 w 2522"/>
                  <a:gd name="T29" fmla="*/ 1917 h 2211"/>
                  <a:gd name="T30" fmla="*/ 1951 w 2522"/>
                  <a:gd name="T31" fmla="*/ 2029 h 2211"/>
                  <a:gd name="T32" fmla="*/ 1769 w 2522"/>
                  <a:gd name="T33" fmla="*/ 2118 h 2211"/>
                  <a:gd name="T34" fmla="*/ 1572 w 2522"/>
                  <a:gd name="T35" fmla="*/ 2176 h 2211"/>
                  <a:gd name="T36" fmla="*/ 1367 w 2522"/>
                  <a:gd name="T37" fmla="*/ 2206 h 2211"/>
                  <a:gd name="T38" fmla="*/ 1159 w 2522"/>
                  <a:gd name="T39" fmla="*/ 2206 h 2211"/>
                  <a:gd name="T40" fmla="*/ 954 w 2522"/>
                  <a:gd name="T41" fmla="*/ 2178 h 2211"/>
                  <a:gd name="T42" fmla="*/ 755 w 2522"/>
                  <a:gd name="T43" fmla="*/ 2118 h 2211"/>
                  <a:gd name="T44" fmla="*/ 573 w 2522"/>
                  <a:gd name="T45" fmla="*/ 2031 h 2211"/>
                  <a:gd name="T46" fmla="*/ 409 w 2522"/>
                  <a:gd name="T47" fmla="*/ 1919 h 2211"/>
                  <a:gd name="T48" fmla="*/ 266 w 2522"/>
                  <a:gd name="T49" fmla="*/ 1785 h 2211"/>
                  <a:gd name="T50" fmla="*/ 151 w 2522"/>
                  <a:gd name="T51" fmla="*/ 1634 h 2211"/>
                  <a:gd name="T52" fmla="*/ 69 w 2522"/>
                  <a:gd name="T53" fmla="*/ 1466 h 2211"/>
                  <a:gd name="T54" fmla="*/ 17 w 2522"/>
                  <a:gd name="T55" fmla="*/ 1289 h 2211"/>
                  <a:gd name="T56" fmla="*/ 0 w 2522"/>
                  <a:gd name="T57" fmla="*/ 1107 h 2211"/>
                  <a:gd name="T58" fmla="*/ 17 w 2522"/>
                  <a:gd name="T59" fmla="*/ 926 h 2211"/>
                  <a:gd name="T60" fmla="*/ 67 w 2522"/>
                  <a:gd name="T61" fmla="*/ 749 h 2211"/>
                  <a:gd name="T62" fmla="*/ 151 w 2522"/>
                  <a:gd name="T63" fmla="*/ 580 h 2211"/>
                  <a:gd name="T64" fmla="*/ 264 w 2522"/>
                  <a:gd name="T65" fmla="*/ 429 h 2211"/>
                  <a:gd name="T66" fmla="*/ 404 w 2522"/>
                  <a:gd name="T67" fmla="*/ 293 h 2211"/>
                  <a:gd name="T68" fmla="*/ 569 w 2522"/>
                  <a:gd name="T69" fmla="*/ 181 h 2211"/>
                  <a:gd name="T70" fmla="*/ 753 w 2522"/>
                  <a:gd name="T71" fmla="*/ 95 h 2211"/>
                  <a:gd name="T72" fmla="*/ 949 w 2522"/>
                  <a:gd name="T73" fmla="*/ 34 h 2211"/>
                  <a:gd name="T74" fmla="*/ 1155 w 2522"/>
                  <a:gd name="T75" fmla="*/ 4 h 221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522" h="2211">
                    <a:moveTo>
                      <a:pt x="1259" y="0"/>
                    </a:moveTo>
                    <a:lnTo>
                      <a:pt x="1363" y="4"/>
                    </a:lnTo>
                    <a:lnTo>
                      <a:pt x="1466" y="15"/>
                    </a:lnTo>
                    <a:lnTo>
                      <a:pt x="1568" y="34"/>
                    </a:lnTo>
                    <a:lnTo>
                      <a:pt x="1668" y="60"/>
                    </a:lnTo>
                    <a:lnTo>
                      <a:pt x="1765" y="92"/>
                    </a:lnTo>
                    <a:lnTo>
                      <a:pt x="1858" y="131"/>
                    </a:lnTo>
                    <a:lnTo>
                      <a:pt x="1949" y="179"/>
                    </a:lnTo>
                    <a:lnTo>
                      <a:pt x="2033" y="233"/>
                    </a:lnTo>
                    <a:lnTo>
                      <a:pt x="2113" y="291"/>
                    </a:lnTo>
                    <a:lnTo>
                      <a:pt x="2187" y="356"/>
                    </a:lnTo>
                    <a:lnTo>
                      <a:pt x="2254" y="425"/>
                    </a:lnTo>
                    <a:lnTo>
                      <a:pt x="2314" y="498"/>
                    </a:lnTo>
                    <a:lnTo>
                      <a:pt x="2368" y="578"/>
                    </a:lnTo>
                    <a:lnTo>
                      <a:pt x="2414" y="660"/>
                    </a:lnTo>
                    <a:lnTo>
                      <a:pt x="2453" y="744"/>
                    </a:lnTo>
                    <a:lnTo>
                      <a:pt x="2483" y="831"/>
                    </a:lnTo>
                    <a:lnTo>
                      <a:pt x="2505" y="922"/>
                    </a:lnTo>
                    <a:lnTo>
                      <a:pt x="2518" y="1012"/>
                    </a:lnTo>
                    <a:lnTo>
                      <a:pt x="2522" y="1103"/>
                    </a:lnTo>
                    <a:lnTo>
                      <a:pt x="2518" y="1194"/>
                    </a:lnTo>
                    <a:lnTo>
                      <a:pt x="2505" y="1284"/>
                    </a:lnTo>
                    <a:lnTo>
                      <a:pt x="2483" y="1375"/>
                    </a:lnTo>
                    <a:lnTo>
                      <a:pt x="2453" y="1461"/>
                    </a:lnTo>
                    <a:lnTo>
                      <a:pt x="2416" y="1548"/>
                    </a:lnTo>
                    <a:lnTo>
                      <a:pt x="2371" y="1630"/>
                    </a:lnTo>
                    <a:lnTo>
                      <a:pt x="2317" y="1707"/>
                    </a:lnTo>
                    <a:lnTo>
                      <a:pt x="2256" y="1783"/>
                    </a:lnTo>
                    <a:lnTo>
                      <a:pt x="2189" y="1852"/>
                    </a:lnTo>
                    <a:lnTo>
                      <a:pt x="2115" y="1917"/>
                    </a:lnTo>
                    <a:lnTo>
                      <a:pt x="2037" y="1975"/>
                    </a:lnTo>
                    <a:lnTo>
                      <a:pt x="1951" y="2029"/>
                    </a:lnTo>
                    <a:lnTo>
                      <a:pt x="1862" y="2077"/>
                    </a:lnTo>
                    <a:lnTo>
                      <a:pt x="1769" y="2118"/>
                    </a:lnTo>
                    <a:lnTo>
                      <a:pt x="1672" y="2150"/>
                    </a:lnTo>
                    <a:lnTo>
                      <a:pt x="1572" y="2176"/>
                    </a:lnTo>
                    <a:lnTo>
                      <a:pt x="1471" y="2195"/>
                    </a:lnTo>
                    <a:lnTo>
                      <a:pt x="1367" y="2206"/>
                    </a:lnTo>
                    <a:lnTo>
                      <a:pt x="1263" y="2211"/>
                    </a:lnTo>
                    <a:lnTo>
                      <a:pt x="1159" y="2206"/>
                    </a:lnTo>
                    <a:lnTo>
                      <a:pt x="1055" y="2195"/>
                    </a:lnTo>
                    <a:lnTo>
                      <a:pt x="954" y="2178"/>
                    </a:lnTo>
                    <a:lnTo>
                      <a:pt x="852" y="2152"/>
                    </a:lnTo>
                    <a:lnTo>
                      <a:pt x="755" y="2118"/>
                    </a:lnTo>
                    <a:lnTo>
                      <a:pt x="662" y="2079"/>
                    </a:lnTo>
                    <a:lnTo>
                      <a:pt x="573" y="2031"/>
                    </a:lnTo>
                    <a:lnTo>
                      <a:pt x="486" y="1980"/>
                    </a:lnTo>
                    <a:lnTo>
                      <a:pt x="409" y="1919"/>
                    </a:lnTo>
                    <a:lnTo>
                      <a:pt x="333" y="1856"/>
                    </a:lnTo>
                    <a:lnTo>
                      <a:pt x="266" y="1785"/>
                    </a:lnTo>
                    <a:lnTo>
                      <a:pt x="205" y="1712"/>
                    </a:lnTo>
                    <a:lnTo>
                      <a:pt x="151" y="1634"/>
                    </a:lnTo>
                    <a:lnTo>
                      <a:pt x="106" y="1552"/>
                    </a:lnTo>
                    <a:lnTo>
                      <a:pt x="69" y="1466"/>
                    </a:lnTo>
                    <a:lnTo>
                      <a:pt x="39" y="1379"/>
                    </a:lnTo>
                    <a:lnTo>
                      <a:pt x="17" y="1289"/>
                    </a:lnTo>
                    <a:lnTo>
                      <a:pt x="4" y="1198"/>
                    </a:lnTo>
                    <a:lnTo>
                      <a:pt x="0" y="1107"/>
                    </a:lnTo>
                    <a:lnTo>
                      <a:pt x="4" y="1017"/>
                    </a:lnTo>
                    <a:lnTo>
                      <a:pt x="17" y="926"/>
                    </a:lnTo>
                    <a:lnTo>
                      <a:pt x="37" y="835"/>
                    </a:lnTo>
                    <a:lnTo>
                      <a:pt x="67" y="749"/>
                    </a:lnTo>
                    <a:lnTo>
                      <a:pt x="106" y="662"/>
                    </a:lnTo>
                    <a:lnTo>
                      <a:pt x="151" y="580"/>
                    </a:lnTo>
                    <a:lnTo>
                      <a:pt x="203" y="503"/>
                    </a:lnTo>
                    <a:lnTo>
                      <a:pt x="264" y="429"/>
                    </a:lnTo>
                    <a:lnTo>
                      <a:pt x="331" y="358"/>
                    </a:lnTo>
                    <a:lnTo>
                      <a:pt x="404" y="293"/>
                    </a:lnTo>
                    <a:lnTo>
                      <a:pt x="484" y="235"/>
                    </a:lnTo>
                    <a:lnTo>
                      <a:pt x="569" y="181"/>
                    </a:lnTo>
                    <a:lnTo>
                      <a:pt x="660" y="133"/>
                    </a:lnTo>
                    <a:lnTo>
                      <a:pt x="753" y="95"/>
                    </a:lnTo>
                    <a:lnTo>
                      <a:pt x="850" y="60"/>
                    </a:lnTo>
                    <a:lnTo>
                      <a:pt x="949" y="34"/>
                    </a:lnTo>
                    <a:lnTo>
                      <a:pt x="1051" y="15"/>
                    </a:lnTo>
                    <a:lnTo>
                      <a:pt x="1155" y="4"/>
                    </a:lnTo>
                    <a:lnTo>
                      <a:pt x="1259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pic>
        <p:nvPicPr>
          <p:cNvPr id="3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000" y="2786997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10810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Complete-Link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7082"/>
            <a:ext cx="3962400" cy="2238375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776788" y="1950890"/>
            <a:ext cx="2730971" cy="2310758"/>
            <a:chOff x="747713" y="1773238"/>
            <a:chExt cx="3175000" cy="279082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10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17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18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20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21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8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</p:grpSp>
      <p:grpSp>
        <p:nvGrpSpPr>
          <p:cNvPr id="22" name="Group 4"/>
          <p:cNvGrpSpPr>
            <a:grpSpLocks noChangeAspect="1"/>
          </p:cNvGrpSpPr>
          <p:nvPr/>
        </p:nvGrpSpPr>
        <p:grpSpPr bwMode="auto">
          <a:xfrm>
            <a:off x="7754911" y="1888157"/>
            <a:ext cx="4400550" cy="2754313"/>
            <a:chOff x="4998" y="1261"/>
            <a:chExt cx="2772" cy="1735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998" y="1261"/>
              <a:ext cx="2626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auto">
            <a:xfrm>
              <a:off x="4998" y="1261"/>
              <a:ext cx="2772" cy="1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6"/>
            <p:cNvSpPr>
              <a:spLocks noChangeArrowheads="1"/>
            </p:cNvSpPr>
            <p:nvPr/>
          </p:nvSpPr>
          <p:spPr bwMode="auto">
            <a:xfrm>
              <a:off x="5354" y="1389"/>
              <a:ext cx="2146" cy="1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7"/>
            <p:cNvSpPr>
              <a:spLocks noChangeArrowheads="1"/>
            </p:cNvSpPr>
            <p:nvPr/>
          </p:nvSpPr>
          <p:spPr bwMode="auto">
            <a:xfrm>
              <a:off x="5354" y="1389"/>
              <a:ext cx="2146" cy="14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5354" y="2799"/>
              <a:ext cx="2146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 flipV="1">
              <a:off x="5354" y="1389"/>
              <a:ext cx="0" cy="14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 flipV="1">
              <a:off x="5534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11"/>
            <p:cNvSpPr>
              <a:spLocks noChangeArrowheads="1"/>
            </p:cNvSpPr>
            <p:nvPr/>
          </p:nvSpPr>
          <p:spPr bwMode="auto">
            <a:xfrm>
              <a:off x="5513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 flipV="1">
              <a:off x="5893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5869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Line 14"/>
            <p:cNvSpPr>
              <a:spLocks noChangeShapeType="1"/>
            </p:cNvSpPr>
            <p:nvPr/>
          </p:nvSpPr>
          <p:spPr bwMode="auto">
            <a:xfrm flipV="1">
              <a:off x="6249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6228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Line 16"/>
            <p:cNvSpPr>
              <a:spLocks noChangeShapeType="1"/>
            </p:cNvSpPr>
            <p:nvPr/>
          </p:nvSpPr>
          <p:spPr bwMode="auto">
            <a:xfrm flipV="1">
              <a:off x="6609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17"/>
            <p:cNvSpPr>
              <a:spLocks noChangeArrowheads="1"/>
            </p:cNvSpPr>
            <p:nvPr/>
          </p:nvSpPr>
          <p:spPr bwMode="auto">
            <a:xfrm>
              <a:off x="6584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Line 18"/>
            <p:cNvSpPr>
              <a:spLocks noChangeShapeType="1"/>
            </p:cNvSpPr>
            <p:nvPr/>
          </p:nvSpPr>
          <p:spPr bwMode="auto">
            <a:xfrm flipV="1">
              <a:off x="6965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19"/>
            <p:cNvSpPr>
              <a:spLocks noChangeArrowheads="1"/>
            </p:cNvSpPr>
            <p:nvPr/>
          </p:nvSpPr>
          <p:spPr bwMode="auto">
            <a:xfrm>
              <a:off x="6944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Line 20"/>
            <p:cNvSpPr>
              <a:spLocks noChangeShapeType="1"/>
            </p:cNvSpPr>
            <p:nvPr/>
          </p:nvSpPr>
          <p:spPr bwMode="auto">
            <a:xfrm flipV="1">
              <a:off x="7321" y="2778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300" y="2813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Line 22"/>
            <p:cNvSpPr>
              <a:spLocks noChangeShapeType="1"/>
            </p:cNvSpPr>
            <p:nvPr/>
          </p:nvSpPr>
          <p:spPr bwMode="auto">
            <a:xfrm>
              <a:off x="5354" y="2799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Rectangle 23"/>
            <p:cNvSpPr>
              <a:spLocks noChangeArrowheads="1"/>
            </p:cNvSpPr>
            <p:nvPr/>
          </p:nvSpPr>
          <p:spPr bwMode="auto">
            <a:xfrm>
              <a:off x="5292" y="2751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Line 24"/>
            <p:cNvSpPr>
              <a:spLocks noChangeShapeType="1"/>
            </p:cNvSpPr>
            <p:nvPr/>
          </p:nvSpPr>
          <p:spPr bwMode="auto">
            <a:xfrm>
              <a:off x="5354" y="2495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5"/>
            <p:cNvSpPr>
              <a:spLocks noChangeArrowheads="1"/>
            </p:cNvSpPr>
            <p:nvPr/>
          </p:nvSpPr>
          <p:spPr bwMode="auto">
            <a:xfrm>
              <a:off x="5178" y="2446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Line 26"/>
            <p:cNvSpPr>
              <a:spLocks noChangeShapeType="1"/>
            </p:cNvSpPr>
            <p:nvPr/>
          </p:nvSpPr>
          <p:spPr bwMode="auto">
            <a:xfrm>
              <a:off x="5354" y="2191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7"/>
            <p:cNvSpPr>
              <a:spLocks noChangeArrowheads="1"/>
            </p:cNvSpPr>
            <p:nvPr/>
          </p:nvSpPr>
          <p:spPr bwMode="auto">
            <a:xfrm>
              <a:off x="5223" y="2146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Line 28"/>
            <p:cNvSpPr>
              <a:spLocks noChangeShapeType="1"/>
            </p:cNvSpPr>
            <p:nvPr/>
          </p:nvSpPr>
          <p:spPr bwMode="auto">
            <a:xfrm>
              <a:off x="5354" y="1890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9"/>
            <p:cNvSpPr>
              <a:spLocks noChangeArrowheads="1"/>
            </p:cNvSpPr>
            <p:nvPr/>
          </p:nvSpPr>
          <p:spPr bwMode="auto">
            <a:xfrm>
              <a:off x="5178" y="1845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Line 30"/>
            <p:cNvSpPr>
              <a:spLocks noChangeShapeType="1"/>
            </p:cNvSpPr>
            <p:nvPr/>
          </p:nvSpPr>
          <p:spPr bwMode="auto">
            <a:xfrm>
              <a:off x="5354" y="1586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31"/>
            <p:cNvSpPr>
              <a:spLocks noChangeArrowheads="1"/>
            </p:cNvSpPr>
            <p:nvPr/>
          </p:nvSpPr>
          <p:spPr bwMode="auto">
            <a:xfrm>
              <a:off x="5223" y="1541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Freeform 32"/>
            <p:cNvSpPr>
              <a:spLocks/>
            </p:cNvSpPr>
            <p:nvPr/>
          </p:nvSpPr>
          <p:spPr bwMode="auto">
            <a:xfrm>
              <a:off x="5534" y="2128"/>
              <a:ext cx="359" cy="671"/>
            </a:xfrm>
            <a:custGeom>
              <a:avLst/>
              <a:gdLst>
                <a:gd name="T0" fmla="*/ 0 w 359"/>
                <a:gd name="T1" fmla="*/ 671 h 671"/>
                <a:gd name="T2" fmla="*/ 0 w 359"/>
                <a:gd name="T3" fmla="*/ 0 h 671"/>
                <a:gd name="T4" fmla="*/ 359 w 359"/>
                <a:gd name="T5" fmla="*/ 0 h 671"/>
                <a:gd name="T6" fmla="*/ 359 w 359"/>
                <a:gd name="T7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671">
                  <a:moveTo>
                    <a:pt x="0" y="671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67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336888"/>
            <a:ext cx="38671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2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Complete-Link (contd.)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037790"/>
            <a:ext cx="3867150" cy="21907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838702" y="1904650"/>
            <a:ext cx="2703683" cy="2289545"/>
            <a:chOff x="527050" y="1773238"/>
            <a:chExt cx="3395663" cy="2790825"/>
          </a:xfrm>
        </p:grpSpPr>
        <p:grpSp>
          <p:nvGrpSpPr>
            <p:cNvPr id="6" name="Group 5"/>
            <p:cNvGrpSpPr>
              <a:grpSpLocks/>
            </p:cNvGrpSpPr>
            <p:nvPr/>
          </p:nvGrpSpPr>
          <p:grpSpPr bwMode="auto">
            <a:xfrm>
              <a:off x="747713" y="1773238"/>
              <a:ext cx="3175000" cy="2790825"/>
              <a:chOff x="471" y="1117"/>
              <a:chExt cx="2000" cy="1758"/>
            </a:xfrm>
          </p:grpSpPr>
          <p:sp>
            <p:nvSpPr>
              <p:cNvPr id="22" name="Freeform 6"/>
              <p:cNvSpPr>
                <a:spLocks/>
              </p:cNvSpPr>
              <p:nvPr/>
            </p:nvSpPr>
            <p:spPr bwMode="auto">
              <a:xfrm>
                <a:off x="1072" y="1810"/>
                <a:ext cx="89" cy="87"/>
              </a:xfrm>
              <a:custGeom>
                <a:avLst/>
                <a:gdLst>
                  <a:gd name="T0" fmla="*/ 0 w 89"/>
                  <a:gd name="T1" fmla="*/ 43 h 87"/>
                  <a:gd name="T2" fmla="*/ 4 w 89"/>
                  <a:gd name="T3" fmla="*/ 26 h 87"/>
                  <a:gd name="T4" fmla="*/ 13 w 89"/>
                  <a:gd name="T5" fmla="*/ 11 h 87"/>
                  <a:gd name="T6" fmla="*/ 28 w 89"/>
                  <a:gd name="T7" fmla="*/ 2 h 87"/>
                  <a:gd name="T8" fmla="*/ 43 w 89"/>
                  <a:gd name="T9" fmla="*/ 0 h 87"/>
                  <a:gd name="T10" fmla="*/ 61 w 89"/>
                  <a:gd name="T11" fmla="*/ 2 h 87"/>
                  <a:gd name="T12" fmla="*/ 76 w 89"/>
                  <a:gd name="T13" fmla="*/ 11 h 87"/>
                  <a:gd name="T14" fmla="*/ 84 w 89"/>
                  <a:gd name="T15" fmla="*/ 26 h 87"/>
                  <a:gd name="T16" fmla="*/ 89 w 89"/>
                  <a:gd name="T17" fmla="*/ 43 h 87"/>
                  <a:gd name="T18" fmla="*/ 84 w 89"/>
                  <a:gd name="T19" fmla="*/ 61 h 87"/>
                  <a:gd name="T20" fmla="*/ 76 w 89"/>
                  <a:gd name="T21" fmla="*/ 74 h 87"/>
                  <a:gd name="T22" fmla="*/ 61 w 89"/>
                  <a:gd name="T23" fmla="*/ 84 h 87"/>
                  <a:gd name="T24" fmla="*/ 43 w 89"/>
                  <a:gd name="T25" fmla="*/ 87 h 87"/>
                  <a:gd name="T26" fmla="*/ 28 w 89"/>
                  <a:gd name="T27" fmla="*/ 84 h 87"/>
                  <a:gd name="T28" fmla="*/ 13 w 89"/>
                  <a:gd name="T29" fmla="*/ 74 h 87"/>
                  <a:gd name="T30" fmla="*/ 4 w 89"/>
                  <a:gd name="T31" fmla="*/ 61 h 87"/>
                  <a:gd name="T32" fmla="*/ 0 w 89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1"/>
                    </a:lnTo>
                    <a:lnTo>
                      <a:pt x="28" y="2"/>
                    </a:lnTo>
                    <a:lnTo>
                      <a:pt x="43" y="0"/>
                    </a:lnTo>
                    <a:lnTo>
                      <a:pt x="61" y="2"/>
                    </a:lnTo>
                    <a:lnTo>
                      <a:pt x="76" y="11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1"/>
                    </a:lnTo>
                    <a:lnTo>
                      <a:pt x="76" y="74"/>
                    </a:lnTo>
                    <a:lnTo>
                      <a:pt x="61" y="84"/>
                    </a:lnTo>
                    <a:lnTo>
                      <a:pt x="43" y="87"/>
                    </a:lnTo>
                    <a:lnTo>
                      <a:pt x="28" y="84"/>
                    </a:lnTo>
                    <a:lnTo>
                      <a:pt x="13" y="74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1894" y="1169"/>
                <a:ext cx="89" cy="86"/>
              </a:xfrm>
              <a:custGeom>
                <a:avLst/>
                <a:gdLst>
                  <a:gd name="T0" fmla="*/ 0 w 89"/>
                  <a:gd name="T1" fmla="*/ 43 h 86"/>
                  <a:gd name="T2" fmla="*/ 4 w 89"/>
                  <a:gd name="T3" fmla="*/ 26 h 86"/>
                  <a:gd name="T4" fmla="*/ 13 w 89"/>
                  <a:gd name="T5" fmla="*/ 13 h 86"/>
                  <a:gd name="T6" fmla="*/ 28 w 89"/>
                  <a:gd name="T7" fmla="*/ 2 h 86"/>
                  <a:gd name="T8" fmla="*/ 45 w 89"/>
                  <a:gd name="T9" fmla="*/ 0 h 86"/>
                  <a:gd name="T10" fmla="*/ 61 w 89"/>
                  <a:gd name="T11" fmla="*/ 2 h 86"/>
                  <a:gd name="T12" fmla="*/ 76 w 89"/>
                  <a:gd name="T13" fmla="*/ 13 h 86"/>
                  <a:gd name="T14" fmla="*/ 84 w 89"/>
                  <a:gd name="T15" fmla="*/ 26 h 86"/>
                  <a:gd name="T16" fmla="*/ 89 w 89"/>
                  <a:gd name="T17" fmla="*/ 43 h 86"/>
                  <a:gd name="T18" fmla="*/ 84 w 89"/>
                  <a:gd name="T19" fmla="*/ 60 h 86"/>
                  <a:gd name="T20" fmla="*/ 76 w 89"/>
                  <a:gd name="T21" fmla="*/ 73 h 86"/>
                  <a:gd name="T22" fmla="*/ 61 w 89"/>
                  <a:gd name="T23" fmla="*/ 84 h 86"/>
                  <a:gd name="T24" fmla="*/ 45 w 89"/>
                  <a:gd name="T25" fmla="*/ 86 h 86"/>
                  <a:gd name="T26" fmla="*/ 28 w 89"/>
                  <a:gd name="T27" fmla="*/ 84 h 86"/>
                  <a:gd name="T28" fmla="*/ 13 w 89"/>
                  <a:gd name="T29" fmla="*/ 73 h 86"/>
                  <a:gd name="T30" fmla="*/ 4 w 89"/>
                  <a:gd name="T31" fmla="*/ 60 h 86"/>
                  <a:gd name="T32" fmla="*/ 0 w 89"/>
                  <a:gd name="T33" fmla="*/ 43 h 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6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1" y="2"/>
                    </a:lnTo>
                    <a:lnTo>
                      <a:pt x="76" y="13"/>
                    </a:lnTo>
                    <a:lnTo>
                      <a:pt x="84" y="26"/>
                    </a:lnTo>
                    <a:lnTo>
                      <a:pt x="89" y="43"/>
                    </a:lnTo>
                    <a:lnTo>
                      <a:pt x="84" y="60"/>
                    </a:lnTo>
                    <a:lnTo>
                      <a:pt x="76" y="73"/>
                    </a:lnTo>
                    <a:lnTo>
                      <a:pt x="61" y="84"/>
                    </a:lnTo>
                    <a:lnTo>
                      <a:pt x="45" y="86"/>
                    </a:lnTo>
                    <a:lnTo>
                      <a:pt x="28" y="84"/>
                    </a:lnTo>
                    <a:lnTo>
                      <a:pt x="13" y="73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295" y="2683"/>
                <a:ext cx="89" cy="88"/>
              </a:xfrm>
              <a:custGeom>
                <a:avLst/>
                <a:gdLst>
                  <a:gd name="T0" fmla="*/ 0 w 89"/>
                  <a:gd name="T1" fmla="*/ 45 h 88"/>
                  <a:gd name="T2" fmla="*/ 4 w 89"/>
                  <a:gd name="T3" fmla="*/ 28 h 88"/>
                  <a:gd name="T4" fmla="*/ 13 w 89"/>
                  <a:gd name="T5" fmla="*/ 12 h 88"/>
                  <a:gd name="T6" fmla="*/ 28 w 89"/>
                  <a:gd name="T7" fmla="*/ 4 h 88"/>
                  <a:gd name="T8" fmla="*/ 45 w 89"/>
                  <a:gd name="T9" fmla="*/ 0 h 88"/>
                  <a:gd name="T10" fmla="*/ 60 w 89"/>
                  <a:gd name="T11" fmla="*/ 4 h 88"/>
                  <a:gd name="T12" fmla="*/ 76 w 89"/>
                  <a:gd name="T13" fmla="*/ 12 h 88"/>
                  <a:gd name="T14" fmla="*/ 86 w 89"/>
                  <a:gd name="T15" fmla="*/ 28 h 88"/>
                  <a:gd name="T16" fmla="*/ 89 w 89"/>
                  <a:gd name="T17" fmla="*/ 45 h 88"/>
                  <a:gd name="T18" fmla="*/ 86 w 89"/>
                  <a:gd name="T19" fmla="*/ 62 h 88"/>
                  <a:gd name="T20" fmla="*/ 76 w 89"/>
                  <a:gd name="T21" fmla="*/ 75 h 88"/>
                  <a:gd name="T22" fmla="*/ 60 w 89"/>
                  <a:gd name="T23" fmla="*/ 86 h 88"/>
                  <a:gd name="T24" fmla="*/ 45 w 89"/>
                  <a:gd name="T25" fmla="*/ 88 h 88"/>
                  <a:gd name="T26" fmla="*/ 28 w 89"/>
                  <a:gd name="T27" fmla="*/ 86 h 88"/>
                  <a:gd name="T28" fmla="*/ 13 w 89"/>
                  <a:gd name="T29" fmla="*/ 75 h 88"/>
                  <a:gd name="T30" fmla="*/ 4 w 89"/>
                  <a:gd name="T31" fmla="*/ 62 h 88"/>
                  <a:gd name="T32" fmla="*/ 0 w 89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2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6" y="12"/>
                    </a:lnTo>
                    <a:lnTo>
                      <a:pt x="86" y="28"/>
                    </a:lnTo>
                    <a:lnTo>
                      <a:pt x="89" y="45"/>
                    </a:lnTo>
                    <a:lnTo>
                      <a:pt x="86" y="62"/>
                    </a:lnTo>
                    <a:lnTo>
                      <a:pt x="76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471" y="1683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4 w 88"/>
                  <a:gd name="T3" fmla="*/ 28 h 88"/>
                  <a:gd name="T4" fmla="*/ 13 w 88"/>
                  <a:gd name="T5" fmla="*/ 13 h 88"/>
                  <a:gd name="T6" fmla="*/ 28 w 88"/>
                  <a:gd name="T7" fmla="*/ 4 h 88"/>
                  <a:gd name="T8" fmla="*/ 45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0 h 88"/>
                  <a:gd name="T20" fmla="*/ 75 w 88"/>
                  <a:gd name="T21" fmla="*/ 75 h 88"/>
                  <a:gd name="T22" fmla="*/ 60 w 88"/>
                  <a:gd name="T23" fmla="*/ 86 h 88"/>
                  <a:gd name="T24" fmla="*/ 45 w 88"/>
                  <a:gd name="T25" fmla="*/ 88 h 88"/>
                  <a:gd name="T26" fmla="*/ 28 w 88"/>
                  <a:gd name="T27" fmla="*/ 86 h 88"/>
                  <a:gd name="T28" fmla="*/ 13 w 88"/>
                  <a:gd name="T29" fmla="*/ 75 h 88"/>
                  <a:gd name="T30" fmla="*/ 4 w 88"/>
                  <a:gd name="T31" fmla="*/ 60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0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5" y="88"/>
                    </a:lnTo>
                    <a:lnTo>
                      <a:pt x="28" y="86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>
                <a:off x="1652" y="2117"/>
                <a:ext cx="88" cy="88"/>
              </a:xfrm>
              <a:custGeom>
                <a:avLst/>
                <a:gdLst>
                  <a:gd name="T0" fmla="*/ 0 w 88"/>
                  <a:gd name="T1" fmla="*/ 45 h 88"/>
                  <a:gd name="T2" fmla="*/ 2 w 88"/>
                  <a:gd name="T3" fmla="*/ 28 h 88"/>
                  <a:gd name="T4" fmla="*/ 13 w 88"/>
                  <a:gd name="T5" fmla="*/ 13 h 88"/>
                  <a:gd name="T6" fmla="*/ 26 w 88"/>
                  <a:gd name="T7" fmla="*/ 4 h 88"/>
                  <a:gd name="T8" fmla="*/ 43 w 88"/>
                  <a:gd name="T9" fmla="*/ 0 h 88"/>
                  <a:gd name="T10" fmla="*/ 60 w 88"/>
                  <a:gd name="T11" fmla="*/ 4 h 88"/>
                  <a:gd name="T12" fmla="*/ 75 w 88"/>
                  <a:gd name="T13" fmla="*/ 13 h 88"/>
                  <a:gd name="T14" fmla="*/ 84 w 88"/>
                  <a:gd name="T15" fmla="*/ 28 h 88"/>
                  <a:gd name="T16" fmla="*/ 88 w 88"/>
                  <a:gd name="T17" fmla="*/ 45 h 88"/>
                  <a:gd name="T18" fmla="*/ 84 w 88"/>
                  <a:gd name="T19" fmla="*/ 62 h 88"/>
                  <a:gd name="T20" fmla="*/ 75 w 88"/>
                  <a:gd name="T21" fmla="*/ 75 h 88"/>
                  <a:gd name="T22" fmla="*/ 60 w 88"/>
                  <a:gd name="T23" fmla="*/ 86 h 88"/>
                  <a:gd name="T24" fmla="*/ 43 w 88"/>
                  <a:gd name="T25" fmla="*/ 88 h 88"/>
                  <a:gd name="T26" fmla="*/ 26 w 88"/>
                  <a:gd name="T27" fmla="*/ 86 h 88"/>
                  <a:gd name="T28" fmla="*/ 13 w 88"/>
                  <a:gd name="T29" fmla="*/ 75 h 88"/>
                  <a:gd name="T30" fmla="*/ 2 w 88"/>
                  <a:gd name="T31" fmla="*/ 62 h 88"/>
                  <a:gd name="T32" fmla="*/ 0 w 88"/>
                  <a:gd name="T33" fmla="*/ 45 h 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8" h="88">
                    <a:moveTo>
                      <a:pt x="0" y="45"/>
                    </a:moveTo>
                    <a:lnTo>
                      <a:pt x="2" y="28"/>
                    </a:lnTo>
                    <a:lnTo>
                      <a:pt x="13" y="13"/>
                    </a:lnTo>
                    <a:lnTo>
                      <a:pt x="26" y="4"/>
                    </a:lnTo>
                    <a:lnTo>
                      <a:pt x="43" y="0"/>
                    </a:lnTo>
                    <a:lnTo>
                      <a:pt x="60" y="4"/>
                    </a:lnTo>
                    <a:lnTo>
                      <a:pt x="75" y="13"/>
                    </a:lnTo>
                    <a:lnTo>
                      <a:pt x="84" y="28"/>
                    </a:lnTo>
                    <a:lnTo>
                      <a:pt x="88" y="45"/>
                    </a:lnTo>
                    <a:lnTo>
                      <a:pt x="84" y="62"/>
                    </a:lnTo>
                    <a:lnTo>
                      <a:pt x="75" y="75"/>
                    </a:lnTo>
                    <a:lnTo>
                      <a:pt x="60" y="86"/>
                    </a:lnTo>
                    <a:lnTo>
                      <a:pt x="43" y="88"/>
                    </a:lnTo>
                    <a:lnTo>
                      <a:pt x="26" y="86"/>
                    </a:lnTo>
                    <a:lnTo>
                      <a:pt x="13" y="75"/>
                    </a:lnTo>
                    <a:lnTo>
                      <a:pt x="2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auto">
              <a:xfrm>
                <a:off x="2134" y="2177"/>
                <a:ext cx="89" cy="89"/>
              </a:xfrm>
              <a:custGeom>
                <a:avLst/>
                <a:gdLst>
                  <a:gd name="T0" fmla="*/ 0 w 89"/>
                  <a:gd name="T1" fmla="*/ 43 h 89"/>
                  <a:gd name="T2" fmla="*/ 4 w 89"/>
                  <a:gd name="T3" fmla="*/ 26 h 89"/>
                  <a:gd name="T4" fmla="*/ 13 w 89"/>
                  <a:gd name="T5" fmla="*/ 13 h 89"/>
                  <a:gd name="T6" fmla="*/ 28 w 89"/>
                  <a:gd name="T7" fmla="*/ 2 h 89"/>
                  <a:gd name="T8" fmla="*/ 46 w 89"/>
                  <a:gd name="T9" fmla="*/ 0 h 89"/>
                  <a:gd name="T10" fmla="*/ 63 w 89"/>
                  <a:gd name="T11" fmla="*/ 2 h 89"/>
                  <a:gd name="T12" fmla="*/ 76 w 89"/>
                  <a:gd name="T13" fmla="*/ 13 h 89"/>
                  <a:gd name="T14" fmla="*/ 87 w 89"/>
                  <a:gd name="T15" fmla="*/ 26 h 89"/>
                  <a:gd name="T16" fmla="*/ 89 w 89"/>
                  <a:gd name="T17" fmla="*/ 43 h 89"/>
                  <a:gd name="T18" fmla="*/ 87 w 89"/>
                  <a:gd name="T19" fmla="*/ 61 h 89"/>
                  <a:gd name="T20" fmla="*/ 76 w 89"/>
                  <a:gd name="T21" fmla="*/ 76 h 89"/>
                  <a:gd name="T22" fmla="*/ 63 w 89"/>
                  <a:gd name="T23" fmla="*/ 84 h 89"/>
                  <a:gd name="T24" fmla="*/ 46 w 89"/>
                  <a:gd name="T25" fmla="*/ 89 h 89"/>
                  <a:gd name="T26" fmla="*/ 28 w 89"/>
                  <a:gd name="T27" fmla="*/ 84 h 89"/>
                  <a:gd name="T28" fmla="*/ 13 w 89"/>
                  <a:gd name="T29" fmla="*/ 76 h 89"/>
                  <a:gd name="T30" fmla="*/ 4 w 89"/>
                  <a:gd name="T31" fmla="*/ 61 h 89"/>
                  <a:gd name="T32" fmla="*/ 0 w 89"/>
                  <a:gd name="T33" fmla="*/ 43 h 8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9" h="89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6" y="0"/>
                    </a:lnTo>
                    <a:lnTo>
                      <a:pt x="63" y="2"/>
                    </a:lnTo>
                    <a:lnTo>
                      <a:pt x="76" y="13"/>
                    </a:lnTo>
                    <a:lnTo>
                      <a:pt x="87" y="26"/>
                    </a:lnTo>
                    <a:lnTo>
                      <a:pt x="89" y="43"/>
                    </a:lnTo>
                    <a:lnTo>
                      <a:pt x="87" y="61"/>
                    </a:lnTo>
                    <a:lnTo>
                      <a:pt x="76" y="76"/>
                    </a:lnTo>
                    <a:lnTo>
                      <a:pt x="63" y="84"/>
                    </a:lnTo>
                    <a:lnTo>
                      <a:pt x="46" y="89"/>
                    </a:lnTo>
                    <a:lnTo>
                      <a:pt x="28" y="84"/>
                    </a:lnTo>
                    <a:lnTo>
                      <a:pt x="13" y="76"/>
                    </a:lnTo>
                    <a:lnTo>
                      <a:pt x="4" y="61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2"/>
              <p:cNvSpPr>
                <a:spLocks noChangeArrowheads="1"/>
              </p:cNvSpPr>
              <p:nvPr/>
            </p:nvSpPr>
            <p:spPr bwMode="auto">
              <a:xfrm>
                <a:off x="2032" y="1117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256" y="1764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1810" y="2069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422" y="263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648" y="1626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2307" y="2125"/>
                <a:ext cx="164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8"/>
            <p:cNvGrpSpPr>
              <a:grpSpLocks/>
            </p:cNvGrpSpPr>
            <p:nvPr/>
          </p:nvGrpSpPr>
          <p:grpSpPr bwMode="auto">
            <a:xfrm>
              <a:off x="2495550" y="2863850"/>
              <a:ext cx="1423988" cy="914400"/>
              <a:chOff x="1572" y="1804"/>
              <a:chExt cx="897" cy="576"/>
            </a:xfrm>
          </p:grpSpPr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1572" y="2005"/>
                <a:ext cx="897" cy="375"/>
              </a:xfrm>
              <a:custGeom>
                <a:avLst/>
                <a:gdLst>
                  <a:gd name="T0" fmla="*/ 450 w 897"/>
                  <a:gd name="T1" fmla="*/ 0 h 375"/>
                  <a:gd name="T2" fmla="*/ 510 w 897"/>
                  <a:gd name="T3" fmla="*/ 2 h 375"/>
                  <a:gd name="T4" fmla="*/ 571 w 897"/>
                  <a:gd name="T5" fmla="*/ 6 h 375"/>
                  <a:gd name="T6" fmla="*/ 629 w 897"/>
                  <a:gd name="T7" fmla="*/ 15 h 375"/>
                  <a:gd name="T8" fmla="*/ 683 w 897"/>
                  <a:gd name="T9" fmla="*/ 28 h 375"/>
                  <a:gd name="T10" fmla="*/ 733 w 897"/>
                  <a:gd name="T11" fmla="*/ 43 h 375"/>
                  <a:gd name="T12" fmla="*/ 778 w 897"/>
                  <a:gd name="T13" fmla="*/ 60 h 375"/>
                  <a:gd name="T14" fmla="*/ 817 w 897"/>
                  <a:gd name="T15" fmla="*/ 79 h 375"/>
                  <a:gd name="T16" fmla="*/ 850 w 897"/>
                  <a:gd name="T17" fmla="*/ 101 h 375"/>
                  <a:gd name="T18" fmla="*/ 874 w 897"/>
                  <a:gd name="T19" fmla="*/ 125 h 375"/>
                  <a:gd name="T20" fmla="*/ 891 w 897"/>
                  <a:gd name="T21" fmla="*/ 149 h 375"/>
                  <a:gd name="T22" fmla="*/ 897 w 897"/>
                  <a:gd name="T23" fmla="*/ 174 h 375"/>
                  <a:gd name="T24" fmla="*/ 897 w 897"/>
                  <a:gd name="T25" fmla="*/ 200 h 375"/>
                  <a:gd name="T26" fmla="*/ 891 w 897"/>
                  <a:gd name="T27" fmla="*/ 226 h 375"/>
                  <a:gd name="T28" fmla="*/ 874 w 897"/>
                  <a:gd name="T29" fmla="*/ 250 h 375"/>
                  <a:gd name="T30" fmla="*/ 850 w 897"/>
                  <a:gd name="T31" fmla="*/ 274 h 375"/>
                  <a:gd name="T32" fmla="*/ 817 w 897"/>
                  <a:gd name="T33" fmla="*/ 295 h 375"/>
                  <a:gd name="T34" fmla="*/ 778 w 897"/>
                  <a:gd name="T35" fmla="*/ 315 h 375"/>
                  <a:gd name="T36" fmla="*/ 733 w 897"/>
                  <a:gd name="T37" fmla="*/ 332 h 375"/>
                  <a:gd name="T38" fmla="*/ 683 w 897"/>
                  <a:gd name="T39" fmla="*/ 347 h 375"/>
                  <a:gd name="T40" fmla="*/ 629 w 897"/>
                  <a:gd name="T41" fmla="*/ 360 h 375"/>
                  <a:gd name="T42" fmla="*/ 571 w 897"/>
                  <a:gd name="T43" fmla="*/ 369 h 375"/>
                  <a:gd name="T44" fmla="*/ 510 w 897"/>
                  <a:gd name="T45" fmla="*/ 373 h 375"/>
                  <a:gd name="T46" fmla="*/ 450 w 897"/>
                  <a:gd name="T47" fmla="*/ 375 h 375"/>
                  <a:gd name="T48" fmla="*/ 387 w 897"/>
                  <a:gd name="T49" fmla="*/ 373 h 375"/>
                  <a:gd name="T50" fmla="*/ 329 w 897"/>
                  <a:gd name="T51" fmla="*/ 369 h 375"/>
                  <a:gd name="T52" fmla="*/ 270 w 897"/>
                  <a:gd name="T53" fmla="*/ 360 h 375"/>
                  <a:gd name="T54" fmla="*/ 216 w 897"/>
                  <a:gd name="T55" fmla="*/ 347 h 375"/>
                  <a:gd name="T56" fmla="*/ 164 w 897"/>
                  <a:gd name="T57" fmla="*/ 332 h 375"/>
                  <a:gd name="T58" fmla="*/ 121 w 897"/>
                  <a:gd name="T59" fmla="*/ 315 h 375"/>
                  <a:gd name="T60" fmla="*/ 82 w 897"/>
                  <a:gd name="T61" fmla="*/ 295 h 375"/>
                  <a:gd name="T62" fmla="*/ 49 w 897"/>
                  <a:gd name="T63" fmla="*/ 274 h 375"/>
                  <a:gd name="T64" fmla="*/ 26 w 897"/>
                  <a:gd name="T65" fmla="*/ 250 h 375"/>
                  <a:gd name="T66" fmla="*/ 8 w 897"/>
                  <a:gd name="T67" fmla="*/ 226 h 375"/>
                  <a:gd name="T68" fmla="*/ 0 w 897"/>
                  <a:gd name="T69" fmla="*/ 200 h 375"/>
                  <a:gd name="T70" fmla="*/ 0 w 897"/>
                  <a:gd name="T71" fmla="*/ 174 h 375"/>
                  <a:gd name="T72" fmla="*/ 8 w 897"/>
                  <a:gd name="T73" fmla="*/ 149 h 375"/>
                  <a:gd name="T74" fmla="*/ 26 w 897"/>
                  <a:gd name="T75" fmla="*/ 125 h 375"/>
                  <a:gd name="T76" fmla="*/ 49 w 897"/>
                  <a:gd name="T77" fmla="*/ 101 h 375"/>
                  <a:gd name="T78" fmla="*/ 82 w 897"/>
                  <a:gd name="T79" fmla="*/ 79 h 375"/>
                  <a:gd name="T80" fmla="*/ 121 w 897"/>
                  <a:gd name="T81" fmla="*/ 60 h 375"/>
                  <a:gd name="T82" fmla="*/ 164 w 897"/>
                  <a:gd name="T83" fmla="*/ 43 h 375"/>
                  <a:gd name="T84" fmla="*/ 216 w 897"/>
                  <a:gd name="T85" fmla="*/ 28 h 375"/>
                  <a:gd name="T86" fmla="*/ 270 w 897"/>
                  <a:gd name="T87" fmla="*/ 15 h 375"/>
                  <a:gd name="T88" fmla="*/ 329 w 897"/>
                  <a:gd name="T89" fmla="*/ 6 h 375"/>
                  <a:gd name="T90" fmla="*/ 387 w 897"/>
                  <a:gd name="T91" fmla="*/ 2 h 375"/>
                  <a:gd name="T92" fmla="*/ 450 w 897"/>
                  <a:gd name="T93" fmla="*/ 0 h 3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97" h="375">
                    <a:moveTo>
                      <a:pt x="450" y="0"/>
                    </a:moveTo>
                    <a:lnTo>
                      <a:pt x="510" y="2"/>
                    </a:lnTo>
                    <a:lnTo>
                      <a:pt x="571" y="6"/>
                    </a:lnTo>
                    <a:lnTo>
                      <a:pt x="629" y="15"/>
                    </a:lnTo>
                    <a:lnTo>
                      <a:pt x="683" y="28"/>
                    </a:lnTo>
                    <a:lnTo>
                      <a:pt x="733" y="43"/>
                    </a:lnTo>
                    <a:lnTo>
                      <a:pt x="778" y="60"/>
                    </a:lnTo>
                    <a:lnTo>
                      <a:pt x="817" y="79"/>
                    </a:lnTo>
                    <a:lnTo>
                      <a:pt x="850" y="101"/>
                    </a:lnTo>
                    <a:lnTo>
                      <a:pt x="874" y="125"/>
                    </a:lnTo>
                    <a:lnTo>
                      <a:pt x="891" y="149"/>
                    </a:lnTo>
                    <a:lnTo>
                      <a:pt x="897" y="174"/>
                    </a:lnTo>
                    <a:lnTo>
                      <a:pt x="897" y="200"/>
                    </a:lnTo>
                    <a:lnTo>
                      <a:pt x="891" y="226"/>
                    </a:lnTo>
                    <a:lnTo>
                      <a:pt x="874" y="250"/>
                    </a:lnTo>
                    <a:lnTo>
                      <a:pt x="850" y="274"/>
                    </a:lnTo>
                    <a:lnTo>
                      <a:pt x="817" y="295"/>
                    </a:lnTo>
                    <a:lnTo>
                      <a:pt x="778" y="315"/>
                    </a:lnTo>
                    <a:lnTo>
                      <a:pt x="733" y="332"/>
                    </a:lnTo>
                    <a:lnTo>
                      <a:pt x="683" y="347"/>
                    </a:lnTo>
                    <a:lnTo>
                      <a:pt x="629" y="360"/>
                    </a:lnTo>
                    <a:lnTo>
                      <a:pt x="571" y="369"/>
                    </a:lnTo>
                    <a:lnTo>
                      <a:pt x="510" y="373"/>
                    </a:lnTo>
                    <a:lnTo>
                      <a:pt x="450" y="375"/>
                    </a:lnTo>
                    <a:lnTo>
                      <a:pt x="387" y="373"/>
                    </a:lnTo>
                    <a:lnTo>
                      <a:pt x="329" y="369"/>
                    </a:lnTo>
                    <a:lnTo>
                      <a:pt x="270" y="360"/>
                    </a:lnTo>
                    <a:lnTo>
                      <a:pt x="216" y="347"/>
                    </a:lnTo>
                    <a:lnTo>
                      <a:pt x="164" y="332"/>
                    </a:lnTo>
                    <a:lnTo>
                      <a:pt x="121" y="315"/>
                    </a:lnTo>
                    <a:lnTo>
                      <a:pt x="82" y="295"/>
                    </a:lnTo>
                    <a:lnTo>
                      <a:pt x="49" y="274"/>
                    </a:lnTo>
                    <a:lnTo>
                      <a:pt x="26" y="250"/>
                    </a:lnTo>
                    <a:lnTo>
                      <a:pt x="8" y="226"/>
                    </a:lnTo>
                    <a:lnTo>
                      <a:pt x="0" y="200"/>
                    </a:lnTo>
                    <a:lnTo>
                      <a:pt x="0" y="174"/>
                    </a:lnTo>
                    <a:lnTo>
                      <a:pt x="8" y="149"/>
                    </a:lnTo>
                    <a:lnTo>
                      <a:pt x="26" y="125"/>
                    </a:lnTo>
                    <a:lnTo>
                      <a:pt x="49" y="101"/>
                    </a:lnTo>
                    <a:lnTo>
                      <a:pt x="82" y="79"/>
                    </a:lnTo>
                    <a:lnTo>
                      <a:pt x="121" y="60"/>
                    </a:lnTo>
                    <a:lnTo>
                      <a:pt x="164" y="43"/>
                    </a:lnTo>
                    <a:lnTo>
                      <a:pt x="216" y="28"/>
                    </a:lnTo>
                    <a:lnTo>
                      <a:pt x="270" y="15"/>
                    </a:lnTo>
                    <a:lnTo>
                      <a:pt x="329" y="6"/>
                    </a:lnTo>
                    <a:lnTo>
                      <a:pt x="387" y="2"/>
                    </a:lnTo>
                    <a:lnTo>
                      <a:pt x="450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1944" y="1804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8" name="Group 21"/>
            <p:cNvGrpSpPr>
              <a:grpSpLocks/>
            </p:cNvGrpSpPr>
            <p:nvPr/>
          </p:nvGrpSpPr>
          <p:grpSpPr bwMode="auto">
            <a:xfrm>
              <a:off x="527050" y="2489200"/>
              <a:ext cx="1735138" cy="1158875"/>
              <a:chOff x="332" y="1568"/>
              <a:chExt cx="1093" cy="730"/>
            </a:xfrm>
          </p:grpSpPr>
          <p:sp>
            <p:nvSpPr>
              <p:cNvPr id="18" name="Freeform 22"/>
              <p:cNvSpPr>
                <a:spLocks/>
              </p:cNvSpPr>
              <p:nvPr/>
            </p:nvSpPr>
            <p:spPr bwMode="auto">
              <a:xfrm>
                <a:off x="332" y="1568"/>
                <a:ext cx="1093" cy="497"/>
              </a:xfrm>
              <a:custGeom>
                <a:avLst/>
                <a:gdLst>
                  <a:gd name="T0" fmla="*/ 547 w 1093"/>
                  <a:gd name="T1" fmla="*/ 0 h 497"/>
                  <a:gd name="T2" fmla="*/ 615 w 1093"/>
                  <a:gd name="T3" fmla="*/ 3 h 497"/>
                  <a:gd name="T4" fmla="*/ 684 w 1093"/>
                  <a:gd name="T5" fmla="*/ 7 h 497"/>
                  <a:gd name="T6" fmla="*/ 749 w 1093"/>
                  <a:gd name="T7" fmla="*/ 18 h 497"/>
                  <a:gd name="T8" fmla="*/ 811 w 1093"/>
                  <a:gd name="T9" fmla="*/ 31 h 497"/>
                  <a:gd name="T10" fmla="*/ 868 w 1093"/>
                  <a:gd name="T11" fmla="*/ 48 h 497"/>
                  <a:gd name="T12" fmla="*/ 922 w 1093"/>
                  <a:gd name="T13" fmla="*/ 67 h 497"/>
                  <a:gd name="T14" fmla="*/ 969 w 1093"/>
                  <a:gd name="T15" fmla="*/ 91 h 497"/>
                  <a:gd name="T16" fmla="*/ 1008 w 1093"/>
                  <a:gd name="T17" fmla="*/ 115 h 497"/>
                  <a:gd name="T18" fmla="*/ 1043 w 1093"/>
                  <a:gd name="T19" fmla="*/ 143 h 497"/>
                  <a:gd name="T20" fmla="*/ 1067 w 1093"/>
                  <a:gd name="T21" fmla="*/ 171 h 497"/>
                  <a:gd name="T22" fmla="*/ 1084 w 1093"/>
                  <a:gd name="T23" fmla="*/ 201 h 497"/>
                  <a:gd name="T24" fmla="*/ 1093 w 1093"/>
                  <a:gd name="T25" fmla="*/ 234 h 497"/>
                  <a:gd name="T26" fmla="*/ 1093 w 1093"/>
                  <a:gd name="T27" fmla="*/ 264 h 497"/>
                  <a:gd name="T28" fmla="*/ 1084 w 1093"/>
                  <a:gd name="T29" fmla="*/ 294 h 497"/>
                  <a:gd name="T30" fmla="*/ 1067 w 1093"/>
                  <a:gd name="T31" fmla="*/ 324 h 497"/>
                  <a:gd name="T32" fmla="*/ 1043 w 1093"/>
                  <a:gd name="T33" fmla="*/ 354 h 497"/>
                  <a:gd name="T34" fmla="*/ 1008 w 1093"/>
                  <a:gd name="T35" fmla="*/ 383 h 497"/>
                  <a:gd name="T36" fmla="*/ 969 w 1093"/>
                  <a:gd name="T37" fmla="*/ 406 h 497"/>
                  <a:gd name="T38" fmla="*/ 922 w 1093"/>
                  <a:gd name="T39" fmla="*/ 430 h 497"/>
                  <a:gd name="T40" fmla="*/ 868 w 1093"/>
                  <a:gd name="T41" fmla="*/ 449 h 497"/>
                  <a:gd name="T42" fmla="*/ 811 w 1093"/>
                  <a:gd name="T43" fmla="*/ 467 h 497"/>
                  <a:gd name="T44" fmla="*/ 749 w 1093"/>
                  <a:gd name="T45" fmla="*/ 480 h 497"/>
                  <a:gd name="T46" fmla="*/ 684 w 1093"/>
                  <a:gd name="T47" fmla="*/ 488 h 497"/>
                  <a:gd name="T48" fmla="*/ 615 w 1093"/>
                  <a:gd name="T49" fmla="*/ 495 h 497"/>
                  <a:gd name="T50" fmla="*/ 547 w 1093"/>
                  <a:gd name="T51" fmla="*/ 497 h 497"/>
                  <a:gd name="T52" fmla="*/ 478 w 1093"/>
                  <a:gd name="T53" fmla="*/ 495 h 497"/>
                  <a:gd name="T54" fmla="*/ 411 w 1093"/>
                  <a:gd name="T55" fmla="*/ 488 h 497"/>
                  <a:gd name="T56" fmla="*/ 346 w 1093"/>
                  <a:gd name="T57" fmla="*/ 480 h 497"/>
                  <a:gd name="T58" fmla="*/ 284 w 1093"/>
                  <a:gd name="T59" fmla="*/ 467 h 497"/>
                  <a:gd name="T60" fmla="*/ 225 w 1093"/>
                  <a:gd name="T61" fmla="*/ 449 h 497"/>
                  <a:gd name="T62" fmla="*/ 173 w 1093"/>
                  <a:gd name="T63" fmla="*/ 430 h 497"/>
                  <a:gd name="T64" fmla="*/ 126 w 1093"/>
                  <a:gd name="T65" fmla="*/ 406 h 497"/>
                  <a:gd name="T66" fmla="*/ 85 w 1093"/>
                  <a:gd name="T67" fmla="*/ 383 h 497"/>
                  <a:gd name="T68" fmla="*/ 52 w 1093"/>
                  <a:gd name="T69" fmla="*/ 354 h 497"/>
                  <a:gd name="T70" fmla="*/ 26 w 1093"/>
                  <a:gd name="T71" fmla="*/ 324 h 497"/>
                  <a:gd name="T72" fmla="*/ 9 w 1093"/>
                  <a:gd name="T73" fmla="*/ 294 h 497"/>
                  <a:gd name="T74" fmla="*/ 0 w 1093"/>
                  <a:gd name="T75" fmla="*/ 264 h 497"/>
                  <a:gd name="T76" fmla="*/ 0 w 1093"/>
                  <a:gd name="T77" fmla="*/ 234 h 497"/>
                  <a:gd name="T78" fmla="*/ 9 w 1093"/>
                  <a:gd name="T79" fmla="*/ 201 h 497"/>
                  <a:gd name="T80" fmla="*/ 26 w 1093"/>
                  <a:gd name="T81" fmla="*/ 171 h 497"/>
                  <a:gd name="T82" fmla="*/ 52 w 1093"/>
                  <a:gd name="T83" fmla="*/ 143 h 497"/>
                  <a:gd name="T84" fmla="*/ 85 w 1093"/>
                  <a:gd name="T85" fmla="*/ 115 h 497"/>
                  <a:gd name="T86" fmla="*/ 126 w 1093"/>
                  <a:gd name="T87" fmla="*/ 91 h 497"/>
                  <a:gd name="T88" fmla="*/ 173 w 1093"/>
                  <a:gd name="T89" fmla="*/ 67 h 497"/>
                  <a:gd name="T90" fmla="*/ 225 w 1093"/>
                  <a:gd name="T91" fmla="*/ 48 h 497"/>
                  <a:gd name="T92" fmla="*/ 284 w 1093"/>
                  <a:gd name="T93" fmla="*/ 31 h 497"/>
                  <a:gd name="T94" fmla="*/ 346 w 1093"/>
                  <a:gd name="T95" fmla="*/ 18 h 497"/>
                  <a:gd name="T96" fmla="*/ 411 w 1093"/>
                  <a:gd name="T97" fmla="*/ 7 h 497"/>
                  <a:gd name="T98" fmla="*/ 478 w 1093"/>
                  <a:gd name="T99" fmla="*/ 3 h 497"/>
                  <a:gd name="T100" fmla="*/ 547 w 1093"/>
                  <a:gd name="T101" fmla="*/ 0 h 49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093" h="497">
                    <a:moveTo>
                      <a:pt x="547" y="0"/>
                    </a:moveTo>
                    <a:lnTo>
                      <a:pt x="615" y="3"/>
                    </a:lnTo>
                    <a:lnTo>
                      <a:pt x="684" y="7"/>
                    </a:lnTo>
                    <a:lnTo>
                      <a:pt x="749" y="18"/>
                    </a:lnTo>
                    <a:lnTo>
                      <a:pt x="811" y="31"/>
                    </a:lnTo>
                    <a:lnTo>
                      <a:pt x="868" y="48"/>
                    </a:lnTo>
                    <a:lnTo>
                      <a:pt x="922" y="67"/>
                    </a:lnTo>
                    <a:lnTo>
                      <a:pt x="969" y="91"/>
                    </a:lnTo>
                    <a:lnTo>
                      <a:pt x="1008" y="115"/>
                    </a:lnTo>
                    <a:lnTo>
                      <a:pt x="1043" y="143"/>
                    </a:lnTo>
                    <a:lnTo>
                      <a:pt x="1067" y="171"/>
                    </a:lnTo>
                    <a:lnTo>
                      <a:pt x="1084" y="201"/>
                    </a:lnTo>
                    <a:lnTo>
                      <a:pt x="1093" y="234"/>
                    </a:lnTo>
                    <a:lnTo>
                      <a:pt x="1093" y="264"/>
                    </a:lnTo>
                    <a:lnTo>
                      <a:pt x="1084" y="294"/>
                    </a:lnTo>
                    <a:lnTo>
                      <a:pt x="1067" y="324"/>
                    </a:lnTo>
                    <a:lnTo>
                      <a:pt x="1043" y="354"/>
                    </a:lnTo>
                    <a:lnTo>
                      <a:pt x="1008" y="383"/>
                    </a:lnTo>
                    <a:lnTo>
                      <a:pt x="969" y="406"/>
                    </a:lnTo>
                    <a:lnTo>
                      <a:pt x="922" y="430"/>
                    </a:lnTo>
                    <a:lnTo>
                      <a:pt x="868" y="449"/>
                    </a:lnTo>
                    <a:lnTo>
                      <a:pt x="811" y="467"/>
                    </a:lnTo>
                    <a:lnTo>
                      <a:pt x="749" y="480"/>
                    </a:lnTo>
                    <a:lnTo>
                      <a:pt x="684" y="488"/>
                    </a:lnTo>
                    <a:lnTo>
                      <a:pt x="615" y="495"/>
                    </a:lnTo>
                    <a:lnTo>
                      <a:pt x="547" y="497"/>
                    </a:lnTo>
                    <a:lnTo>
                      <a:pt x="478" y="495"/>
                    </a:lnTo>
                    <a:lnTo>
                      <a:pt x="411" y="488"/>
                    </a:lnTo>
                    <a:lnTo>
                      <a:pt x="346" y="480"/>
                    </a:lnTo>
                    <a:lnTo>
                      <a:pt x="284" y="467"/>
                    </a:lnTo>
                    <a:lnTo>
                      <a:pt x="225" y="449"/>
                    </a:lnTo>
                    <a:lnTo>
                      <a:pt x="173" y="430"/>
                    </a:lnTo>
                    <a:lnTo>
                      <a:pt x="126" y="406"/>
                    </a:lnTo>
                    <a:lnTo>
                      <a:pt x="85" y="383"/>
                    </a:lnTo>
                    <a:lnTo>
                      <a:pt x="52" y="354"/>
                    </a:lnTo>
                    <a:lnTo>
                      <a:pt x="26" y="324"/>
                    </a:lnTo>
                    <a:lnTo>
                      <a:pt x="9" y="294"/>
                    </a:lnTo>
                    <a:lnTo>
                      <a:pt x="0" y="264"/>
                    </a:lnTo>
                    <a:lnTo>
                      <a:pt x="0" y="234"/>
                    </a:lnTo>
                    <a:lnTo>
                      <a:pt x="9" y="201"/>
                    </a:lnTo>
                    <a:lnTo>
                      <a:pt x="26" y="171"/>
                    </a:lnTo>
                    <a:lnTo>
                      <a:pt x="52" y="143"/>
                    </a:lnTo>
                    <a:lnTo>
                      <a:pt x="85" y="115"/>
                    </a:lnTo>
                    <a:lnTo>
                      <a:pt x="126" y="91"/>
                    </a:lnTo>
                    <a:lnTo>
                      <a:pt x="173" y="67"/>
                    </a:lnTo>
                    <a:lnTo>
                      <a:pt x="225" y="48"/>
                    </a:lnTo>
                    <a:lnTo>
                      <a:pt x="284" y="31"/>
                    </a:lnTo>
                    <a:lnTo>
                      <a:pt x="346" y="18"/>
                    </a:lnTo>
                    <a:lnTo>
                      <a:pt x="411" y="7"/>
                    </a:lnTo>
                    <a:lnTo>
                      <a:pt x="478" y="3"/>
                    </a:lnTo>
                    <a:lnTo>
                      <a:pt x="54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23"/>
              <p:cNvSpPr>
                <a:spLocks noChangeArrowheads="1"/>
              </p:cNvSpPr>
              <p:nvPr/>
            </p:nvSpPr>
            <p:spPr bwMode="auto">
              <a:xfrm>
                <a:off x="949" y="2052"/>
                <a:ext cx="184" cy="2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2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</p:grpSp>
      <p:grpSp>
        <p:nvGrpSpPr>
          <p:cNvPr id="35" name="Group 4"/>
          <p:cNvGrpSpPr>
            <a:grpSpLocks noChangeAspect="1"/>
          </p:cNvGrpSpPr>
          <p:nvPr/>
        </p:nvGrpSpPr>
        <p:grpSpPr bwMode="auto">
          <a:xfrm>
            <a:off x="7725663" y="1838194"/>
            <a:ext cx="4398963" cy="2558853"/>
            <a:chOff x="4837" y="1255"/>
            <a:chExt cx="2771" cy="1735"/>
          </a:xfrm>
        </p:grpSpPr>
        <p:sp>
          <p:nvSpPr>
            <p:cNvPr id="36" name="AutoShape 3"/>
            <p:cNvSpPr>
              <a:spLocks noChangeAspect="1" noChangeArrowheads="1" noTextEdit="1"/>
            </p:cNvSpPr>
            <p:nvPr/>
          </p:nvSpPr>
          <p:spPr bwMode="auto">
            <a:xfrm>
              <a:off x="4837" y="1255"/>
              <a:ext cx="2764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4837" y="1255"/>
              <a:ext cx="2771" cy="17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6"/>
            <p:cNvSpPr>
              <a:spLocks noChangeArrowheads="1"/>
            </p:cNvSpPr>
            <p:nvPr/>
          </p:nvSpPr>
          <p:spPr bwMode="auto">
            <a:xfrm>
              <a:off x="5193" y="1383"/>
              <a:ext cx="2145" cy="141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5193" y="1383"/>
              <a:ext cx="2145" cy="1410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5193" y="2793"/>
              <a:ext cx="2145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V="1">
              <a:off x="5193" y="1383"/>
              <a:ext cx="0" cy="141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auto">
            <a:xfrm flipV="1">
              <a:off x="5373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5352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V="1">
              <a:off x="5732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5708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 flipV="1">
              <a:off x="6088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6067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 flipV="1">
              <a:off x="6447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6423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 flipV="1">
              <a:off x="6803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6782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20"/>
            <p:cNvSpPr>
              <a:spLocks noChangeShapeType="1"/>
            </p:cNvSpPr>
            <p:nvPr/>
          </p:nvSpPr>
          <p:spPr bwMode="auto">
            <a:xfrm flipV="1">
              <a:off x="7159" y="2772"/>
              <a:ext cx="0" cy="2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7138" y="2807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5193" y="2793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3"/>
            <p:cNvSpPr>
              <a:spLocks noChangeArrowheads="1"/>
            </p:cNvSpPr>
            <p:nvPr/>
          </p:nvSpPr>
          <p:spPr bwMode="auto">
            <a:xfrm>
              <a:off x="5131" y="2745"/>
              <a:ext cx="86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>
              <a:off x="5193" y="2489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5"/>
            <p:cNvSpPr>
              <a:spLocks noChangeArrowheads="1"/>
            </p:cNvSpPr>
            <p:nvPr/>
          </p:nvSpPr>
          <p:spPr bwMode="auto">
            <a:xfrm>
              <a:off x="5017" y="2440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5193" y="2185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5062" y="2140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5193" y="1884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9"/>
            <p:cNvSpPr>
              <a:spLocks noChangeArrowheads="1"/>
            </p:cNvSpPr>
            <p:nvPr/>
          </p:nvSpPr>
          <p:spPr bwMode="auto">
            <a:xfrm>
              <a:off x="5017" y="1839"/>
              <a:ext cx="207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5193" y="1580"/>
              <a:ext cx="24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5062" y="1535"/>
              <a:ext cx="159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Freeform 32"/>
            <p:cNvSpPr>
              <a:spLocks/>
            </p:cNvSpPr>
            <p:nvPr/>
          </p:nvSpPr>
          <p:spPr bwMode="auto">
            <a:xfrm>
              <a:off x="5373" y="2122"/>
              <a:ext cx="359" cy="671"/>
            </a:xfrm>
            <a:custGeom>
              <a:avLst/>
              <a:gdLst>
                <a:gd name="T0" fmla="*/ 0 w 359"/>
                <a:gd name="T1" fmla="*/ 671 h 671"/>
                <a:gd name="T2" fmla="*/ 0 w 359"/>
                <a:gd name="T3" fmla="*/ 0 h 671"/>
                <a:gd name="T4" fmla="*/ 359 w 359"/>
                <a:gd name="T5" fmla="*/ 0 h 671"/>
                <a:gd name="T6" fmla="*/ 359 w 359"/>
                <a:gd name="T7" fmla="*/ 671 h 6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671">
                  <a:moveTo>
                    <a:pt x="0" y="671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671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3"/>
            <p:cNvSpPr>
              <a:spLocks/>
            </p:cNvSpPr>
            <p:nvPr/>
          </p:nvSpPr>
          <p:spPr bwMode="auto">
            <a:xfrm>
              <a:off x="6088" y="1953"/>
              <a:ext cx="359" cy="840"/>
            </a:xfrm>
            <a:custGeom>
              <a:avLst/>
              <a:gdLst>
                <a:gd name="T0" fmla="*/ 0 w 359"/>
                <a:gd name="T1" fmla="*/ 840 h 840"/>
                <a:gd name="T2" fmla="*/ 0 w 359"/>
                <a:gd name="T3" fmla="*/ 0 h 840"/>
                <a:gd name="T4" fmla="*/ 359 w 359"/>
                <a:gd name="T5" fmla="*/ 0 h 840"/>
                <a:gd name="T6" fmla="*/ 359 w 359"/>
                <a:gd name="T7" fmla="*/ 840 h 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9" h="840">
                  <a:moveTo>
                    <a:pt x="0" y="840"/>
                  </a:moveTo>
                  <a:lnTo>
                    <a:pt x="0" y="0"/>
                  </a:lnTo>
                  <a:lnTo>
                    <a:pt x="359" y="0"/>
                  </a:lnTo>
                  <a:lnTo>
                    <a:pt x="359" y="84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456113"/>
            <a:ext cx="3629025" cy="1971675"/>
          </a:xfrm>
          <a:prstGeom prst="rect">
            <a:avLst/>
          </a:prstGeom>
        </p:spPr>
      </p:pic>
      <p:grpSp>
        <p:nvGrpSpPr>
          <p:cNvPr id="67" name="Group 66"/>
          <p:cNvGrpSpPr/>
          <p:nvPr/>
        </p:nvGrpSpPr>
        <p:grpSpPr>
          <a:xfrm>
            <a:off x="5027212" y="4619947"/>
            <a:ext cx="2278550" cy="1908878"/>
            <a:chOff x="704850" y="1824038"/>
            <a:chExt cx="3422736" cy="2811462"/>
          </a:xfrm>
        </p:grpSpPr>
        <p:grpSp>
          <p:nvGrpSpPr>
            <p:cNvPr id="68" name="Group 6"/>
            <p:cNvGrpSpPr>
              <a:grpSpLocks/>
            </p:cNvGrpSpPr>
            <p:nvPr/>
          </p:nvGrpSpPr>
          <p:grpSpPr bwMode="auto">
            <a:xfrm>
              <a:off x="792163" y="1824038"/>
              <a:ext cx="2998787" cy="2687637"/>
              <a:chOff x="383" y="1437"/>
              <a:chExt cx="1889" cy="1693"/>
            </a:xfrm>
          </p:grpSpPr>
          <p:sp>
            <p:nvSpPr>
              <p:cNvPr id="85" name="Freeform 7"/>
              <p:cNvSpPr>
                <a:spLocks/>
              </p:cNvSpPr>
              <p:nvPr/>
            </p:nvSpPr>
            <p:spPr bwMode="auto">
              <a:xfrm>
                <a:off x="974" y="211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5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5 w 87"/>
                  <a:gd name="T21" fmla="*/ 75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5" y="75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8"/>
              <p:cNvSpPr>
                <a:spLocks/>
              </p:cNvSpPr>
              <p:nvPr/>
            </p:nvSpPr>
            <p:spPr bwMode="auto">
              <a:xfrm>
                <a:off x="1782" y="148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3 h 87"/>
                  <a:gd name="T8" fmla="*/ 45 w 87"/>
                  <a:gd name="T9" fmla="*/ 0 h 87"/>
                  <a:gd name="T10" fmla="*/ 60 w 87"/>
                  <a:gd name="T11" fmla="*/ 3 h 87"/>
                  <a:gd name="T12" fmla="*/ 74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4 w 87"/>
                  <a:gd name="T21" fmla="*/ 75 h 87"/>
                  <a:gd name="T22" fmla="*/ 60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3"/>
                    </a:lnTo>
                    <a:lnTo>
                      <a:pt x="45" y="0"/>
                    </a:lnTo>
                    <a:lnTo>
                      <a:pt x="60" y="3"/>
                    </a:lnTo>
                    <a:lnTo>
                      <a:pt x="74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4" y="75"/>
                    </a:lnTo>
                    <a:lnTo>
                      <a:pt x="60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9"/>
              <p:cNvSpPr>
                <a:spLocks/>
              </p:cNvSpPr>
              <p:nvPr/>
            </p:nvSpPr>
            <p:spPr bwMode="auto">
              <a:xfrm>
                <a:off x="1193" y="2975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5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5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5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5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10"/>
              <p:cNvSpPr>
                <a:spLocks/>
              </p:cNvSpPr>
              <p:nvPr/>
            </p:nvSpPr>
            <p:spPr bwMode="auto">
              <a:xfrm>
                <a:off x="383" y="1993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4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4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1"/>
              <p:cNvSpPr>
                <a:spLocks/>
              </p:cNvSpPr>
              <p:nvPr/>
            </p:nvSpPr>
            <p:spPr bwMode="auto">
              <a:xfrm>
                <a:off x="1544" y="2419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5 h 87"/>
                  <a:gd name="T8" fmla="*/ 42 w 87"/>
                  <a:gd name="T9" fmla="*/ 0 h 87"/>
                  <a:gd name="T10" fmla="*/ 59 w 87"/>
                  <a:gd name="T11" fmla="*/ 5 h 87"/>
                  <a:gd name="T12" fmla="*/ 74 w 87"/>
                  <a:gd name="T13" fmla="*/ 13 h 87"/>
                  <a:gd name="T14" fmla="*/ 83 w 87"/>
                  <a:gd name="T15" fmla="*/ 28 h 87"/>
                  <a:gd name="T16" fmla="*/ 87 w 87"/>
                  <a:gd name="T17" fmla="*/ 45 h 87"/>
                  <a:gd name="T18" fmla="*/ 83 w 87"/>
                  <a:gd name="T19" fmla="*/ 62 h 87"/>
                  <a:gd name="T20" fmla="*/ 74 w 87"/>
                  <a:gd name="T21" fmla="*/ 75 h 87"/>
                  <a:gd name="T22" fmla="*/ 59 w 87"/>
                  <a:gd name="T23" fmla="*/ 85 h 87"/>
                  <a:gd name="T24" fmla="*/ 42 w 87"/>
                  <a:gd name="T25" fmla="*/ 87 h 87"/>
                  <a:gd name="T26" fmla="*/ 28 w 87"/>
                  <a:gd name="T27" fmla="*/ 85 h 87"/>
                  <a:gd name="T28" fmla="*/ 13 w 87"/>
                  <a:gd name="T29" fmla="*/ 75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5"/>
                    </a:lnTo>
                    <a:lnTo>
                      <a:pt x="42" y="0"/>
                    </a:lnTo>
                    <a:lnTo>
                      <a:pt x="59" y="5"/>
                    </a:lnTo>
                    <a:lnTo>
                      <a:pt x="74" y="13"/>
                    </a:lnTo>
                    <a:lnTo>
                      <a:pt x="83" y="28"/>
                    </a:lnTo>
                    <a:lnTo>
                      <a:pt x="87" y="45"/>
                    </a:lnTo>
                    <a:lnTo>
                      <a:pt x="83" y="62"/>
                    </a:lnTo>
                    <a:lnTo>
                      <a:pt x="74" y="75"/>
                    </a:lnTo>
                    <a:lnTo>
                      <a:pt x="59" y="85"/>
                    </a:lnTo>
                    <a:lnTo>
                      <a:pt x="42" y="87"/>
                    </a:lnTo>
                    <a:lnTo>
                      <a:pt x="28" y="85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2"/>
              <p:cNvSpPr>
                <a:spLocks/>
              </p:cNvSpPr>
              <p:nvPr/>
            </p:nvSpPr>
            <p:spPr bwMode="auto">
              <a:xfrm>
                <a:off x="2018" y="2479"/>
                <a:ext cx="87" cy="87"/>
              </a:xfrm>
              <a:custGeom>
                <a:avLst/>
                <a:gdLst>
                  <a:gd name="T0" fmla="*/ 0 w 87"/>
                  <a:gd name="T1" fmla="*/ 42 h 87"/>
                  <a:gd name="T2" fmla="*/ 4 w 87"/>
                  <a:gd name="T3" fmla="*/ 25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4 w 87"/>
                  <a:gd name="T13" fmla="*/ 13 h 87"/>
                  <a:gd name="T14" fmla="*/ 85 w 87"/>
                  <a:gd name="T15" fmla="*/ 25 h 87"/>
                  <a:gd name="T16" fmla="*/ 87 w 87"/>
                  <a:gd name="T17" fmla="*/ 42 h 87"/>
                  <a:gd name="T18" fmla="*/ 85 w 87"/>
                  <a:gd name="T19" fmla="*/ 59 h 87"/>
                  <a:gd name="T20" fmla="*/ 74 w 87"/>
                  <a:gd name="T21" fmla="*/ 74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4 h 87"/>
                  <a:gd name="T30" fmla="*/ 4 w 87"/>
                  <a:gd name="T31" fmla="*/ 59 h 87"/>
                  <a:gd name="T32" fmla="*/ 0 w 87"/>
                  <a:gd name="T33" fmla="*/ 42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2"/>
                    </a:moveTo>
                    <a:lnTo>
                      <a:pt x="4" y="25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4" y="13"/>
                    </a:lnTo>
                    <a:lnTo>
                      <a:pt x="85" y="25"/>
                    </a:lnTo>
                    <a:lnTo>
                      <a:pt x="87" y="42"/>
                    </a:lnTo>
                    <a:lnTo>
                      <a:pt x="85" y="59"/>
                    </a:lnTo>
                    <a:lnTo>
                      <a:pt x="74" y="74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4"/>
                    </a:lnTo>
                    <a:lnTo>
                      <a:pt x="4" y="59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Rectangle 13"/>
              <p:cNvSpPr>
                <a:spLocks noChangeArrowheads="1"/>
              </p:cNvSpPr>
              <p:nvPr/>
            </p:nvSpPr>
            <p:spPr bwMode="auto">
              <a:xfrm>
                <a:off x="1890" y="1437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92" name="Rectangle 14"/>
              <p:cNvSpPr>
                <a:spLocks noChangeArrowheads="1"/>
              </p:cNvSpPr>
              <p:nvPr/>
            </p:nvSpPr>
            <p:spPr bwMode="auto">
              <a:xfrm>
                <a:off x="1089" y="2061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93" name="Rectangle 15"/>
              <p:cNvSpPr>
                <a:spLocks noChangeArrowheads="1"/>
              </p:cNvSpPr>
              <p:nvPr/>
            </p:nvSpPr>
            <p:spPr bwMode="auto">
              <a:xfrm>
                <a:off x="1699" y="2373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94" name="Rectangle 16"/>
              <p:cNvSpPr>
                <a:spLocks noChangeArrowheads="1"/>
              </p:cNvSpPr>
              <p:nvPr/>
            </p:nvSpPr>
            <p:spPr bwMode="auto">
              <a:xfrm>
                <a:off x="1319" y="29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95" name="Rectangle 17"/>
              <p:cNvSpPr>
                <a:spLocks noChangeArrowheads="1"/>
              </p:cNvSpPr>
              <p:nvPr/>
            </p:nvSpPr>
            <p:spPr bwMode="auto">
              <a:xfrm>
                <a:off x="517" y="19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96" name="Rectangle 18"/>
              <p:cNvSpPr>
                <a:spLocks noChangeArrowheads="1"/>
              </p:cNvSpPr>
              <p:nvPr/>
            </p:nvSpPr>
            <p:spPr bwMode="auto">
              <a:xfrm>
                <a:off x="2188" y="24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0" name="Group 19"/>
            <p:cNvGrpSpPr>
              <a:grpSpLocks/>
            </p:cNvGrpSpPr>
            <p:nvPr/>
          </p:nvGrpSpPr>
          <p:grpSpPr bwMode="auto">
            <a:xfrm>
              <a:off x="2509838" y="3208338"/>
              <a:ext cx="1401762" cy="890587"/>
              <a:chOff x="1465" y="2309"/>
              <a:chExt cx="883" cy="561"/>
            </a:xfrm>
          </p:grpSpPr>
          <p:sp>
            <p:nvSpPr>
              <p:cNvPr id="83" name="Freeform 20"/>
              <p:cNvSpPr>
                <a:spLocks/>
              </p:cNvSpPr>
              <p:nvPr/>
            </p:nvSpPr>
            <p:spPr bwMode="auto">
              <a:xfrm>
                <a:off x="1465" y="2309"/>
                <a:ext cx="883" cy="369"/>
              </a:xfrm>
              <a:custGeom>
                <a:avLst/>
                <a:gdLst>
                  <a:gd name="T0" fmla="*/ 442 w 883"/>
                  <a:gd name="T1" fmla="*/ 0 h 369"/>
                  <a:gd name="T2" fmla="*/ 502 w 883"/>
                  <a:gd name="T3" fmla="*/ 2 h 369"/>
                  <a:gd name="T4" fmla="*/ 562 w 883"/>
                  <a:gd name="T5" fmla="*/ 7 h 369"/>
                  <a:gd name="T6" fmla="*/ 619 w 883"/>
                  <a:gd name="T7" fmla="*/ 15 h 369"/>
                  <a:gd name="T8" fmla="*/ 672 w 883"/>
                  <a:gd name="T9" fmla="*/ 28 h 369"/>
                  <a:gd name="T10" fmla="*/ 721 w 883"/>
                  <a:gd name="T11" fmla="*/ 43 h 369"/>
                  <a:gd name="T12" fmla="*/ 766 w 883"/>
                  <a:gd name="T13" fmla="*/ 60 h 369"/>
                  <a:gd name="T14" fmla="*/ 804 w 883"/>
                  <a:gd name="T15" fmla="*/ 79 h 369"/>
                  <a:gd name="T16" fmla="*/ 836 w 883"/>
                  <a:gd name="T17" fmla="*/ 100 h 369"/>
                  <a:gd name="T18" fmla="*/ 859 w 883"/>
                  <a:gd name="T19" fmla="*/ 123 h 369"/>
                  <a:gd name="T20" fmla="*/ 876 w 883"/>
                  <a:gd name="T21" fmla="*/ 147 h 369"/>
                  <a:gd name="T22" fmla="*/ 883 w 883"/>
                  <a:gd name="T23" fmla="*/ 172 h 369"/>
                  <a:gd name="T24" fmla="*/ 883 w 883"/>
                  <a:gd name="T25" fmla="*/ 197 h 369"/>
                  <a:gd name="T26" fmla="*/ 876 w 883"/>
                  <a:gd name="T27" fmla="*/ 223 h 369"/>
                  <a:gd name="T28" fmla="*/ 859 w 883"/>
                  <a:gd name="T29" fmla="*/ 246 h 369"/>
                  <a:gd name="T30" fmla="*/ 836 w 883"/>
                  <a:gd name="T31" fmla="*/ 270 h 369"/>
                  <a:gd name="T32" fmla="*/ 804 w 883"/>
                  <a:gd name="T33" fmla="*/ 291 h 369"/>
                  <a:gd name="T34" fmla="*/ 766 w 883"/>
                  <a:gd name="T35" fmla="*/ 310 h 369"/>
                  <a:gd name="T36" fmla="*/ 721 w 883"/>
                  <a:gd name="T37" fmla="*/ 327 h 369"/>
                  <a:gd name="T38" fmla="*/ 672 w 883"/>
                  <a:gd name="T39" fmla="*/ 342 h 369"/>
                  <a:gd name="T40" fmla="*/ 619 w 883"/>
                  <a:gd name="T41" fmla="*/ 354 h 369"/>
                  <a:gd name="T42" fmla="*/ 562 w 883"/>
                  <a:gd name="T43" fmla="*/ 363 h 369"/>
                  <a:gd name="T44" fmla="*/ 502 w 883"/>
                  <a:gd name="T45" fmla="*/ 367 h 369"/>
                  <a:gd name="T46" fmla="*/ 442 w 883"/>
                  <a:gd name="T47" fmla="*/ 369 h 369"/>
                  <a:gd name="T48" fmla="*/ 381 w 883"/>
                  <a:gd name="T49" fmla="*/ 367 h 369"/>
                  <a:gd name="T50" fmla="*/ 323 w 883"/>
                  <a:gd name="T51" fmla="*/ 363 h 369"/>
                  <a:gd name="T52" fmla="*/ 266 w 883"/>
                  <a:gd name="T53" fmla="*/ 354 h 369"/>
                  <a:gd name="T54" fmla="*/ 213 w 883"/>
                  <a:gd name="T55" fmla="*/ 342 h 369"/>
                  <a:gd name="T56" fmla="*/ 162 w 883"/>
                  <a:gd name="T57" fmla="*/ 327 h 369"/>
                  <a:gd name="T58" fmla="*/ 119 w 883"/>
                  <a:gd name="T59" fmla="*/ 310 h 369"/>
                  <a:gd name="T60" fmla="*/ 81 w 883"/>
                  <a:gd name="T61" fmla="*/ 291 h 369"/>
                  <a:gd name="T62" fmla="*/ 49 w 883"/>
                  <a:gd name="T63" fmla="*/ 270 h 369"/>
                  <a:gd name="T64" fmla="*/ 26 w 883"/>
                  <a:gd name="T65" fmla="*/ 246 h 369"/>
                  <a:gd name="T66" fmla="*/ 9 w 883"/>
                  <a:gd name="T67" fmla="*/ 223 h 369"/>
                  <a:gd name="T68" fmla="*/ 0 w 883"/>
                  <a:gd name="T69" fmla="*/ 197 h 369"/>
                  <a:gd name="T70" fmla="*/ 0 w 883"/>
                  <a:gd name="T71" fmla="*/ 172 h 369"/>
                  <a:gd name="T72" fmla="*/ 9 w 883"/>
                  <a:gd name="T73" fmla="*/ 147 h 369"/>
                  <a:gd name="T74" fmla="*/ 26 w 883"/>
                  <a:gd name="T75" fmla="*/ 123 h 369"/>
                  <a:gd name="T76" fmla="*/ 49 w 883"/>
                  <a:gd name="T77" fmla="*/ 100 h 369"/>
                  <a:gd name="T78" fmla="*/ 81 w 883"/>
                  <a:gd name="T79" fmla="*/ 79 h 369"/>
                  <a:gd name="T80" fmla="*/ 119 w 883"/>
                  <a:gd name="T81" fmla="*/ 60 h 369"/>
                  <a:gd name="T82" fmla="*/ 162 w 883"/>
                  <a:gd name="T83" fmla="*/ 43 h 369"/>
                  <a:gd name="T84" fmla="*/ 213 w 883"/>
                  <a:gd name="T85" fmla="*/ 28 h 369"/>
                  <a:gd name="T86" fmla="*/ 266 w 883"/>
                  <a:gd name="T87" fmla="*/ 15 h 369"/>
                  <a:gd name="T88" fmla="*/ 323 w 883"/>
                  <a:gd name="T89" fmla="*/ 7 h 369"/>
                  <a:gd name="T90" fmla="*/ 381 w 883"/>
                  <a:gd name="T91" fmla="*/ 2 h 369"/>
                  <a:gd name="T92" fmla="*/ 442 w 883"/>
                  <a:gd name="T93" fmla="*/ 0 h 36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83" h="369">
                    <a:moveTo>
                      <a:pt x="442" y="0"/>
                    </a:moveTo>
                    <a:lnTo>
                      <a:pt x="502" y="2"/>
                    </a:lnTo>
                    <a:lnTo>
                      <a:pt x="562" y="7"/>
                    </a:lnTo>
                    <a:lnTo>
                      <a:pt x="619" y="15"/>
                    </a:lnTo>
                    <a:lnTo>
                      <a:pt x="672" y="28"/>
                    </a:lnTo>
                    <a:lnTo>
                      <a:pt x="721" y="43"/>
                    </a:lnTo>
                    <a:lnTo>
                      <a:pt x="766" y="60"/>
                    </a:lnTo>
                    <a:lnTo>
                      <a:pt x="804" y="79"/>
                    </a:lnTo>
                    <a:lnTo>
                      <a:pt x="836" y="100"/>
                    </a:lnTo>
                    <a:lnTo>
                      <a:pt x="859" y="123"/>
                    </a:lnTo>
                    <a:lnTo>
                      <a:pt x="876" y="147"/>
                    </a:lnTo>
                    <a:lnTo>
                      <a:pt x="883" y="172"/>
                    </a:lnTo>
                    <a:lnTo>
                      <a:pt x="883" y="197"/>
                    </a:lnTo>
                    <a:lnTo>
                      <a:pt x="876" y="223"/>
                    </a:lnTo>
                    <a:lnTo>
                      <a:pt x="859" y="246"/>
                    </a:lnTo>
                    <a:lnTo>
                      <a:pt x="836" y="270"/>
                    </a:lnTo>
                    <a:lnTo>
                      <a:pt x="804" y="291"/>
                    </a:lnTo>
                    <a:lnTo>
                      <a:pt x="766" y="310"/>
                    </a:lnTo>
                    <a:lnTo>
                      <a:pt x="721" y="327"/>
                    </a:lnTo>
                    <a:lnTo>
                      <a:pt x="672" y="342"/>
                    </a:lnTo>
                    <a:lnTo>
                      <a:pt x="619" y="354"/>
                    </a:lnTo>
                    <a:lnTo>
                      <a:pt x="562" y="363"/>
                    </a:lnTo>
                    <a:lnTo>
                      <a:pt x="502" y="367"/>
                    </a:lnTo>
                    <a:lnTo>
                      <a:pt x="442" y="369"/>
                    </a:lnTo>
                    <a:lnTo>
                      <a:pt x="381" y="367"/>
                    </a:lnTo>
                    <a:lnTo>
                      <a:pt x="323" y="363"/>
                    </a:lnTo>
                    <a:lnTo>
                      <a:pt x="266" y="354"/>
                    </a:lnTo>
                    <a:lnTo>
                      <a:pt x="213" y="342"/>
                    </a:lnTo>
                    <a:lnTo>
                      <a:pt x="162" y="327"/>
                    </a:lnTo>
                    <a:lnTo>
                      <a:pt x="119" y="310"/>
                    </a:lnTo>
                    <a:lnTo>
                      <a:pt x="81" y="291"/>
                    </a:lnTo>
                    <a:lnTo>
                      <a:pt x="49" y="270"/>
                    </a:lnTo>
                    <a:lnTo>
                      <a:pt x="26" y="246"/>
                    </a:lnTo>
                    <a:lnTo>
                      <a:pt x="9" y="223"/>
                    </a:lnTo>
                    <a:lnTo>
                      <a:pt x="0" y="197"/>
                    </a:lnTo>
                    <a:lnTo>
                      <a:pt x="0" y="172"/>
                    </a:lnTo>
                    <a:lnTo>
                      <a:pt x="9" y="147"/>
                    </a:lnTo>
                    <a:lnTo>
                      <a:pt x="26" y="123"/>
                    </a:lnTo>
                    <a:lnTo>
                      <a:pt x="49" y="100"/>
                    </a:lnTo>
                    <a:lnTo>
                      <a:pt x="81" y="79"/>
                    </a:lnTo>
                    <a:lnTo>
                      <a:pt x="119" y="60"/>
                    </a:lnTo>
                    <a:lnTo>
                      <a:pt x="162" y="43"/>
                    </a:lnTo>
                    <a:lnTo>
                      <a:pt x="213" y="28"/>
                    </a:lnTo>
                    <a:lnTo>
                      <a:pt x="266" y="15"/>
                    </a:lnTo>
                    <a:lnTo>
                      <a:pt x="323" y="7"/>
                    </a:lnTo>
                    <a:lnTo>
                      <a:pt x="381" y="2"/>
                    </a:lnTo>
                    <a:lnTo>
                      <a:pt x="442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Rectangle 21"/>
              <p:cNvSpPr>
                <a:spLocks noChangeArrowheads="1"/>
              </p:cNvSpPr>
              <p:nvPr/>
            </p:nvSpPr>
            <p:spPr bwMode="auto">
              <a:xfrm>
                <a:off x="1831" y="2668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71" name="Group 22"/>
            <p:cNvGrpSpPr>
              <a:grpSpLocks/>
            </p:cNvGrpSpPr>
            <p:nvPr/>
          </p:nvGrpSpPr>
          <p:grpSpPr bwMode="auto">
            <a:xfrm>
              <a:off x="704850" y="2249488"/>
              <a:ext cx="1579563" cy="889000"/>
              <a:chOff x="328" y="1705"/>
              <a:chExt cx="995" cy="560"/>
            </a:xfrm>
          </p:grpSpPr>
          <p:sp>
            <p:nvSpPr>
              <p:cNvPr id="81" name="Freeform 23"/>
              <p:cNvSpPr>
                <a:spLocks/>
              </p:cNvSpPr>
              <p:nvPr/>
            </p:nvSpPr>
            <p:spPr bwMode="auto">
              <a:xfrm>
                <a:off x="328" y="1881"/>
                <a:ext cx="995" cy="384"/>
              </a:xfrm>
              <a:custGeom>
                <a:avLst/>
                <a:gdLst>
                  <a:gd name="T0" fmla="*/ 514 w 995"/>
                  <a:gd name="T1" fmla="*/ 4 h 384"/>
                  <a:gd name="T2" fmla="*/ 576 w 995"/>
                  <a:gd name="T3" fmla="*/ 10 h 384"/>
                  <a:gd name="T4" fmla="*/ 638 w 995"/>
                  <a:gd name="T5" fmla="*/ 21 h 384"/>
                  <a:gd name="T6" fmla="*/ 695 w 995"/>
                  <a:gd name="T7" fmla="*/ 34 h 384"/>
                  <a:gd name="T8" fmla="*/ 752 w 995"/>
                  <a:gd name="T9" fmla="*/ 49 h 384"/>
                  <a:gd name="T10" fmla="*/ 803 w 995"/>
                  <a:gd name="T11" fmla="*/ 66 h 384"/>
                  <a:gd name="T12" fmla="*/ 850 w 995"/>
                  <a:gd name="T13" fmla="*/ 85 h 384"/>
                  <a:gd name="T14" fmla="*/ 891 w 995"/>
                  <a:gd name="T15" fmla="*/ 106 h 384"/>
                  <a:gd name="T16" fmla="*/ 927 w 995"/>
                  <a:gd name="T17" fmla="*/ 127 h 384"/>
                  <a:gd name="T18" fmla="*/ 954 w 995"/>
                  <a:gd name="T19" fmla="*/ 150 h 384"/>
                  <a:gd name="T20" fmla="*/ 976 w 995"/>
                  <a:gd name="T21" fmla="*/ 176 h 384"/>
                  <a:gd name="T22" fmla="*/ 988 w 995"/>
                  <a:gd name="T23" fmla="*/ 199 h 384"/>
                  <a:gd name="T24" fmla="*/ 995 w 995"/>
                  <a:gd name="T25" fmla="*/ 222 h 384"/>
                  <a:gd name="T26" fmla="*/ 993 w 995"/>
                  <a:gd name="T27" fmla="*/ 248 h 384"/>
                  <a:gd name="T28" fmla="*/ 982 w 995"/>
                  <a:gd name="T29" fmla="*/ 269 h 384"/>
                  <a:gd name="T30" fmla="*/ 965 w 995"/>
                  <a:gd name="T31" fmla="*/ 290 h 384"/>
                  <a:gd name="T32" fmla="*/ 940 w 995"/>
                  <a:gd name="T33" fmla="*/ 312 h 384"/>
                  <a:gd name="T34" fmla="*/ 908 w 995"/>
                  <a:gd name="T35" fmla="*/ 329 h 384"/>
                  <a:gd name="T36" fmla="*/ 869 w 995"/>
                  <a:gd name="T37" fmla="*/ 345 h 384"/>
                  <a:gd name="T38" fmla="*/ 827 w 995"/>
                  <a:gd name="T39" fmla="*/ 358 h 384"/>
                  <a:gd name="T40" fmla="*/ 776 w 995"/>
                  <a:gd name="T41" fmla="*/ 369 h 384"/>
                  <a:gd name="T42" fmla="*/ 723 w 995"/>
                  <a:gd name="T43" fmla="*/ 377 h 384"/>
                  <a:gd name="T44" fmla="*/ 665 w 995"/>
                  <a:gd name="T45" fmla="*/ 382 h 384"/>
                  <a:gd name="T46" fmla="*/ 606 w 995"/>
                  <a:gd name="T47" fmla="*/ 384 h 384"/>
                  <a:gd name="T48" fmla="*/ 544 w 995"/>
                  <a:gd name="T49" fmla="*/ 384 h 384"/>
                  <a:gd name="T50" fmla="*/ 480 w 995"/>
                  <a:gd name="T51" fmla="*/ 379 h 384"/>
                  <a:gd name="T52" fmla="*/ 419 w 995"/>
                  <a:gd name="T53" fmla="*/ 373 h 384"/>
                  <a:gd name="T54" fmla="*/ 357 w 995"/>
                  <a:gd name="T55" fmla="*/ 362 h 384"/>
                  <a:gd name="T56" fmla="*/ 300 w 995"/>
                  <a:gd name="T57" fmla="*/ 350 h 384"/>
                  <a:gd name="T58" fmla="*/ 242 w 995"/>
                  <a:gd name="T59" fmla="*/ 335 h 384"/>
                  <a:gd name="T60" fmla="*/ 191 w 995"/>
                  <a:gd name="T61" fmla="*/ 318 h 384"/>
                  <a:gd name="T62" fmla="*/ 144 w 995"/>
                  <a:gd name="T63" fmla="*/ 299 h 384"/>
                  <a:gd name="T64" fmla="*/ 104 w 995"/>
                  <a:gd name="T65" fmla="*/ 278 h 384"/>
                  <a:gd name="T66" fmla="*/ 68 w 995"/>
                  <a:gd name="T67" fmla="*/ 256 h 384"/>
                  <a:gd name="T68" fmla="*/ 40 w 995"/>
                  <a:gd name="T69" fmla="*/ 233 h 384"/>
                  <a:gd name="T70" fmla="*/ 19 w 995"/>
                  <a:gd name="T71" fmla="*/ 208 h 384"/>
                  <a:gd name="T72" fmla="*/ 6 w 995"/>
                  <a:gd name="T73" fmla="*/ 184 h 384"/>
                  <a:gd name="T74" fmla="*/ 0 w 995"/>
                  <a:gd name="T75" fmla="*/ 161 h 384"/>
                  <a:gd name="T76" fmla="*/ 2 w 995"/>
                  <a:gd name="T77" fmla="*/ 138 h 384"/>
                  <a:gd name="T78" fmla="*/ 13 w 995"/>
                  <a:gd name="T79" fmla="*/ 114 h 384"/>
                  <a:gd name="T80" fmla="*/ 30 w 995"/>
                  <a:gd name="T81" fmla="*/ 93 h 384"/>
                  <a:gd name="T82" fmla="*/ 55 w 995"/>
                  <a:gd name="T83" fmla="*/ 72 h 384"/>
                  <a:gd name="T84" fmla="*/ 87 w 995"/>
                  <a:gd name="T85" fmla="*/ 55 h 384"/>
                  <a:gd name="T86" fmla="*/ 125 w 995"/>
                  <a:gd name="T87" fmla="*/ 38 h 384"/>
                  <a:gd name="T88" fmla="*/ 168 w 995"/>
                  <a:gd name="T89" fmla="*/ 25 h 384"/>
                  <a:gd name="T90" fmla="*/ 219 w 995"/>
                  <a:gd name="T91" fmla="*/ 15 h 384"/>
                  <a:gd name="T92" fmla="*/ 272 w 995"/>
                  <a:gd name="T93" fmla="*/ 6 h 384"/>
                  <a:gd name="T94" fmla="*/ 329 w 995"/>
                  <a:gd name="T95" fmla="*/ 2 h 384"/>
                  <a:gd name="T96" fmla="*/ 389 w 995"/>
                  <a:gd name="T97" fmla="*/ 0 h 384"/>
                  <a:gd name="T98" fmla="*/ 450 w 995"/>
                  <a:gd name="T99" fmla="*/ 0 h 384"/>
                  <a:gd name="T100" fmla="*/ 514 w 995"/>
                  <a:gd name="T101" fmla="*/ 4 h 38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995" h="384">
                    <a:moveTo>
                      <a:pt x="514" y="4"/>
                    </a:moveTo>
                    <a:lnTo>
                      <a:pt x="576" y="10"/>
                    </a:lnTo>
                    <a:lnTo>
                      <a:pt x="638" y="21"/>
                    </a:lnTo>
                    <a:lnTo>
                      <a:pt x="695" y="34"/>
                    </a:lnTo>
                    <a:lnTo>
                      <a:pt x="752" y="49"/>
                    </a:lnTo>
                    <a:lnTo>
                      <a:pt x="803" y="66"/>
                    </a:lnTo>
                    <a:lnTo>
                      <a:pt x="850" y="85"/>
                    </a:lnTo>
                    <a:lnTo>
                      <a:pt x="891" y="106"/>
                    </a:lnTo>
                    <a:lnTo>
                      <a:pt x="927" y="127"/>
                    </a:lnTo>
                    <a:lnTo>
                      <a:pt x="954" y="150"/>
                    </a:lnTo>
                    <a:lnTo>
                      <a:pt x="976" y="176"/>
                    </a:lnTo>
                    <a:lnTo>
                      <a:pt x="988" y="199"/>
                    </a:lnTo>
                    <a:lnTo>
                      <a:pt x="995" y="222"/>
                    </a:lnTo>
                    <a:lnTo>
                      <a:pt x="993" y="248"/>
                    </a:lnTo>
                    <a:lnTo>
                      <a:pt x="982" y="269"/>
                    </a:lnTo>
                    <a:lnTo>
                      <a:pt x="965" y="290"/>
                    </a:lnTo>
                    <a:lnTo>
                      <a:pt x="940" y="312"/>
                    </a:lnTo>
                    <a:lnTo>
                      <a:pt x="908" y="329"/>
                    </a:lnTo>
                    <a:lnTo>
                      <a:pt x="869" y="345"/>
                    </a:lnTo>
                    <a:lnTo>
                      <a:pt x="827" y="358"/>
                    </a:lnTo>
                    <a:lnTo>
                      <a:pt x="776" y="369"/>
                    </a:lnTo>
                    <a:lnTo>
                      <a:pt x="723" y="377"/>
                    </a:lnTo>
                    <a:lnTo>
                      <a:pt x="665" y="382"/>
                    </a:lnTo>
                    <a:lnTo>
                      <a:pt x="606" y="384"/>
                    </a:lnTo>
                    <a:lnTo>
                      <a:pt x="544" y="384"/>
                    </a:lnTo>
                    <a:lnTo>
                      <a:pt x="480" y="379"/>
                    </a:lnTo>
                    <a:lnTo>
                      <a:pt x="419" y="373"/>
                    </a:lnTo>
                    <a:lnTo>
                      <a:pt x="357" y="362"/>
                    </a:lnTo>
                    <a:lnTo>
                      <a:pt x="300" y="350"/>
                    </a:lnTo>
                    <a:lnTo>
                      <a:pt x="242" y="335"/>
                    </a:lnTo>
                    <a:lnTo>
                      <a:pt x="191" y="318"/>
                    </a:lnTo>
                    <a:lnTo>
                      <a:pt x="144" y="299"/>
                    </a:lnTo>
                    <a:lnTo>
                      <a:pt x="104" y="278"/>
                    </a:lnTo>
                    <a:lnTo>
                      <a:pt x="68" y="256"/>
                    </a:lnTo>
                    <a:lnTo>
                      <a:pt x="40" y="233"/>
                    </a:lnTo>
                    <a:lnTo>
                      <a:pt x="19" y="208"/>
                    </a:lnTo>
                    <a:lnTo>
                      <a:pt x="6" y="184"/>
                    </a:lnTo>
                    <a:lnTo>
                      <a:pt x="0" y="161"/>
                    </a:lnTo>
                    <a:lnTo>
                      <a:pt x="2" y="138"/>
                    </a:lnTo>
                    <a:lnTo>
                      <a:pt x="13" y="114"/>
                    </a:lnTo>
                    <a:lnTo>
                      <a:pt x="30" y="93"/>
                    </a:lnTo>
                    <a:lnTo>
                      <a:pt x="55" y="72"/>
                    </a:lnTo>
                    <a:lnTo>
                      <a:pt x="87" y="55"/>
                    </a:lnTo>
                    <a:lnTo>
                      <a:pt x="125" y="38"/>
                    </a:lnTo>
                    <a:lnTo>
                      <a:pt x="168" y="25"/>
                    </a:lnTo>
                    <a:lnTo>
                      <a:pt x="219" y="15"/>
                    </a:lnTo>
                    <a:lnTo>
                      <a:pt x="272" y="6"/>
                    </a:lnTo>
                    <a:lnTo>
                      <a:pt x="329" y="2"/>
                    </a:lnTo>
                    <a:lnTo>
                      <a:pt x="389" y="0"/>
                    </a:lnTo>
                    <a:lnTo>
                      <a:pt x="450" y="0"/>
                    </a:lnTo>
                    <a:lnTo>
                      <a:pt x="514" y="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Rectangle 24"/>
              <p:cNvSpPr>
                <a:spLocks noChangeArrowheads="1"/>
              </p:cNvSpPr>
              <p:nvPr/>
            </p:nvSpPr>
            <p:spPr bwMode="auto">
              <a:xfrm>
                <a:off x="853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sp>
          <p:nvSpPr>
            <p:cNvPr id="79" name="Rectangle 26"/>
            <p:cNvSpPr>
              <a:spLocks noChangeArrowheads="1"/>
            </p:cNvSpPr>
            <p:nvPr/>
          </p:nvSpPr>
          <p:spPr bwMode="auto">
            <a:xfrm>
              <a:off x="4127488" y="2249488"/>
              <a:ext cx="98" cy="5439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grpSp>
          <p:nvGrpSpPr>
            <p:cNvPr id="73" name="Group 28"/>
            <p:cNvGrpSpPr>
              <a:grpSpLocks/>
            </p:cNvGrpSpPr>
            <p:nvPr/>
          </p:nvGrpSpPr>
          <p:grpSpPr bwMode="auto">
            <a:xfrm>
              <a:off x="1882775" y="2982913"/>
              <a:ext cx="2160588" cy="1652587"/>
              <a:chOff x="1070" y="2167"/>
              <a:chExt cx="1361" cy="1041"/>
            </a:xfrm>
          </p:grpSpPr>
          <p:sp>
            <p:nvSpPr>
              <p:cNvPr id="77" name="Rectangle 29"/>
              <p:cNvSpPr>
                <a:spLocks noChangeArrowheads="1"/>
              </p:cNvSpPr>
              <p:nvPr/>
            </p:nvSpPr>
            <p:spPr bwMode="auto">
              <a:xfrm>
                <a:off x="1070" y="256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78" name="Freeform 30"/>
              <p:cNvSpPr>
                <a:spLocks/>
              </p:cNvSpPr>
              <p:nvPr/>
            </p:nvSpPr>
            <p:spPr bwMode="auto">
              <a:xfrm>
                <a:off x="1114" y="2167"/>
                <a:ext cx="1317" cy="1041"/>
              </a:xfrm>
              <a:custGeom>
                <a:avLst/>
                <a:gdLst>
                  <a:gd name="T0" fmla="*/ 441 w 1317"/>
                  <a:gd name="T1" fmla="*/ 174 h 1041"/>
                  <a:gd name="T2" fmla="*/ 506 w 1317"/>
                  <a:gd name="T3" fmla="*/ 134 h 1041"/>
                  <a:gd name="T4" fmla="*/ 574 w 1317"/>
                  <a:gd name="T5" fmla="*/ 100 h 1041"/>
                  <a:gd name="T6" fmla="*/ 643 w 1317"/>
                  <a:gd name="T7" fmla="*/ 70 h 1041"/>
                  <a:gd name="T8" fmla="*/ 711 w 1317"/>
                  <a:gd name="T9" fmla="*/ 47 h 1041"/>
                  <a:gd name="T10" fmla="*/ 781 w 1317"/>
                  <a:gd name="T11" fmla="*/ 26 h 1041"/>
                  <a:gd name="T12" fmla="*/ 847 w 1317"/>
                  <a:gd name="T13" fmla="*/ 13 h 1041"/>
                  <a:gd name="T14" fmla="*/ 910 w 1317"/>
                  <a:gd name="T15" fmla="*/ 4 h 1041"/>
                  <a:gd name="T16" fmla="*/ 974 w 1317"/>
                  <a:gd name="T17" fmla="*/ 0 h 1041"/>
                  <a:gd name="T18" fmla="*/ 1032 w 1317"/>
                  <a:gd name="T19" fmla="*/ 4 h 1041"/>
                  <a:gd name="T20" fmla="*/ 1087 w 1317"/>
                  <a:gd name="T21" fmla="*/ 13 h 1041"/>
                  <a:gd name="T22" fmla="*/ 1136 w 1317"/>
                  <a:gd name="T23" fmla="*/ 26 h 1041"/>
                  <a:gd name="T24" fmla="*/ 1180 w 1317"/>
                  <a:gd name="T25" fmla="*/ 45 h 1041"/>
                  <a:gd name="T26" fmla="*/ 1219 w 1317"/>
                  <a:gd name="T27" fmla="*/ 70 h 1041"/>
                  <a:gd name="T28" fmla="*/ 1253 w 1317"/>
                  <a:gd name="T29" fmla="*/ 100 h 1041"/>
                  <a:gd name="T30" fmla="*/ 1278 w 1317"/>
                  <a:gd name="T31" fmla="*/ 134 h 1041"/>
                  <a:gd name="T32" fmla="*/ 1297 w 1317"/>
                  <a:gd name="T33" fmla="*/ 172 h 1041"/>
                  <a:gd name="T34" fmla="*/ 1310 w 1317"/>
                  <a:gd name="T35" fmla="*/ 214 h 1041"/>
                  <a:gd name="T36" fmla="*/ 1317 w 1317"/>
                  <a:gd name="T37" fmla="*/ 261 h 1041"/>
                  <a:gd name="T38" fmla="*/ 1314 w 1317"/>
                  <a:gd name="T39" fmla="*/ 310 h 1041"/>
                  <a:gd name="T40" fmla="*/ 1304 w 1317"/>
                  <a:gd name="T41" fmla="*/ 359 h 1041"/>
                  <a:gd name="T42" fmla="*/ 1289 w 1317"/>
                  <a:gd name="T43" fmla="*/ 412 h 1041"/>
                  <a:gd name="T44" fmla="*/ 1265 w 1317"/>
                  <a:gd name="T45" fmla="*/ 467 h 1041"/>
                  <a:gd name="T46" fmla="*/ 1236 w 1317"/>
                  <a:gd name="T47" fmla="*/ 520 h 1041"/>
                  <a:gd name="T48" fmla="*/ 1200 w 1317"/>
                  <a:gd name="T49" fmla="*/ 575 h 1041"/>
                  <a:gd name="T50" fmla="*/ 1157 w 1317"/>
                  <a:gd name="T51" fmla="*/ 628 h 1041"/>
                  <a:gd name="T52" fmla="*/ 1110 w 1317"/>
                  <a:gd name="T53" fmla="*/ 681 h 1041"/>
                  <a:gd name="T54" fmla="*/ 1057 w 1317"/>
                  <a:gd name="T55" fmla="*/ 732 h 1041"/>
                  <a:gd name="T56" fmla="*/ 1000 w 1317"/>
                  <a:gd name="T57" fmla="*/ 781 h 1041"/>
                  <a:gd name="T58" fmla="*/ 940 w 1317"/>
                  <a:gd name="T59" fmla="*/ 825 h 1041"/>
                  <a:gd name="T60" fmla="*/ 876 w 1317"/>
                  <a:gd name="T61" fmla="*/ 868 h 1041"/>
                  <a:gd name="T62" fmla="*/ 810 w 1317"/>
                  <a:gd name="T63" fmla="*/ 908 h 1041"/>
                  <a:gd name="T64" fmla="*/ 742 w 1317"/>
                  <a:gd name="T65" fmla="*/ 942 h 1041"/>
                  <a:gd name="T66" fmla="*/ 674 w 1317"/>
                  <a:gd name="T67" fmla="*/ 971 h 1041"/>
                  <a:gd name="T68" fmla="*/ 604 w 1317"/>
                  <a:gd name="T69" fmla="*/ 995 h 1041"/>
                  <a:gd name="T70" fmla="*/ 536 w 1317"/>
                  <a:gd name="T71" fmla="*/ 1016 h 1041"/>
                  <a:gd name="T72" fmla="*/ 470 w 1317"/>
                  <a:gd name="T73" fmla="*/ 1029 h 1041"/>
                  <a:gd name="T74" fmla="*/ 404 w 1317"/>
                  <a:gd name="T75" fmla="*/ 1037 h 1041"/>
                  <a:gd name="T76" fmla="*/ 343 w 1317"/>
                  <a:gd name="T77" fmla="*/ 1041 h 1041"/>
                  <a:gd name="T78" fmla="*/ 283 w 1317"/>
                  <a:gd name="T79" fmla="*/ 1037 h 1041"/>
                  <a:gd name="T80" fmla="*/ 230 w 1317"/>
                  <a:gd name="T81" fmla="*/ 1029 h 1041"/>
                  <a:gd name="T82" fmla="*/ 179 w 1317"/>
                  <a:gd name="T83" fmla="*/ 1016 h 1041"/>
                  <a:gd name="T84" fmla="*/ 134 w 1317"/>
                  <a:gd name="T85" fmla="*/ 997 h 1041"/>
                  <a:gd name="T86" fmla="*/ 96 w 1317"/>
                  <a:gd name="T87" fmla="*/ 971 h 1041"/>
                  <a:gd name="T88" fmla="*/ 64 w 1317"/>
                  <a:gd name="T89" fmla="*/ 942 h 1041"/>
                  <a:gd name="T90" fmla="*/ 37 w 1317"/>
                  <a:gd name="T91" fmla="*/ 908 h 1041"/>
                  <a:gd name="T92" fmla="*/ 17 w 1317"/>
                  <a:gd name="T93" fmla="*/ 870 h 1041"/>
                  <a:gd name="T94" fmla="*/ 7 w 1317"/>
                  <a:gd name="T95" fmla="*/ 827 h 1041"/>
                  <a:gd name="T96" fmla="*/ 0 w 1317"/>
                  <a:gd name="T97" fmla="*/ 781 h 1041"/>
                  <a:gd name="T98" fmla="*/ 3 w 1317"/>
                  <a:gd name="T99" fmla="*/ 732 h 1041"/>
                  <a:gd name="T100" fmla="*/ 11 w 1317"/>
                  <a:gd name="T101" fmla="*/ 681 h 1041"/>
                  <a:gd name="T102" fmla="*/ 28 w 1317"/>
                  <a:gd name="T103" fmla="*/ 630 h 1041"/>
                  <a:gd name="T104" fmla="*/ 51 w 1317"/>
                  <a:gd name="T105" fmla="*/ 575 h 1041"/>
                  <a:gd name="T106" fmla="*/ 81 w 1317"/>
                  <a:gd name="T107" fmla="*/ 522 h 1041"/>
                  <a:gd name="T108" fmla="*/ 117 w 1317"/>
                  <a:gd name="T109" fmla="*/ 467 h 1041"/>
                  <a:gd name="T110" fmla="*/ 160 w 1317"/>
                  <a:gd name="T111" fmla="*/ 414 h 1041"/>
                  <a:gd name="T112" fmla="*/ 207 w 1317"/>
                  <a:gd name="T113" fmla="*/ 361 h 1041"/>
                  <a:gd name="T114" fmla="*/ 260 w 1317"/>
                  <a:gd name="T115" fmla="*/ 310 h 1041"/>
                  <a:gd name="T116" fmla="*/ 315 w 1317"/>
                  <a:gd name="T117" fmla="*/ 261 h 1041"/>
                  <a:gd name="T118" fmla="*/ 377 w 1317"/>
                  <a:gd name="T119" fmla="*/ 216 h 1041"/>
                  <a:gd name="T120" fmla="*/ 441 w 1317"/>
                  <a:gd name="T121" fmla="*/ 174 h 10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317" h="1041">
                    <a:moveTo>
                      <a:pt x="441" y="174"/>
                    </a:moveTo>
                    <a:lnTo>
                      <a:pt x="506" y="134"/>
                    </a:lnTo>
                    <a:lnTo>
                      <a:pt x="574" y="100"/>
                    </a:lnTo>
                    <a:lnTo>
                      <a:pt x="643" y="70"/>
                    </a:lnTo>
                    <a:lnTo>
                      <a:pt x="711" y="47"/>
                    </a:lnTo>
                    <a:lnTo>
                      <a:pt x="781" y="26"/>
                    </a:lnTo>
                    <a:lnTo>
                      <a:pt x="847" y="13"/>
                    </a:lnTo>
                    <a:lnTo>
                      <a:pt x="910" y="4"/>
                    </a:lnTo>
                    <a:lnTo>
                      <a:pt x="974" y="0"/>
                    </a:lnTo>
                    <a:lnTo>
                      <a:pt x="1032" y="4"/>
                    </a:lnTo>
                    <a:lnTo>
                      <a:pt x="1087" y="13"/>
                    </a:lnTo>
                    <a:lnTo>
                      <a:pt x="1136" y="26"/>
                    </a:lnTo>
                    <a:lnTo>
                      <a:pt x="1180" y="45"/>
                    </a:lnTo>
                    <a:lnTo>
                      <a:pt x="1219" y="70"/>
                    </a:lnTo>
                    <a:lnTo>
                      <a:pt x="1253" y="100"/>
                    </a:lnTo>
                    <a:lnTo>
                      <a:pt x="1278" y="134"/>
                    </a:lnTo>
                    <a:lnTo>
                      <a:pt x="1297" y="172"/>
                    </a:lnTo>
                    <a:lnTo>
                      <a:pt x="1310" y="214"/>
                    </a:lnTo>
                    <a:lnTo>
                      <a:pt x="1317" y="261"/>
                    </a:lnTo>
                    <a:lnTo>
                      <a:pt x="1314" y="310"/>
                    </a:lnTo>
                    <a:lnTo>
                      <a:pt x="1304" y="359"/>
                    </a:lnTo>
                    <a:lnTo>
                      <a:pt x="1289" y="412"/>
                    </a:lnTo>
                    <a:lnTo>
                      <a:pt x="1265" y="467"/>
                    </a:lnTo>
                    <a:lnTo>
                      <a:pt x="1236" y="520"/>
                    </a:lnTo>
                    <a:lnTo>
                      <a:pt x="1200" y="575"/>
                    </a:lnTo>
                    <a:lnTo>
                      <a:pt x="1157" y="628"/>
                    </a:lnTo>
                    <a:lnTo>
                      <a:pt x="1110" y="681"/>
                    </a:lnTo>
                    <a:lnTo>
                      <a:pt x="1057" y="732"/>
                    </a:lnTo>
                    <a:lnTo>
                      <a:pt x="1000" y="781"/>
                    </a:lnTo>
                    <a:lnTo>
                      <a:pt x="940" y="825"/>
                    </a:lnTo>
                    <a:lnTo>
                      <a:pt x="876" y="868"/>
                    </a:lnTo>
                    <a:lnTo>
                      <a:pt x="810" y="908"/>
                    </a:lnTo>
                    <a:lnTo>
                      <a:pt x="742" y="942"/>
                    </a:lnTo>
                    <a:lnTo>
                      <a:pt x="674" y="971"/>
                    </a:lnTo>
                    <a:lnTo>
                      <a:pt x="604" y="995"/>
                    </a:lnTo>
                    <a:lnTo>
                      <a:pt x="536" y="1016"/>
                    </a:lnTo>
                    <a:lnTo>
                      <a:pt x="470" y="1029"/>
                    </a:lnTo>
                    <a:lnTo>
                      <a:pt x="404" y="1037"/>
                    </a:lnTo>
                    <a:lnTo>
                      <a:pt x="343" y="1041"/>
                    </a:lnTo>
                    <a:lnTo>
                      <a:pt x="283" y="1037"/>
                    </a:lnTo>
                    <a:lnTo>
                      <a:pt x="230" y="1029"/>
                    </a:lnTo>
                    <a:lnTo>
                      <a:pt x="179" y="1016"/>
                    </a:lnTo>
                    <a:lnTo>
                      <a:pt x="134" y="997"/>
                    </a:lnTo>
                    <a:lnTo>
                      <a:pt x="96" y="971"/>
                    </a:lnTo>
                    <a:lnTo>
                      <a:pt x="64" y="942"/>
                    </a:lnTo>
                    <a:lnTo>
                      <a:pt x="37" y="908"/>
                    </a:lnTo>
                    <a:lnTo>
                      <a:pt x="17" y="870"/>
                    </a:lnTo>
                    <a:lnTo>
                      <a:pt x="7" y="827"/>
                    </a:lnTo>
                    <a:lnTo>
                      <a:pt x="0" y="781"/>
                    </a:lnTo>
                    <a:lnTo>
                      <a:pt x="3" y="732"/>
                    </a:lnTo>
                    <a:lnTo>
                      <a:pt x="11" y="681"/>
                    </a:lnTo>
                    <a:lnTo>
                      <a:pt x="28" y="630"/>
                    </a:lnTo>
                    <a:lnTo>
                      <a:pt x="51" y="575"/>
                    </a:lnTo>
                    <a:lnTo>
                      <a:pt x="81" y="522"/>
                    </a:lnTo>
                    <a:lnTo>
                      <a:pt x="117" y="467"/>
                    </a:lnTo>
                    <a:lnTo>
                      <a:pt x="160" y="414"/>
                    </a:lnTo>
                    <a:lnTo>
                      <a:pt x="207" y="361"/>
                    </a:lnTo>
                    <a:lnTo>
                      <a:pt x="260" y="310"/>
                    </a:lnTo>
                    <a:lnTo>
                      <a:pt x="315" y="261"/>
                    </a:lnTo>
                    <a:lnTo>
                      <a:pt x="377" y="216"/>
                    </a:lnTo>
                    <a:lnTo>
                      <a:pt x="441" y="17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" name="Group 4"/>
          <p:cNvGrpSpPr>
            <a:grpSpLocks noChangeAspect="1"/>
          </p:cNvGrpSpPr>
          <p:nvPr/>
        </p:nvGrpSpPr>
        <p:grpSpPr bwMode="auto">
          <a:xfrm>
            <a:off x="7883525" y="4729162"/>
            <a:ext cx="3775075" cy="2016124"/>
            <a:chOff x="4966" y="2979"/>
            <a:chExt cx="2378" cy="1270"/>
          </a:xfrm>
        </p:grpSpPr>
        <p:sp>
          <p:nvSpPr>
            <p:cNvPr id="11" name="AutoShape 3"/>
            <p:cNvSpPr>
              <a:spLocks noChangeAspect="1" noChangeArrowheads="1" noTextEdit="1"/>
            </p:cNvSpPr>
            <p:nvPr/>
          </p:nvSpPr>
          <p:spPr bwMode="auto">
            <a:xfrm>
              <a:off x="4966" y="2979"/>
              <a:ext cx="2372" cy="1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4966" y="2979"/>
              <a:ext cx="2378" cy="12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5271" y="3073"/>
              <a:ext cx="1842" cy="10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5271" y="3073"/>
              <a:ext cx="1842" cy="1032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5271" y="4105"/>
              <a:ext cx="184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9"/>
            <p:cNvSpPr>
              <a:spLocks noChangeShapeType="1"/>
            </p:cNvSpPr>
            <p:nvPr/>
          </p:nvSpPr>
          <p:spPr bwMode="auto">
            <a:xfrm flipV="1">
              <a:off x="5271" y="3073"/>
              <a:ext cx="0" cy="103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0"/>
            <p:cNvSpPr>
              <a:spLocks noChangeShapeType="1"/>
            </p:cNvSpPr>
            <p:nvPr/>
          </p:nvSpPr>
          <p:spPr bwMode="auto">
            <a:xfrm flipV="1">
              <a:off x="5426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5408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Line 12"/>
            <p:cNvSpPr>
              <a:spLocks noChangeShapeType="1"/>
            </p:cNvSpPr>
            <p:nvPr/>
          </p:nvSpPr>
          <p:spPr bwMode="auto">
            <a:xfrm flipV="1">
              <a:off x="5734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Rectangle 13"/>
            <p:cNvSpPr>
              <a:spLocks noChangeArrowheads="1"/>
            </p:cNvSpPr>
            <p:nvPr/>
          </p:nvSpPr>
          <p:spPr bwMode="auto">
            <a:xfrm>
              <a:off x="5713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Line 14"/>
            <p:cNvSpPr>
              <a:spLocks noChangeShapeType="1"/>
            </p:cNvSpPr>
            <p:nvPr/>
          </p:nvSpPr>
          <p:spPr bwMode="auto">
            <a:xfrm flipV="1">
              <a:off x="6039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Rectangle 15"/>
            <p:cNvSpPr>
              <a:spLocks noChangeArrowheads="1"/>
            </p:cNvSpPr>
            <p:nvPr/>
          </p:nvSpPr>
          <p:spPr bwMode="auto">
            <a:xfrm>
              <a:off x="6022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flipV="1">
              <a:off x="6348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Rectangle 17"/>
            <p:cNvSpPr>
              <a:spLocks noChangeArrowheads="1"/>
            </p:cNvSpPr>
            <p:nvPr/>
          </p:nvSpPr>
          <p:spPr bwMode="auto">
            <a:xfrm>
              <a:off x="6327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Line 18"/>
            <p:cNvSpPr>
              <a:spLocks noChangeShapeType="1"/>
            </p:cNvSpPr>
            <p:nvPr/>
          </p:nvSpPr>
          <p:spPr bwMode="auto">
            <a:xfrm flipV="1">
              <a:off x="6653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Rectangle 19"/>
            <p:cNvSpPr>
              <a:spLocks noChangeArrowheads="1"/>
            </p:cNvSpPr>
            <p:nvPr/>
          </p:nvSpPr>
          <p:spPr bwMode="auto">
            <a:xfrm>
              <a:off x="6635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Line 20"/>
            <p:cNvSpPr>
              <a:spLocks noChangeShapeType="1"/>
            </p:cNvSpPr>
            <p:nvPr/>
          </p:nvSpPr>
          <p:spPr bwMode="auto">
            <a:xfrm flipV="1">
              <a:off x="6958" y="4090"/>
              <a:ext cx="0" cy="1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Rectangle 21"/>
            <p:cNvSpPr>
              <a:spLocks noChangeArrowheads="1"/>
            </p:cNvSpPr>
            <p:nvPr/>
          </p:nvSpPr>
          <p:spPr bwMode="auto">
            <a:xfrm>
              <a:off x="6941" y="4115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Line 22"/>
            <p:cNvSpPr>
              <a:spLocks noChangeShapeType="1"/>
            </p:cNvSpPr>
            <p:nvPr/>
          </p:nvSpPr>
          <p:spPr bwMode="auto">
            <a:xfrm>
              <a:off x="5271" y="4105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Rectangle 23"/>
            <p:cNvSpPr>
              <a:spLocks noChangeArrowheads="1"/>
            </p:cNvSpPr>
            <p:nvPr/>
          </p:nvSpPr>
          <p:spPr bwMode="auto">
            <a:xfrm>
              <a:off x="5218" y="4069"/>
              <a:ext cx="74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" name="Line 24"/>
            <p:cNvSpPr>
              <a:spLocks noChangeShapeType="1"/>
            </p:cNvSpPr>
            <p:nvPr/>
          </p:nvSpPr>
          <p:spPr bwMode="auto">
            <a:xfrm>
              <a:off x="5271" y="3978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Rectangle 25"/>
            <p:cNvSpPr>
              <a:spLocks noChangeArrowheads="1"/>
            </p:cNvSpPr>
            <p:nvPr/>
          </p:nvSpPr>
          <p:spPr bwMode="auto">
            <a:xfrm>
              <a:off x="5120" y="3945"/>
              <a:ext cx="178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1" name="Line 26"/>
            <p:cNvSpPr>
              <a:spLocks noChangeShapeType="1"/>
            </p:cNvSpPr>
            <p:nvPr/>
          </p:nvSpPr>
          <p:spPr bwMode="auto">
            <a:xfrm>
              <a:off x="5271" y="3854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Rectangle 27"/>
            <p:cNvSpPr>
              <a:spLocks noChangeArrowheads="1"/>
            </p:cNvSpPr>
            <p:nvPr/>
          </p:nvSpPr>
          <p:spPr bwMode="auto">
            <a:xfrm>
              <a:off x="5159" y="3819"/>
              <a:ext cx="136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" name="Line 28"/>
            <p:cNvSpPr>
              <a:spLocks noChangeShapeType="1"/>
            </p:cNvSpPr>
            <p:nvPr/>
          </p:nvSpPr>
          <p:spPr bwMode="auto">
            <a:xfrm>
              <a:off x="5271" y="3728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Rectangle 29"/>
            <p:cNvSpPr>
              <a:spLocks noChangeArrowheads="1"/>
            </p:cNvSpPr>
            <p:nvPr/>
          </p:nvSpPr>
          <p:spPr bwMode="auto">
            <a:xfrm>
              <a:off x="5120" y="3692"/>
              <a:ext cx="178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Line 30"/>
            <p:cNvSpPr>
              <a:spLocks noChangeShapeType="1"/>
            </p:cNvSpPr>
            <p:nvPr/>
          </p:nvSpPr>
          <p:spPr bwMode="auto">
            <a:xfrm>
              <a:off x="5271" y="3601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Rectangle 31"/>
            <p:cNvSpPr>
              <a:spLocks noChangeArrowheads="1"/>
            </p:cNvSpPr>
            <p:nvPr/>
          </p:nvSpPr>
          <p:spPr bwMode="auto">
            <a:xfrm>
              <a:off x="5159" y="3568"/>
              <a:ext cx="136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Line 32"/>
            <p:cNvSpPr>
              <a:spLocks noChangeShapeType="1"/>
            </p:cNvSpPr>
            <p:nvPr/>
          </p:nvSpPr>
          <p:spPr bwMode="auto">
            <a:xfrm>
              <a:off x="5271" y="3477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Rectangle 33"/>
            <p:cNvSpPr>
              <a:spLocks noChangeArrowheads="1"/>
            </p:cNvSpPr>
            <p:nvPr/>
          </p:nvSpPr>
          <p:spPr bwMode="auto">
            <a:xfrm>
              <a:off x="5120" y="3442"/>
              <a:ext cx="178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Line 34"/>
            <p:cNvSpPr>
              <a:spLocks noChangeShapeType="1"/>
            </p:cNvSpPr>
            <p:nvPr/>
          </p:nvSpPr>
          <p:spPr bwMode="auto">
            <a:xfrm>
              <a:off x="5271" y="3351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Rectangle 35"/>
            <p:cNvSpPr>
              <a:spLocks noChangeArrowheads="1"/>
            </p:cNvSpPr>
            <p:nvPr/>
          </p:nvSpPr>
          <p:spPr bwMode="auto">
            <a:xfrm>
              <a:off x="5159" y="3315"/>
              <a:ext cx="136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Line 36"/>
            <p:cNvSpPr>
              <a:spLocks noChangeShapeType="1"/>
            </p:cNvSpPr>
            <p:nvPr/>
          </p:nvSpPr>
          <p:spPr bwMode="auto">
            <a:xfrm>
              <a:off x="5271" y="3227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Rectangle 37"/>
            <p:cNvSpPr>
              <a:spLocks noChangeArrowheads="1"/>
            </p:cNvSpPr>
            <p:nvPr/>
          </p:nvSpPr>
          <p:spPr bwMode="auto">
            <a:xfrm>
              <a:off x="5120" y="3194"/>
              <a:ext cx="178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0.35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Line 38"/>
            <p:cNvSpPr>
              <a:spLocks noChangeShapeType="1"/>
            </p:cNvSpPr>
            <p:nvPr/>
          </p:nvSpPr>
          <p:spPr bwMode="auto">
            <a:xfrm>
              <a:off x="5271" y="3103"/>
              <a:ext cx="21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Rectangle 39"/>
            <p:cNvSpPr>
              <a:spLocks noChangeArrowheads="1"/>
            </p:cNvSpPr>
            <p:nvPr/>
          </p:nvSpPr>
          <p:spPr bwMode="auto">
            <a:xfrm>
              <a:off x="5159" y="3068"/>
              <a:ext cx="136" cy="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Freeform 40"/>
            <p:cNvSpPr>
              <a:spLocks/>
            </p:cNvSpPr>
            <p:nvPr/>
          </p:nvSpPr>
          <p:spPr bwMode="auto">
            <a:xfrm>
              <a:off x="5426" y="3827"/>
              <a:ext cx="308" cy="278"/>
            </a:xfrm>
            <a:custGeom>
              <a:avLst/>
              <a:gdLst>
                <a:gd name="T0" fmla="*/ 0 w 308"/>
                <a:gd name="T1" fmla="*/ 278 h 278"/>
                <a:gd name="T2" fmla="*/ 0 w 308"/>
                <a:gd name="T3" fmla="*/ 0 h 278"/>
                <a:gd name="T4" fmla="*/ 308 w 308"/>
                <a:gd name="T5" fmla="*/ 0 h 278"/>
                <a:gd name="T6" fmla="*/ 308 w 308"/>
                <a:gd name="T7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8" h="278">
                  <a:moveTo>
                    <a:pt x="0" y="278"/>
                  </a:moveTo>
                  <a:lnTo>
                    <a:pt x="0" y="0"/>
                  </a:lnTo>
                  <a:lnTo>
                    <a:pt x="308" y="0"/>
                  </a:lnTo>
                  <a:lnTo>
                    <a:pt x="308" y="278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Freeform 41"/>
            <p:cNvSpPr>
              <a:spLocks/>
            </p:cNvSpPr>
            <p:nvPr/>
          </p:nvSpPr>
          <p:spPr bwMode="auto">
            <a:xfrm>
              <a:off x="6653" y="3756"/>
              <a:ext cx="305" cy="349"/>
            </a:xfrm>
            <a:custGeom>
              <a:avLst/>
              <a:gdLst>
                <a:gd name="T0" fmla="*/ 0 w 305"/>
                <a:gd name="T1" fmla="*/ 349 h 349"/>
                <a:gd name="T2" fmla="*/ 0 w 305"/>
                <a:gd name="T3" fmla="*/ 0 h 349"/>
                <a:gd name="T4" fmla="*/ 305 w 305"/>
                <a:gd name="T5" fmla="*/ 0 h 349"/>
                <a:gd name="T6" fmla="*/ 305 w 305"/>
                <a:gd name="T7" fmla="*/ 349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5" h="349">
                  <a:moveTo>
                    <a:pt x="0" y="349"/>
                  </a:moveTo>
                  <a:lnTo>
                    <a:pt x="0" y="0"/>
                  </a:lnTo>
                  <a:lnTo>
                    <a:pt x="305" y="0"/>
                  </a:lnTo>
                  <a:lnTo>
                    <a:pt x="305" y="34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Freeform 42"/>
            <p:cNvSpPr>
              <a:spLocks/>
            </p:cNvSpPr>
            <p:nvPr/>
          </p:nvSpPr>
          <p:spPr bwMode="auto">
            <a:xfrm>
              <a:off x="5580" y="3546"/>
              <a:ext cx="459" cy="559"/>
            </a:xfrm>
            <a:custGeom>
              <a:avLst/>
              <a:gdLst>
                <a:gd name="T0" fmla="*/ 0 w 459"/>
                <a:gd name="T1" fmla="*/ 281 h 559"/>
                <a:gd name="T2" fmla="*/ 0 w 459"/>
                <a:gd name="T3" fmla="*/ 0 h 559"/>
                <a:gd name="T4" fmla="*/ 459 w 459"/>
                <a:gd name="T5" fmla="*/ 0 h 559"/>
                <a:gd name="T6" fmla="*/ 459 w 459"/>
                <a:gd name="T7" fmla="*/ 559 h 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9" h="559">
                  <a:moveTo>
                    <a:pt x="0" y="281"/>
                  </a:moveTo>
                  <a:lnTo>
                    <a:pt x="0" y="0"/>
                  </a:lnTo>
                  <a:lnTo>
                    <a:pt x="459" y="0"/>
                  </a:lnTo>
                  <a:lnTo>
                    <a:pt x="459" y="55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74234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Complete-Link (contd.)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44" y="2340458"/>
            <a:ext cx="3571875" cy="174307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918804" y="2052981"/>
            <a:ext cx="2406556" cy="2087743"/>
            <a:chOff x="615950" y="1720850"/>
            <a:chExt cx="3511632" cy="2914650"/>
          </a:xfrm>
        </p:grpSpPr>
        <p:grpSp>
          <p:nvGrpSpPr>
            <p:cNvPr id="7" name="Group 6"/>
            <p:cNvGrpSpPr>
              <a:grpSpLocks/>
            </p:cNvGrpSpPr>
            <p:nvPr/>
          </p:nvGrpSpPr>
          <p:grpSpPr bwMode="auto">
            <a:xfrm>
              <a:off x="792163" y="1824038"/>
              <a:ext cx="2998787" cy="2687637"/>
              <a:chOff x="383" y="1437"/>
              <a:chExt cx="1889" cy="1693"/>
            </a:xfrm>
          </p:grpSpPr>
          <p:sp>
            <p:nvSpPr>
              <p:cNvPr id="23" name="Freeform 7"/>
              <p:cNvSpPr>
                <a:spLocks/>
              </p:cNvSpPr>
              <p:nvPr/>
            </p:nvSpPr>
            <p:spPr bwMode="auto">
              <a:xfrm>
                <a:off x="974" y="211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5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5 w 87"/>
                  <a:gd name="T21" fmla="*/ 75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5" y="75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>
                <a:spLocks/>
              </p:cNvSpPr>
              <p:nvPr/>
            </p:nvSpPr>
            <p:spPr bwMode="auto">
              <a:xfrm>
                <a:off x="1782" y="148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3 h 87"/>
                  <a:gd name="T8" fmla="*/ 45 w 87"/>
                  <a:gd name="T9" fmla="*/ 0 h 87"/>
                  <a:gd name="T10" fmla="*/ 60 w 87"/>
                  <a:gd name="T11" fmla="*/ 3 h 87"/>
                  <a:gd name="T12" fmla="*/ 74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4 w 87"/>
                  <a:gd name="T21" fmla="*/ 75 h 87"/>
                  <a:gd name="T22" fmla="*/ 60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3"/>
                    </a:lnTo>
                    <a:lnTo>
                      <a:pt x="45" y="0"/>
                    </a:lnTo>
                    <a:lnTo>
                      <a:pt x="60" y="3"/>
                    </a:lnTo>
                    <a:lnTo>
                      <a:pt x="74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4" y="75"/>
                    </a:lnTo>
                    <a:lnTo>
                      <a:pt x="60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auto">
              <a:xfrm>
                <a:off x="1193" y="2975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5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5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5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5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auto">
              <a:xfrm>
                <a:off x="383" y="1993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4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4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auto">
              <a:xfrm>
                <a:off x="1544" y="2419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5 h 87"/>
                  <a:gd name="T8" fmla="*/ 42 w 87"/>
                  <a:gd name="T9" fmla="*/ 0 h 87"/>
                  <a:gd name="T10" fmla="*/ 59 w 87"/>
                  <a:gd name="T11" fmla="*/ 5 h 87"/>
                  <a:gd name="T12" fmla="*/ 74 w 87"/>
                  <a:gd name="T13" fmla="*/ 13 h 87"/>
                  <a:gd name="T14" fmla="*/ 83 w 87"/>
                  <a:gd name="T15" fmla="*/ 28 h 87"/>
                  <a:gd name="T16" fmla="*/ 87 w 87"/>
                  <a:gd name="T17" fmla="*/ 45 h 87"/>
                  <a:gd name="T18" fmla="*/ 83 w 87"/>
                  <a:gd name="T19" fmla="*/ 62 h 87"/>
                  <a:gd name="T20" fmla="*/ 74 w 87"/>
                  <a:gd name="T21" fmla="*/ 75 h 87"/>
                  <a:gd name="T22" fmla="*/ 59 w 87"/>
                  <a:gd name="T23" fmla="*/ 85 h 87"/>
                  <a:gd name="T24" fmla="*/ 42 w 87"/>
                  <a:gd name="T25" fmla="*/ 87 h 87"/>
                  <a:gd name="T26" fmla="*/ 28 w 87"/>
                  <a:gd name="T27" fmla="*/ 85 h 87"/>
                  <a:gd name="T28" fmla="*/ 13 w 87"/>
                  <a:gd name="T29" fmla="*/ 75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5"/>
                    </a:lnTo>
                    <a:lnTo>
                      <a:pt x="42" y="0"/>
                    </a:lnTo>
                    <a:lnTo>
                      <a:pt x="59" y="5"/>
                    </a:lnTo>
                    <a:lnTo>
                      <a:pt x="74" y="13"/>
                    </a:lnTo>
                    <a:lnTo>
                      <a:pt x="83" y="28"/>
                    </a:lnTo>
                    <a:lnTo>
                      <a:pt x="87" y="45"/>
                    </a:lnTo>
                    <a:lnTo>
                      <a:pt x="83" y="62"/>
                    </a:lnTo>
                    <a:lnTo>
                      <a:pt x="74" y="75"/>
                    </a:lnTo>
                    <a:lnTo>
                      <a:pt x="59" y="85"/>
                    </a:lnTo>
                    <a:lnTo>
                      <a:pt x="42" y="87"/>
                    </a:lnTo>
                    <a:lnTo>
                      <a:pt x="28" y="85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auto">
              <a:xfrm>
                <a:off x="2018" y="2479"/>
                <a:ext cx="87" cy="87"/>
              </a:xfrm>
              <a:custGeom>
                <a:avLst/>
                <a:gdLst>
                  <a:gd name="T0" fmla="*/ 0 w 87"/>
                  <a:gd name="T1" fmla="*/ 42 h 87"/>
                  <a:gd name="T2" fmla="*/ 4 w 87"/>
                  <a:gd name="T3" fmla="*/ 25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4 w 87"/>
                  <a:gd name="T13" fmla="*/ 13 h 87"/>
                  <a:gd name="T14" fmla="*/ 85 w 87"/>
                  <a:gd name="T15" fmla="*/ 25 h 87"/>
                  <a:gd name="T16" fmla="*/ 87 w 87"/>
                  <a:gd name="T17" fmla="*/ 42 h 87"/>
                  <a:gd name="T18" fmla="*/ 85 w 87"/>
                  <a:gd name="T19" fmla="*/ 59 h 87"/>
                  <a:gd name="T20" fmla="*/ 74 w 87"/>
                  <a:gd name="T21" fmla="*/ 74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4 h 87"/>
                  <a:gd name="T30" fmla="*/ 4 w 87"/>
                  <a:gd name="T31" fmla="*/ 59 h 87"/>
                  <a:gd name="T32" fmla="*/ 0 w 87"/>
                  <a:gd name="T33" fmla="*/ 42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2"/>
                    </a:moveTo>
                    <a:lnTo>
                      <a:pt x="4" y="25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4" y="13"/>
                    </a:lnTo>
                    <a:lnTo>
                      <a:pt x="85" y="25"/>
                    </a:lnTo>
                    <a:lnTo>
                      <a:pt x="87" y="42"/>
                    </a:lnTo>
                    <a:lnTo>
                      <a:pt x="85" y="59"/>
                    </a:lnTo>
                    <a:lnTo>
                      <a:pt x="74" y="74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4"/>
                    </a:lnTo>
                    <a:lnTo>
                      <a:pt x="4" y="59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Rectangle 13"/>
              <p:cNvSpPr>
                <a:spLocks noChangeArrowheads="1"/>
              </p:cNvSpPr>
              <p:nvPr/>
            </p:nvSpPr>
            <p:spPr bwMode="auto">
              <a:xfrm>
                <a:off x="1890" y="1437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30" name="Rectangle 14"/>
              <p:cNvSpPr>
                <a:spLocks noChangeArrowheads="1"/>
              </p:cNvSpPr>
              <p:nvPr/>
            </p:nvSpPr>
            <p:spPr bwMode="auto">
              <a:xfrm>
                <a:off x="1089" y="2061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1" name="Rectangle 15"/>
              <p:cNvSpPr>
                <a:spLocks noChangeArrowheads="1"/>
              </p:cNvSpPr>
              <p:nvPr/>
            </p:nvSpPr>
            <p:spPr bwMode="auto">
              <a:xfrm>
                <a:off x="1699" y="2373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2" name="Rectangle 16"/>
              <p:cNvSpPr>
                <a:spLocks noChangeArrowheads="1"/>
              </p:cNvSpPr>
              <p:nvPr/>
            </p:nvSpPr>
            <p:spPr bwMode="auto">
              <a:xfrm>
                <a:off x="1319" y="29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3" name="Rectangle 17"/>
              <p:cNvSpPr>
                <a:spLocks noChangeArrowheads="1"/>
              </p:cNvSpPr>
              <p:nvPr/>
            </p:nvSpPr>
            <p:spPr bwMode="auto">
              <a:xfrm>
                <a:off x="517" y="19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4" name="Rectangle 18"/>
              <p:cNvSpPr>
                <a:spLocks noChangeArrowheads="1"/>
              </p:cNvSpPr>
              <p:nvPr/>
            </p:nvSpPr>
            <p:spPr bwMode="auto">
              <a:xfrm>
                <a:off x="2188" y="24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8" name="Group 19"/>
            <p:cNvGrpSpPr>
              <a:grpSpLocks/>
            </p:cNvGrpSpPr>
            <p:nvPr/>
          </p:nvGrpSpPr>
          <p:grpSpPr bwMode="auto">
            <a:xfrm>
              <a:off x="2509838" y="3208338"/>
              <a:ext cx="1401762" cy="890587"/>
              <a:chOff x="1465" y="2309"/>
              <a:chExt cx="883" cy="561"/>
            </a:xfrm>
          </p:grpSpPr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1465" y="2309"/>
                <a:ext cx="883" cy="369"/>
              </a:xfrm>
              <a:custGeom>
                <a:avLst/>
                <a:gdLst>
                  <a:gd name="T0" fmla="*/ 442 w 883"/>
                  <a:gd name="T1" fmla="*/ 0 h 369"/>
                  <a:gd name="T2" fmla="*/ 502 w 883"/>
                  <a:gd name="T3" fmla="*/ 2 h 369"/>
                  <a:gd name="T4" fmla="*/ 562 w 883"/>
                  <a:gd name="T5" fmla="*/ 7 h 369"/>
                  <a:gd name="T6" fmla="*/ 619 w 883"/>
                  <a:gd name="T7" fmla="*/ 15 h 369"/>
                  <a:gd name="T8" fmla="*/ 672 w 883"/>
                  <a:gd name="T9" fmla="*/ 28 h 369"/>
                  <a:gd name="T10" fmla="*/ 721 w 883"/>
                  <a:gd name="T11" fmla="*/ 43 h 369"/>
                  <a:gd name="T12" fmla="*/ 766 w 883"/>
                  <a:gd name="T13" fmla="*/ 60 h 369"/>
                  <a:gd name="T14" fmla="*/ 804 w 883"/>
                  <a:gd name="T15" fmla="*/ 79 h 369"/>
                  <a:gd name="T16" fmla="*/ 836 w 883"/>
                  <a:gd name="T17" fmla="*/ 100 h 369"/>
                  <a:gd name="T18" fmla="*/ 859 w 883"/>
                  <a:gd name="T19" fmla="*/ 123 h 369"/>
                  <a:gd name="T20" fmla="*/ 876 w 883"/>
                  <a:gd name="T21" fmla="*/ 147 h 369"/>
                  <a:gd name="T22" fmla="*/ 883 w 883"/>
                  <a:gd name="T23" fmla="*/ 172 h 369"/>
                  <a:gd name="T24" fmla="*/ 883 w 883"/>
                  <a:gd name="T25" fmla="*/ 197 h 369"/>
                  <a:gd name="T26" fmla="*/ 876 w 883"/>
                  <a:gd name="T27" fmla="*/ 223 h 369"/>
                  <a:gd name="T28" fmla="*/ 859 w 883"/>
                  <a:gd name="T29" fmla="*/ 246 h 369"/>
                  <a:gd name="T30" fmla="*/ 836 w 883"/>
                  <a:gd name="T31" fmla="*/ 270 h 369"/>
                  <a:gd name="T32" fmla="*/ 804 w 883"/>
                  <a:gd name="T33" fmla="*/ 291 h 369"/>
                  <a:gd name="T34" fmla="*/ 766 w 883"/>
                  <a:gd name="T35" fmla="*/ 310 h 369"/>
                  <a:gd name="T36" fmla="*/ 721 w 883"/>
                  <a:gd name="T37" fmla="*/ 327 h 369"/>
                  <a:gd name="T38" fmla="*/ 672 w 883"/>
                  <a:gd name="T39" fmla="*/ 342 h 369"/>
                  <a:gd name="T40" fmla="*/ 619 w 883"/>
                  <a:gd name="T41" fmla="*/ 354 h 369"/>
                  <a:gd name="T42" fmla="*/ 562 w 883"/>
                  <a:gd name="T43" fmla="*/ 363 h 369"/>
                  <a:gd name="T44" fmla="*/ 502 w 883"/>
                  <a:gd name="T45" fmla="*/ 367 h 369"/>
                  <a:gd name="T46" fmla="*/ 442 w 883"/>
                  <a:gd name="T47" fmla="*/ 369 h 369"/>
                  <a:gd name="T48" fmla="*/ 381 w 883"/>
                  <a:gd name="T49" fmla="*/ 367 h 369"/>
                  <a:gd name="T50" fmla="*/ 323 w 883"/>
                  <a:gd name="T51" fmla="*/ 363 h 369"/>
                  <a:gd name="T52" fmla="*/ 266 w 883"/>
                  <a:gd name="T53" fmla="*/ 354 h 369"/>
                  <a:gd name="T54" fmla="*/ 213 w 883"/>
                  <a:gd name="T55" fmla="*/ 342 h 369"/>
                  <a:gd name="T56" fmla="*/ 162 w 883"/>
                  <a:gd name="T57" fmla="*/ 327 h 369"/>
                  <a:gd name="T58" fmla="*/ 119 w 883"/>
                  <a:gd name="T59" fmla="*/ 310 h 369"/>
                  <a:gd name="T60" fmla="*/ 81 w 883"/>
                  <a:gd name="T61" fmla="*/ 291 h 369"/>
                  <a:gd name="T62" fmla="*/ 49 w 883"/>
                  <a:gd name="T63" fmla="*/ 270 h 369"/>
                  <a:gd name="T64" fmla="*/ 26 w 883"/>
                  <a:gd name="T65" fmla="*/ 246 h 369"/>
                  <a:gd name="T66" fmla="*/ 9 w 883"/>
                  <a:gd name="T67" fmla="*/ 223 h 369"/>
                  <a:gd name="T68" fmla="*/ 0 w 883"/>
                  <a:gd name="T69" fmla="*/ 197 h 369"/>
                  <a:gd name="T70" fmla="*/ 0 w 883"/>
                  <a:gd name="T71" fmla="*/ 172 h 369"/>
                  <a:gd name="T72" fmla="*/ 9 w 883"/>
                  <a:gd name="T73" fmla="*/ 147 h 369"/>
                  <a:gd name="T74" fmla="*/ 26 w 883"/>
                  <a:gd name="T75" fmla="*/ 123 h 369"/>
                  <a:gd name="T76" fmla="*/ 49 w 883"/>
                  <a:gd name="T77" fmla="*/ 100 h 369"/>
                  <a:gd name="T78" fmla="*/ 81 w 883"/>
                  <a:gd name="T79" fmla="*/ 79 h 369"/>
                  <a:gd name="T80" fmla="*/ 119 w 883"/>
                  <a:gd name="T81" fmla="*/ 60 h 369"/>
                  <a:gd name="T82" fmla="*/ 162 w 883"/>
                  <a:gd name="T83" fmla="*/ 43 h 369"/>
                  <a:gd name="T84" fmla="*/ 213 w 883"/>
                  <a:gd name="T85" fmla="*/ 28 h 369"/>
                  <a:gd name="T86" fmla="*/ 266 w 883"/>
                  <a:gd name="T87" fmla="*/ 15 h 369"/>
                  <a:gd name="T88" fmla="*/ 323 w 883"/>
                  <a:gd name="T89" fmla="*/ 7 h 369"/>
                  <a:gd name="T90" fmla="*/ 381 w 883"/>
                  <a:gd name="T91" fmla="*/ 2 h 369"/>
                  <a:gd name="T92" fmla="*/ 442 w 883"/>
                  <a:gd name="T93" fmla="*/ 0 h 36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83" h="369">
                    <a:moveTo>
                      <a:pt x="442" y="0"/>
                    </a:moveTo>
                    <a:lnTo>
                      <a:pt x="502" y="2"/>
                    </a:lnTo>
                    <a:lnTo>
                      <a:pt x="562" y="7"/>
                    </a:lnTo>
                    <a:lnTo>
                      <a:pt x="619" y="15"/>
                    </a:lnTo>
                    <a:lnTo>
                      <a:pt x="672" y="28"/>
                    </a:lnTo>
                    <a:lnTo>
                      <a:pt x="721" y="43"/>
                    </a:lnTo>
                    <a:lnTo>
                      <a:pt x="766" y="60"/>
                    </a:lnTo>
                    <a:lnTo>
                      <a:pt x="804" y="79"/>
                    </a:lnTo>
                    <a:lnTo>
                      <a:pt x="836" y="100"/>
                    </a:lnTo>
                    <a:lnTo>
                      <a:pt x="859" y="123"/>
                    </a:lnTo>
                    <a:lnTo>
                      <a:pt x="876" y="147"/>
                    </a:lnTo>
                    <a:lnTo>
                      <a:pt x="883" y="172"/>
                    </a:lnTo>
                    <a:lnTo>
                      <a:pt x="883" y="197"/>
                    </a:lnTo>
                    <a:lnTo>
                      <a:pt x="876" y="223"/>
                    </a:lnTo>
                    <a:lnTo>
                      <a:pt x="859" y="246"/>
                    </a:lnTo>
                    <a:lnTo>
                      <a:pt x="836" y="270"/>
                    </a:lnTo>
                    <a:lnTo>
                      <a:pt x="804" y="291"/>
                    </a:lnTo>
                    <a:lnTo>
                      <a:pt x="766" y="310"/>
                    </a:lnTo>
                    <a:lnTo>
                      <a:pt x="721" y="327"/>
                    </a:lnTo>
                    <a:lnTo>
                      <a:pt x="672" y="342"/>
                    </a:lnTo>
                    <a:lnTo>
                      <a:pt x="619" y="354"/>
                    </a:lnTo>
                    <a:lnTo>
                      <a:pt x="562" y="363"/>
                    </a:lnTo>
                    <a:lnTo>
                      <a:pt x="502" y="367"/>
                    </a:lnTo>
                    <a:lnTo>
                      <a:pt x="442" y="369"/>
                    </a:lnTo>
                    <a:lnTo>
                      <a:pt x="381" y="367"/>
                    </a:lnTo>
                    <a:lnTo>
                      <a:pt x="323" y="363"/>
                    </a:lnTo>
                    <a:lnTo>
                      <a:pt x="266" y="354"/>
                    </a:lnTo>
                    <a:lnTo>
                      <a:pt x="213" y="342"/>
                    </a:lnTo>
                    <a:lnTo>
                      <a:pt x="162" y="327"/>
                    </a:lnTo>
                    <a:lnTo>
                      <a:pt x="119" y="310"/>
                    </a:lnTo>
                    <a:lnTo>
                      <a:pt x="81" y="291"/>
                    </a:lnTo>
                    <a:lnTo>
                      <a:pt x="49" y="270"/>
                    </a:lnTo>
                    <a:lnTo>
                      <a:pt x="26" y="246"/>
                    </a:lnTo>
                    <a:lnTo>
                      <a:pt x="9" y="223"/>
                    </a:lnTo>
                    <a:lnTo>
                      <a:pt x="0" y="197"/>
                    </a:lnTo>
                    <a:lnTo>
                      <a:pt x="0" y="172"/>
                    </a:lnTo>
                    <a:lnTo>
                      <a:pt x="9" y="147"/>
                    </a:lnTo>
                    <a:lnTo>
                      <a:pt x="26" y="123"/>
                    </a:lnTo>
                    <a:lnTo>
                      <a:pt x="49" y="100"/>
                    </a:lnTo>
                    <a:lnTo>
                      <a:pt x="81" y="79"/>
                    </a:lnTo>
                    <a:lnTo>
                      <a:pt x="119" y="60"/>
                    </a:lnTo>
                    <a:lnTo>
                      <a:pt x="162" y="43"/>
                    </a:lnTo>
                    <a:lnTo>
                      <a:pt x="213" y="28"/>
                    </a:lnTo>
                    <a:lnTo>
                      <a:pt x="266" y="15"/>
                    </a:lnTo>
                    <a:lnTo>
                      <a:pt x="323" y="7"/>
                    </a:lnTo>
                    <a:lnTo>
                      <a:pt x="381" y="2"/>
                    </a:lnTo>
                    <a:lnTo>
                      <a:pt x="442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1831" y="2668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9" name="Group 22"/>
            <p:cNvGrpSpPr>
              <a:grpSpLocks/>
            </p:cNvGrpSpPr>
            <p:nvPr/>
          </p:nvGrpSpPr>
          <p:grpSpPr bwMode="auto">
            <a:xfrm>
              <a:off x="704850" y="2249488"/>
              <a:ext cx="1579563" cy="889000"/>
              <a:chOff x="328" y="1705"/>
              <a:chExt cx="995" cy="560"/>
            </a:xfrm>
          </p:grpSpPr>
          <p:sp>
            <p:nvSpPr>
              <p:cNvPr id="19" name="Freeform 23"/>
              <p:cNvSpPr>
                <a:spLocks/>
              </p:cNvSpPr>
              <p:nvPr/>
            </p:nvSpPr>
            <p:spPr bwMode="auto">
              <a:xfrm>
                <a:off x="328" y="1881"/>
                <a:ext cx="995" cy="384"/>
              </a:xfrm>
              <a:custGeom>
                <a:avLst/>
                <a:gdLst>
                  <a:gd name="T0" fmla="*/ 514 w 995"/>
                  <a:gd name="T1" fmla="*/ 4 h 384"/>
                  <a:gd name="T2" fmla="*/ 576 w 995"/>
                  <a:gd name="T3" fmla="*/ 10 h 384"/>
                  <a:gd name="T4" fmla="*/ 638 w 995"/>
                  <a:gd name="T5" fmla="*/ 21 h 384"/>
                  <a:gd name="T6" fmla="*/ 695 w 995"/>
                  <a:gd name="T7" fmla="*/ 34 h 384"/>
                  <a:gd name="T8" fmla="*/ 752 w 995"/>
                  <a:gd name="T9" fmla="*/ 49 h 384"/>
                  <a:gd name="T10" fmla="*/ 803 w 995"/>
                  <a:gd name="T11" fmla="*/ 66 h 384"/>
                  <a:gd name="T12" fmla="*/ 850 w 995"/>
                  <a:gd name="T13" fmla="*/ 85 h 384"/>
                  <a:gd name="T14" fmla="*/ 891 w 995"/>
                  <a:gd name="T15" fmla="*/ 106 h 384"/>
                  <a:gd name="T16" fmla="*/ 927 w 995"/>
                  <a:gd name="T17" fmla="*/ 127 h 384"/>
                  <a:gd name="T18" fmla="*/ 954 w 995"/>
                  <a:gd name="T19" fmla="*/ 150 h 384"/>
                  <a:gd name="T20" fmla="*/ 976 w 995"/>
                  <a:gd name="T21" fmla="*/ 176 h 384"/>
                  <a:gd name="T22" fmla="*/ 988 w 995"/>
                  <a:gd name="T23" fmla="*/ 199 h 384"/>
                  <a:gd name="T24" fmla="*/ 995 w 995"/>
                  <a:gd name="T25" fmla="*/ 222 h 384"/>
                  <a:gd name="T26" fmla="*/ 993 w 995"/>
                  <a:gd name="T27" fmla="*/ 248 h 384"/>
                  <a:gd name="T28" fmla="*/ 982 w 995"/>
                  <a:gd name="T29" fmla="*/ 269 h 384"/>
                  <a:gd name="T30" fmla="*/ 965 w 995"/>
                  <a:gd name="T31" fmla="*/ 290 h 384"/>
                  <a:gd name="T32" fmla="*/ 940 w 995"/>
                  <a:gd name="T33" fmla="*/ 312 h 384"/>
                  <a:gd name="T34" fmla="*/ 908 w 995"/>
                  <a:gd name="T35" fmla="*/ 329 h 384"/>
                  <a:gd name="T36" fmla="*/ 869 w 995"/>
                  <a:gd name="T37" fmla="*/ 345 h 384"/>
                  <a:gd name="T38" fmla="*/ 827 w 995"/>
                  <a:gd name="T39" fmla="*/ 358 h 384"/>
                  <a:gd name="T40" fmla="*/ 776 w 995"/>
                  <a:gd name="T41" fmla="*/ 369 h 384"/>
                  <a:gd name="T42" fmla="*/ 723 w 995"/>
                  <a:gd name="T43" fmla="*/ 377 h 384"/>
                  <a:gd name="T44" fmla="*/ 665 w 995"/>
                  <a:gd name="T45" fmla="*/ 382 h 384"/>
                  <a:gd name="T46" fmla="*/ 606 w 995"/>
                  <a:gd name="T47" fmla="*/ 384 h 384"/>
                  <a:gd name="T48" fmla="*/ 544 w 995"/>
                  <a:gd name="T49" fmla="*/ 384 h 384"/>
                  <a:gd name="T50" fmla="*/ 480 w 995"/>
                  <a:gd name="T51" fmla="*/ 379 h 384"/>
                  <a:gd name="T52" fmla="*/ 419 w 995"/>
                  <a:gd name="T53" fmla="*/ 373 h 384"/>
                  <a:gd name="T54" fmla="*/ 357 w 995"/>
                  <a:gd name="T55" fmla="*/ 362 h 384"/>
                  <a:gd name="T56" fmla="*/ 300 w 995"/>
                  <a:gd name="T57" fmla="*/ 350 h 384"/>
                  <a:gd name="T58" fmla="*/ 242 w 995"/>
                  <a:gd name="T59" fmla="*/ 335 h 384"/>
                  <a:gd name="T60" fmla="*/ 191 w 995"/>
                  <a:gd name="T61" fmla="*/ 318 h 384"/>
                  <a:gd name="T62" fmla="*/ 144 w 995"/>
                  <a:gd name="T63" fmla="*/ 299 h 384"/>
                  <a:gd name="T64" fmla="*/ 104 w 995"/>
                  <a:gd name="T65" fmla="*/ 278 h 384"/>
                  <a:gd name="T66" fmla="*/ 68 w 995"/>
                  <a:gd name="T67" fmla="*/ 256 h 384"/>
                  <a:gd name="T68" fmla="*/ 40 w 995"/>
                  <a:gd name="T69" fmla="*/ 233 h 384"/>
                  <a:gd name="T70" fmla="*/ 19 w 995"/>
                  <a:gd name="T71" fmla="*/ 208 h 384"/>
                  <a:gd name="T72" fmla="*/ 6 w 995"/>
                  <a:gd name="T73" fmla="*/ 184 h 384"/>
                  <a:gd name="T74" fmla="*/ 0 w 995"/>
                  <a:gd name="T75" fmla="*/ 161 h 384"/>
                  <a:gd name="T76" fmla="*/ 2 w 995"/>
                  <a:gd name="T77" fmla="*/ 138 h 384"/>
                  <a:gd name="T78" fmla="*/ 13 w 995"/>
                  <a:gd name="T79" fmla="*/ 114 h 384"/>
                  <a:gd name="T80" fmla="*/ 30 w 995"/>
                  <a:gd name="T81" fmla="*/ 93 h 384"/>
                  <a:gd name="T82" fmla="*/ 55 w 995"/>
                  <a:gd name="T83" fmla="*/ 72 h 384"/>
                  <a:gd name="T84" fmla="*/ 87 w 995"/>
                  <a:gd name="T85" fmla="*/ 55 h 384"/>
                  <a:gd name="T86" fmla="*/ 125 w 995"/>
                  <a:gd name="T87" fmla="*/ 38 h 384"/>
                  <a:gd name="T88" fmla="*/ 168 w 995"/>
                  <a:gd name="T89" fmla="*/ 25 h 384"/>
                  <a:gd name="T90" fmla="*/ 219 w 995"/>
                  <a:gd name="T91" fmla="*/ 15 h 384"/>
                  <a:gd name="T92" fmla="*/ 272 w 995"/>
                  <a:gd name="T93" fmla="*/ 6 h 384"/>
                  <a:gd name="T94" fmla="*/ 329 w 995"/>
                  <a:gd name="T95" fmla="*/ 2 h 384"/>
                  <a:gd name="T96" fmla="*/ 389 w 995"/>
                  <a:gd name="T97" fmla="*/ 0 h 384"/>
                  <a:gd name="T98" fmla="*/ 450 w 995"/>
                  <a:gd name="T99" fmla="*/ 0 h 384"/>
                  <a:gd name="T100" fmla="*/ 514 w 995"/>
                  <a:gd name="T101" fmla="*/ 4 h 38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995" h="384">
                    <a:moveTo>
                      <a:pt x="514" y="4"/>
                    </a:moveTo>
                    <a:lnTo>
                      <a:pt x="576" y="10"/>
                    </a:lnTo>
                    <a:lnTo>
                      <a:pt x="638" y="21"/>
                    </a:lnTo>
                    <a:lnTo>
                      <a:pt x="695" y="34"/>
                    </a:lnTo>
                    <a:lnTo>
                      <a:pt x="752" y="49"/>
                    </a:lnTo>
                    <a:lnTo>
                      <a:pt x="803" y="66"/>
                    </a:lnTo>
                    <a:lnTo>
                      <a:pt x="850" y="85"/>
                    </a:lnTo>
                    <a:lnTo>
                      <a:pt x="891" y="106"/>
                    </a:lnTo>
                    <a:lnTo>
                      <a:pt x="927" y="127"/>
                    </a:lnTo>
                    <a:lnTo>
                      <a:pt x="954" y="150"/>
                    </a:lnTo>
                    <a:lnTo>
                      <a:pt x="976" y="176"/>
                    </a:lnTo>
                    <a:lnTo>
                      <a:pt x="988" y="199"/>
                    </a:lnTo>
                    <a:lnTo>
                      <a:pt x="995" y="222"/>
                    </a:lnTo>
                    <a:lnTo>
                      <a:pt x="993" y="248"/>
                    </a:lnTo>
                    <a:lnTo>
                      <a:pt x="982" y="269"/>
                    </a:lnTo>
                    <a:lnTo>
                      <a:pt x="965" y="290"/>
                    </a:lnTo>
                    <a:lnTo>
                      <a:pt x="940" y="312"/>
                    </a:lnTo>
                    <a:lnTo>
                      <a:pt x="908" y="329"/>
                    </a:lnTo>
                    <a:lnTo>
                      <a:pt x="869" y="345"/>
                    </a:lnTo>
                    <a:lnTo>
                      <a:pt x="827" y="358"/>
                    </a:lnTo>
                    <a:lnTo>
                      <a:pt x="776" y="369"/>
                    </a:lnTo>
                    <a:lnTo>
                      <a:pt x="723" y="377"/>
                    </a:lnTo>
                    <a:lnTo>
                      <a:pt x="665" y="382"/>
                    </a:lnTo>
                    <a:lnTo>
                      <a:pt x="606" y="384"/>
                    </a:lnTo>
                    <a:lnTo>
                      <a:pt x="544" y="384"/>
                    </a:lnTo>
                    <a:lnTo>
                      <a:pt x="480" y="379"/>
                    </a:lnTo>
                    <a:lnTo>
                      <a:pt x="419" y="373"/>
                    </a:lnTo>
                    <a:lnTo>
                      <a:pt x="357" y="362"/>
                    </a:lnTo>
                    <a:lnTo>
                      <a:pt x="300" y="350"/>
                    </a:lnTo>
                    <a:lnTo>
                      <a:pt x="242" y="335"/>
                    </a:lnTo>
                    <a:lnTo>
                      <a:pt x="191" y="318"/>
                    </a:lnTo>
                    <a:lnTo>
                      <a:pt x="144" y="299"/>
                    </a:lnTo>
                    <a:lnTo>
                      <a:pt x="104" y="278"/>
                    </a:lnTo>
                    <a:lnTo>
                      <a:pt x="68" y="256"/>
                    </a:lnTo>
                    <a:lnTo>
                      <a:pt x="40" y="233"/>
                    </a:lnTo>
                    <a:lnTo>
                      <a:pt x="19" y="208"/>
                    </a:lnTo>
                    <a:lnTo>
                      <a:pt x="6" y="184"/>
                    </a:lnTo>
                    <a:lnTo>
                      <a:pt x="0" y="161"/>
                    </a:lnTo>
                    <a:lnTo>
                      <a:pt x="2" y="138"/>
                    </a:lnTo>
                    <a:lnTo>
                      <a:pt x="13" y="114"/>
                    </a:lnTo>
                    <a:lnTo>
                      <a:pt x="30" y="93"/>
                    </a:lnTo>
                    <a:lnTo>
                      <a:pt x="55" y="72"/>
                    </a:lnTo>
                    <a:lnTo>
                      <a:pt x="87" y="55"/>
                    </a:lnTo>
                    <a:lnTo>
                      <a:pt x="125" y="38"/>
                    </a:lnTo>
                    <a:lnTo>
                      <a:pt x="168" y="25"/>
                    </a:lnTo>
                    <a:lnTo>
                      <a:pt x="219" y="15"/>
                    </a:lnTo>
                    <a:lnTo>
                      <a:pt x="272" y="6"/>
                    </a:lnTo>
                    <a:lnTo>
                      <a:pt x="329" y="2"/>
                    </a:lnTo>
                    <a:lnTo>
                      <a:pt x="389" y="0"/>
                    </a:lnTo>
                    <a:lnTo>
                      <a:pt x="450" y="0"/>
                    </a:lnTo>
                    <a:lnTo>
                      <a:pt x="514" y="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24"/>
              <p:cNvSpPr>
                <a:spLocks noChangeArrowheads="1"/>
              </p:cNvSpPr>
              <p:nvPr/>
            </p:nvSpPr>
            <p:spPr bwMode="auto">
              <a:xfrm>
                <a:off x="853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sp>
          <p:nvSpPr>
            <p:cNvPr id="17" name="Rectangle 26"/>
            <p:cNvSpPr>
              <a:spLocks noChangeArrowheads="1"/>
            </p:cNvSpPr>
            <p:nvPr/>
          </p:nvSpPr>
          <p:spPr bwMode="auto">
            <a:xfrm>
              <a:off x="4127487" y="2249489"/>
              <a:ext cx="95" cy="515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endParaRPr lang="en-US" altLang="en-US" dirty="0"/>
            </a:p>
          </p:txBody>
        </p:sp>
        <p:grpSp>
          <p:nvGrpSpPr>
            <p:cNvPr id="11" name="Group 28"/>
            <p:cNvGrpSpPr>
              <a:grpSpLocks/>
            </p:cNvGrpSpPr>
            <p:nvPr/>
          </p:nvGrpSpPr>
          <p:grpSpPr bwMode="auto">
            <a:xfrm>
              <a:off x="1882775" y="2982913"/>
              <a:ext cx="2160588" cy="1652587"/>
              <a:chOff x="1070" y="2167"/>
              <a:chExt cx="1361" cy="1041"/>
            </a:xfrm>
          </p:grpSpPr>
          <p:sp>
            <p:nvSpPr>
              <p:cNvPr id="15" name="Rectangle 29"/>
              <p:cNvSpPr>
                <a:spLocks noChangeArrowheads="1"/>
              </p:cNvSpPr>
              <p:nvPr/>
            </p:nvSpPr>
            <p:spPr bwMode="auto">
              <a:xfrm>
                <a:off x="1070" y="256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16" name="Freeform 30"/>
              <p:cNvSpPr>
                <a:spLocks/>
              </p:cNvSpPr>
              <p:nvPr/>
            </p:nvSpPr>
            <p:spPr bwMode="auto">
              <a:xfrm>
                <a:off x="1114" y="2167"/>
                <a:ext cx="1317" cy="1041"/>
              </a:xfrm>
              <a:custGeom>
                <a:avLst/>
                <a:gdLst>
                  <a:gd name="T0" fmla="*/ 441 w 1317"/>
                  <a:gd name="T1" fmla="*/ 174 h 1041"/>
                  <a:gd name="T2" fmla="*/ 506 w 1317"/>
                  <a:gd name="T3" fmla="*/ 134 h 1041"/>
                  <a:gd name="T4" fmla="*/ 574 w 1317"/>
                  <a:gd name="T5" fmla="*/ 100 h 1041"/>
                  <a:gd name="T6" fmla="*/ 643 w 1317"/>
                  <a:gd name="T7" fmla="*/ 70 h 1041"/>
                  <a:gd name="T8" fmla="*/ 711 w 1317"/>
                  <a:gd name="T9" fmla="*/ 47 h 1041"/>
                  <a:gd name="T10" fmla="*/ 781 w 1317"/>
                  <a:gd name="T11" fmla="*/ 26 h 1041"/>
                  <a:gd name="T12" fmla="*/ 847 w 1317"/>
                  <a:gd name="T13" fmla="*/ 13 h 1041"/>
                  <a:gd name="T14" fmla="*/ 910 w 1317"/>
                  <a:gd name="T15" fmla="*/ 4 h 1041"/>
                  <a:gd name="T16" fmla="*/ 974 w 1317"/>
                  <a:gd name="T17" fmla="*/ 0 h 1041"/>
                  <a:gd name="T18" fmla="*/ 1032 w 1317"/>
                  <a:gd name="T19" fmla="*/ 4 h 1041"/>
                  <a:gd name="T20" fmla="*/ 1087 w 1317"/>
                  <a:gd name="T21" fmla="*/ 13 h 1041"/>
                  <a:gd name="T22" fmla="*/ 1136 w 1317"/>
                  <a:gd name="T23" fmla="*/ 26 h 1041"/>
                  <a:gd name="T24" fmla="*/ 1180 w 1317"/>
                  <a:gd name="T25" fmla="*/ 45 h 1041"/>
                  <a:gd name="T26" fmla="*/ 1219 w 1317"/>
                  <a:gd name="T27" fmla="*/ 70 h 1041"/>
                  <a:gd name="T28" fmla="*/ 1253 w 1317"/>
                  <a:gd name="T29" fmla="*/ 100 h 1041"/>
                  <a:gd name="T30" fmla="*/ 1278 w 1317"/>
                  <a:gd name="T31" fmla="*/ 134 h 1041"/>
                  <a:gd name="T32" fmla="*/ 1297 w 1317"/>
                  <a:gd name="T33" fmla="*/ 172 h 1041"/>
                  <a:gd name="T34" fmla="*/ 1310 w 1317"/>
                  <a:gd name="T35" fmla="*/ 214 h 1041"/>
                  <a:gd name="T36" fmla="*/ 1317 w 1317"/>
                  <a:gd name="T37" fmla="*/ 261 h 1041"/>
                  <a:gd name="T38" fmla="*/ 1314 w 1317"/>
                  <a:gd name="T39" fmla="*/ 310 h 1041"/>
                  <a:gd name="T40" fmla="*/ 1304 w 1317"/>
                  <a:gd name="T41" fmla="*/ 359 h 1041"/>
                  <a:gd name="T42" fmla="*/ 1289 w 1317"/>
                  <a:gd name="T43" fmla="*/ 412 h 1041"/>
                  <a:gd name="T44" fmla="*/ 1265 w 1317"/>
                  <a:gd name="T45" fmla="*/ 467 h 1041"/>
                  <a:gd name="T46" fmla="*/ 1236 w 1317"/>
                  <a:gd name="T47" fmla="*/ 520 h 1041"/>
                  <a:gd name="T48" fmla="*/ 1200 w 1317"/>
                  <a:gd name="T49" fmla="*/ 575 h 1041"/>
                  <a:gd name="T50" fmla="*/ 1157 w 1317"/>
                  <a:gd name="T51" fmla="*/ 628 h 1041"/>
                  <a:gd name="T52" fmla="*/ 1110 w 1317"/>
                  <a:gd name="T53" fmla="*/ 681 h 1041"/>
                  <a:gd name="T54" fmla="*/ 1057 w 1317"/>
                  <a:gd name="T55" fmla="*/ 732 h 1041"/>
                  <a:gd name="T56" fmla="*/ 1000 w 1317"/>
                  <a:gd name="T57" fmla="*/ 781 h 1041"/>
                  <a:gd name="T58" fmla="*/ 940 w 1317"/>
                  <a:gd name="T59" fmla="*/ 825 h 1041"/>
                  <a:gd name="T60" fmla="*/ 876 w 1317"/>
                  <a:gd name="T61" fmla="*/ 868 h 1041"/>
                  <a:gd name="T62" fmla="*/ 810 w 1317"/>
                  <a:gd name="T63" fmla="*/ 908 h 1041"/>
                  <a:gd name="T64" fmla="*/ 742 w 1317"/>
                  <a:gd name="T65" fmla="*/ 942 h 1041"/>
                  <a:gd name="T66" fmla="*/ 674 w 1317"/>
                  <a:gd name="T67" fmla="*/ 971 h 1041"/>
                  <a:gd name="T68" fmla="*/ 604 w 1317"/>
                  <a:gd name="T69" fmla="*/ 995 h 1041"/>
                  <a:gd name="T70" fmla="*/ 536 w 1317"/>
                  <a:gd name="T71" fmla="*/ 1016 h 1041"/>
                  <a:gd name="T72" fmla="*/ 470 w 1317"/>
                  <a:gd name="T73" fmla="*/ 1029 h 1041"/>
                  <a:gd name="T74" fmla="*/ 404 w 1317"/>
                  <a:gd name="T75" fmla="*/ 1037 h 1041"/>
                  <a:gd name="T76" fmla="*/ 343 w 1317"/>
                  <a:gd name="T77" fmla="*/ 1041 h 1041"/>
                  <a:gd name="T78" fmla="*/ 283 w 1317"/>
                  <a:gd name="T79" fmla="*/ 1037 h 1041"/>
                  <a:gd name="T80" fmla="*/ 230 w 1317"/>
                  <a:gd name="T81" fmla="*/ 1029 h 1041"/>
                  <a:gd name="T82" fmla="*/ 179 w 1317"/>
                  <a:gd name="T83" fmla="*/ 1016 h 1041"/>
                  <a:gd name="T84" fmla="*/ 134 w 1317"/>
                  <a:gd name="T85" fmla="*/ 997 h 1041"/>
                  <a:gd name="T86" fmla="*/ 96 w 1317"/>
                  <a:gd name="T87" fmla="*/ 971 h 1041"/>
                  <a:gd name="T88" fmla="*/ 64 w 1317"/>
                  <a:gd name="T89" fmla="*/ 942 h 1041"/>
                  <a:gd name="T90" fmla="*/ 37 w 1317"/>
                  <a:gd name="T91" fmla="*/ 908 h 1041"/>
                  <a:gd name="T92" fmla="*/ 17 w 1317"/>
                  <a:gd name="T93" fmla="*/ 870 h 1041"/>
                  <a:gd name="T94" fmla="*/ 7 w 1317"/>
                  <a:gd name="T95" fmla="*/ 827 h 1041"/>
                  <a:gd name="T96" fmla="*/ 0 w 1317"/>
                  <a:gd name="T97" fmla="*/ 781 h 1041"/>
                  <a:gd name="T98" fmla="*/ 3 w 1317"/>
                  <a:gd name="T99" fmla="*/ 732 h 1041"/>
                  <a:gd name="T100" fmla="*/ 11 w 1317"/>
                  <a:gd name="T101" fmla="*/ 681 h 1041"/>
                  <a:gd name="T102" fmla="*/ 28 w 1317"/>
                  <a:gd name="T103" fmla="*/ 630 h 1041"/>
                  <a:gd name="T104" fmla="*/ 51 w 1317"/>
                  <a:gd name="T105" fmla="*/ 575 h 1041"/>
                  <a:gd name="T106" fmla="*/ 81 w 1317"/>
                  <a:gd name="T107" fmla="*/ 522 h 1041"/>
                  <a:gd name="T108" fmla="*/ 117 w 1317"/>
                  <a:gd name="T109" fmla="*/ 467 h 1041"/>
                  <a:gd name="T110" fmla="*/ 160 w 1317"/>
                  <a:gd name="T111" fmla="*/ 414 h 1041"/>
                  <a:gd name="T112" fmla="*/ 207 w 1317"/>
                  <a:gd name="T113" fmla="*/ 361 h 1041"/>
                  <a:gd name="T114" fmla="*/ 260 w 1317"/>
                  <a:gd name="T115" fmla="*/ 310 h 1041"/>
                  <a:gd name="T116" fmla="*/ 315 w 1317"/>
                  <a:gd name="T117" fmla="*/ 261 h 1041"/>
                  <a:gd name="T118" fmla="*/ 377 w 1317"/>
                  <a:gd name="T119" fmla="*/ 216 h 1041"/>
                  <a:gd name="T120" fmla="*/ 441 w 1317"/>
                  <a:gd name="T121" fmla="*/ 174 h 10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317" h="1041">
                    <a:moveTo>
                      <a:pt x="441" y="174"/>
                    </a:moveTo>
                    <a:lnTo>
                      <a:pt x="506" y="134"/>
                    </a:lnTo>
                    <a:lnTo>
                      <a:pt x="574" y="100"/>
                    </a:lnTo>
                    <a:lnTo>
                      <a:pt x="643" y="70"/>
                    </a:lnTo>
                    <a:lnTo>
                      <a:pt x="711" y="47"/>
                    </a:lnTo>
                    <a:lnTo>
                      <a:pt x="781" y="26"/>
                    </a:lnTo>
                    <a:lnTo>
                      <a:pt x="847" y="13"/>
                    </a:lnTo>
                    <a:lnTo>
                      <a:pt x="910" y="4"/>
                    </a:lnTo>
                    <a:lnTo>
                      <a:pt x="974" y="0"/>
                    </a:lnTo>
                    <a:lnTo>
                      <a:pt x="1032" y="4"/>
                    </a:lnTo>
                    <a:lnTo>
                      <a:pt x="1087" y="13"/>
                    </a:lnTo>
                    <a:lnTo>
                      <a:pt x="1136" y="26"/>
                    </a:lnTo>
                    <a:lnTo>
                      <a:pt x="1180" y="45"/>
                    </a:lnTo>
                    <a:lnTo>
                      <a:pt x="1219" y="70"/>
                    </a:lnTo>
                    <a:lnTo>
                      <a:pt x="1253" y="100"/>
                    </a:lnTo>
                    <a:lnTo>
                      <a:pt x="1278" y="134"/>
                    </a:lnTo>
                    <a:lnTo>
                      <a:pt x="1297" y="172"/>
                    </a:lnTo>
                    <a:lnTo>
                      <a:pt x="1310" y="214"/>
                    </a:lnTo>
                    <a:lnTo>
                      <a:pt x="1317" y="261"/>
                    </a:lnTo>
                    <a:lnTo>
                      <a:pt x="1314" y="310"/>
                    </a:lnTo>
                    <a:lnTo>
                      <a:pt x="1304" y="359"/>
                    </a:lnTo>
                    <a:lnTo>
                      <a:pt x="1289" y="412"/>
                    </a:lnTo>
                    <a:lnTo>
                      <a:pt x="1265" y="467"/>
                    </a:lnTo>
                    <a:lnTo>
                      <a:pt x="1236" y="520"/>
                    </a:lnTo>
                    <a:lnTo>
                      <a:pt x="1200" y="575"/>
                    </a:lnTo>
                    <a:lnTo>
                      <a:pt x="1157" y="628"/>
                    </a:lnTo>
                    <a:lnTo>
                      <a:pt x="1110" y="681"/>
                    </a:lnTo>
                    <a:lnTo>
                      <a:pt x="1057" y="732"/>
                    </a:lnTo>
                    <a:lnTo>
                      <a:pt x="1000" y="781"/>
                    </a:lnTo>
                    <a:lnTo>
                      <a:pt x="940" y="825"/>
                    </a:lnTo>
                    <a:lnTo>
                      <a:pt x="876" y="868"/>
                    </a:lnTo>
                    <a:lnTo>
                      <a:pt x="810" y="908"/>
                    </a:lnTo>
                    <a:lnTo>
                      <a:pt x="742" y="942"/>
                    </a:lnTo>
                    <a:lnTo>
                      <a:pt x="674" y="971"/>
                    </a:lnTo>
                    <a:lnTo>
                      <a:pt x="604" y="995"/>
                    </a:lnTo>
                    <a:lnTo>
                      <a:pt x="536" y="1016"/>
                    </a:lnTo>
                    <a:lnTo>
                      <a:pt x="470" y="1029"/>
                    </a:lnTo>
                    <a:lnTo>
                      <a:pt x="404" y="1037"/>
                    </a:lnTo>
                    <a:lnTo>
                      <a:pt x="343" y="1041"/>
                    </a:lnTo>
                    <a:lnTo>
                      <a:pt x="283" y="1037"/>
                    </a:lnTo>
                    <a:lnTo>
                      <a:pt x="230" y="1029"/>
                    </a:lnTo>
                    <a:lnTo>
                      <a:pt x="179" y="1016"/>
                    </a:lnTo>
                    <a:lnTo>
                      <a:pt x="134" y="997"/>
                    </a:lnTo>
                    <a:lnTo>
                      <a:pt x="96" y="971"/>
                    </a:lnTo>
                    <a:lnTo>
                      <a:pt x="64" y="942"/>
                    </a:lnTo>
                    <a:lnTo>
                      <a:pt x="37" y="908"/>
                    </a:lnTo>
                    <a:lnTo>
                      <a:pt x="17" y="870"/>
                    </a:lnTo>
                    <a:lnTo>
                      <a:pt x="7" y="827"/>
                    </a:lnTo>
                    <a:lnTo>
                      <a:pt x="0" y="781"/>
                    </a:lnTo>
                    <a:lnTo>
                      <a:pt x="3" y="732"/>
                    </a:lnTo>
                    <a:lnTo>
                      <a:pt x="11" y="681"/>
                    </a:lnTo>
                    <a:lnTo>
                      <a:pt x="28" y="630"/>
                    </a:lnTo>
                    <a:lnTo>
                      <a:pt x="51" y="575"/>
                    </a:lnTo>
                    <a:lnTo>
                      <a:pt x="81" y="522"/>
                    </a:lnTo>
                    <a:lnTo>
                      <a:pt x="117" y="467"/>
                    </a:lnTo>
                    <a:lnTo>
                      <a:pt x="160" y="414"/>
                    </a:lnTo>
                    <a:lnTo>
                      <a:pt x="207" y="361"/>
                    </a:lnTo>
                    <a:lnTo>
                      <a:pt x="260" y="310"/>
                    </a:lnTo>
                    <a:lnTo>
                      <a:pt x="315" y="261"/>
                    </a:lnTo>
                    <a:lnTo>
                      <a:pt x="377" y="216"/>
                    </a:lnTo>
                    <a:lnTo>
                      <a:pt x="441" y="17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" name="Group 31"/>
            <p:cNvGrpSpPr>
              <a:grpSpLocks/>
            </p:cNvGrpSpPr>
            <p:nvPr/>
          </p:nvGrpSpPr>
          <p:grpSpPr bwMode="auto">
            <a:xfrm>
              <a:off x="615950" y="1720850"/>
              <a:ext cx="2906713" cy="1520825"/>
              <a:chOff x="272" y="1372"/>
              <a:chExt cx="1831" cy="958"/>
            </a:xfrm>
          </p:grpSpPr>
          <p:sp>
            <p:nvSpPr>
              <p:cNvPr id="13" name="Rectangle 32"/>
              <p:cNvSpPr>
                <a:spLocks noChangeArrowheads="1"/>
              </p:cNvSpPr>
              <p:nvPr/>
            </p:nvSpPr>
            <p:spPr bwMode="auto">
              <a:xfrm>
                <a:off x="1165" y="138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14" name="Freeform 33"/>
              <p:cNvSpPr>
                <a:spLocks/>
              </p:cNvSpPr>
              <p:nvPr/>
            </p:nvSpPr>
            <p:spPr bwMode="auto">
              <a:xfrm>
                <a:off x="272" y="1372"/>
                <a:ext cx="1831" cy="958"/>
              </a:xfrm>
              <a:custGeom>
                <a:avLst/>
                <a:gdLst>
                  <a:gd name="T0" fmla="*/ 906 w 1831"/>
                  <a:gd name="T1" fmla="*/ 25 h 958"/>
                  <a:gd name="T2" fmla="*/ 1081 w 1831"/>
                  <a:gd name="T3" fmla="*/ 4 h 958"/>
                  <a:gd name="T4" fmla="*/ 1246 w 1831"/>
                  <a:gd name="T5" fmla="*/ 0 h 958"/>
                  <a:gd name="T6" fmla="*/ 1404 w 1831"/>
                  <a:gd name="T7" fmla="*/ 13 h 958"/>
                  <a:gd name="T8" fmla="*/ 1542 w 1831"/>
                  <a:gd name="T9" fmla="*/ 42 h 958"/>
                  <a:gd name="T10" fmla="*/ 1657 w 1831"/>
                  <a:gd name="T11" fmla="*/ 87 h 958"/>
                  <a:gd name="T12" fmla="*/ 1744 w 1831"/>
                  <a:gd name="T13" fmla="*/ 146 h 958"/>
                  <a:gd name="T14" fmla="*/ 1803 w 1831"/>
                  <a:gd name="T15" fmla="*/ 218 h 958"/>
                  <a:gd name="T16" fmla="*/ 1829 w 1831"/>
                  <a:gd name="T17" fmla="*/ 299 h 958"/>
                  <a:gd name="T18" fmla="*/ 1823 w 1831"/>
                  <a:gd name="T19" fmla="*/ 388 h 958"/>
                  <a:gd name="T20" fmla="*/ 1784 w 1831"/>
                  <a:gd name="T21" fmla="*/ 477 h 958"/>
                  <a:gd name="T22" fmla="*/ 1714 w 1831"/>
                  <a:gd name="T23" fmla="*/ 568 h 958"/>
                  <a:gd name="T24" fmla="*/ 1614 w 1831"/>
                  <a:gd name="T25" fmla="*/ 657 h 958"/>
                  <a:gd name="T26" fmla="*/ 1489 w 1831"/>
                  <a:gd name="T27" fmla="*/ 738 h 958"/>
                  <a:gd name="T28" fmla="*/ 1344 w 1831"/>
                  <a:gd name="T29" fmla="*/ 810 h 958"/>
                  <a:gd name="T30" fmla="*/ 1183 w 1831"/>
                  <a:gd name="T31" fmla="*/ 869 h 958"/>
                  <a:gd name="T32" fmla="*/ 1010 w 1831"/>
                  <a:gd name="T33" fmla="*/ 914 h 958"/>
                  <a:gd name="T34" fmla="*/ 838 w 1831"/>
                  <a:gd name="T35" fmla="*/ 946 h 958"/>
                  <a:gd name="T36" fmla="*/ 666 w 1831"/>
                  <a:gd name="T37" fmla="*/ 958 h 958"/>
                  <a:gd name="T38" fmla="*/ 504 w 1831"/>
                  <a:gd name="T39" fmla="*/ 954 h 958"/>
                  <a:gd name="T40" fmla="*/ 356 w 1831"/>
                  <a:gd name="T41" fmla="*/ 933 h 958"/>
                  <a:gd name="T42" fmla="*/ 228 w 1831"/>
                  <a:gd name="T43" fmla="*/ 895 h 958"/>
                  <a:gd name="T44" fmla="*/ 126 w 1831"/>
                  <a:gd name="T45" fmla="*/ 842 h 958"/>
                  <a:gd name="T46" fmla="*/ 51 w 1831"/>
                  <a:gd name="T47" fmla="*/ 776 h 958"/>
                  <a:gd name="T48" fmla="*/ 9 w 1831"/>
                  <a:gd name="T49" fmla="*/ 700 h 958"/>
                  <a:gd name="T50" fmla="*/ 0 w 1831"/>
                  <a:gd name="T51" fmla="*/ 615 h 958"/>
                  <a:gd name="T52" fmla="*/ 22 w 1831"/>
                  <a:gd name="T53" fmla="*/ 524 h 958"/>
                  <a:gd name="T54" fmla="*/ 77 w 1831"/>
                  <a:gd name="T55" fmla="*/ 432 h 958"/>
                  <a:gd name="T56" fmla="*/ 164 w 1831"/>
                  <a:gd name="T57" fmla="*/ 343 h 958"/>
                  <a:gd name="T58" fmla="*/ 277 w 1831"/>
                  <a:gd name="T59" fmla="*/ 259 h 958"/>
                  <a:gd name="T60" fmla="*/ 413 w 1831"/>
                  <a:gd name="T61" fmla="*/ 182 h 958"/>
                  <a:gd name="T62" fmla="*/ 566 w 1831"/>
                  <a:gd name="T63" fmla="*/ 116 h 958"/>
                  <a:gd name="T64" fmla="*/ 732 w 1831"/>
                  <a:gd name="T65" fmla="*/ 63 h 9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831" h="958">
                    <a:moveTo>
                      <a:pt x="819" y="42"/>
                    </a:moveTo>
                    <a:lnTo>
                      <a:pt x="906" y="25"/>
                    </a:lnTo>
                    <a:lnTo>
                      <a:pt x="993" y="13"/>
                    </a:lnTo>
                    <a:lnTo>
                      <a:pt x="1081" y="4"/>
                    </a:lnTo>
                    <a:lnTo>
                      <a:pt x="1166" y="0"/>
                    </a:lnTo>
                    <a:lnTo>
                      <a:pt x="1246" y="0"/>
                    </a:lnTo>
                    <a:lnTo>
                      <a:pt x="1327" y="4"/>
                    </a:lnTo>
                    <a:lnTo>
                      <a:pt x="1404" y="13"/>
                    </a:lnTo>
                    <a:lnTo>
                      <a:pt x="1474" y="25"/>
                    </a:lnTo>
                    <a:lnTo>
                      <a:pt x="1542" y="42"/>
                    </a:lnTo>
                    <a:lnTo>
                      <a:pt x="1601" y="63"/>
                    </a:lnTo>
                    <a:lnTo>
                      <a:pt x="1657" y="87"/>
                    </a:lnTo>
                    <a:lnTo>
                      <a:pt x="1704" y="116"/>
                    </a:lnTo>
                    <a:lnTo>
                      <a:pt x="1744" y="146"/>
                    </a:lnTo>
                    <a:lnTo>
                      <a:pt x="1778" y="182"/>
                    </a:lnTo>
                    <a:lnTo>
                      <a:pt x="1803" y="218"/>
                    </a:lnTo>
                    <a:lnTo>
                      <a:pt x="1820" y="259"/>
                    </a:lnTo>
                    <a:lnTo>
                      <a:pt x="1829" y="299"/>
                    </a:lnTo>
                    <a:lnTo>
                      <a:pt x="1831" y="343"/>
                    </a:lnTo>
                    <a:lnTo>
                      <a:pt x="1823" y="388"/>
                    </a:lnTo>
                    <a:lnTo>
                      <a:pt x="1808" y="432"/>
                    </a:lnTo>
                    <a:lnTo>
                      <a:pt x="1784" y="477"/>
                    </a:lnTo>
                    <a:lnTo>
                      <a:pt x="1752" y="524"/>
                    </a:lnTo>
                    <a:lnTo>
                      <a:pt x="1714" y="568"/>
                    </a:lnTo>
                    <a:lnTo>
                      <a:pt x="1667" y="613"/>
                    </a:lnTo>
                    <a:lnTo>
                      <a:pt x="1614" y="657"/>
                    </a:lnTo>
                    <a:lnTo>
                      <a:pt x="1555" y="698"/>
                    </a:lnTo>
                    <a:lnTo>
                      <a:pt x="1489" y="738"/>
                    </a:lnTo>
                    <a:lnTo>
                      <a:pt x="1419" y="774"/>
                    </a:lnTo>
                    <a:lnTo>
                      <a:pt x="1344" y="810"/>
                    </a:lnTo>
                    <a:lnTo>
                      <a:pt x="1263" y="842"/>
                    </a:lnTo>
                    <a:lnTo>
                      <a:pt x="1183" y="869"/>
                    </a:lnTo>
                    <a:lnTo>
                      <a:pt x="1098" y="895"/>
                    </a:lnTo>
                    <a:lnTo>
                      <a:pt x="1010" y="914"/>
                    </a:lnTo>
                    <a:lnTo>
                      <a:pt x="925" y="931"/>
                    </a:lnTo>
                    <a:lnTo>
                      <a:pt x="838" y="946"/>
                    </a:lnTo>
                    <a:lnTo>
                      <a:pt x="751" y="954"/>
                    </a:lnTo>
                    <a:lnTo>
                      <a:pt x="666" y="958"/>
                    </a:lnTo>
                    <a:lnTo>
                      <a:pt x="583" y="958"/>
                    </a:lnTo>
                    <a:lnTo>
                      <a:pt x="504" y="954"/>
                    </a:lnTo>
                    <a:lnTo>
                      <a:pt x="428" y="946"/>
                    </a:lnTo>
                    <a:lnTo>
                      <a:pt x="356" y="933"/>
                    </a:lnTo>
                    <a:lnTo>
                      <a:pt x="290" y="916"/>
                    </a:lnTo>
                    <a:lnTo>
                      <a:pt x="228" y="895"/>
                    </a:lnTo>
                    <a:lnTo>
                      <a:pt x="175" y="869"/>
                    </a:lnTo>
                    <a:lnTo>
                      <a:pt x="126" y="842"/>
                    </a:lnTo>
                    <a:lnTo>
                      <a:pt x="86" y="810"/>
                    </a:lnTo>
                    <a:lnTo>
                      <a:pt x="51" y="776"/>
                    </a:lnTo>
                    <a:lnTo>
                      <a:pt x="26" y="738"/>
                    </a:lnTo>
                    <a:lnTo>
                      <a:pt x="9" y="700"/>
                    </a:lnTo>
                    <a:lnTo>
                      <a:pt x="0" y="657"/>
                    </a:lnTo>
                    <a:lnTo>
                      <a:pt x="0" y="615"/>
                    </a:lnTo>
                    <a:lnTo>
                      <a:pt x="7" y="570"/>
                    </a:lnTo>
                    <a:lnTo>
                      <a:pt x="22" y="524"/>
                    </a:lnTo>
                    <a:lnTo>
                      <a:pt x="47" y="479"/>
                    </a:lnTo>
                    <a:lnTo>
                      <a:pt x="77" y="432"/>
                    </a:lnTo>
                    <a:lnTo>
                      <a:pt x="117" y="388"/>
                    </a:lnTo>
                    <a:lnTo>
                      <a:pt x="164" y="343"/>
                    </a:lnTo>
                    <a:lnTo>
                      <a:pt x="217" y="301"/>
                    </a:lnTo>
                    <a:lnTo>
                      <a:pt x="277" y="259"/>
                    </a:lnTo>
                    <a:lnTo>
                      <a:pt x="341" y="220"/>
                    </a:lnTo>
                    <a:lnTo>
                      <a:pt x="413" y="182"/>
                    </a:lnTo>
                    <a:lnTo>
                      <a:pt x="487" y="148"/>
                    </a:lnTo>
                    <a:lnTo>
                      <a:pt x="566" y="116"/>
                    </a:lnTo>
                    <a:lnTo>
                      <a:pt x="649" y="89"/>
                    </a:lnTo>
                    <a:lnTo>
                      <a:pt x="732" y="63"/>
                    </a:lnTo>
                    <a:lnTo>
                      <a:pt x="819" y="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5" name="Group 4"/>
          <p:cNvGrpSpPr>
            <a:grpSpLocks noChangeAspect="1"/>
          </p:cNvGrpSpPr>
          <p:nvPr/>
        </p:nvGrpSpPr>
        <p:grpSpPr bwMode="auto">
          <a:xfrm>
            <a:off x="7789656" y="2153174"/>
            <a:ext cx="3695700" cy="2314575"/>
            <a:chOff x="5150" y="1356"/>
            <a:chExt cx="2328" cy="1458"/>
          </a:xfrm>
        </p:grpSpPr>
        <p:sp>
          <p:nvSpPr>
            <p:cNvPr id="36" name="AutoShape 3"/>
            <p:cNvSpPr>
              <a:spLocks noChangeAspect="1" noChangeArrowheads="1" noTextEdit="1"/>
            </p:cNvSpPr>
            <p:nvPr/>
          </p:nvSpPr>
          <p:spPr bwMode="auto">
            <a:xfrm>
              <a:off x="5150" y="1356"/>
              <a:ext cx="2322" cy="1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5"/>
            <p:cNvSpPr>
              <a:spLocks noChangeArrowheads="1"/>
            </p:cNvSpPr>
            <p:nvPr/>
          </p:nvSpPr>
          <p:spPr bwMode="auto">
            <a:xfrm>
              <a:off x="5150" y="1356"/>
              <a:ext cx="2328" cy="14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Rectangle 6"/>
            <p:cNvSpPr>
              <a:spLocks noChangeArrowheads="1"/>
            </p:cNvSpPr>
            <p:nvPr/>
          </p:nvSpPr>
          <p:spPr bwMode="auto">
            <a:xfrm>
              <a:off x="5449" y="1463"/>
              <a:ext cx="1802" cy="118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Rectangle 7"/>
            <p:cNvSpPr>
              <a:spLocks noChangeArrowheads="1"/>
            </p:cNvSpPr>
            <p:nvPr/>
          </p:nvSpPr>
          <p:spPr bwMode="auto">
            <a:xfrm>
              <a:off x="5449" y="1463"/>
              <a:ext cx="1802" cy="1185"/>
            </a:xfrm>
            <a:prstGeom prst="rect">
              <a:avLst/>
            </a:prstGeom>
            <a:noFill/>
            <a:ln w="0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5449" y="2648"/>
              <a:ext cx="1802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/>
            <p:cNvSpPr>
              <a:spLocks noChangeShapeType="1"/>
            </p:cNvSpPr>
            <p:nvPr/>
          </p:nvSpPr>
          <p:spPr bwMode="auto">
            <a:xfrm flipV="1">
              <a:off x="5449" y="1463"/>
              <a:ext cx="0" cy="118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/>
            <p:cNvSpPr>
              <a:spLocks noChangeShapeType="1"/>
            </p:cNvSpPr>
            <p:nvPr/>
          </p:nvSpPr>
          <p:spPr bwMode="auto">
            <a:xfrm flipV="1">
              <a:off x="5600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11"/>
            <p:cNvSpPr>
              <a:spLocks noChangeArrowheads="1"/>
            </p:cNvSpPr>
            <p:nvPr/>
          </p:nvSpPr>
          <p:spPr bwMode="auto">
            <a:xfrm>
              <a:off x="5582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Line 12"/>
            <p:cNvSpPr>
              <a:spLocks noChangeShapeType="1"/>
            </p:cNvSpPr>
            <p:nvPr/>
          </p:nvSpPr>
          <p:spPr bwMode="auto">
            <a:xfrm flipV="1">
              <a:off x="5902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5881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Line 14"/>
            <p:cNvSpPr>
              <a:spLocks noChangeShapeType="1"/>
            </p:cNvSpPr>
            <p:nvPr/>
          </p:nvSpPr>
          <p:spPr bwMode="auto">
            <a:xfrm flipV="1">
              <a:off x="6201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15"/>
            <p:cNvSpPr>
              <a:spLocks noChangeArrowheads="1"/>
            </p:cNvSpPr>
            <p:nvPr/>
          </p:nvSpPr>
          <p:spPr bwMode="auto">
            <a:xfrm>
              <a:off x="6183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Line 16"/>
            <p:cNvSpPr>
              <a:spLocks noChangeShapeType="1"/>
            </p:cNvSpPr>
            <p:nvPr/>
          </p:nvSpPr>
          <p:spPr bwMode="auto">
            <a:xfrm flipV="1">
              <a:off x="6503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17"/>
            <p:cNvSpPr>
              <a:spLocks noChangeArrowheads="1"/>
            </p:cNvSpPr>
            <p:nvPr/>
          </p:nvSpPr>
          <p:spPr bwMode="auto">
            <a:xfrm>
              <a:off x="6482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Line 18"/>
            <p:cNvSpPr>
              <a:spLocks noChangeShapeType="1"/>
            </p:cNvSpPr>
            <p:nvPr/>
          </p:nvSpPr>
          <p:spPr bwMode="auto">
            <a:xfrm flipV="1">
              <a:off x="6802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19"/>
            <p:cNvSpPr>
              <a:spLocks noChangeArrowheads="1"/>
            </p:cNvSpPr>
            <p:nvPr/>
          </p:nvSpPr>
          <p:spPr bwMode="auto">
            <a:xfrm>
              <a:off x="6784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20"/>
            <p:cNvSpPr>
              <a:spLocks noChangeShapeType="1"/>
            </p:cNvSpPr>
            <p:nvPr/>
          </p:nvSpPr>
          <p:spPr bwMode="auto">
            <a:xfrm flipV="1">
              <a:off x="7100" y="2631"/>
              <a:ext cx="0" cy="1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7083" y="2660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Line 22"/>
            <p:cNvSpPr>
              <a:spLocks noChangeShapeType="1"/>
            </p:cNvSpPr>
            <p:nvPr/>
          </p:nvSpPr>
          <p:spPr bwMode="auto">
            <a:xfrm>
              <a:off x="5449" y="2648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3"/>
            <p:cNvSpPr>
              <a:spLocks noChangeArrowheads="1"/>
            </p:cNvSpPr>
            <p:nvPr/>
          </p:nvSpPr>
          <p:spPr bwMode="auto">
            <a:xfrm>
              <a:off x="5397" y="2608"/>
              <a:ext cx="7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4"/>
            <p:cNvSpPr>
              <a:spLocks noChangeShapeType="1"/>
            </p:cNvSpPr>
            <p:nvPr/>
          </p:nvSpPr>
          <p:spPr bwMode="auto">
            <a:xfrm>
              <a:off x="5449" y="2503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Rectangle 25"/>
            <p:cNvSpPr>
              <a:spLocks noChangeArrowheads="1"/>
            </p:cNvSpPr>
            <p:nvPr/>
          </p:nvSpPr>
          <p:spPr bwMode="auto">
            <a:xfrm>
              <a:off x="5301" y="2465"/>
              <a:ext cx="17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0.05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Line 26"/>
            <p:cNvSpPr>
              <a:spLocks noChangeShapeType="1"/>
            </p:cNvSpPr>
            <p:nvPr/>
          </p:nvSpPr>
          <p:spPr bwMode="auto">
            <a:xfrm>
              <a:off x="5449" y="2361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7"/>
            <p:cNvSpPr>
              <a:spLocks noChangeArrowheads="1"/>
            </p:cNvSpPr>
            <p:nvPr/>
          </p:nvSpPr>
          <p:spPr bwMode="auto">
            <a:xfrm>
              <a:off x="5339" y="2320"/>
              <a:ext cx="13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Line 28"/>
            <p:cNvSpPr>
              <a:spLocks noChangeShapeType="1"/>
            </p:cNvSpPr>
            <p:nvPr/>
          </p:nvSpPr>
          <p:spPr bwMode="auto">
            <a:xfrm>
              <a:off x="5449" y="2216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Rectangle 29"/>
            <p:cNvSpPr>
              <a:spLocks noChangeArrowheads="1"/>
            </p:cNvSpPr>
            <p:nvPr/>
          </p:nvSpPr>
          <p:spPr bwMode="auto">
            <a:xfrm>
              <a:off x="5301" y="2175"/>
              <a:ext cx="17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0.15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Line 30"/>
            <p:cNvSpPr>
              <a:spLocks noChangeShapeType="1"/>
            </p:cNvSpPr>
            <p:nvPr/>
          </p:nvSpPr>
          <p:spPr bwMode="auto">
            <a:xfrm>
              <a:off x="5449" y="2070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Rectangle 31"/>
            <p:cNvSpPr>
              <a:spLocks noChangeArrowheads="1"/>
            </p:cNvSpPr>
            <p:nvPr/>
          </p:nvSpPr>
          <p:spPr bwMode="auto">
            <a:xfrm>
              <a:off x="5339" y="2033"/>
              <a:ext cx="13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Line 32"/>
            <p:cNvSpPr>
              <a:spLocks noChangeShapeType="1"/>
            </p:cNvSpPr>
            <p:nvPr/>
          </p:nvSpPr>
          <p:spPr bwMode="auto">
            <a:xfrm>
              <a:off x="5449" y="1928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Rectangle 33"/>
            <p:cNvSpPr>
              <a:spLocks noChangeArrowheads="1"/>
            </p:cNvSpPr>
            <p:nvPr/>
          </p:nvSpPr>
          <p:spPr bwMode="auto">
            <a:xfrm>
              <a:off x="5301" y="1887"/>
              <a:ext cx="17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Line 34"/>
            <p:cNvSpPr>
              <a:spLocks noChangeShapeType="1"/>
            </p:cNvSpPr>
            <p:nvPr/>
          </p:nvSpPr>
          <p:spPr bwMode="auto">
            <a:xfrm>
              <a:off x="5449" y="1783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Rectangle 35"/>
            <p:cNvSpPr>
              <a:spLocks noChangeArrowheads="1"/>
            </p:cNvSpPr>
            <p:nvPr/>
          </p:nvSpPr>
          <p:spPr bwMode="auto">
            <a:xfrm>
              <a:off x="5339" y="1742"/>
              <a:ext cx="13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Line 36"/>
            <p:cNvSpPr>
              <a:spLocks noChangeShapeType="1"/>
            </p:cNvSpPr>
            <p:nvPr/>
          </p:nvSpPr>
          <p:spPr bwMode="auto">
            <a:xfrm>
              <a:off x="5449" y="1641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Rectangle 37"/>
            <p:cNvSpPr>
              <a:spLocks noChangeArrowheads="1"/>
            </p:cNvSpPr>
            <p:nvPr/>
          </p:nvSpPr>
          <p:spPr bwMode="auto">
            <a:xfrm>
              <a:off x="5301" y="1603"/>
              <a:ext cx="17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0.35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Line 38"/>
            <p:cNvSpPr>
              <a:spLocks noChangeShapeType="1"/>
            </p:cNvSpPr>
            <p:nvPr/>
          </p:nvSpPr>
          <p:spPr bwMode="auto">
            <a:xfrm>
              <a:off x="5449" y="1498"/>
              <a:ext cx="20" cy="0"/>
            </a:xfrm>
            <a:prstGeom prst="lin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39"/>
            <p:cNvSpPr>
              <a:spLocks noChangeArrowheads="1"/>
            </p:cNvSpPr>
            <p:nvPr/>
          </p:nvSpPr>
          <p:spPr bwMode="auto">
            <a:xfrm>
              <a:off x="5339" y="1458"/>
              <a:ext cx="13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Helvetica" panose="020B0604020202020204" pitchFamily="34" charset="0"/>
                </a:rPr>
                <a:t>0.4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Freeform 40"/>
            <p:cNvSpPr>
              <a:spLocks/>
            </p:cNvSpPr>
            <p:nvPr/>
          </p:nvSpPr>
          <p:spPr bwMode="auto">
            <a:xfrm>
              <a:off x="5600" y="2329"/>
              <a:ext cx="302" cy="319"/>
            </a:xfrm>
            <a:custGeom>
              <a:avLst/>
              <a:gdLst>
                <a:gd name="T0" fmla="*/ 0 w 302"/>
                <a:gd name="T1" fmla="*/ 319 h 319"/>
                <a:gd name="T2" fmla="*/ 0 w 302"/>
                <a:gd name="T3" fmla="*/ 0 h 319"/>
                <a:gd name="T4" fmla="*/ 302 w 302"/>
                <a:gd name="T5" fmla="*/ 0 h 319"/>
                <a:gd name="T6" fmla="*/ 302 w 302"/>
                <a:gd name="T7" fmla="*/ 319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2" h="319">
                  <a:moveTo>
                    <a:pt x="0" y="319"/>
                  </a:moveTo>
                  <a:lnTo>
                    <a:pt x="0" y="0"/>
                  </a:lnTo>
                  <a:lnTo>
                    <a:pt x="302" y="0"/>
                  </a:lnTo>
                  <a:lnTo>
                    <a:pt x="302" y="319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41"/>
            <p:cNvSpPr>
              <a:spLocks/>
            </p:cNvSpPr>
            <p:nvPr/>
          </p:nvSpPr>
          <p:spPr bwMode="auto">
            <a:xfrm>
              <a:off x="6802" y="2248"/>
              <a:ext cx="298" cy="400"/>
            </a:xfrm>
            <a:custGeom>
              <a:avLst/>
              <a:gdLst>
                <a:gd name="T0" fmla="*/ 0 w 298"/>
                <a:gd name="T1" fmla="*/ 400 h 400"/>
                <a:gd name="T2" fmla="*/ 0 w 298"/>
                <a:gd name="T3" fmla="*/ 0 h 400"/>
                <a:gd name="T4" fmla="*/ 298 w 298"/>
                <a:gd name="T5" fmla="*/ 0 h 400"/>
                <a:gd name="T6" fmla="*/ 298 w 298"/>
                <a:gd name="T7" fmla="*/ 40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00">
                  <a:moveTo>
                    <a:pt x="0" y="400"/>
                  </a:moveTo>
                  <a:lnTo>
                    <a:pt x="0" y="0"/>
                  </a:lnTo>
                  <a:lnTo>
                    <a:pt x="298" y="0"/>
                  </a:lnTo>
                  <a:lnTo>
                    <a:pt x="298" y="40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42"/>
            <p:cNvSpPr>
              <a:spLocks/>
            </p:cNvSpPr>
            <p:nvPr/>
          </p:nvSpPr>
          <p:spPr bwMode="auto">
            <a:xfrm>
              <a:off x="5751" y="2006"/>
              <a:ext cx="450" cy="642"/>
            </a:xfrm>
            <a:custGeom>
              <a:avLst/>
              <a:gdLst>
                <a:gd name="T0" fmla="*/ 0 w 450"/>
                <a:gd name="T1" fmla="*/ 323 h 642"/>
                <a:gd name="T2" fmla="*/ 0 w 450"/>
                <a:gd name="T3" fmla="*/ 0 h 642"/>
                <a:gd name="T4" fmla="*/ 450 w 450"/>
                <a:gd name="T5" fmla="*/ 0 h 642"/>
                <a:gd name="T6" fmla="*/ 450 w 450"/>
                <a:gd name="T7" fmla="*/ 642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0" h="642">
                  <a:moveTo>
                    <a:pt x="0" y="323"/>
                  </a:moveTo>
                  <a:lnTo>
                    <a:pt x="0" y="0"/>
                  </a:lnTo>
                  <a:lnTo>
                    <a:pt x="450" y="0"/>
                  </a:lnTo>
                  <a:lnTo>
                    <a:pt x="450" y="642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43"/>
            <p:cNvSpPr>
              <a:spLocks/>
            </p:cNvSpPr>
            <p:nvPr/>
          </p:nvSpPr>
          <p:spPr bwMode="auto">
            <a:xfrm>
              <a:off x="6503" y="1664"/>
              <a:ext cx="449" cy="984"/>
            </a:xfrm>
            <a:custGeom>
              <a:avLst/>
              <a:gdLst>
                <a:gd name="T0" fmla="*/ 0 w 449"/>
                <a:gd name="T1" fmla="*/ 984 h 984"/>
                <a:gd name="T2" fmla="*/ 0 w 449"/>
                <a:gd name="T3" fmla="*/ 0 h 984"/>
                <a:gd name="T4" fmla="*/ 449 w 449"/>
                <a:gd name="T5" fmla="*/ 0 h 984"/>
                <a:gd name="T6" fmla="*/ 449 w 449"/>
                <a:gd name="T7" fmla="*/ 584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9" h="984">
                  <a:moveTo>
                    <a:pt x="0" y="984"/>
                  </a:moveTo>
                  <a:lnTo>
                    <a:pt x="0" y="0"/>
                  </a:lnTo>
                  <a:lnTo>
                    <a:pt x="449" y="0"/>
                  </a:lnTo>
                  <a:lnTo>
                    <a:pt x="449" y="584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77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4" y="4467749"/>
            <a:ext cx="26860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26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 : complete-link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268" y="3209365"/>
            <a:ext cx="438785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1422681" y="2658503"/>
            <a:ext cx="3935412" cy="3487737"/>
            <a:chOff x="360363" y="1582738"/>
            <a:chExt cx="3935412" cy="3487737"/>
          </a:xfrm>
        </p:grpSpPr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792163" y="1824038"/>
              <a:ext cx="2998787" cy="2687637"/>
              <a:chOff x="383" y="1437"/>
              <a:chExt cx="1889" cy="1693"/>
            </a:xfrm>
          </p:grpSpPr>
          <p:sp>
            <p:nvSpPr>
              <p:cNvPr id="22" name="Freeform 7"/>
              <p:cNvSpPr>
                <a:spLocks/>
              </p:cNvSpPr>
              <p:nvPr/>
            </p:nvSpPr>
            <p:spPr bwMode="auto">
              <a:xfrm>
                <a:off x="974" y="211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5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5 w 87"/>
                  <a:gd name="T21" fmla="*/ 75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5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5" y="75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auto">
              <a:xfrm>
                <a:off x="1782" y="1488"/>
                <a:ext cx="87" cy="87"/>
              </a:xfrm>
              <a:custGeom>
                <a:avLst/>
                <a:gdLst>
                  <a:gd name="T0" fmla="*/ 0 w 87"/>
                  <a:gd name="T1" fmla="*/ 43 h 87"/>
                  <a:gd name="T2" fmla="*/ 4 w 87"/>
                  <a:gd name="T3" fmla="*/ 26 h 87"/>
                  <a:gd name="T4" fmla="*/ 13 w 87"/>
                  <a:gd name="T5" fmla="*/ 13 h 87"/>
                  <a:gd name="T6" fmla="*/ 28 w 87"/>
                  <a:gd name="T7" fmla="*/ 3 h 87"/>
                  <a:gd name="T8" fmla="*/ 45 w 87"/>
                  <a:gd name="T9" fmla="*/ 0 h 87"/>
                  <a:gd name="T10" fmla="*/ 60 w 87"/>
                  <a:gd name="T11" fmla="*/ 3 h 87"/>
                  <a:gd name="T12" fmla="*/ 74 w 87"/>
                  <a:gd name="T13" fmla="*/ 13 h 87"/>
                  <a:gd name="T14" fmla="*/ 85 w 87"/>
                  <a:gd name="T15" fmla="*/ 26 h 87"/>
                  <a:gd name="T16" fmla="*/ 87 w 87"/>
                  <a:gd name="T17" fmla="*/ 43 h 87"/>
                  <a:gd name="T18" fmla="*/ 85 w 87"/>
                  <a:gd name="T19" fmla="*/ 60 h 87"/>
                  <a:gd name="T20" fmla="*/ 74 w 87"/>
                  <a:gd name="T21" fmla="*/ 75 h 87"/>
                  <a:gd name="T22" fmla="*/ 60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5 h 87"/>
                  <a:gd name="T30" fmla="*/ 4 w 87"/>
                  <a:gd name="T31" fmla="*/ 60 h 87"/>
                  <a:gd name="T32" fmla="*/ 0 w 87"/>
                  <a:gd name="T33" fmla="*/ 43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3"/>
                    </a:moveTo>
                    <a:lnTo>
                      <a:pt x="4" y="26"/>
                    </a:lnTo>
                    <a:lnTo>
                      <a:pt x="13" y="13"/>
                    </a:lnTo>
                    <a:lnTo>
                      <a:pt x="28" y="3"/>
                    </a:lnTo>
                    <a:lnTo>
                      <a:pt x="45" y="0"/>
                    </a:lnTo>
                    <a:lnTo>
                      <a:pt x="60" y="3"/>
                    </a:lnTo>
                    <a:lnTo>
                      <a:pt x="74" y="13"/>
                    </a:lnTo>
                    <a:lnTo>
                      <a:pt x="85" y="26"/>
                    </a:lnTo>
                    <a:lnTo>
                      <a:pt x="87" y="43"/>
                    </a:lnTo>
                    <a:lnTo>
                      <a:pt x="85" y="60"/>
                    </a:lnTo>
                    <a:lnTo>
                      <a:pt x="74" y="75"/>
                    </a:lnTo>
                    <a:lnTo>
                      <a:pt x="60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5"/>
                    </a:lnTo>
                    <a:lnTo>
                      <a:pt x="4" y="60"/>
                    </a:lnTo>
                    <a:lnTo>
                      <a:pt x="0" y="43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9"/>
              <p:cNvSpPr>
                <a:spLocks/>
              </p:cNvSpPr>
              <p:nvPr/>
            </p:nvSpPr>
            <p:spPr bwMode="auto">
              <a:xfrm>
                <a:off x="1193" y="2975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5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5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5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5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10"/>
              <p:cNvSpPr>
                <a:spLocks/>
              </p:cNvSpPr>
              <p:nvPr/>
            </p:nvSpPr>
            <p:spPr bwMode="auto">
              <a:xfrm>
                <a:off x="383" y="1993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4 h 87"/>
                  <a:gd name="T8" fmla="*/ 45 w 87"/>
                  <a:gd name="T9" fmla="*/ 0 h 87"/>
                  <a:gd name="T10" fmla="*/ 62 w 87"/>
                  <a:gd name="T11" fmla="*/ 4 h 87"/>
                  <a:gd name="T12" fmla="*/ 74 w 87"/>
                  <a:gd name="T13" fmla="*/ 13 h 87"/>
                  <a:gd name="T14" fmla="*/ 85 w 87"/>
                  <a:gd name="T15" fmla="*/ 28 h 87"/>
                  <a:gd name="T16" fmla="*/ 87 w 87"/>
                  <a:gd name="T17" fmla="*/ 45 h 87"/>
                  <a:gd name="T18" fmla="*/ 85 w 87"/>
                  <a:gd name="T19" fmla="*/ 62 h 87"/>
                  <a:gd name="T20" fmla="*/ 74 w 87"/>
                  <a:gd name="T21" fmla="*/ 74 h 87"/>
                  <a:gd name="T22" fmla="*/ 62 w 87"/>
                  <a:gd name="T23" fmla="*/ 85 h 87"/>
                  <a:gd name="T24" fmla="*/ 45 w 87"/>
                  <a:gd name="T25" fmla="*/ 87 h 87"/>
                  <a:gd name="T26" fmla="*/ 28 w 87"/>
                  <a:gd name="T27" fmla="*/ 85 h 87"/>
                  <a:gd name="T28" fmla="*/ 13 w 87"/>
                  <a:gd name="T29" fmla="*/ 74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4"/>
                    </a:lnTo>
                    <a:lnTo>
                      <a:pt x="45" y="0"/>
                    </a:lnTo>
                    <a:lnTo>
                      <a:pt x="62" y="4"/>
                    </a:lnTo>
                    <a:lnTo>
                      <a:pt x="74" y="13"/>
                    </a:lnTo>
                    <a:lnTo>
                      <a:pt x="85" y="28"/>
                    </a:lnTo>
                    <a:lnTo>
                      <a:pt x="87" y="45"/>
                    </a:lnTo>
                    <a:lnTo>
                      <a:pt x="85" y="62"/>
                    </a:lnTo>
                    <a:lnTo>
                      <a:pt x="74" y="74"/>
                    </a:lnTo>
                    <a:lnTo>
                      <a:pt x="62" y="85"/>
                    </a:lnTo>
                    <a:lnTo>
                      <a:pt x="45" y="87"/>
                    </a:lnTo>
                    <a:lnTo>
                      <a:pt x="28" y="85"/>
                    </a:lnTo>
                    <a:lnTo>
                      <a:pt x="13" y="74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1"/>
              <p:cNvSpPr>
                <a:spLocks/>
              </p:cNvSpPr>
              <p:nvPr/>
            </p:nvSpPr>
            <p:spPr bwMode="auto">
              <a:xfrm>
                <a:off x="1544" y="2419"/>
                <a:ext cx="87" cy="87"/>
              </a:xfrm>
              <a:custGeom>
                <a:avLst/>
                <a:gdLst>
                  <a:gd name="T0" fmla="*/ 0 w 87"/>
                  <a:gd name="T1" fmla="*/ 45 h 87"/>
                  <a:gd name="T2" fmla="*/ 4 w 87"/>
                  <a:gd name="T3" fmla="*/ 28 h 87"/>
                  <a:gd name="T4" fmla="*/ 13 w 87"/>
                  <a:gd name="T5" fmla="*/ 13 h 87"/>
                  <a:gd name="T6" fmla="*/ 28 w 87"/>
                  <a:gd name="T7" fmla="*/ 5 h 87"/>
                  <a:gd name="T8" fmla="*/ 42 w 87"/>
                  <a:gd name="T9" fmla="*/ 0 h 87"/>
                  <a:gd name="T10" fmla="*/ 59 w 87"/>
                  <a:gd name="T11" fmla="*/ 5 h 87"/>
                  <a:gd name="T12" fmla="*/ 74 w 87"/>
                  <a:gd name="T13" fmla="*/ 13 h 87"/>
                  <a:gd name="T14" fmla="*/ 83 w 87"/>
                  <a:gd name="T15" fmla="*/ 28 h 87"/>
                  <a:gd name="T16" fmla="*/ 87 w 87"/>
                  <a:gd name="T17" fmla="*/ 45 h 87"/>
                  <a:gd name="T18" fmla="*/ 83 w 87"/>
                  <a:gd name="T19" fmla="*/ 62 h 87"/>
                  <a:gd name="T20" fmla="*/ 74 w 87"/>
                  <a:gd name="T21" fmla="*/ 75 h 87"/>
                  <a:gd name="T22" fmla="*/ 59 w 87"/>
                  <a:gd name="T23" fmla="*/ 85 h 87"/>
                  <a:gd name="T24" fmla="*/ 42 w 87"/>
                  <a:gd name="T25" fmla="*/ 87 h 87"/>
                  <a:gd name="T26" fmla="*/ 28 w 87"/>
                  <a:gd name="T27" fmla="*/ 85 h 87"/>
                  <a:gd name="T28" fmla="*/ 13 w 87"/>
                  <a:gd name="T29" fmla="*/ 75 h 87"/>
                  <a:gd name="T30" fmla="*/ 4 w 87"/>
                  <a:gd name="T31" fmla="*/ 62 h 87"/>
                  <a:gd name="T32" fmla="*/ 0 w 87"/>
                  <a:gd name="T33" fmla="*/ 45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5"/>
                    </a:moveTo>
                    <a:lnTo>
                      <a:pt x="4" y="28"/>
                    </a:lnTo>
                    <a:lnTo>
                      <a:pt x="13" y="13"/>
                    </a:lnTo>
                    <a:lnTo>
                      <a:pt x="28" y="5"/>
                    </a:lnTo>
                    <a:lnTo>
                      <a:pt x="42" y="0"/>
                    </a:lnTo>
                    <a:lnTo>
                      <a:pt x="59" y="5"/>
                    </a:lnTo>
                    <a:lnTo>
                      <a:pt x="74" y="13"/>
                    </a:lnTo>
                    <a:lnTo>
                      <a:pt x="83" y="28"/>
                    </a:lnTo>
                    <a:lnTo>
                      <a:pt x="87" y="45"/>
                    </a:lnTo>
                    <a:lnTo>
                      <a:pt x="83" y="62"/>
                    </a:lnTo>
                    <a:lnTo>
                      <a:pt x="74" y="75"/>
                    </a:lnTo>
                    <a:lnTo>
                      <a:pt x="59" y="85"/>
                    </a:lnTo>
                    <a:lnTo>
                      <a:pt x="42" y="87"/>
                    </a:lnTo>
                    <a:lnTo>
                      <a:pt x="28" y="85"/>
                    </a:lnTo>
                    <a:lnTo>
                      <a:pt x="13" y="75"/>
                    </a:lnTo>
                    <a:lnTo>
                      <a:pt x="4" y="6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2"/>
              <p:cNvSpPr>
                <a:spLocks/>
              </p:cNvSpPr>
              <p:nvPr/>
            </p:nvSpPr>
            <p:spPr bwMode="auto">
              <a:xfrm>
                <a:off x="2018" y="2479"/>
                <a:ext cx="87" cy="87"/>
              </a:xfrm>
              <a:custGeom>
                <a:avLst/>
                <a:gdLst>
                  <a:gd name="T0" fmla="*/ 0 w 87"/>
                  <a:gd name="T1" fmla="*/ 42 h 87"/>
                  <a:gd name="T2" fmla="*/ 4 w 87"/>
                  <a:gd name="T3" fmla="*/ 25 h 87"/>
                  <a:gd name="T4" fmla="*/ 13 w 87"/>
                  <a:gd name="T5" fmla="*/ 13 h 87"/>
                  <a:gd name="T6" fmla="*/ 28 w 87"/>
                  <a:gd name="T7" fmla="*/ 2 h 87"/>
                  <a:gd name="T8" fmla="*/ 45 w 87"/>
                  <a:gd name="T9" fmla="*/ 0 h 87"/>
                  <a:gd name="T10" fmla="*/ 62 w 87"/>
                  <a:gd name="T11" fmla="*/ 2 h 87"/>
                  <a:gd name="T12" fmla="*/ 74 w 87"/>
                  <a:gd name="T13" fmla="*/ 13 h 87"/>
                  <a:gd name="T14" fmla="*/ 85 w 87"/>
                  <a:gd name="T15" fmla="*/ 25 h 87"/>
                  <a:gd name="T16" fmla="*/ 87 w 87"/>
                  <a:gd name="T17" fmla="*/ 42 h 87"/>
                  <a:gd name="T18" fmla="*/ 85 w 87"/>
                  <a:gd name="T19" fmla="*/ 59 h 87"/>
                  <a:gd name="T20" fmla="*/ 74 w 87"/>
                  <a:gd name="T21" fmla="*/ 74 h 87"/>
                  <a:gd name="T22" fmla="*/ 62 w 87"/>
                  <a:gd name="T23" fmla="*/ 83 h 87"/>
                  <a:gd name="T24" fmla="*/ 45 w 87"/>
                  <a:gd name="T25" fmla="*/ 87 h 87"/>
                  <a:gd name="T26" fmla="*/ 28 w 87"/>
                  <a:gd name="T27" fmla="*/ 83 h 87"/>
                  <a:gd name="T28" fmla="*/ 13 w 87"/>
                  <a:gd name="T29" fmla="*/ 74 h 87"/>
                  <a:gd name="T30" fmla="*/ 4 w 87"/>
                  <a:gd name="T31" fmla="*/ 59 h 87"/>
                  <a:gd name="T32" fmla="*/ 0 w 87"/>
                  <a:gd name="T33" fmla="*/ 42 h 8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7" h="87">
                    <a:moveTo>
                      <a:pt x="0" y="42"/>
                    </a:moveTo>
                    <a:lnTo>
                      <a:pt x="4" y="25"/>
                    </a:lnTo>
                    <a:lnTo>
                      <a:pt x="13" y="13"/>
                    </a:lnTo>
                    <a:lnTo>
                      <a:pt x="28" y="2"/>
                    </a:lnTo>
                    <a:lnTo>
                      <a:pt x="45" y="0"/>
                    </a:lnTo>
                    <a:lnTo>
                      <a:pt x="62" y="2"/>
                    </a:lnTo>
                    <a:lnTo>
                      <a:pt x="74" y="13"/>
                    </a:lnTo>
                    <a:lnTo>
                      <a:pt x="85" y="25"/>
                    </a:lnTo>
                    <a:lnTo>
                      <a:pt x="87" y="42"/>
                    </a:lnTo>
                    <a:lnTo>
                      <a:pt x="85" y="59"/>
                    </a:lnTo>
                    <a:lnTo>
                      <a:pt x="74" y="74"/>
                    </a:lnTo>
                    <a:lnTo>
                      <a:pt x="62" y="83"/>
                    </a:lnTo>
                    <a:lnTo>
                      <a:pt x="45" y="87"/>
                    </a:lnTo>
                    <a:lnTo>
                      <a:pt x="28" y="83"/>
                    </a:lnTo>
                    <a:lnTo>
                      <a:pt x="13" y="74"/>
                    </a:lnTo>
                    <a:lnTo>
                      <a:pt x="4" y="59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1A1A1A"/>
              </a:solidFill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890" y="1437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1</a:t>
                </a:r>
                <a:endParaRPr lang="en-US" altLang="en-US"/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1089" y="2061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2</a:t>
                </a:r>
                <a:endParaRPr lang="en-US" altLang="en-US"/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1699" y="2373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31" name="Rectangle 16"/>
              <p:cNvSpPr>
                <a:spLocks noChangeArrowheads="1"/>
              </p:cNvSpPr>
              <p:nvPr/>
            </p:nvSpPr>
            <p:spPr bwMode="auto">
              <a:xfrm>
                <a:off x="1319" y="29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32" name="Rectangle 17"/>
              <p:cNvSpPr>
                <a:spLocks noChangeArrowheads="1"/>
              </p:cNvSpPr>
              <p:nvPr/>
            </p:nvSpPr>
            <p:spPr bwMode="auto">
              <a:xfrm>
                <a:off x="517" y="1940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33" name="Rectangle 18"/>
              <p:cNvSpPr>
                <a:spLocks noChangeArrowheads="1"/>
              </p:cNvSpPr>
              <p:nvPr/>
            </p:nvSpPr>
            <p:spPr bwMode="auto">
              <a:xfrm>
                <a:off x="2188" y="2428"/>
                <a:ext cx="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000000"/>
                    </a:solidFill>
                  </a:rPr>
                  <a:t>6</a:t>
                </a:r>
                <a:endParaRPr lang="en-US" altLang="en-US"/>
              </a:p>
            </p:txBody>
          </p:sp>
        </p:grpSp>
        <p:grpSp>
          <p:nvGrpSpPr>
            <p:cNvPr id="7" name="Group 19"/>
            <p:cNvGrpSpPr>
              <a:grpSpLocks/>
            </p:cNvGrpSpPr>
            <p:nvPr/>
          </p:nvGrpSpPr>
          <p:grpSpPr bwMode="auto">
            <a:xfrm>
              <a:off x="2509838" y="3208338"/>
              <a:ext cx="1401762" cy="890587"/>
              <a:chOff x="1465" y="2309"/>
              <a:chExt cx="883" cy="561"/>
            </a:xfrm>
          </p:grpSpPr>
          <p:sp>
            <p:nvSpPr>
              <p:cNvPr id="20" name="Freeform 20"/>
              <p:cNvSpPr>
                <a:spLocks/>
              </p:cNvSpPr>
              <p:nvPr/>
            </p:nvSpPr>
            <p:spPr bwMode="auto">
              <a:xfrm>
                <a:off x="1465" y="2309"/>
                <a:ext cx="883" cy="369"/>
              </a:xfrm>
              <a:custGeom>
                <a:avLst/>
                <a:gdLst>
                  <a:gd name="T0" fmla="*/ 442 w 883"/>
                  <a:gd name="T1" fmla="*/ 0 h 369"/>
                  <a:gd name="T2" fmla="*/ 502 w 883"/>
                  <a:gd name="T3" fmla="*/ 2 h 369"/>
                  <a:gd name="T4" fmla="*/ 562 w 883"/>
                  <a:gd name="T5" fmla="*/ 7 h 369"/>
                  <a:gd name="T6" fmla="*/ 619 w 883"/>
                  <a:gd name="T7" fmla="*/ 15 h 369"/>
                  <a:gd name="T8" fmla="*/ 672 w 883"/>
                  <a:gd name="T9" fmla="*/ 28 h 369"/>
                  <a:gd name="T10" fmla="*/ 721 w 883"/>
                  <a:gd name="T11" fmla="*/ 43 h 369"/>
                  <a:gd name="T12" fmla="*/ 766 w 883"/>
                  <a:gd name="T13" fmla="*/ 60 h 369"/>
                  <a:gd name="T14" fmla="*/ 804 w 883"/>
                  <a:gd name="T15" fmla="*/ 79 h 369"/>
                  <a:gd name="T16" fmla="*/ 836 w 883"/>
                  <a:gd name="T17" fmla="*/ 100 h 369"/>
                  <a:gd name="T18" fmla="*/ 859 w 883"/>
                  <a:gd name="T19" fmla="*/ 123 h 369"/>
                  <a:gd name="T20" fmla="*/ 876 w 883"/>
                  <a:gd name="T21" fmla="*/ 147 h 369"/>
                  <a:gd name="T22" fmla="*/ 883 w 883"/>
                  <a:gd name="T23" fmla="*/ 172 h 369"/>
                  <a:gd name="T24" fmla="*/ 883 w 883"/>
                  <a:gd name="T25" fmla="*/ 197 h 369"/>
                  <a:gd name="T26" fmla="*/ 876 w 883"/>
                  <a:gd name="T27" fmla="*/ 223 h 369"/>
                  <a:gd name="T28" fmla="*/ 859 w 883"/>
                  <a:gd name="T29" fmla="*/ 246 h 369"/>
                  <a:gd name="T30" fmla="*/ 836 w 883"/>
                  <a:gd name="T31" fmla="*/ 270 h 369"/>
                  <a:gd name="T32" fmla="*/ 804 w 883"/>
                  <a:gd name="T33" fmla="*/ 291 h 369"/>
                  <a:gd name="T34" fmla="*/ 766 w 883"/>
                  <a:gd name="T35" fmla="*/ 310 h 369"/>
                  <a:gd name="T36" fmla="*/ 721 w 883"/>
                  <a:gd name="T37" fmla="*/ 327 h 369"/>
                  <a:gd name="T38" fmla="*/ 672 w 883"/>
                  <a:gd name="T39" fmla="*/ 342 h 369"/>
                  <a:gd name="T40" fmla="*/ 619 w 883"/>
                  <a:gd name="T41" fmla="*/ 354 h 369"/>
                  <a:gd name="T42" fmla="*/ 562 w 883"/>
                  <a:gd name="T43" fmla="*/ 363 h 369"/>
                  <a:gd name="T44" fmla="*/ 502 w 883"/>
                  <a:gd name="T45" fmla="*/ 367 h 369"/>
                  <a:gd name="T46" fmla="*/ 442 w 883"/>
                  <a:gd name="T47" fmla="*/ 369 h 369"/>
                  <a:gd name="T48" fmla="*/ 381 w 883"/>
                  <a:gd name="T49" fmla="*/ 367 h 369"/>
                  <a:gd name="T50" fmla="*/ 323 w 883"/>
                  <a:gd name="T51" fmla="*/ 363 h 369"/>
                  <a:gd name="T52" fmla="*/ 266 w 883"/>
                  <a:gd name="T53" fmla="*/ 354 h 369"/>
                  <a:gd name="T54" fmla="*/ 213 w 883"/>
                  <a:gd name="T55" fmla="*/ 342 h 369"/>
                  <a:gd name="T56" fmla="*/ 162 w 883"/>
                  <a:gd name="T57" fmla="*/ 327 h 369"/>
                  <a:gd name="T58" fmla="*/ 119 w 883"/>
                  <a:gd name="T59" fmla="*/ 310 h 369"/>
                  <a:gd name="T60" fmla="*/ 81 w 883"/>
                  <a:gd name="T61" fmla="*/ 291 h 369"/>
                  <a:gd name="T62" fmla="*/ 49 w 883"/>
                  <a:gd name="T63" fmla="*/ 270 h 369"/>
                  <a:gd name="T64" fmla="*/ 26 w 883"/>
                  <a:gd name="T65" fmla="*/ 246 h 369"/>
                  <a:gd name="T66" fmla="*/ 9 w 883"/>
                  <a:gd name="T67" fmla="*/ 223 h 369"/>
                  <a:gd name="T68" fmla="*/ 0 w 883"/>
                  <a:gd name="T69" fmla="*/ 197 h 369"/>
                  <a:gd name="T70" fmla="*/ 0 w 883"/>
                  <a:gd name="T71" fmla="*/ 172 h 369"/>
                  <a:gd name="T72" fmla="*/ 9 w 883"/>
                  <a:gd name="T73" fmla="*/ 147 h 369"/>
                  <a:gd name="T74" fmla="*/ 26 w 883"/>
                  <a:gd name="T75" fmla="*/ 123 h 369"/>
                  <a:gd name="T76" fmla="*/ 49 w 883"/>
                  <a:gd name="T77" fmla="*/ 100 h 369"/>
                  <a:gd name="T78" fmla="*/ 81 w 883"/>
                  <a:gd name="T79" fmla="*/ 79 h 369"/>
                  <a:gd name="T80" fmla="*/ 119 w 883"/>
                  <a:gd name="T81" fmla="*/ 60 h 369"/>
                  <a:gd name="T82" fmla="*/ 162 w 883"/>
                  <a:gd name="T83" fmla="*/ 43 h 369"/>
                  <a:gd name="T84" fmla="*/ 213 w 883"/>
                  <a:gd name="T85" fmla="*/ 28 h 369"/>
                  <a:gd name="T86" fmla="*/ 266 w 883"/>
                  <a:gd name="T87" fmla="*/ 15 h 369"/>
                  <a:gd name="T88" fmla="*/ 323 w 883"/>
                  <a:gd name="T89" fmla="*/ 7 h 369"/>
                  <a:gd name="T90" fmla="*/ 381 w 883"/>
                  <a:gd name="T91" fmla="*/ 2 h 369"/>
                  <a:gd name="T92" fmla="*/ 442 w 883"/>
                  <a:gd name="T93" fmla="*/ 0 h 36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883" h="369">
                    <a:moveTo>
                      <a:pt x="442" y="0"/>
                    </a:moveTo>
                    <a:lnTo>
                      <a:pt x="502" y="2"/>
                    </a:lnTo>
                    <a:lnTo>
                      <a:pt x="562" y="7"/>
                    </a:lnTo>
                    <a:lnTo>
                      <a:pt x="619" y="15"/>
                    </a:lnTo>
                    <a:lnTo>
                      <a:pt x="672" y="28"/>
                    </a:lnTo>
                    <a:lnTo>
                      <a:pt x="721" y="43"/>
                    </a:lnTo>
                    <a:lnTo>
                      <a:pt x="766" y="60"/>
                    </a:lnTo>
                    <a:lnTo>
                      <a:pt x="804" y="79"/>
                    </a:lnTo>
                    <a:lnTo>
                      <a:pt x="836" y="100"/>
                    </a:lnTo>
                    <a:lnTo>
                      <a:pt x="859" y="123"/>
                    </a:lnTo>
                    <a:lnTo>
                      <a:pt x="876" y="147"/>
                    </a:lnTo>
                    <a:lnTo>
                      <a:pt x="883" y="172"/>
                    </a:lnTo>
                    <a:lnTo>
                      <a:pt x="883" y="197"/>
                    </a:lnTo>
                    <a:lnTo>
                      <a:pt x="876" y="223"/>
                    </a:lnTo>
                    <a:lnTo>
                      <a:pt x="859" y="246"/>
                    </a:lnTo>
                    <a:lnTo>
                      <a:pt x="836" y="270"/>
                    </a:lnTo>
                    <a:lnTo>
                      <a:pt x="804" y="291"/>
                    </a:lnTo>
                    <a:lnTo>
                      <a:pt x="766" y="310"/>
                    </a:lnTo>
                    <a:lnTo>
                      <a:pt x="721" y="327"/>
                    </a:lnTo>
                    <a:lnTo>
                      <a:pt x="672" y="342"/>
                    </a:lnTo>
                    <a:lnTo>
                      <a:pt x="619" y="354"/>
                    </a:lnTo>
                    <a:lnTo>
                      <a:pt x="562" y="363"/>
                    </a:lnTo>
                    <a:lnTo>
                      <a:pt x="502" y="367"/>
                    </a:lnTo>
                    <a:lnTo>
                      <a:pt x="442" y="369"/>
                    </a:lnTo>
                    <a:lnTo>
                      <a:pt x="381" y="367"/>
                    </a:lnTo>
                    <a:lnTo>
                      <a:pt x="323" y="363"/>
                    </a:lnTo>
                    <a:lnTo>
                      <a:pt x="266" y="354"/>
                    </a:lnTo>
                    <a:lnTo>
                      <a:pt x="213" y="342"/>
                    </a:lnTo>
                    <a:lnTo>
                      <a:pt x="162" y="327"/>
                    </a:lnTo>
                    <a:lnTo>
                      <a:pt x="119" y="310"/>
                    </a:lnTo>
                    <a:lnTo>
                      <a:pt x="81" y="291"/>
                    </a:lnTo>
                    <a:lnTo>
                      <a:pt x="49" y="270"/>
                    </a:lnTo>
                    <a:lnTo>
                      <a:pt x="26" y="246"/>
                    </a:lnTo>
                    <a:lnTo>
                      <a:pt x="9" y="223"/>
                    </a:lnTo>
                    <a:lnTo>
                      <a:pt x="0" y="197"/>
                    </a:lnTo>
                    <a:lnTo>
                      <a:pt x="0" y="172"/>
                    </a:lnTo>
                    <a:lnTo>
                      <a:pt x="9" y="147"/>
                    </a:lnTo>
                    <a:lnTo>
                      <a:pt x="26" y="123"/>
                    </a:lnTo>
                    <a:lnTo>
                      <a:pt x="49" y="100"/>
                    </a:lnTo>
                    <a:lnTo>
                      <a:pt x="81" y="79"/>
                    </a:lnTo>
                    <a:lnTo>
                      <a:pt x="119" y="60"/>
                    </a:lnTo>
                    <a:lnTo>
                      <a:pt x="162" y="43"/>
                    </a:lnTo>
                    <a:lnTo>
                      <a:pt x="213" y="28"/>
                    </a:lnTo>
                    <a:lnTo>
                      <a:pt x="266" y="15"/>
                    </a:lnTo>
                    <a:lnTo>
                      <a:pt x="323" y="7"/>
                    </a:lnTo>
                    <a:lnTo>
                      <a:pt x="381" y="2"/>
                    </a:lnTo>
                    <a:lnTo>
                      <a:pt x="442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Rectangle 21"/>
              <p:cNvSpPr>
                <a:spLocks noChangeArrowheads="1"/>
              </p:cNvSpPr>
              <p:nvPr/>
            </p:nvSpPr>
            <p:spPr bwMode="auto">
              <a:xfrm>
                <a:off x="1831" y="2668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1</a:t>
                </a:r>
                <a:endParaRPr lang="en-US" altLang="en-US"/>
              </a:p>
            </p:txBody>
          </p:sp>
        </p:grpSp>
        <p:grpSp>
          <p:nvGrpSpPr>
            <p:cNvPr id="8" name="Group 22"/>
            <p:cNvGrpSpPr>
              <a:grpSpLocks/>
            </p:cNvGrpSpPr>
            <p:nvPr/>
          </p:nvGrpSpPr>
          <p:grpSpPr bwMode="auto">
            <a:xfrm>
              <a:off x="704850" y="2249488"/>
              <a:ext cx="1579563" cy="889000"/>
              <a:chOff x="328" y="1705"/>
              <a:chExt cx="995" cy="560"/>
            </a:xfrm>
          </p:grpSpPr>
          <p:sp>
            <p:nvSpPr>
              <p:cNvPr id="18" name="Freeform 23"/>
              <p:cNvSpPr>
                <a:spLocks/>
              </p:cNvSpPr>
              <p:nvPr/>
            </p:nvSpPr>
            <p:spPr bwMode="auto">
              <a:xfrm>
                <a:off x="328" y="1881"/>
                <a:ext cx="995" cy="384"/>
              </a:xfrm>
              <a:custGeom>
                <a:avLst/>
                <a:gdLst>
                  <a:gd name="T0" fmla="*/ 514 w 995"/>
                  <a:gd name="T1" fmla="*/ 4 h 384"/>
                  <a:gd name="T2" fmla="*/ 576 w 995"/>
                  <a:gd name="T3" fmla="*/ 10 h 384"/>
                  <a:gd name="T4" fmla="*/ 638 w 995"/>
                  <a:gd name="T5" fmla="*/ 21 h 384"/>
                  <a:gd name="T6" fmla="*/ 695 w 995"/>
                  <a:gd name="T7" fmla="*/ 34 h 384"/>
                  <a:gd name="T8" fmla="*/ 752 w 995"/>
                  <a:gd name="T9" fmla="*/ 49 h 384"/>
                  <a:gd name="T10" fmla="*/ 803 w 995"/>
                  <a:gd name="T11" fmla="*/ 66 h 384"/>
                  <a:gd name="T12" fmla="*/ 850 w 995"/>
                  <a:gd name="T13" fmla="*/ 85 h 384"/>
                  <a:gd name="T14" fmla="*/ 891 w 995"/>
                  <a:gd name="T15" fmla="*/ 106 h 384"/>
                  <a:gd name="T16" fmla="*/ 927 w 995"/>
                  <a:gd name="T17" fmla="*/ 127 h 384"/>
                  <a:gd name="T18" fmla="*/ 954 w 995"/>
                  <a:gd name="T19" fmla="*/ 150 h 384"/>
                  <a:gd name="T20" fmla="*/ 976 w 995"/>
                  <a:gd name="T21" fmla="*/ 176 h 384"/>
                  <a:gd name="T22" fmla="*/ 988 w 995"/>
                  <a:gd name="T23" fmla="*/ 199 h 384"/>
                  <a:gd name="T24" fmla="*/ 995 w 995"/>
                  <a:gd name="T25" fmla="*/ 222 h 384"/>
                  <a:gd name="T26" fmla="*/ 993 w 995"/>
                  <a:gd name="T27" fmla="*/ 248 h 384"/>
                  <a:gd name="T28" fmla="*/ 982 w 995"/>
                  <a:gd name="T29" fmla="*/ 269 h 384"/>
                  <a:gd name="T30" fmla="*/ 965 w 995"/>
                  <a:gd name="T31" fmla="*/ 290 h 384"/>
                  <a:gd name="T32" fmla="*/ 940 w 995"/>
                  <a:gd name="T33" fmla="*/ 312 h 384"/>
                  <a:gd name="T34" fmla="*/ 908 w 995"/>
                  <a:gd name="T35" fmla="*/ 329 h 384"/>
                  <a:gd name="T36" fmla="*/ 869 w 995"/>
                  <a:gd name="T37" fmla="*/ 345 h 384"/>
                  <a:gd name="T38" fmla="*/ 827 w 995"/>
                  <a:gd name="T39" fmla="*/ 358 h 384"/>
                  <a:gd name="T40" fmla="*/ 776 w 995"/>
                  <a:gd name="T41" fmla="*/ 369 h 384"/>
                  <a:gd name="T42" fmla="*/ 723 w 995"/>
                  <a:gd name="T43" fmla="*/ 377 h 384"/>
                  <a:gd name="T44" fmla="*/ 665 w 995"/>
                  <a:gd name="T45" fmla="*/ 382 h 384"/>
                  <a:gd name="T46" fmla="*/ 606 w 995"/>
                  <a:gd name="T47" fmla="*/ 384 h 384"/>
                  <a:gd name="T48" fmla="*/ 544 w 995"/>
                  <a:gd name="T49" fmla="*/ 384 h 384"/>
                  <a:gd name="T50" fmla="*/ 480 w 995"/>
                  <a:gd name="T51" fmla="*/ 379 h 384"/>
                  <a:gd name="T52" fmla="*/ 419 w 995"/>
                  <a:gd name="T53" fmla="*/ 373 h 384"/>
                  <a:gd name="T54" fmla="*/ 357 w 995"/>
                  <a:gd name="T55" fmla="*/ 362 h 384"/>
                  <a:gd name="T56" fmla="*/ 300 w 995"/>
                  <a:gd name="T57" fmla="*/ 350 h 384"/>
                  <a:gd name="T58" fmla="*/ 242 w 995"/>
                  <a:gd name="T59" fmla="*/ 335 h 384"/>
                  <a:gd name="T60" fmla="*/ 191 w 995"/>
                  <a:gd name="T61" fmla="*/ 318 h 384"/>
                  <a:gd name="T62" fmla="*/ 144 w 995"/>
                  <a:gd name="T63" fmla="*/ 299 h 384"/>
                  <a:gd name="T64" fmla="*/ 104 w 995"/>
                  <a:gd name="T65" fmla="*/ 278 h 384"/>
                  <a:gd name="T66" fmla="*/ 68 w 995"/>
                  <a:gd name="T67" fmla="*/ 256 h 384"/>
                  <a:gd name="T68" fmla="*/ 40 w 995"/>
                  <a:gd name="T69" fmla="*/ 233 h 384"/>
                  <a:gd name="T70" fmla="*/ 19 w 995"/>
                  <a:gd name="T71" fmla="*/ 208 h 384"/>
                  <a:gd name="T72" fmla="*/ 6 w 995"/>
                  <a:gd name="T73" fmla="*/ 184 h 384"/>
                  <a:gd name="T74" fmla="*/ 0 w 995"/>
                  <a:gd name="T75" fmla="*/ 161 h 384"/>
                  <a:gd name="T76" fmla="*/ 2 w 995"/>
                  <a:gd name="T77" fmla="*/ 138 h 384"/>
                  <a:gd name="T78" fmla="*/ 13 w 995"/>
                  <a:gd name="T79" fmla="*/ 114 h 384"/>
                  <a:gd name="T80" fmla="*/ 30 w 995"/>
                  <a:gd name="T81" fmla="*/ 93 h 384"/>
                  <a:gd name="T82" fmla="*/ 55 w 995"/>
                  <a:gd name="T83" fmla="*/ 72 h 384"/>
                  <a:gd name="T84" fmla="*/ 87 w 995"/>
                  <a:gd name="T85" fmla="*/ 55 h 384"/>
                  <a:gd name="T86" fmla="*/ 125 w 995"/>
                  <a:gd name="T87" fmla="*/ 38 h 384"/>
                  <a:gd name="T88" fmla="*/ 168 w 995"/>
                  <a:gd name="T89" fmla="*/ 25 h 384"/>
                  <a:gd name="T90" fmla="*/ 219 w 995"/>
                  <a:gd name="T91" fmla="*/ 15 h 384"/>
                  <a:gd name="T92" fmla="*/ 272 w 995"/>
                  <a:gd name="T93" fmla="*/ 6 h 384"/>
                  <a:gd name="T94" fmla="*/ 329 w 995"/>
                  <a:gd name="T95" fmla="*/ 2 h 384"/>
                  <a:gd name="T96" fmla="*/ 389 w 995"/>
                  <a:gd name="T97" fmla="*/ 0 h 384"/>
                  <a:gd name="T98" fmla="*/ 450 w 995"/>
                  <a:gd name="T99" fmla="*/ 0 h 384"/>
                  <a:gd name="T100" fmla="*/ 514 w 995"/>
                  <a:gd name="T101" fmla="*/ 4 h 384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995" h="384">
                    <a:moveTo>
                      <a:pt x="514" y="4"/>
                    </a:moveTo>
                    <a:lnTo>
                      <a:pt x="576" y="10"/>
                    </a:lnTo>
                    <a:lnTo>
                      <a:pt x="638" y="21"/>
                    </a:lnTo>
                    <a:lnTo>
                      <a:pt x="695" y="34"/>
                    </a:lnTo>
                    <a:lnTo>
                      <a:pt x="752" y="49"/>
                    </a:lnTo>
                    <a:lnTo>
                      <a:pt x="803" y="66"/>
                    </a:lnTo>
                    <a:lnTo>
                      <a:pt x="850" y="85"/>
                    </a:lnTo>
                    <a:lnTo>
                      <a:pt x="891" y="106"/>
                    </a:lnTo>
                    <a:lnTo>
                      <a:pt x="927" y="127"/>
                    </a:lnTo>
                    <a:lnTo>
                      <a:pt x="954" y="150"/>
                    </a:lnTo>
                    <a:lnTo>
                      <a:pt x="976" y="176"/>
                    </a:lnTo>
                    <a:lnTo>
                      <a:pt x="988" y="199"/>
                    </a:lnTo>
                    <a:lnTo>
                      <a:pt x="995" y="222"/>
                    </a:lnTo>
                    <a:lnTo>
                      <a:pt x="993" y="248"/>
                    </a:lnTo>
                    <a:lnTo>
                      <a:pt x="982" y="269"/>
                    </a:lnTo>
                    <a:lnTo>
                      <a:pt x="965" y="290"/>
                    </a:lnTo>
                    <a:lnTo>
                      <a:pt x="940" y="312"/>
                    </a:lnTo>
                    <a:lnTo>
                      <a:pt x="908" y="329"/>
                    </a:lnTo>
                    <a:lnTo>
                      <a:pt x="869" y="345"/>
                    </a:lnTo>
                    <a:lnTo>
                      <a:pt x="827" y="358"/>
                    </a:lnTo>
                    <a:lnTo>
                      <a:pt x="776" y="369"/>
                    </a:lnTo>
                    <a:lnTo>
                      <a:pt x="723" y="377"/>
                    </a:lnTo>
                    <a:lnTo>
                      <a:pt x="665" y="382"/>
                    </a:lnTo>
                    <a:lnTo>
                      <a:pt x="606" y="384"/>
                    </a:lnTo>
                    <a:lnTo>
                      <a:pt x="544" y="384"/>
                    </a:lnTo>
                    <a:lnTo>
                      <a:pt x="480" y="379"/>
                    </a:lnTo>
                    <a:lnTo>
                      <a:pt x="419" y="373"/>
                    </a:lnTo>
                    <a:lnTo>
                      <a:pt x="357" y="362"/>
                    </a:lnTo>
                    <a:lnTo>
                      <a:pt x="300" y="350"/>
                    </a:lnTo>
                    <a:lnTo>
                      <a:pt x="242" y="335"/>
                    </a:lnTo>
                    <a:lnTo>
                      <a:pt x="191" y="318"/>
                    </a:lnTo>
                    <a:lnTo>
                      <a:pt x="144" y="299"/>
                    </a:lnTo>
                    <a:lnTo>
                      <a:pt x="104" y="278"/>
                    </a:lnTo>
                    <a:lnTo>
                      <a:pt x="68" y="256"/>
                    </a:lnTo>
                    <a:lnTo>
                      <a:pt x="40" y="233"/>
                    </a:lnTo>
                    <a:lnTo>
                      <a:pt x="19" y="208"/>
                    </a:lnTo>
                    <a:lnTo>
                      <a:pt x="6" y="184"/>
                    </a:lnTo>
                    <a:lnTo>
                      <a:pt x="0" y="161"/>
                    </a:lnTo>
                    <a:lnTo>
                      <a:pt x="2" y="138"/>
                    </a:lnTo>
                    <a:lnTo>
                      <a:pt x="13" y="114"/>
                    </a:lnTo>
                    <a:lnTo>
                      <a:pt x="30" y="93"/>
                    </a:lnTo>
                    <a:lnTo>
                      <a:pt x="55" y="72"/>
                    </a:lnTo>
                    <a:lnTo>
                      <a:pt x="87" y="55"/>
                    </a:lnTo>
                    <a:lnTo>
                      <a:pt x="125" y="38"/>
                    </a:lnTo>
                    <a:lnTo>
                      <a:pt x="168" y="25"/>
                    </a:lnTo>
                    <a:lnTo>
                      <a:pt x="219" y="15"/>
                    </a:lnTo>
                    <a:lnTo>
                      <a:pt x="272" y="6"/>
                    </a:lnTo>
                    <a:lnTo>
                      <a:pt x="329" y="2"/>
                    </a:lnTo>
                    <a:lnTo>
                      <a:pt x="389" y="0"/>
                    </a:lnTo>
                    <a:lnTo>
                      <a:pt x="450" y="0"/>
                    </a:lnTo>
                    <a:lnTo>
                      <a:pt x="514" y="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24"/>
              <p:cNvSpPr>
                <a:spLocks noChangeArrowheads="1"/>
              </p:cNvSpPr>
              <p:nvPr/>
            </p:nvSpPr>
            <p:spPr bwMode="auto">
              <a:xfrm>
                <a:off x="853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2</a:t>
                </a:r>
                <a:endParaRPr lang="en-US" altLang="en-US"/>
              </a:p>
            </p:txBody>
          </p:sp>
        </p:grpSp>
        <p:grpSp>
          <p:nvGrpSpPr>
            <p:cNvPr id="9" name="Group 25"/>
            <p:cNvGrpSpPr>
              <a:grpSpLocks/>
            </p:cNvGrpSpPr>
            <p:nvPr/>
          </p:nvGrpSpPr>
          <p:grpSpPr bwMode="auto">
            <a:xfrm>
              <a:off x="360363" y="1582738"/>
              <a:ext cx="3935412" cy="3487737"/>
              <a:chOff x="111" y="1285"/>
              <a:chExt cx="2479" cy="2197"/>
            </a:xfrm>
          </p:grpSpPr>
          <p:sp>
            <p:nvSpPr>
              <p:cNvPr id="16" name="Rectangle 26"/>
              <p:cNvSpPr>
                <a:spLocks noChangeArrowheads="1"/>
              </p:cNvSpPr>
              <p:nvPr/>
            </p:nvSpPr>
            <p:spPr bwMode="auto">
              <a:xfrm>
                <a:off x="2484" y="1705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5</a:t>
                </a:r>
                <a:endParaRPr lang="en-US" altLang="en-US"/>
              </a:p>
            </p:txBody>
          </p:sp>
          <p:sp>
            <p:nvSpPr>
              <p:cNvPr id="17" name="Freeform 27"/>
              <p:cNvSpPr>
                <a:spLocks/>
              </p:cNvSpPr>
              <p:nvPr/>
            </p:nvSpPr>
            <p:spPr bwMode="auto">
              <a:xfrm>
                <a:off x="111" y="1285"/>
                <a:ext cx="2479" cy="2197"/>
              </a:xfrm>
              <a:custGeom>
                <a:avLst/>
                <a:gdLst>
                  <a:gd name="T0" fmla="*/ 1339 w 2479"/>
                  <a:gd name="T1" fmla="*/ 2 h 2197"/>
                  <a:gd name="T2" fmla="*/ 1541 w 2479"/>
                  <a:gd name="T3" fmla="*/ 32 h 2197"/>
                  <a:gd name="T4" fmla="*/ 1735 w 2479"/>
                  <a:gd name="T5" fmla="*/ 91 h 2197"/>
                  <a:gd name="T6" fmla="*/ 1916 w 2479"/>
                  <a:gd name="T7" fmla="*/ 178 h 2197"/>
                  <a:gd name="T8" fmla="*/ 2077 w 2479"/>
                  <a:gd name="T9" fmla="*/ 288 h 2197"/>
                  <a:gd name="T10" fmla="*/ 2215 w 2479"/>
                  <a:gd name="T11" fmla="*/ 422 h 2197"/>
                  <a:gd name="T12" fmla="*/ 2328 w 2479"/>
                  <a:gd name="T13" fmla="*/ 572 h 2197"/>
                  <a:gd name="T14" fmla="*/ 2411 w 2479"/>
                  <a:gd name="T15" fmla="*/ 740 h 2197"/>
                  <a:gd name="T16" fmla="*/ 2462 w 2479"/>
                  <a:gd name="T17" fmla="*/ 916 h 2197"/>
                  <a:gd name="T18" fmla="*/ 2479 w 2479"/>
                  <a:gd name="T19" fmla="*/ 1096 h 2197"/>
                  <a:gd name="T20" fmla="*/ 2462 w 2479"/>
                  <a:gd name="T21" fmla="*/ 1277 h 2197"/>
                  <a:gd name="T22" fmla="*/ 2411 w 2479"/>
                  <a:gd name="T23" fmla="*/ 1453 h 2197"/>
                  <a:gd name="T24" fmla="*/ 2330 w 2479"/>
                  <a:gd name="T25" fmla="*/ 1620 h 2197"/>
                  <a:gd name="T26" fmla="*/ 2217 w 2479"/>
                  <a:gd name="T27" fmla="*/ 1771 h 2197"/>
                  <a:gd name="T28" fmla="*/ 2079 w 2479"/>
                  <a:gd name="T29" fmla="*/ 1904 h 2197"/>
                  <a:gd name="T30" fmla="*/ 1918 w 2479"/>
                  <a:gd name="T31" fmla="*/ 2017 h 2197"/>
                  <a:gd name="T32" fmla="*/ 1739 w 2479"/>
                  <a:gd name="T33" fmla="*/ 2104 h 2197"/>
                  <a:gd name="T34" fmla="*/ 1546 w 2479"/>
                  <a:gd name="T35" fmla="*/ 2163 h 2197"/>
                  <a:gd name="T36" fmla="*/ 1344 w 2479"/>
                  <a:gd name="T37" fmla="*/ 2193 h 2197"/>
                  <a:gd name="T38" fmla="*/ 1139 w 2479"/>
                  <a:gd name="T39" fmla="*/ 2193 h 2197"/>
                  <a:gd name="T40" fmla="*/ 938 w 2479"/>
                  <a:gd name="T41" fmla="*/ 2163 h 2197"/>
                  <a:gd name="T42" fmla="*/ 744 w 2479"/>
                  <a:gd name="T43" fmla="*/ 2106 h 2197"/>
                  <a:gd name="T44" fmla="*/ 563 w 2479"/>
                  <a:gd name="T45" fmla="*/ 2019 h 2197"/>
                  <a:gd name="T46" fmla="*/ 402 w 2479"/>
                  <a:gd name="T47" fmla="*/ 1909 h 2197"/>
                  <a:gd name="T48" fmla="*/ 264 w 2479"/>
                  <a:gd name="T49" fmla="*/ 1775 h 2197"/>
                  <a:gd name="T50" fmla="*/ 151 w 2479"/>
                  <a:gd name="T51" fmla="*/ 1622 h 2197"/>
                  <a:gd name="T52" fmla="*/ 68 w 2479"/>
                  <a:gd name="T53" fmla="*/ 1457 h 2197"/>
                  <a:gd name="T54" fmla="*/ 17 w 2479"/>
                  <a:gd name="T55" fmla="*/ 1281 h 2197"/>
                  <a:gd name="T56" fmla="*/ 0 w 2479"/>
                  <a:gd name="T57" fmla="*/ 1101 h 2197"/>
                  <a:gd name="T58" fmla="*/ 17 w 2479"/>
                  <a:gd name="T59" fmla="*/ 920 h 2197"/>
                  <a:gd name="T60" fmla="*/ 68 w 2479"/>
                  <a:gd name="T61" fmla="*/ 744 h 2197"/>
                  <a:gd name="T62" fmla="*/ 149 w 2479"/>
                  <a:gd name="T63" fmla="*/ 577 h 2197"/>
                  <a:gd name="T64" fmla="*/ 261 w 2479"/>
                  <a:gd name="T65" fmla="*/ 424 h 2197"/>
                  <a:gd name="T66" fmla="*/ 400 w 2479"/>
                  <a:gd name="T67" fmla="*/ 290 h 2197"/>
                  <a:gd name="T68" fmla="*/ 559 w 2479"/>
                  <a:gd name="T69" fmla="*/ 180 h 2197"/>
                  <a:gd name="T70" fmla="*/ 740 w 2479"/>
                  <a:gd name="T71" fmla="*/ 93 h 2197"/>
                  <a:gd name="T72" fmla="*/ 933 w 2479"/>
                  <a:gd name="T73" fmla="*/ 34 h 2197"/>
                  <a:gd name="T74" fmla="*/ 1135 w 2479"/>
                  <a:gd name="T75" fmla="*/ 4 h 219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2479" h="2197">
                    <a:moveTo>
                      <a:pt x="1237" y="0"/>
                    </a:moveTo>
                    <a:lnTo>
                      <a:pt x="1339" y="2"/>
                    </a:lnTo>
                    <a:lnTo>
                      <a:pt x="1441" y="15"/>
                    </a:lnTo>
                    <a:lnTo>
                      <a:pt x="1541" y="32"/>
                    </a:lnTo>
                    <a:lnTo>
                      <a:pt x="1639" y="59"/>
                    </a:lnTo>
                    <a:lnTo>
                      <a:pt x="1735" y="91"/>
                    </a:lnTo>
                    <a:lnTo>
                      <a:pt x="1826" y="131"/>
                    </a:lnTo>
                    <a:lnTo>
                      <a:pt x="1916" y="178"/>
                    </a:lnTo>
                    <a:lnTo>
                      <a:pt x="1998" y="229"/>
                    </a:lnTo>
                    <a:lnTo>
                      <a:pt x="2077" y="288"/>
                    </a:lnTo>
                    <a:lnTo>
                      <a:pt x="2149" y="352"/>
                    </a:lnTo>
                    <a:lnTo>
                      <a:pt x="2215" y="422"/>
                    </a:lnTo>
                    <a:lnTo>
                      <a:pt x="2275" y="496"/>
                    </a:lnTo>
                    <a:lnTo>
                      <a:pt x="2328" y="572"/>
                    </a:lnTo>
                    <a:lnTo>
                      <a:pt x="2373" y="655"/>
                    </a:lnTo>
                    <a:lnTo>
                      <a:pt x="2411" y="740"/>
                    </a:lnTo>
                    <a:lnTo>
                      <a:pt x="2441" y="827"/>
                    </a:lnTo>
                    <a:lnTo>
                      <a:pt x="2462" y="916"/>
                    </a:lnTo>
                    <a:lnTo>
                      <a:pt x="2475" y="1005"/>
                    </a:lnTo>
                    <a:lnTo>
                      <a:pt x="2479" y="1096"/>
                    </a:lnTo>
                    <a:lnTo>
                      <a:pt x="2475" y="1188"/>
                    </a:lnTo>
                    <a:lnTo>
                      <a:pt x="2462" y="1277"/>
                    </a:lnTo>
                    <a:lnTo>
                      <a:pt x="2441" y="1366"/>
                    </a:lnTo>
                    <a:lnTo>
                      <a:pt x="2411" y="1453"/>
                    </a:lnTo>
                    <a:lnTo>
                      <a:pt x="2375" y="1537"/>
                    </a:lnTo>
                    <a:lnTo>
                      <a:pt x="2330" y="1620"/>
                    </a:lnTo>
                    <a:lnTo>
                      <a:pt x="2277" y="1697"/>
                    </a:lnTo>
                    <a:lnTo>
                      <a:pt x="2217" y="1771"/>
                    </a:lnTo>
                    <a:lnTo>
                      <a:pt x="2152" y="1841"/>
                    </a:lnTo>
                    <a:lnTo>
                      <a:pt x="2079" y="1904"/>
                    </a:lnTo>
                    <a:lnTo>
                      <a:pt x="2003" y="1964"/>
                    </a:lnTo>
                    <a:lnTo>
                      <a:pt x="1918" y="2017"/>
                    </a:lnTo>
                    <a:lnTo>
                      <a:pt x="1830" y="2063"/>
                    </a:lnTo>
                    <a:lnTo>
                      <a:pt x="1739" y="2104"/>
                    </a:lnTo>
                    <a:lnTo>
                      <a:pt x="1643" y="2136"/>
                    </a:lnTo>
                    <a:lnTo>
                      <a:pt x="1546" y="2163"/>
                    </a:lnTo>
                    <a:lnTo>
                      <a:pt x="1446" y="2182"/>
                    </a:lnTo>
                    <a:lnTo>
                      <a:pt x="1344" y="2193"/>
                    </a:lnTo>
                    <a:lnTo>
                      <a:pt x="1242" y="2197"/>
                    </a:lnTo>
                    <a:lnTo>
                      <a:pt x="1139" y="2193"/>
                    </a:lnTo>
                    <a:lnTo>
                      <a:pt x="1037" y="2182"/>
                    </a:lnTo>
                    <a:lnTo>
                      <a:pt x="938" y="2163"/>
                    </a:lnTo>
                    <a:lnTo>
                      <a:pt x="840" y="2138"/>
                    </a:lnTo>
                    <a:lnTo>
                      <a:pt x="744" y="2106"/>
                    </a:lnTo>
                    <a:lnTo>
                      <a:pt x="650" y="2066"/>
                    </a:lnTo>
                    <a:lnTo>
                      <a:pt x="563" y="2019"/>
                    </a:lnTo>
                    <a:lnTo>
                      <a:pt x="480" y="1966"/>
                    </a:lnTo>
                    <a:lnTo>
                      <a:pt x="402" y="1909"/>
                    </a:lnTo>
                    <a:lnTo>
                      <a:pt x="329" y="1843"/>
                    </a:lnTo>
                    <a:lnTo>
                      <a:pt x="264" y="1775"/>
                    </a:lnTo>
                    <a:lnTo>
                      <a:pt x="204" y="1701"/>
                    </a:lnTo>
                    <a:lnTo>
                      <a:pt x="151" y="1622"/>
                    </a:lnTo>
                    <a:lnTo>
                      <a:pt x="106" y="1542"/>
                    </a:lnTo>
                    <a:lnTo>
                      <a:pt x="68" y="1457"/>
                    </a:lnTo>
                    <a:lnTo>
                      <a:pt x="38" y="1370"/>
                    </a:lnTo>
                    <a:lnTo>
                      <a:pt x="17" y="1281"/>
                    </a:lnTo>
                    <a:lnTo>
                      <a:pt x="4" y="1192"/>
                    </a:lnTo>
                    <a:lnTo>
                      <a:pt x="0" y="1101"/>
                    </a:lnTo>
                    <a:lnTo>
                      <a:pt x="4" y="1009"/>
                    </a:lnTo>
                    <a:lnTo>
                      <a:pt x="17" y="920"/>
                    </a:lnTo>
                    <a:lnTo>
                      <a:pt x="38" y="831"/>
                    </a:lnTo>
                    <a:lnTo>
                      <a:pt x="68" y="744"/>
                    </a:lnTo>
                    <a:lnTo>
                      <a:pt x="104" y="659"/>
                    </a:lnTo>
                    <a:lnTo>
                      <a:pt x="149" y="577"/>
                    </a:lnTo>
                    <a:lnTo>
                      <a:pt x="202" y="498"/>
                    </a:lnTo>
                    <a:lnTo>
                      <a:pt x="261" y="424"/>
                    </a:lnTo>
                    <a:lnTo>
                      <a:pt x="327" y="356"/>
                    </a:lnTo>
                    <a:lnTo>
                      <a:pt x="400" y="290"/>
                    </a:lnTo>
                    <a:lnTo>
                      <a:pt x="476" y="233"/>
                    </a:lnTo>
                    <a:lnTo>
                      <a:pt x="559" y="180"/>
                    </a:lnTo>
                    <a:lnTo>
                      <a:pt x="648" y="133"/>
                    </a:lnTo>
                    <a:lnTo>
                      <a:pt x="740" y="93"/>
                    </a:lnTo>
                    <a:lnTo>
                      <a:pt x="835" y="59"/>
                    </a:lnTo>
                    <a:lnTo>
                      <a:pt x="933" y="34"/>
                    </a:lnTo>
                    <a:lnTo>
                      <a:pt x="1033" y="15"/>
                    </a:lnTo>
                    <a:lnTo>
                      <a:pt x="1135" y="4"/>
                    </a:lnTo>
                    <a:lnTo>
                      <a:pt x="1237" y="0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28"/>
            <p:cNvGrpSpPr>
              <a:grpSpLocks/>
            </p:cNvGrpSpPr>
            <p:nvPr/>
          </p:nvGrpSpPr>
          <p:grpSpPr bwMode="auto">
            <a:xfrm>
              <a:off x="1882775" y="2982913"/>
              <a:ext cx="2160588" cy="1652587"/>
              <a:chOff x="1070" y="2167"/>
              <a:chExt cx="1361" cy="1041"/>
            </a:xfrm>
          </p:grpSpPr>
          <p:sp>
            <p:nvSpPr>
              <p:cNvPr id="14" name="Rectangle 29"/>
              <p:cNvSpPr>
                <a:spLocks noChangeArrowheads="1"/>
              </p:cNvSpPr>
              <p:nvPr/>
            </p:nvSpPr>
            <p:spPr bwMode="auto">
              <a:xfrm>
                <a:off x="1070" y="256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3</a:t>
                </a:r>
                <a:endParaRPr lang="en-US" altLang="en-US"/>
              </a:p>
            </p:txBody>
          </p:sp>
          <p:sp>
            <p:nvSpPr>
              <p:cNvPr id="15" name="Freeform 30"/>
              <p:cNvSpPr>
                <a:spLocks/>
              </p:cNvSpPr>
              <p:nvPr/>
            </p:nvSpPr>
            <p:spPr bwMode="auto">
              <a:xfrm>
                <a:off x="1114" y="2167"/>
                <a:ext cx="1317" cy="1041"/>
              </a:xfrm>
              <a:custGeom>
                <a:avLst/>
                <a:gdLst>
                  <a:gd name="T0" fmla="*/ 441 w 1317"/>
                  <a:gd name="T1" fmla="*/ 174 h 1041"/>
                  <a:gd name="T2" fmla="*/ 506 w 1317"/>
                  <a:gd name="T3" fmla="*/ 134 h 1041"/>
                  <a:gd name="T4" fmla="*/ 574 w 1317"/>
                  <a:gd name="T5" fmla="*/ 100 h 1041"/>
                  <a:gd name="T6" fmla="*/ 643 w 1317"/>
                  <a:gd name="T7" fmla="*/ 70 h 1041"/>
                  <a:gd name="T8" fmla="*/ 711 w 1317"/>
                  <a:gd name="T9" fmla="*/ 47 h 1041"/>
                  <a:gd name="T10" fmla="*/ 781 w 1317"/>
                  <a:gd name="T11" fmla="*/ 26 h 1041"/>
                  <a:gd name="T12" fmla="*/ 847 w 1317"/>
                  <a:gd name="T13" fmla="*/ 13 h 1041"/>
                  <a:gd name="T14" fmla="*/ 910 w 1317"/>
                  <a:gd name="T15" fmla="*/ 4 h 1041"/>
                  <a:gd name="T16" fmla="*/ 974 w 1317"/>
                  <a:gd name="T17" fmla="*/ 0 h 1041"/>
                  <a:gd name="T18" fmla="*/ 1032 w 1317"/>
                  <a:gd name="T19" fmla="*/ 4 h 1041"/>
                  <a:gd name="T20" fmla="*/ 1087 w 1317"/>
                  <a:gd name="T21" fmla="*/ 13 h 1041"/>
                  <a:gd name="T22" fmla="*/ 1136 w 1317"/>
                  <a:gd name="T23" fmla="*/ 26 h 1041"/>
                  <a:gd name="T24" fmla="*/ 1180 w 1317"/>
                  <a:gd name="T25" fmla="*/ 45 h 1041"/>
                  <a:gd name="T26" fmla="*/ 1219 w 1317"/>
                  <a:gd name="T27" fmla="*/ 70 h 1041"/>
                  <a:gd name="T28" fmla="*/ 1253 w 1317"/>
                  <a:gd name="T29" fmla="*/ 100 h 1041"/>
                  <a:gd name="T30" fmla="*/ 1278 w 1317"/>
                  <a:gd name="T31" fmla="*/ 134 h 1041"/>
                  <a:gd name="T32" fmla="*/ 1297 w 1317"/>
                  <a:gd name="T33" fmla="*/ 172 h 1041"/>
                  <a:gd name="T34" fmla="*/ 1310 w 1317"/>
                  <a:gd name="T35" fmla="*/ 214 h 1041"/>
                  <a:gd name="T36" fmla="*/ 1317 w 1317"/>
                  <a:gd name="T37" fmla="*/ 261 h 1041"/>
                  <a:gd name="T38" fmla="*/ 1314 w 1317"/>
                  <a:gd name="T39" fmla="*/ 310 h 1041"/>
                  <a:gd name="T40" fmla="*/ 1304 w 1317"/>
                  <a:gd name="T41" fmla="*/ 359 h 1041"/>
                  <a:gd name="T42" fmla="*/ 1289 w 1317"/>
                  <a:gd name="T43" fmla="*/ 412 h 1041"/>
                  <a:gd name="T44" fmla="*/ 1265 w 1317"/>
                  <a:gd name="T45" fmla="*/ 467 h 1041"/>
                  <a:gd name="T46" fmla="*/ 1236 w 1317"/>
                  <a:gd name="T47" fmla="*/ 520 h 1041"/>
                  <a:gd name="T48" fmla="*/ 1200 w 1317"/>
                  <a:gd name="T49" fmla="*/ 575 h 1041"/>
                  <a:gd name="T50" fmla="*/ 1157 w 1317"/>
                  <a:gd name="T51" fmla="*/ 628 h 1041"/>
                  <a:gd name="T52" fmla="*/ 1110 w 1317"/>
                  <a:gd name="T53" fmla="*/ 681 h 1041"/>
                  <a:gd name="T54" fmla="*/ 1057 w 1317"/>
                  <a:gd name="T55" fmla="*/ 732 h 1041"/>
                  <a:gd name="T56" fmla="*/ 1000 w 1317"/>
                  <a:gd name="T57" fmla="*/ 781 h 1041"/>
                  <a:gd name="T58" fmla="*/ 940 w 1317"/>
                  <a:gd name="T59" fmla="*/ 825 h 1041"/>
                  <a:gd name="T60" fmla="*/ 876 w 1317"/>
                  <a:gd name="T61" fmla="*/ 868 h 1041"/>
                  <a:gd name="T62" fmla="*/ 810 w 1317"/>
                  <a:gd name="T63" fmla="*/ 908 h 1041"/>
                  <a:gd name="T64" fmla="*/ 742 w 1317"/>
                  <a:gd name="T65" fmla="*/ 942 h 1041"/>
                  <a:gd name="T66" fmla="*/ 674 w 1317"/>
                  <a:gd name="T67" fmla="*/ 971 h 1041"/>
                  <a:gd name="T68" fmla="*/ 604 w 1317"/>
                  <a:gd name="T69" fmla="*/ 995 h 1041"/>
                  <a:gd name="T70" fmla="*/ 536 w 1317"/>
                  <a:gd name="T71" fmla="*/ 1016 h 1041"/>
                  <a:gd name="T72" fmla="*/ 470 w 1317"/>
                  <a:gd name="T73" fmla="*/ 1029 h 1041"/>
                  <a:gd name="T74" fmla="*/ 404 w 1317"/>
                  <a:gd name="T75" fmla="*/ 1037 h 1041"/>
                  <a:gd name="T76" fmla="*/ 343 w 1317"/>
                  <a:gd name="T77" fmla="*/ 1041 h 1041"/>
                  <a:gd name="T78" fmla="*/ 283 w 1317"/>
                  <a:gd name="T79" fmla="*/ 1037 h 1041"/>
                  <a:gd name="T80" fmla="*/ 230 w 1317"/>
                  <a:gd name="T81" fmla="*/ 1029 h 1041"/>
                  <a:gd name="T82" fmla="*/ 179 w 1317"/>
                  <a:gd name="T83" fmla="*/ 1016 h 1041"/>
                  <a:gd name="T84" fmla="*/ 134 w 1317"/>
                  <a:gd name="T85" fmla="*/ 997 h 1041"/>
                  <a:gd name="T86" fmla="*/ 96 w 1317"/>
                  <a:gd name="T87" fmla="*/ 971 h 1041"/>
                  <a:gd name="T88" fmla="*/ 64 w 1317"/>
                  <a:gd name="T89" fmla="*/ 942 h 1041"/>
                  <a:gd name="T90" fmla="*/ 37 w 1317"/>
                  <a:gd name="T91" fmla="*/ 908 h 1041"/>
                  <a:gd name="T92" fmla="*/ 17 w 1317"/>
                  <a:gd name="T93" fmla="*/ 870 h 1041"/>
                  <a:gd name="T94" fmla="*/ 7 w 1317"/>
                  <a:gd name="T95" fmla="*/ 827 h 1041"/>
                  <a:gd name="T96" fmla="*/ 0 w 1317"/>
                  <a:gd name="T97" fmla="*/ 781 h 1041"/>
                  <a:gd name="T98" fmla="*/ 3 w 1317"/>
                  <a:gd name="T99" fmla="*/ 732 h 1041"/>
                  <a:gd name="T100" fmla="*/ 11 w 1317"/>
                  <a:gd name="T101" fmla="*/ 681 h 1041"/>
                  <a:gd name="T102" fmla="*/ 28 w 1317"/>
                  <a:gd name="T103" fmla="*/ 630 h 1041"/>
                  <a:gd name="T104" fmla="*/ 51 w 1317"/>
                  <a:gd name="T105" fmla="*/ 575 h 1041"/>
                  <a:gd name="T106" fmla="*/ 81 w 1317"/>
                  <a:gd name="T107" fmla="*/ 522 h 1041"/>
                  <a:gd name="T108" fmla="*/ 117 w 1317"/>
                  <a:gd name="T109" fmla="*/ 467 h 1041"/>
                  <a:gd name="T110" fmla="*/ 160 w 1317"/>
                  <a:gd name="T111" fmla="*/ 414 h 1041"/>
                  <a:gd name="T112" fmla="*/ 207 w 1317"/>
                  <a:gd name="T113" fmla="*/ 361 h 1041"/>
                  <a:gd name="T114" fmla="*/ 260 w 1317"/>
                  <a:gd name="T115" fmla="*/ 310 h 1041"/>
                  <a:gd name="T116" fmla="*/ 315 w 1317"/>
                  <a:gd name="T117" fmla="*/ 261 h 1041"/>
                  <a:gd name="T118" fmla="*/ 377 w 1317"/>
                  <a:gd name="T119" fmla="*/ 216 h 1041"/>
                  <a:gd name="T120" fmla="*/ 441 w 1317"/>
                  <a:gd name="T121" fmla="*/ 174 h 104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317" h="1041">
                    <a:moveTo>
                      <a:pt x="441" y="174"/>
                    </a:moveTo>
                    <a:lnTo>
                      <a:pt x="506" y="134"/>
                    </a:lnTo>
                    <a:lnTo>
                      <a:pt x="574" y="100"/>
                    </a:lnTo>
                    <a:lnTo>
                      <a:pt x="643" y="70"/>
                    </a:lnTo>
                    <a:lnTo>
                      <a:pt x="711" y="47"/>
                    </a:lnTo>
                    <a:lnTo>
                      <a:pt x="781" y="26"/>
                    </a:lnTo>
                    <a:lnTo>
                      <a:pt x="847" y="13"/>
                    </a:lnTo>
                    <a:lnTo>
                      <a:pt x="910" y="4"/>
                    </a:lnTo>
                    <a:lnTo>
                      <a:pt x="974" y="0"/>
                    </a:lnTo>
                    <a:lnTo>
                      <a:pt x="1032" y="4"/>
                    </a:lnTo>
                    <a:lnTo>
                      <a:pt x="1087" y="13"/>
                    </a:lnTo>
                    <a:lnTo>
                      <a:pt x="1136" y="26"/>
                    </a:lnTo>
                    <a:lnTo>
                      <a:pt x="1180" y="45"/>
                    </a:lnTo>
                    <a:lnTo>
                      <a:pt x="1219" y="70"/>
                    </a:lnTo>
                    <a:lnTo>
                      <a:pt x="1253" y="100"/>
                    </a:lnTo>
                    <a:lnTo>
                      <a:pt x="1278" y="134"/>
                    </a:lnTo>
                    <a:lnTo>
                      <a:pt x="1297" y="172"/>
                    </a:lnTo>
                    <a:lnTo>
                      <a:pt x="1310" y="214"/>
                    </a:lnTo>
                    <a:lnTo>
                      <a:pt x="1317" y="261"/>
                    </a:lnTo>
                    <a:lnTo>
                      <a:pt x="1314" y="310"/>
                    </a:lnTo>
                    <a:lnTo>
                      <a:pt x="1304" y="359"/>
                    </a:lnTo>
                    <a:lnTo>
                      <a:pt x="1289" y="412"/>
                    </a:lnTo>
                    <a:lnTo>
                      <a:pt x="1265" y="467"/>
                    </a:lnTo>
                    <a:lnTo>
                      <a:pt x="1236" y="520"/>
                    </a:lnTo>
                    <a:lnTo>
                      <a:pt x="1200" y="575"/>
                    </a:lnTo>
                    <a:lnTo>
                      <a:pt x="1157" y="628"/>
                    </a:lnTo>
                    <a:lnTo>
                      <a:pt x="1110" y="681"/>
                    </a:lnTo>
                    <a:lnTo>
                      <a:pt x="1057" y="732"/>
                    </a:lnTo>
                    <a:lnTo>
                      <a:pt x="1000" y="781"/>
                    </a:lnTo>
                    <a:lnTo>
                      <a:pt x="940" y="825"/>
                    </a:lnTo>
                    <a:lnTo>
                      <a:pt x="876" y="868"/>
                    </a:lnTo>
                    <a:lnTo>
                      <a:pt x="810" y="908"/>
                    </a:lnTo>
                    <a:lnTo>
                      <a:pt x="742" y="942"/>
                    </a:lnTo>
                    <a:lnTo>
                      <a:pt x="674" y="971"/>
                    </a:lnTo>
                    <a:lnTo>
                      <a:pt x="604" y="995"/>
                    </a:lnTo>
                    <a:lnTo>
                      <a:pt x="536" y="1016"/>
                    </a:lnTo>
                    <a:lnTo>
                      <a:pt x="470" y="1029"/>
                    </a:lnTo>
                    <a:lnTo>
                      <a:pt x="404" y="1037"/>
                    </a:lnTo>
                    <a:lnTo>
                      <a:pt x="343" y="1041"/>
                    </a:lnTo>
                    <a:lnTo>
                      <a:pt x="283" y="1037"/>
                    </a:lnTo>
                    <a:lnTo>
                      <a:pt x="230" y="1029"/>
                    </a:lnTo>
                    <a:lnTo>
                      <a:pt x="179" y="1016"/>
                    </a:lnTo>
                    <a:lnTo>
                      <a:pt x="134" y="997"/>
                    </a:lnTo>
                    <a:lnTo>
                      <a:pt x="96" y="971"/>
                    </a:lnTo>
                    <a:lnTo>
                      <a:pt x="64" y="942"/>
                    </a:lnTo>
                    <a:lnTo>
                      <a:pt x="37" y="908"/>
                    </a:lnTo>
                    <a:lnTo>
                      <a:pt x="17" y="870"/>
                    </a:lnTo>
                    <a:lnTo>
                      <a:pt x="7" y="827"/>
                    </a:lnTo>
                    <a:lnTo>
                      <a:pt x="0" y="781"/>
                    </a:lnTo>
                    <a:lnTo>
                      <a:pt x="3" y="732"/>
                    </a:lnTo>
                    <a:lnTo>
                      <a:pt x="11" y="681"/>
                    </a:lnTo>
                    <a:lnTo>
                      <a:pt x="28" y="630"/>
                    </a:lnTo>
                    <a:lnTo>
                      <a:pt x="51" y="575"/>
                    </a:lnTo>
                    <a:lnTo>
                      <a:pt x="81" y="522"/>
                    </a:lnTo>
                    <a:lnTo>
                      <a:pt x="117" y="467"/>
                    </a:lnTo>
                    <a:lnTo>
                      <a:pt x="160" y="414"/>
                    </a:lnTo>
                    <a:lnTo>
                      <a:pt x="207" y="361"/>
                    </a:lnTo>
                    <a:lnTo>
                      <a:pt x="260" y="310"/>
                    </a:lnTo>
                    <a:lnTo>
                      <a:pt x="315" y="261"/>
                    </a:lnTo>
                    <a:lnTo>
                      <a:pt x="377" y="216"/>
                    </a:lnTo>
                    <a:lnTo>
                      <a:pt x="441" y="174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" name="Group 31"/>
            <p:cNvGrpSpPr>
              <a:grpSpLocks/>
            </p:cNvGrpSpPr>
            <p:nvPr/>
          </p:nvGrpSpPr>
          <p:grpSpPr bwMode="auto">
            <a:xfrm>
              <a:off x="615950" y="1720850"/>
              <a:ext cx="2906713" cy="1520825"/>
              <a:chOff x="272" y="1372"/>
              <a:chExt cx="1831" cy="958"/>
            </a:xfrm>
          </p:grpSpPr>
          <p:sp>
            <p:nvSpPr>
              <p:cNvPr id="12" name="Rectangle 32"/>
              <p:cNvSpPr>
                <a:spLocks noChangeArrowheads="1"/>
              </p:cNvSpPr>
              <p:nvPr/>
            </p:nvSpPr>
            <p:spPr bwMode="auto">
              <a:xfrm>
                <a:off x="1165" y="1380"/>
                <a:ext cx="93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r>
                  <a:rPr lang="en-US" altLang="en-US" sz="2100">
                    <a:solidFill>
                      <a:srgbClr val="FF0000"/>
                    </a:solidFill>
                  </a:rPr>
                  <a:t>4</a:t>
                </a:r>
                <a:endParaRPr lang="en-US" altLang="en-US"/>
              </a:p>
            </p:txBody>
          </p:sp>
          <p:sp>
            <p:nvSpPr>
              <p:cNvPr id="13" name="Freeform 33"/>
              <p:cNvSpPr>
                <a:spLocks/>
              </p:cNvSpPr>
              <p:nvPr/>
            </p:nvSpPr>
            <p:spPr bwMode="auto">
              <a:xfrm>
                <a:off x="272" y="1372"/>
                <a:ext cx="1831" cy="958"/>
              </a:xfrm>
              <a:custGeom>
                <a:avLst/>
                <a:gdLst>
                  <a:gd name="T0" fmla="*/ 906 w 1831"/>
                  <a:gd name="T1" fmla="*/ 25 h 958"/>
                  <a:gd name="T2" fmla="*/ 1081 w 1831"/>
                  <a:gd name="T3" fmla="*/ 4 h 958"/>
                  <a:gd name="T4" fmla="*/ 1246 w 1831"/>
                  <a:gd name="T5" fmla="*/ 0 h 958"/>
                  <a:gd name="T6" fmla="*/ 1404 w 1831"/>
                  <a:gd name="T7" fmla="*/ 13 h 958"/>
                  <a:gd name="T8" fmla="*/ 1542 w 1831"/>
                  <a:gd name="T9" fmla="*/ 42 h 958"/>
                  <a:gd name="T10" fmla="*/ 1657 w 1831"/>
                  <a:gd name="T11" fmla="*/ 87 h 958"/>
                  <a:gd name="T12" fmla="*/ 1744 w 1831"/>
                  <a:gd name="T13" fmla="*/ 146 h 958"/>
                  <a:gd name="T14" fmla="*/ 1803 w 1831"/>
                  <a:gd name="T15" fmla="*/ 218 h 958"/>
                  <a:gd name="T16" fmla="*/ 1829 w 1831"/>
                  <a:gd name="T17" fmla="*/ 299 h 958"/>
                  <a:gd name="T18" fmla="*/ 1823 w 1831"/>
                  <a:gd name="T19" fmla="*/ 388 h 958"/>
                  <a:gd name="T20" fmla="*/ 1784 w 1831"/>
                  <a:gd name="T21" fmla="*/ 477 h 958"/>
                  <a:gd name="T22" fmla="*/ 1714 w 1831"/>
                  <a:gd name="T23" fmla="*/ 568 h 958"/>
                  <a:gd name="T24" fmla="*/ 1614 w 1831"/>
                  <a:gd name="T25" fmla="*/ 657 h 958"/>
                  <a:gd name="T26" fmla="*/ 1489 w 1831"/>
                  <a:gd name="T27" fmla="*/ 738 h 958"/>
                  <a:gd name="T28" fmla="*/ 1344 w 1831"/>
                  <a:gd name="T29" fmla="*/ 810 h 958"/>
                  <a:gd name="T30" fmla="*/ 1183 w 1831"/>
                  <a:gd name="T31" fmla="*/ 869 h 958"/>
                  <a:gd name="T32" fmla="*/ 1010 w 1831"/>
                  <a:gd name="T33" fmla="*/ 914 h 958"/>
                  <a:gd name="T34" fmla="*/ 838 w 1831"/>
                  <a:gd name="T35" fmla="*/ 946 h 958"/>
                  <a:gd name="T36" fmla="*/ 666 w 1831"/>
                  <a:gd name="T37" fmla="*/ 958 h 958"/>
                  <a:gd name="T38" fmla="*/ 504 w 1831"/>
                  <a:gd name="T39" fmla="*/ 954 h 958"/>
                  <a:gd name="T40" fmla="*/ 356 w 1831"/>
                  <a:gd name="T41" fmla="*/ 933 h 958"/>
                  <a:gd name="T42" fmla="*/ 228 w 1831"/>
                  <a:gd name="T43" fmla="*/ 895 h 958"/>
                  <a:gd name="T44" fmla="*/ 126 w 1831"/>
                  <a:gd name="T45" fmla="*/ 842 h 958"/>
                  <a:gd name="T46" fmla="*/ 51 w 1831"/>
                  <a:gd name="T47" fmla="*/ 776 h 958"/>
                  <a:gd name="T48" fmla="*/ 9 w 1831"/>
                  <a:gd name="T49" fmla="*/ 700 h 958"/>
                  <a:gd name="T50" fmla="*/ 0 w 1831"/>
                  <a:gd name="T51" fmla="*/ 615 h 958"/>
                  <a:gd name="T52" fmla="*/ 22 w 1831"/>
                  <a:gd name="T53" fmla="*/ 524 h 958"/>
                  <a:gd name="T54" fmla="*/ 77 w 1831"/>
                  <a:gd name="T55" fmla="*/ 432 h 958"/>
                  <a:gd name="T56" fmla="*/ 164 w 1831"/>
                  <a:gd name="T57" fmla="*/ 343 h 958"/>
                  <a:gd name="T58" fmla="*/ 277 w 1831"/>
                  <a:gd name="T59" fmla="*/ 259 h 958"/>
                  <a:gd name="T60" fmla="*/ 413 w 1831"/>
                  <a:gd name="T61" fmla="*/ 182 h 958"/>
                  <a:gd name="T62" fmla="*/ 566 w 1831"/>
                  <a:gd name="T63" fmla="*/ 116 h 958"/>
                  <a:gd name="T64" fmla="*/ 732 w 1831"/>
                  <a:gd name="T65" fmla="*/ 63 h 95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831" h="958">
                    <a:moveTo>
                      <a:pt x="819" y="42"/>
                    </a:moveTo>
                    <a:lnTo>
                      <a:pt x="906" y="25"/>
                    </a:lnTo>
                    <a:lnTo>
                      <a:pt x="993" y="13"/>
                    </a:lnTo>
                    <a:lnTo>
                      <a:pt x="1081" y="4"/>
                    </a:lnTo>
                    <a:lnTo>
                      <a:pt x="1166" y="0"/>
                    </a:lnTo>
                    <a:lnTo>
                      <a:pt x="1246" y="0"/>
                    </a:lnTo>
                    <a:lnTo>
                      <a:pt x="1327" y="4"/>
                    </a:lnTo>
                    <a:lnTo>
                      <a:pt x="1404" y="13"/>
                    </a:lnTo>
                    <a:lnTo>
                      <a:pt x="1474" y="25"/>
                    </a:lnTo>
                    <a:lnTo>
                      <a:pt x="1542" y="42"/>
                    </a:lnTo>
                    <a:lnTo>
                      <a:pt x="1601" y="63"/>
                    </a:lnTo>
                    <a:lnTo>
                      <a:pt x="1657" y="87"/>
                    </a:lnTo>
                    <a:lnTo>
                      <a:pt x="1704" y="116"/>
                    </a:lnTo>
                    <a:lnTo>
                      <a:pt x="1744" y="146"/>
                    </a:lnTo>
                    <a:lnTo>
                      <a:pt x="1778" y="182"/>
                    </a:lnTo>
                    <a:lnTo>
                      <a:pt x="1803" y="218"/>
                    </a:lnTo>
                    <a:lnTo>
                      <a:pt x="1820" y="259"/>
                    </a:lnTo>
                    <a:lnTo>
                      <a:pt x="1829" y="299"/>
                    </a:lnTo>
                    <a:lnTo>
                      <a:pt x="1831" y="343"/>
                    </a:lnTo>
                    <a:lnTo>
                      <a:pt x="1823" y="388"/>
                    </a:lnTo>
                    <a:lnTo>
                      <a:pt x="1808" y="432"/>
                    </a:lnTo>
                    <a:lnTo>
                      <a:pt x="1784" y="477"/>
                    </a:lnTo>
                    <a:lnTo>
                      <a:pt x="1752" y="524"/>
                    </a:lnTo>
                    <a:lnTo>
                      <a:pt x="1714" y="568"/>
                    </a:lnTo>
                    <a:lnTo>
                      <a:pt x="1667" y="613"/>
                    </a:lnTo>
                    <a:lnTo>
                      <a:pt x="1614" y="657"/>
                    </a:lnTo>
                    <a:lnTo>
                      <a:pt x="1555" y="698"/>
                    </a:lnTo>
                    <a:lnTo>
                      <a:pt x="1489" y="738"/>
                    </a:lnTo>
                    <a:lnTo>
                      <a:pt x="1419" y="774"/>
                    </a:lnTo>
                    <a:lnTo>
                      <a:pt x="1344" y="810"/>
                    </a:lnTo>
                    <a:lnTo>
                      <a:pt x="1263" y="842"/>
                    </a:lnTo>
                    <a:lnTo>
                      <a:pt x="1183" y="869"/>
                    </a:lnTo>
                    <a:lnTo>
                      <a:pt x="1098" y="895"/>
                    </a:lnTo>
                    <a:lnTo>
                      <a:pt x="1010" y="914"/>
                    </a:lnTo>
                    <a:lnTo>
                      <a:pt x="925" y="931"/>
                    </a:lnTo>
                    <a:lnTo>
                      <a:pt x="838" y="946"/>
                    </a:lnTo>
                    <a:lnTo>
                      <a:pt x="751" y="954"/>
                    </a:lnTo>
                    <a:lnTo>
                      <a:pt x="666" y="958"/>
                    </a:lnTo>
                    <a:lnTo>
                      <a:pt x="583" y="958"/>
                    </a:lnTo>
                    <a:lnTo>
                      <a:pt x="504" y="954"/>
                    </a:lnTo>
                    <a:lnTo>
                      <a:pt x="428" y="946"/>
                    </a:lnTo>
                    <a:lnTo>
                      <a:pt x="356" y="933"/>
                    </a:lnTo>
                    <a:lnTo>
                      <a:pt x="290" y="916"/>
                    </a:lnTo>
                    <a:lnTo>
                      <a:pt x="228" y="895"/>
                    </a:lnTo>
                    <a:lnTo>
                      <a:pt x="175" y="869"/>
                    </a:lnTo>
                    <a:lnTo>
                      <a:pt x="126" y="842"/>
                    </a:lnTo>
                    <a:lnTo>
                      <a:pt x="86" y="810"/>
                    </a:lnTo>
                    <a:lnTo>
                      <a:pt x="51" y="776"/>
                    </a:lnTo>
                    <a:lnTo>
                      <a:pt x="26" y="738"/>
                    </a:lnTo>
                    <a:lnTo>
                      <a:pt x="9" y="700"/>
                    </a:lnTo>
                    <a:lnTo>
                      <a:pt x="0" y="657"/>
                    </a:lnTo>
                    <a:lnTo>
                      <a:pt x="0" y="615"/>
                    </a:lnTo>
                    <a:lnTo>
                      <a:pt x="7" y="570"/>
                    </a:lnTo>
                    <a:lnTo>
                      <a:pt x="22" y="524"/>
                    </a:lnTo>
                    <a:lnTo>
                      <a:pt x="47" y="479"/>
                    </a:lnTo>
                    <a:lnTo>
                      <a:pt x="77" y="432"/>
                    </a:lnTo>
                    <a:lnTo>
                      <a:pt x="117" y="388"/>
                    </a:lnTo>
                    <a:lnTo>
                      <a:pt x="164" y="343"/>
                    </a:lnTo>
                    <a:lnTo>
                      <a:pt x="217" y="301"/>
                    </a:lnTo>
                    <a:lnTo>
                      <a:pt x="277" y="259"/>
                    </a:lnTo>
                    <a:lnTo>
                      <a:pt x="341" y="220"/>
                    </a:lnTo>
                    <a:lnTo>
                      <a:pt x="413" y="182"/>
                    </a:lnTo>
                    <a:lnTo>
                      <a:pt x="487" y="148"/>
                    </a:lnTo>
                    <a:lnTo>
                      <a:pt x="566" y="116"/>
                    </a:lnTo>
                    <a:lnTo>
                      <a:pt x="649" y="89"/>
                    </a:lnTo>
                    <a:lnTo>
                      <a:pt x="732" y="63"/>
                    </a:lnTo>
                    <a:lnTo>
                      <a:pt x="819" y="42"/>
                    </a:lnTo>
                  </a:path>
                </a:pathLst>
              </a:custGeom>
              <a:noFill/>
              <a:ln w="317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46846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870663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16c05727-aa75-4e4a-9b5f-8a80a1165891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Dividend design</Template>
  <TotalTime>0</TotalTime>
  <Words>2384</Words>
  <Application>Microsoft Office PowerPoint</Application>
  <PresentationFormat>Widescreen</PresentationFormat>
  <Paragraphs>450</Paragraphs>
  <Slides>56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56</vt:i4>
      </vt:variant>
    </vt:vector>
  </HeadingPairs>
  <TitlesOfParts>
    <vt:vector size="67" baseType="lpstr">
      <vt:lpstr>Arial</vt:lpstr>
      <vt:lpstr>Calibri</vt:lpstr>
      <vt:lpstr>Cambria Math</vt:lpstr>
      <vt:lpstr>Gill Sans MT</vt:lpstr>
      <vt:lpstr>Helvetica</vt:lpstr>
      <vt:lpstr>Times New Roman</vt:lpstr>
      <vt:lpstr>Wingdings</vt:lpstr>
      <vt:lpstr>Wingdings 2</vt:lpstr>
      <vt:lpstr>Dividend</vt:lpstr>
      <vt:lpstr>SmartDraw</vt:lpstr>
      <vt:lpstr>VISIO</vt:lpstr>
      <vt:lpstr>clustering</vt:lpstr>
      <vt:lpstr>Overview</vt:lpstr>
      <vt:lpstr>Learning outcomes</vt:lpstr>
      <vt:lpstr>Supervised learning</vt:lpstr>
      <vt:lpstr>Unsupervised learning</vt:lpstr>
      <vt:lpstr>What is cluster analysis?</vt:lpstr>
      <vt:lpstr>What is cluster analysis? (Contd.)</vt:lpstr>
      <vt:lpstr>An example</vt:lpstr>
      <vt:lpstr>An example</vt:lpstr>
      <vt:lpstr>Applications of cluster analysis</vt:lpstr>
      <vt:lpstr>Clustering methods</vt:lpstr>
      <vt:lpstr>Clustering methods – partitioning methods</vt:lpstr>
      <vt:lpstr>Clustering methods – partitioning methods</vt:lpstr>
      <vt:lpstr>Clustering methods – Hierarchical methods</vt:lpstr>
      <vt:lpstr>Clustering methods – Hierarchical methods</vt:lpstr>
      <vt:lpstr>Clustering methods – Density-Based methods</vt:lpstr>
      <vt:lpstr>Clustering methods – Density-Based methods</vt:lpstr>
      <vt:lpstr>Clustering procedure- what is to consider?</vt:lpstr>
      <vt:lpstr>Choosing variables</vt:lpstr>
      <vt:lpstr>Similarity and dissimilarity measurement</vt:lpstr>
      <vt:lpstr>Similarity and dissimilarity measurement(contd.)</vt:lpstr>
      <vt:lpstr>Similarity and dissimilarity measurement(contd.)</vt:lpstr>
      <vt:lpstr>Standardization</vt:lpstr>
      <vt:lpstr>K-means algorithm</vt:lpstr>
      <vt:lpstr>What is a centroid?</vt:lpstr>
      <vt:lpstr>K-means algorithm</vt:lpstr>
      <vt:lpstr>How the clusters are computed</vt:lpstr>
      <vt:lpstr>K-means algorithm</vt:lpstr>
      <vt:lpstr>PowerPoint Presentation</vt:lpstr>
      <vt:lpstr>Exercise </vt:lpstr>
      <vt:lpstr>Limitations of k-means </vt:lpstr>
      <vt:lpstr>Limitations of k-means (Contd.)</vt:lpstr>
      <vt:lpstr>Limitations of k-means (Contd.)</vt:lpstr>
      <vt:lpstr>Limitations of k-means (Contd.)</vt:lpstr>
      <vt:lpstr>The optimal number of clusters</vt:lpstr>
      <vt:lpstr>Elbow method</vt:lpstr>
      <vt:lpstr>Hierarchical clustering</vt:lpstr>
      <vt:lpstr>An example</vt:lpstr>
      <vt:lpstr>Dendogram: Hierarchical Clustering</vt:lpstr>
      <vt:lpstr>Agglomerative hierarchical clusters</vt:lpstr>
      <vt:lpstr>Agglomerative hierarchical clusters</vt:lpstr>
      <vt:lpstr>Similarity measurement</vt:lpstr>
      <vt:lpstr>Similarity measurement (contd.)</vt:lpstr>
      <vt:lpstr>Similarity measurement (contd.)</vt:lpstr>
      <vt:lpstr>Example</vt:lpstr>
      <vt:lpstr>Example - Single-Link</vt:lpstr>
      <vt:lpstr>Example - Single-Link (Contd.)</vt:lpstr>
      <vt:lpstr>Example - Single-Link (Contd.)</vt:lpstr>
      <vt:lpstr>Example - Single-Link (Contd.)</vt:lpstr>
      <vt:lpstr>Example - Single-Link (contd.)</vt:lpstr>
      <vt:lpstr>Example - Complete-Link</vt:lpstr>
      <vt:lpstr>Example - Complete-Link (contd.)</vt:lpstr>
      <vt:lpstr>Example - Complete-Link (contd.)</vt:lpstr>
      <vt:lpstr>Hierarchical clustering : complete-link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2019-02-27T03:17:00Z</dcterms:created>
  <dcterms:modified xsi:type="dcterms:W3CDTF">2020-07-20T11:45:38Z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