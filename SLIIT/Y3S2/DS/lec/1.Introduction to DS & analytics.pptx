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72" r:id="rId4"/>
  </p:sldMasterIdLst>
  <p:sldIdLst>
    <p:sldId id="303" r:id="rId5"/>
    <p:sldId id="276" r:id="rId6"/>
    <p:sldId id="277" r:id="rId7"/>
    <p:sldId id="278" r:id="rId8"/>
    <p:sldId id="267" r:id="rId9"/>
    <p:sldId id="308" r:id="rId10"/>
    <p:sldId id="309" r:id="rId11"/>
    <p:sldId id="279" r:id="rId12"/>
    <p:sldId id="283" r:id="rId13"/>
    <p:sldId id="286" r:id="rId14"/>
    <p:sldId id="307" r:id="rId15"/>
    <p:sldId id="265" r:id="rId16"/>
    <p:sldId id="271" r:id="rId17"/>
    <p:sldId id="299" r:id="rId18"/>
    <p:sldId id="272" r:id="rId19"/>
    <p:sldId id="273" r:id="rId20"/>
    <p:sldId id="300" r:id="rId21"/>
    <p:sldId id="274" r:id="rId22"/>
    <p:sldId id="292" r:id="rId23"/>
    <p:sldId id="29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48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618" y="2110421"/>
            <a:ext cx="3028337" cy="391025"/>
          </a:xfrm>
        </p:spPr>
        <p:txBody>
          <a:bodyPr>
            <a:normAutofit fontScale="90000"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Overview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618" y="2870778"/>
            <a:ext cx="5603297" cy="1455174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Data-driven decision making</a:t>
            </a:r>
          </a:p>
          <a:p>
            <a:r>
              <a:rPr lang="en-US" dirty="0"/>
              <a:t>Introduction to data science and analytics</a:t>
            </a:r>
          </a:p>
          <a:p>
            <a:r>
              <a:rPr lang="en-US" dirty="0"/>
              <a:t>Management and processing of data</a:t>
            </a:r>
          </a:p>
          <a:p>
            <a:r>
              <a:rPr lang="en-US" dirty="0"/>
              <a:t>Techniques to derive business values from data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7EF16-F0F9-5824-5E40-A7D1FFAC7282}"/>
              </a:ext>
            </a:extLst>
          </p:cNvPr>
          <p:cNvSpPr txBox="1"/>
          <p:nvPr/>
        </p:nvSpPr>
        <p:spPr>
          <a:xfrm>
            <a:off x="432619" y="805934"/>
            <a:ext cx="107379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1.Introduction to Data Science &amp; Analytics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580440-25E7-DC96-70B1-803E0F319B1B}"/>
              </a:ext>
            </a:extLst>
          </p:cNvPr>
          <p:cNvSpPr txBox="1"/>
          <p:nvPr/>
        </p:nvSpPr>
        <p:spPr>
          <a:xfrm>
            <a:off x="432619" y="43259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Learning Outcomes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F42D7C-D475-05CD-9F19-EE6F87B9F710}"/>
              </a:ext>
            </a:extLst>
          </p:cNvPr>
          <p:cNvSpPr txBox="1"/>
          <p:nvPr/>
        </p:nvSpPr>
        <p:spPr>
          <a:xfrm>
            <a:off x="432618" y="4970347"/>
            <a:ext cx="100878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2"/>
                </a:solidFill>
              </a:rPr>
              <a:t>Identify the benefits of data-driven decision making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2"/>
                </a:solidFill>
              </a:rPr>
              <a:t>Explain different techniques used to derive business values from 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2"/>
                </a:solidFill>
              </a:rPr>
              <a:t>Identify different data types and represent them using appropriate methods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2"/>
                </a:solidFill>
              </a:rPr>
              <a:t>Compare and contrast different data analytics techniques</a:t>
            </a:r>
          </a:p>
        </p:txBody>
      </p:sp>
    </p:spTree>
    <p:extLst>
      <p:ext uri="{BB962C8B-B14F-4D97-AF65-F5344CB8AC3E}">
        <p14:creationId xmlns:p14="http://schemas.microsoft.com/office/powerpoint/2010/main" val="3439870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2A625-9DF1-4B70-97EF-AE165E2B1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How much data do we create daily?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10DCB-C59D-43DA-9CFA-649742053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093695"/>
          </a:xfrm>
        </p:spPr>
        <p:txBody>
          <a:bodyPr>
            <a:normAutofit/>
          </a:bodyPr>
          <a:lstStyle/>
          <a:p>
            <a:r>
              <a:rPr lang="en-US" dirty="0"/>
              <a:t>Businesses and users produce massive amount of data every day.</a:t>
            </a:r>
          </a:p>
          <a:p>
            <a:pPr lvl="1"/>
            <a:r>
              <a:rPr lang="en-US" dirty="0"/>
              <a:t>90% of the data on the internet has been created since 2016!</a:t>
            </a:r>
          </a:p>
          <a:p>
            <a:pPr lvl="1"/>
            <a:r>
              <a:rPr lang="en-US" dirty="0"/>
              <a:t>Facebook users also click the like button on more than 4 million posts every minute!</a:t>
            </a:r>
          </a:p>
          <a:p>
            <a:pPr lvl="1"/>
            <a:r>
              <a:rPr lang="en-US" dirty="0"/>
              <a:t>Instagram users post 46,740 pictures every minute.</a:t>
            </a:r>
          </a:p>
          <a:p>
            <a:pPr lvl="1"/>
            <a:r>
              <a:rPr lang="en-US" dirty="0"/>
              <a:t>656 million tweets are posted per day!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002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03122-A23A-44DF-A343-2CEF42C42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are these data useful?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3F143-C45C-4244-B4A1-B6ED5C509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Understanding data created by users is useful for business organizations in many ways.</a:t>
            </a:r>
          </a:p>
          <a:p>
            <a:r>
              <a:rPr lang="en-US" dirty="0"/>
              <a:t>For example, Business organizations could</a:t>
            </a:r>
          </a:p>
          <a:p>
            <a:pPr lvl="1"/>
            <a:r>
              <a:rPr lang="en-US" b="0" i="0" dirty="0">
                <a:solidFill>
                  <a:srgbClr val="241F21"/>
                </a:solidFill>
                <a:effectLst/>
                <a:latin typeface="Source Sans Pro" panose="020B0503030403020204" pitchFamily="34" charset="0"/>
              </a:rPr>
              <a:t>Identify current and potential audience</a:t>
            </a:r>
            <a:endParaRPr lang="en-US" dirty="0"/>
          </a:p>
          <a:p>
            <a:pPr lvl="1"/>
            <a:r>
              <a:rPr lang="en-US" dirty="0">
                <a:solidFill>
                  <a:srgbClr val="241F21"/>
                </a:solidFill>
                <a:latin typeface="Source Sans Pro" panose="020B0503030403020204" pitchFamily="34" charset="0"/>
              </a:rPr>
              <a:t>Identify emerging trends</a:t>
            </a:r>
          </a:p>
          <a:p>
            <a:pPr lvl="1"/>
            <a:r>
              <a:rPr lang="en-US" b="0" i="0" dirty="0">
                <a:solidFill>
                  <a:srgbClr val="241F21"/>
                </a:solidFill>
                <a:effectLst/>
                <a:latin typeface="Source Sans Pro" panose="020B0503030403020204" pitchFamily="34" charset="0"/>
              </a:rPr>
              <a:t>Identity how audiences are interacting with your content and</a:t>
            </a:r>
          </a:p>
          <a:p>
            <a:pPr lvl="1"/>
            <a:r>
              <a:rPr lang="en-US" dirty="0">
                <a:solidFill>
                  <a:srgbClr val="241F21"/>
                </a:solidFill>
                <a:latin typeface="Source Sans Pro" panose="020B0503030403020204" pitchFamily="34" charset="0"/>
              </a:rPr>
              <a:t>Understand what </a:t>
            </a:r>
            <a:r>
              <a:rPr lang="en-US" b="0" i="0" dirty="0">
                <a:solidFill>
                  <a:srgbClr val="241F21"/>
                </a:solidFill>
                <a:effectLst/>
                <a:latin typeface="Source Sans Pro" panose="020B0503030403020204" pitchFamily="34" charset="0"/>
              </a:rPr>
              <a:t>active customers think and feel about your brand</a:t>
            </a:r>
          </a:p>
          <a:p>
            <a:r>
              <a:rPr lang="en-US" dirty="0"/>
              <a:t>These information are useful for organizations improve their business potentials, improve customer base and improve their marketing strategies.</a:t>
            </a:r>
          </a:p>
        </p:txBody>
      </p:sp>
    </p:spTree>
    <p:extLst>
      <p:ext uri="{BB962C8B-B14F-4D97-AF65-F5344CB8AC3E}">
        <p14:creationId xmlns:p14="http://schemas.microsoft.com/office/powerpoint/2010/main" val="1692122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FDB0E-B684-4CBB-9E45-A1A204C9F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Data-driven decision making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A6633-AB73-4BF2-9119-6E4C95B0D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Despite the availability of data, decision making in an business organization mostly occur based on instincts or gut feeling.</a:t>
            </a:r>
          </a:p>
          <a:p>
            <a:r>
              <a:rPr lang="en-US" dirty="0"/>
              <a:t>As humans, however, it is possible that we make mistakes because we cannot oversee everything that is happening within our business.</a:t>
            </a:r>
          </a:p>
          <a:p>
            <a:r>
              <a:rPr lang="en-US" dirty="0"/>
              <a:t>Data driven decision making is helpful to make business decisions backed up by analyzed data.</a:t>
            </a:r>
          </a:p>
        </p:txBody>
      </p:sp>
    </p:spTree>
    <p:extLst>
      <p:ext uri="{BB962C8B-B14F-4D97-AF65-F5344CB8AC3E}">
        <p14:creationId xmlns:p14="http://schemas.microsoft.com/office/powerpoint/2010/main" val="3903825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What decisions can be made using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677504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/>
              <a:t>Strategic decision making :  Strategic decisions consider the entire organization and represent a complex aspect of business planning.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What is the trend?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What plans should we make?</a:t>
            </a:r>
          </a:p>
          <a:p>
            <a:r>
              <a:rPr lang="en-US" dirty="0"/>
              <a:t>Operational decision making : Operational decisions relate to the daily operations of an organization. </a:t>
            </a:r>
          </a:p>
          <a:p>
            <a:pPr lvl="1"/>
            <a:r>
              <a:rPr lang="en-US" altLang="en-US" dirty="0"/>
              <a:t>What’s happening right now?</a:t>
            </a:r>
          </a:p>
          <a:p>
            <a:pPr lvl="1"/>
            <a:r>
              <a:rPr lang="en-US" altLang="en-US" dirty="0"/>
              <a:t>What action needs to be taken?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864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 science and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science is a multidisciplinary field that deals with technologies, processes, and systems to extract knowledge and insight from data and supports reasoning and decision making under various sources of uncertainty.</a:t>
            </a:r>
          </a:p>
          <a:p>
            <a:r>
              <a:rPr lang="en-US" dirty="0"/>
              <a:t>There are two aspects of data science that are of interest: </a:t>
            </a:r>
          </a:p>
          <a:p>
            <a:pPr lvl="1"/>
            <a:r>
              <a:rPr lang="en-US" dirty="0"/>
              <a:t>the management and processing of data </a:t>
            </a:r>
          </a:p>
          <a:p>
            <a:pPr lvl="1"/>
            <a:r>
              <a:rPr lang="en-US" dirty="0"/>
              <a:t>the analytical methods and theories for data analysis and optimization</a:t>
            </a:r>
          </a:p>
        </p:txBody>
      </p:sp>
    </p:spTree>
    <p:extLst>
      <p:ext uri="{BB962C8B-B14F-4D97-AF65-F5344CB8AC3E}">
        <p14:creationId xmlns:p14="http://schemas.microsoft.com/office/powerpoint/2010/main" val="2404637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 science and analytics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first aspect involves data systems such as databases and warehousing and their preparation, including, data cleaning and engineering, and data monitoring, reporting, and visualization. </a:t>
            </a:r>
          </a:p>
          <a:p>
            <a:r>
              <a:rPr lang="en-US" dirty="0"/>
              <a:t>The second aspect involves data analytics and includes data mining, text analytics, machine and statistical learning, mathematical optimization, and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1268234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63573"/>
          </a:xfrm>
        </p:spPr>
        <p:txBody>
          <a:bodyPr>
            <a:normAutofit fontScale="90000"/>
          </a:bodyPr>
          <a:lstStyle/>
          <a:p>
            <a:r>
              <a:rPr lang="en-US" dirty="0"/>
              <a:t>An overview of data science and analytics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" b="48935"/>
          <a:stretch/>
        </p:blipFill>
        <p:spPr>
          <a:xfrm>
            <a:off x="2514600" y="1707776"/>
            <a:ext cx="6696635" cy="5136777"/>
          </a:xfrm>
        </p:spPr>
      </p:pic>
    </p:spTree>
    <p:extLst>
      <p:ext uri="{BB962C8B-B14F-4D97-AF65-F5344CB8AC3E}">
        <p14:creationId xmlns:p14="http://schemas.microsoft.com/office/powerpoint/2010/main" val="162131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Management and processing of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foundation of data analytics is having appropriate data that are of sufficient quality, appropriately organized for the analysis task at hand. </a:t>
            </a:r>
          </a:p>
          <a:p>
            <a:r>
              <a:rPr lang="en-US" dirty="0"/>
              <a:t>Unfortunately, data seldom arrive in a suitable state, and a necessary first step is getting them into a proper form to support analysis.</a:t>
            </a:r>
          </a:p>
          <a:p>
            <a:r>
              <a:rPr lang="en-US" dirty="0"/>
              <a:t>Thus, prior to data analytics data should be specially prepared for the task of analytics.</a:t>
            </a:r>
          </a:p>
        </p:txBody>
      </p:sp>
    </p:spTree>
    <p:extLst>
      <p:ext uri="{BB962C8B-B14F-4D97-AF65-F5344CB8AC3E}">
        <p14:creationId xmlns:p14="http://schemas.microsoft.com/office/powerpoint/2010/main" val="3502117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Management and processing of data(Contd.)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common data processing tasks are as follows :</a:t>
            </a:r>
          </a:p>
          <a:p>
            <a:pPr lvl="1"/>
            <a:r>
              <a:rPr lang="en-US" dirty="0"/>
              <a:t>Data assessment and cleaning</a:t>
            </a:r>
          </a:p>
          <a:p>
            <a:pPr lvl="1"/>
            <a:r>
              <a:rPr lang="en-US" dirty="0"/>
              <a:t>Data integration</a:t>
            </a:r>
          </a:p>
          <a:p>
            <a:pPr lvl="1"/>
            <a:r>
              <a:rPr lang="en-US" dirty="0"/>
              <a:t>Data transformation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410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8790E-D06E-C169-3322-0E4974B9C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Different techniques of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E2293-6FC1-C3A7-F8B7-05136C80A6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89" y="2502612"/>
            <a:ext cx="5422390" cy="3633047"/>
          </a:xfrm>
        </p:spPr>
        <p:txBody>
          <a:bodyPr>
            <a:normAutofit/>
          </a:bodyPr>
          <a:lstStyle/>
          <a:p>
            <a:r>
              <a:rPr lang="en-US" sz="3200" dirty="0"/>
              <a:t>Reports (Standard &amp; Ad-hoc)</a:t>
            </a:r>
          </a:p>
          <a:p>
            <a:r>
              <a:rPr lang="en-US" sz="3200" dirty="0"/>
              <a:t>Online Analytical Processing (OLAP)</a:t>
            </a:r>
          </a:p>
          <a:p>
            <a:r>
              <a:rPr lang="en-US" sz="3200" dirty="0"/>
              <a:t>Alerts</a:t>
            </a:r>
          </a:p>
          <a:p>
            <a:r>
              <a:rPr lang="en-US" sz="3200" dirty="0"/>
              <a:t>Statistical Analysis</a:t>
            </a:r>
          </a:p>
          <a:p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B8313-9CF8-A480-B30B-C1B59CC6E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619889"/>
            <a:ext cx="5422392" cy="3633047"/>
          </a:xfrm>
        </p:spPr>
        <p:txBody>
          <a:bodyPr>
            <a:normAutofit/>
          </a:bodyPr>
          <a:lstStyle/>
          <a:p>
            <a:r>
              <a:rPr lang="en-US" sz="3200" dirty="0"/>
              <a:t>Forecasting</a:t>
            </a:r>
          </a:p>
          <a:p>
            <a:r>
              <a:rPr lang="en-US" sz="3200" dirty="0"/>
              <a:t>Predictive analysis</a:t>
            </a:r>
          </a:p>
          <a:p>
            <a:r>
              <a:rPr lang="en-US" sz="3200" dirty="0"/>
              <a:t>Optimization 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55445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/>
              <a:t>Levels of intelligence creating business values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376" y="1900515"/>
            <a:ext cx="7617598" cy="4957485"/>
          </a:xfrm>
        </p:spPr>
      </p:pic>
    </p:spTree>
    <p:extLst>
      <p:ext uri="{BB962C8B-B14F-4D97-AF65-F5344CB8AC3E}">
        <p14:creationId xmlns:p14="http://schemas.microsoft.com/office/powerpoint/2010/main" val="3833590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687642"/>
            <a:ext cx="11029616" cy="1013800"/>
          </a:xfrm>
        </p:spPr>
        <p:txBody>
          <a:bodyPr>
            <a:noAutofit/>
          </a:bodyPr>
          <a:lstStyle/>
          <a:p>
            <a:r>
              <a:rPr lang="en-US" sz="3600" dirty="0"/>
              <a:t>Standard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Generated on a regular basis and describe just "what happened" in a particular area. </a:t>
            </a:r>
          </a:p>
          <a:p>
            <a:pPr lvl="1"/>
            <a:r>
              <a:rPr lang="en-US" dirty="0"/>
              <a:t>Example: </a:t>
            </a:r>
          </a:p>
          <a:p>
            <a:pPr lvl="2"/>
            <a:r>
              <a:rPr lang="en-US" dirty="0"/>
              <a:t>Monthly or quarterly financial reports. </a:t>
            </a:r>
          </a:p>
          <a:p>
            <a:pPr lvl="2"/>
            <a:r>
              <a:rPr lang="en-US" dirty="0"/>
              <a:t>Monthly sales reports</a:t>
            </a:r>
          </a:p>
          <a:p>
            <a:r>
              <a:rPr lang="en-US" dirty="0"/>
              <a:t>They're useful to some extent, but not for making long-term decisions.</a:t>
            </a:r>
          </a:p>
        </p:txBody>
      </p:sp>
    </p:spTree>
    <p:extLst>
      <p:ext uri="{BB962C8B-B14F-4D97-AF65-F5344CB8AC3E}">
        <p14:creationId xmlns:p14="http://schemas.microsoft.com/office/powerpoint/2010/main" val="1483805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Ad Hoc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Ad Hoc Reports are customized reports which are useful to obtain data required by business users</a:t>
            </a:r>
          </a:p>
          <a:p>
            <a:r>
              <a:rPr lang="en-US" dirty="0">
                <a:solidFill>
                  <a:srgbClr val="3C3C3C"/>
                </a:solidFill>
                <a:latin typeface="BentonSansBook"/>
              </a:rPr>
              <a:t>B</a:t>
            </a:r>
            <a:r>
              <a:rPr lang="en-US" b="0" i="0" dirty="0">
                <a:solidFill>
                  <a:srgbClr val="3C3C3C"/>
                </a:solidFill>
                <a:effectLst/>
                <a:latin typeface="BentonSansBook"/>
              </a:rPr>
              <a:t>usiness users can generate their own reports by modifying the Standard report queries or filter values and get the real time data on demand.</a:t>
            </a:r>
            <a:endParaRPr lang="en-US" dirty="0"/>
          </a:p>
          <a:p>
            <a:pPr lvl="1"/>
            <a:r>
              <a:rPr lang="en-US" dirty="0"/>
              <a:t>Example: 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Oracle Sans"/>
              </a:rPr>
              <a:t>Report</a:t>
            </a:r>
            <a:r>
              <a:rPr lang="en-US" b="0" i="0" dirty="0">
                <a:solidFill>
                  <a:srgbClr val="000000"/>
                </a:solidFill>
                <a:effectLst/>
                <a:latin typeface="Oracle Sans"/>
              </a:rPr>
              <a:t> that show how many items were sold over a certain period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Oracle Sans"/>
              </a:rPr>
              <a:t>Custom reports that describe the number of hospital patients for every diagnosis code for each day of the week. 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97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16670"/>
            <a:ext cx="11029616" cy="1013800"/>
          </a:xfrm>
        </p:spPr>
        <p:txBody>
          <a:bodyPr>
            <a:normAutofit/>
          </a:bodyPr>
          <a:lstStyle/>
          <a:p>
            <a:r>
              <a:rPr lang="en-US" sz="3600" dirty="0"/>
              <a:t>Query Drilldown (or </a:t>
            </a:r>
            <a:r>
              <a:rPr lang="en-US" sz="3600" dirty="0" err="1"/>
              <a:t>olap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7285551" cy="367830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Online analytical processing (OLAP) is a technology that could perform multidimensional analysis at high speeds on large volumes of data.</a:t>
            </a:r>
          </a:p>
          <a:p>
            <a:r>
              <a:rPr lang="en-US" dirty="0"/>
              <a:t>Users are able to analyze multidimensional data interactively from multiple perspectives.</a:t>
            </a:r>
          </a:p>
          <a:p>
            <a:r>
              <a:rPr lang="en-US" dirty="0"/>
              <a:t>The most important mechanism in OLAP which allows it to achieve such performance is the use of aggregations</a:t>
            </a:r>
          </a:p>
          <a:p>
            <a:r>
              <a:rPr lang="en-US" dirty="0"/>
              <a:t>Example:</a:t>
            </a:r>
          </a:p>
          <a:p>
            <a:pPr lvl="2"/>
            <a:r>
              <a:rPr lang="en-US" dirty="0"/>
              <a:t>Find the number of laptops sold in Q1 in Australia</a:t>
            </a:r>
          </a:p>
          <a:p>
            <a:pPr lvl="2"/>
            <a:r>
              <a:rPr lang="en-US" dirty="0"/>
              <a:t>Find the revenue from selling TVs from all continents in Q2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01BB00-DD76-E00C-D824-5BC27FACEC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67" t="17127" r="53214" b="20621"/>
          <a:stretch/>
        </p:blipFill>
        <p:spPr>
          <a:xfrm>
            <a:off x="7605486" y="1819425"/>
            <a:ext cx="4586514" cy="426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650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Alerts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264223"/>
            <a:ext cx="4847429" cy="4898572"/>
          </a:xfrm>
        </p:spPr>
        <p:txBody>
          <a:bodyPr>
            <a:noAutofit/>
          </a:bodyPr>
          <a:lstStyle/>
          <a:p>
            <a:pPr algn="l"/>
            <a:r>
              <a:rPr lang="en-US" sz="2300" b="0" i="0" dirty="0">
                <a:solidFill>
                  <a:srgbClr val="333333"/>
                </a:solidFill>
                <a:effectLst/>
                <a:latin typeface="Be Vietnam"/>
              </a:rPr>
              <a:t>An alert is an automated message or notification sent via email,&amp; </a:t>
            </a:r>
            <a:r>
              <a:rPr lang="en-US" sz="2300" b="0" i="0" dirty="0" err="1">
                <a:solidFill>
                  <a:srgbClr val="333333"/>
                </a:solidFill>
                <a:effectLst/>
                <a:latin typeface="Be Vietnam"/>
              </a:rPr>
              <a:t>etc</a:t>
            </a:r>
            <a:r>
              <a:rPr lang="en-US" sz="2300" b="0" i="0" dirty="0">
                <a:solidFill>
                  <a:srgbClr val="333333"/>
                </a:solidFill>
                <a:effectLst/>
                <a:latin typeface="Be Vietnam"/>
              </a:rPr>
              <a:t>, which indicates that a predefined event or error condition has occurred and that some action is needed.</a:t>
            </a:r>
          </a:p>
          <a:p>
            <a:pPr algn="l"/>
            <a:r>
              <a:rPr lang="en-US" sz="2300" b="0" i="0" dirty="0">
                <a:solidFill>
                  <a:srgbClr val="333333"/>
                </a:solidFill>
                <a:effectLst/>
                <a:latin typeface="Be Vietnam"/>
              </a:rPr>
              <a:t>Alerts allow users to receive critical business information in the quickest and most efficient possible way. </a:t>
            </a:r>
          </a:p>
          <a:p>
            <a:pPr algn="l"/>
            <a:r>
              <a:rPr lang="en-US" sz="2300" b="0" i="0" dirty="0">
                <a:solidFill>
                  <a:srgbClr val="333333"/>
                </a:solidFill>
                <a:effectLst/>
                <a:latin typeface="Be Vietnam"/>
              </a:rPr>
              <a:t>For example, a store manager can be automatically informed when in-stock levels of a critical items fall below or rise above a certain level.</a:t>
            </a:r>
          </a:p>
          <a:p>
            <a:pPr marL="324000" lvl="1" indent="0">
              <a:buNone/>
            </a:pPr>
            <a:br>
              <a:rPr lang="en-US" sz="2300" dirty="0"/>
            </a:br>
            <a:endParaRPr lang="en-US" sz="2300" dirty="0"/>
          </a:p>
        </p:txBody>
      </p:sp>
      <p:pic>
        <p:nvPicPr>
          <p:cNvPr id="4" name="Power BI Data Alerts and Triggers (Simple!)">
            <a:hlinkClick r:id="" action="ppaction://media"/>
            <a:extLst>
              <a:ext uri="{FF2B5EF4-FFF2-40B4-BE49-F238E27FC236}">
                <a16:creationId xmlns:a16="http://schemas.microsoft.com/office/drawing/2014/main" id="{9D28E4C1-86CA-26A8-D917-36D6899F4F8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28622" y="2183091"/>
            <a:ext cx="6672448" cy="375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0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008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Statistical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Statistics are techniques of analyzing and interpreting numerical data for making inferences about the population, from the picked out sample data.</a:t>
            </a:r>
          </a:p>
          <a:p>
            <a:r>
              <a:rPr lang="en-US" dirty="0"/>
              <a:t>They can be used by business experts to solve their problems.</a:t>
            </a:r>
          </a:p>
          <a:p>
            <a:r>
              <a:rPr lang="en-US" dirty="0"/>
              <a:t>Example techniques:</a:t>
            </a:r>
          </a:p>
          <a:p>
            <a:pPr lvl="1"/>
            <a:r>
              <a:rPr lang="en-US" dirty="0"/>
              <a:t>Descriptive statistics : Identify mean, median, mode of sales in a month</a:t>
            </a:r>
          </a:p>
          <a:p>
            <a:pPr lvl="1"/>
            <a:r>
              <a:rPr lang="en-US" dirty="0"/>
              <a:t>Inferential statistics : Compare differences between two groups of buyers</a:t>
            </a:r>
          </a:p>
          <a:p>
            <a:pPr lvl="1"/>
            <a:r>
              <a:rPr lang="en-US" dirty="0"/>
              <a:t>Causal analysis : Identify factors effecting a person to go for digital banking</a:t>
            </a:r>
          </a:p>
        </p:txBody>
      </p:sp>
    </p:spTree>
    <p:extLst>
      <p:ext uri="{BB962C8B-B14F-4D97-AF65-F5344CB8AC3E}">
        <p14:creationId xmlns:p14="http://schemas.microsoft.com/office/powerpoint/2010/main" val="1527121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CalibreRegular"/>
              </a:rPr>
              <a:t> It’s a projection of a business’s future developments based on trends, patterns, and current and historical data analysis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alibreRegular"/>
              </a:rPr>
              <a:t>Business forecasting allows your company to make long term plans and prepare for any changes in the market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Time series: Forecasting sales revenue in future</a:t>
            </a:r>
          </a:p>
        </p:txBody>
      </p:sp>
    </p:spTree>
    <p:extLst>
      <p:ext uri="{BB962C8B-B14F-4D97-AF65-F5344CB8AC3E}">
        <p14:creationId xmlns:p14="http://schemas.microsoft.com/office/powerpoint/2010/main" val="1047180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Predictive Modelling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Predictive analysis is implemented to make a prediction of future events, or what is likely to take place next, based on current and past facts and figures.</a:t>
            </a:r>
          </a:p>
          <a:p>
            <a:r>
              <a:rPr lang="en-US" dirty="0"/>
              <a:t>Example techniques:</a:t>
            </a:r>
          </a:p>
          <a:p>
            <a:pPr lvl="1"/>
            <a:r>
              <a:rPr lang="en-US"/>
              <a:t>Association Rule Mining</a:t>
            </a:r>
          </a:p>
          <a:p>
            <a:pPr lvl="1"/>
            <a:r>
              <a:rPr lang="en-US" dirty="0"/>
              <a:t>Classification</a:t>
            </a:r>
          </a:p>
          <a:p>
            <a:pPr lvl="1"/>
            <a:r>
              <a:rPr lang="en-US" dirty="0"/>
              <a:t>Regression</a:t>
            </a:r>
          </a:p>
          <a:p>
            <a:pPr lvl="1"/>
            <a:r>
              <a:rPr lang="en-US" dirty="0"/>
              <a:t>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384709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75348"/>
          </a:xfrm>
        </p:spPr>
        <p:txBody>
          <a:bodyPr>
            <a:normAutofit/>
          </a:bodyPr>
          <a:lstStyle/>
          <a:p>
            <a:r>
              <a:rPr lang="en-US" dirty="0"/>
              <a:t>Optimization is widely used in business analysis for identifying the best possible action for a situation. </a:t>
            </a:r>
          </a:p>
          <a:p>
            <a:r>
              <a:rPr lang="en-US" dirty="0"/>
              <a:t> While other statistical analysis might be deployed for driving exclusions, it provides the actual answer. </a:t>
            </a:r>
          </a:p>
          <a:p>
            <a:r>
              <a:rPr lang="en-US" dirty="0"/>
              <a:t>Basically, it focuses on discovering the optimal suggestion for a process of decision making.</a:t>
            </a:r>
          </a:p>
        </p:txBody>
      </p:sp>
    </p:spTree>
    <p:extLst>
      <p:ext uri="{BB962C8B-B14F-4D97-AF65-F5344CB8AC3E}">
        <p14:creationId xmlns:p14="http://schemas.microsoft.com/office/powerpoint/2010/main" val="102443469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EBC12AA-1C15-4500-BC9C-8EE83A441DE9}">
  <ds:schemaRefs>
    <ds:schemaRef ds:uri="http://schemas.microsoft.com/office/infopath/2007/PartnerControls"/>
    <ds:schemaRef ds:uri="http://purl.org/dc/dcmitype/"/>
    <ds:schemaRef ds:uri="http://purl.org/dc/terms/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Dividend design</Template>
  <TotalTime>0</TotalTime>
  <Words>1096</Words>
  <Application>Microsoft Office PowerPoint</Application>
  <PresentationFormat>Widescreen</PresentationFormat>
  <Paragraphs>112</Paragraphs>
  <Slides>20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Be Vietnam</vt:lpstr>
      <vt:lpstr>BentonSansBook</vt:lpstr>
      <vt:lpstr>CalibreRegular</vt:lpstr>
      <vt:lpstr>Gill Sans MT</vt:lpstr>
      <vt:lpstr>Oracle Sans</vt:lpstr>
      <vt:lpstr>Source Sans Pro</vt:lpstr>
      <vt:lpstr>Wingdings</vt:lpstr>
      <vt:lpstr>Wingdings 2</vt:lpstr>
      <vt:lpstr>Dividend</vt:lpstr>
      <vt:lpstr>Overview </vt:lpstr>
      <vt:lpstr>How much data do we create daily?</vt:lpstr>
      <vt:lpstr>are these data useful?</vt:lpstr>
      <vt:lpstr>Data-driven decision making</vt:lpstr>
      <vt:lpstr>What decisions can be made using data?</vt:lpstr>
      <vt:lpstr>Data science and analytics</vt:lpstr>
      <vt:lpstr>Data science and analytics (Contd.)</vt:lpstr>
      <vt:lpstr>An overview of data science and analytics</vt:lpstr>
      <vt:lpstr>Management and processing of data</vt:lpstr>
      <vt:lpstr>Management and processing of data(Contd.)</vt:lpstr>
      <vt:lpstr>Different techniques of data analysis</vt:lpstr>
      <vt:lpstr>Levels of intelligence creating business values</vt:lpstr>
      <vt:lpstr>Standard Reports</vt:lpstr>
      <vt:lpstr>Ad Hoc reports</vt:lpstr>
      <vt:lpstr>Query Drilldown (or olap)</vt:lpstr>
      <vt:lpstr>Alerts</vt:lpstr>
      <vt:lpstr>Statistical Analysis</vt:lpstr>
      <vt:lpstr>Forecasting</vt:lpstr>
      <vt:lpstr>Predictive Modelling</vt:lpstr>
      <vt:lpstr>Optimization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2019-02-27T03:17:00Z</dcterms:created>
  <dcterms:modified xsi:type="dcterms:W3CDTF">2025-07-30T03:43:41Z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