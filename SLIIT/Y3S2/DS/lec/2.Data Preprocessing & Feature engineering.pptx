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72" r:id="rId4"/>
  </p:sldMasterIdLst>
  <p:notesMasterIdLst>
    <p:notesMasterId r:id="rId37"/>
  </p:notesMasterIdLst>
  <p:sldIdLst>
    <p:sldId id="262" r:id="rId5"/>
    <p:sldId id="366" r:id="rId6"/>
    <p:sldId id="1043" r:id="rId7"/>
    <p:sldId id="372" r:id="rId8"/>
    <p:sldId id="1063" r:id="rId9"/>
    <p:sldId id="1064" r:id="rId10"/>
    <p:sldId id="1066" r:id="rId11"/>
    <p:sldId id="1096" r:id="rId12"/>
    <p:sldId id="1065" r:id="rId13"/>
    <p:sldId id="1067" r:id="rId14"/>
    <p:sldId id="1068" r:id="rId15"/>
    <p:sldId id="1069" r:id="rId16"/>
    <p:sldId id="1070" r:id="rId17"/>
    <p:sldId id="1071" r:id="rId18"/>
    <p:sldId id="1072" r:id="rId19"/>
    <p:sldId id="1073" r:id="rId20"/>
    <p:sldId id="1097" r:id="rId21"/>
    <p:sldId id="1087" r:id="rId22"/>
    <p:sldId id="1092" r:id="rId23"/>
    <p:sldId id="1088" r:id="rId24"/>
    <p:sldId id="1089" r:id="rId25"/>
    <p:sldId id="1098" r:id="rId26"/>
    <p:sldId id="1094" r:id="rId27"/>
    <p:sldId id="1075" r:id="rId28"/>
    <p:sldId id="1076" r:id="rId29"/>
    <p:sldId id="1078" r:id="rId30"/>
    <p:sldId id="1079" r:id="rId31"/>
    <p:sldId id="1080" r:id="rId32"/>
    <p:sldId id="1081" r:id="rId33"/>
    <p:sldId id="1082" r:id="rId34"/>
    <p:sldId id="1083" r:id="rId35"/>
    <p:sldId id="108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353" autoAdjust="0"/>
  </p:normalViewPr>
  <p:slideViewPr>
    <p:cSldViewPr snapToGrid="0">
      <p:cViewPr varScale="1">
        <p:scale>
          <a:sx n="71" d="100"/>
          <a:sy n="71" d="100"/>
        </p:scale>
        <p:origin x="113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0624A0-753C-45EF-839C-D7B4C8198EA9}" type="datetimeFigureOut">
              <a:rPr lang="en-US" smtClean="0"/>
              <a:t>7/30/2025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9C9812-EB07-4519-B779-DB368E923D76}" type="slidenum">
              <a:rPr lang="en-US" smtClean="0"/>
              <a:t>‹#›</a:t>
            </a:fld>
            <a:endParaRPr lang="en-US"/>
          </a:p>
        </p:txBody>
      </p:sp>
    </p:spTree>
    <p:extLst>
      <p:ext uri="{BB962C8B-B14F-4D97-AF65-F5344CB8AC3E}">
        <p14:creationId xmlns:p14="http://schemas.microsoft.com/office/powerpoint/2010/main" val="762775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8323E72D-42E4-481E-9901-5B8F1A2A03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911548F-D6D1-463F-A87B-B548C9C2DD9A}" type="slidenum">
              <a:rPr lang="en-US" altLang="en-US"/>
              <a:pPr>
                <a:spcBef>
                  <a:spcPct val="0"/>
                </a:spcBef>
              </a:pPr>
              <a:t>3</a:t>
            </a:fld>
            <a:endParaRPr lang="en-US" altLang="en-US"/>
          </a:p>
        </p:txBody>
      </p:sp>
      <p:sp>
        <p:nvSpPr>
          <p:cNvPr id="18435" name="Rectangle 2">
            <a:extLst>
              <a:ext uri="{FF2B5EF4-FFF2-40B4-BE49-F238E27FC236}">
                <a16:creationId xmlns:a16="http://schemas.microsoft.com/office/drawing/2014/main" id="{AE15CDA5-FCFF-4D25-8783-27312D2B2061}"/>
              </a:ext>
            </a:extLst>
          </p:cNvPr>
          <p:cNvSpPr>
            <a:spLocks noGrp="1" noRot="1" noChangeAspect="1" noChangeArrowheads="1" noTextEdit="1"/>
          </p:cNvSpPr>
          <p:nvPr>
            <p:ph type="sldImg"/>
          </p:nvPr>
        </p:nvSpPr>
        <p:spPr>
          <a:xfrm>
            <a:off x="427038" y="692150"/>
            <a:ext cx="6157912" cy="3463925"/>
          </a:xfrm>
          <a:ln/>
        </p:spPr>
      </p:sp>
      <p:sp>
        <p:nvSpPr>
          <p:cNvPr id="18436" name="Rectangle 3">
            <a:extLst>
              <a:ext uri="{FF2B5EF4-FFF2-40B4-BE49-F238E27FC236}">
                <a16:creationId xmlns:a16="http://schemas.microsoft.com/office/drawing/2014/main" id="{808CAA72-B3AD-4796-9A02-A1C564DB6D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7/30/2025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lvl1pPr>
              <a:defRPr sz="3200"/>
            </a:lvl1pPr>
            <a:lvl2pPr>
              <a:defRPr sz="2800"/>
            </a:lvl2pPr>
            <a:lvl3pPr>
              <a:defRPr sz="2400"/>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7/30/2025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7/30/2025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7/30/2025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7/30/2025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7/30/2025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2.Data pre-processing and feature engineering</a:t>
            </a:r>
          </a:p>
        </p:txBody>
      </p:sp>
      <p:sp>
        <p:nvSpPr>
          <p:cNvPr id="3" name="Content Placeholder 2"/>
          <p:cNvSpPr>
            <a:spLocks noGrp="1"/>
          </p:cNvSpPr>
          <p:nvPr>
            <p:ph idx="1"/>
          </p:nvPr>
        </p:nvSpPr>
        <p:spPr>
          <a:xfrm>
            <a:off x="581192" y="2658539"/>
            <a:ext cx="5943600" cy="1767559"/>
          </a:xfrm>
        </p:spPr>
        <p:txBody>
          <a:bodyPr>
            <a:normAutofit/>
          </a:bodyPr>
          <a:lstStyle/>
          <a:p>
            <a:pPr>
              <a:lnSpc>
                <a:spcPct val="90000"/>
              </a:lnSpc>
            </a:pPr>
            <a:r>
              <a:rPr lang="en-US" sz="2000" dirty="0"/>
              <a:t>Issues in data</a:t>
            </a:r>
          </a:p>
          <a:p>
            <a:pPr>
              <a:lnSpc>
                <a:spcPct val="90000"/>
              </a:lnSpc>
            </a:pPr>
            <a:r>
              <a:rPr lang="en-US" sz="2000" dirty="0"/>
              <a:t>Data cleaning</a:t>
            </a:r>
          </a:p>
          <a:p>
            <a:pPr>
              <a:lnSpc>
                <a:spcPct val="90000"/>
              </a:lnSpc>
            </a:pPr>
            <a:r>
              <a:rPr lang="en-US" sz="2000" dirty="0"/>
              <a:t>Data reduction and dimensionality reduction</a:t>
            </a:r>
          </a:p>
          <a:p>
            <a:pPr>
              <a:lnSpc>
                <a:spcPct val="90000"/>
              </a:lnSpc>
            </a:pPr>
            <a:r>
              <a:rPr lang="en-US" sz="2000" dirty="0"/>
              <a:t>Data transformation</a:t>
            </a:r>
          </a:p>
        </p:txBody>
      </p:sp>
      <p:sp>
        <p:nvSpPr>
          <p:cNvPr id="6" name="TextBox 5">
            <a:extLst>
              <a:ext uri="{FF2B5EF4-FFF2-40B4-BE49-F238E27FC236}">
                <a16:creationId xmlns:a16="http://schemas.microsoft.com/office/drawing/2014/main" id="{7F96D819-FBDA-7162-6535-D6FE5B4D2E96}"/>
              </a:ext>
            </a:extLst>
          </p:cNvPr>
          <p:cNvSpPr txBox="1"/>
          <p:nvPr/>
        </p:nvSpPr>
        <p:spPr>
          <a:xfrm>
            <a:off x="581192" y="4618825"/>
            <a:ext cx="6094206" cy="523220"/>
          </a:xfrm>
          <a:prstGeom prst="rect">
            <a:avLst/>
          </a:prstGeom>
          <a:noFill/>
        </p:spPr>
        <p:txBody>
          <a:bodyPr wrap="square">
            <a:spAutoFit/>
          </a:bodyPr>
          <a:lstStyle/>
          <a:p>
            <a:r>
              <a:rPr lang="en-US" sz="2800" dirty="0"/>
              <a:t>Lesson learning outcome</a:t>
            </a:r>
          </a:p>
        </p:txBody>
      </p:sp>
      <p:sp>
        <p:nvSpPr>
          <p:cNvPr id="8" name="TextBox 7">
            <a:extLst>
              <a:ext uri="{FF2B5EF4-FFF2-40B4-BE49-F238E27FC236}">
                <a16:creationId xmlns:a16="http://schemas.microsoft.com/office/drawing/2014/main" id="{DEDB59CC-5AF6-12DA-54A9-559CC5B88CD5}"/>
              </a:ext>
            </a:extLst>
          </p:cNvPr>
          <p:cNvSpPr txBox="1"/>
          <p:nvPr/>
        </p:nvSpPr>
        <p:spPr>
          <a:xfrm>
            <a:off x="581192" y="5334772"/>
            <a:ext cx="10832672" cy="707886"/>
          </a:xfrm>
          <a:prstGeom prst="rect">
            <a:avLst/>
          </a:prstGeom>
          <a:noFill/>
        </p:spPr>
        <p:txBody>
          <a:bodyPr wrap="square">
            <a:spAutoFit/>
          </a:bodyPr>
          <a:lstStyle/>
          <a:p>
            <a:pPr marL="285750" indent="-285750">
              <a:buFont typeface="Wingdings" panose="05000000000000000000" pitchFamily="2" charset="2"/>
              <a:buChar char="§"/>
            </a:pPr>
            <a:r>
              <a:rPr lang="en-US" sz="2000" dirty="0">
                <a:solidFill>
                  <a:schemeClr val="tx2"/>
                </a:solidFill>
              </a:rPr>
              <a:t>Propose data cleaning procedure for a given dataset.</a:t>
            </a:r>
          </a:p>
          <a:p>
            <a:pPr marL="285750" indent="-285750">
              <a:buFont typeface="Wingdings" panose="05000000000000000000" pitchFamily="2" charset="2"/>
              <a:buChar char="§"/>
            </a:pPr>
            <a:r>
              <a:rPr lang="en-US" sz="2000" dirty="0">
                <a:solidFill>
                  <a:schemeClr val="tx2"/>
                </a:solidFill>
              </a:rPr>
              <a:t>Select suitable feature extraction methods to improve the efficiency of analytical techniques</a:t>
            </a:r>
            <a:r>
              <a:rPr lang="en-US" sz="2000" dirty="0"/>
              <a:t>.</a:t>
            </a:r>
          </a:p>
        </p:txBody>
      </p:sp>
      <p:sp>
        <p:nvSpPr>
          <p:cNvPr id="4" name="TextBox 3">
            <a:extLst>
              <a:ext uri="{FF2B5EF4-FFF2-40B4-BE49-F238E27FC236}">
                <a16:creationId xmlns:a16="http://schemas.microsoft.com/office/drawing/2014/main" id="{42B3B4A2-D873-D956-DC56-B8C7855C3BD4}"/>
              </a:ext>
            </a:extLst>
          </p:cNvPr>
          <p:cNvSpPr txBox="1"/>
          <p:nvPr/>
        </p:nvSpPr>
        <p:spPr>
          <a:xfrm>
            <a:off x="581192" y="2135319"/>
            <a:ext cx="6094206" cy="523220"/>
          </a:xfrm>
          <a:prstGeom prst="rect">
            <a:avLst/>
          </a:prstGeom>
          <a:noFill/>
        </p:spPr>
        <p:txBody>
          <a:bodyPr wrap="square">
            <a:spAutoFit/>
          </a:bodyPr>
          <a:lstStyle/>
          <a:p>
            <a:r>
              <a:rPr lang="en-US" sz="2800" dirty="0"/>
              <a:t>Overview</a:t>
            </a:r>
          </a:p>
        </p:txBody>
      </p:sp>
    </p:spTree>
    <p:extLst>
      <p:ext uri="{BB962C8B-B14F-4D97-AF65-F5344CB8AC3E}">
        <p14:creationId xmlns:p14="http://schemas.microsoft.com/office/powerpoint/2010/main" val="1729237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135D2-95D1-47F1-9469-5522EC52DEA5}"/>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7D12EEB9-4247-0699-3264-59D26C4A0F03}"/>
              </a:ext>
            </a:extLst>
          </p:cNvPr>
          <p:cNvSpPr>
            <a:spLocks noGrp="1"/>
          </p:cNvSpPr>
          <p:nvPr>
            <p:ph idx="1"/>
          </p:nvPr>
        </p:nvSpPr>
        <p:spPr/>
        <p:txBody>
          <a:bodyPr>
            <a:normAutofit fontScale="85000" lnSpcReduction="10000"/>
          </a:bodyPr>
          <a:lstStyle/>
          <a:p>
            <a:r>
              <a:rPr lang="en-US" dirty="0">
                <a:solidFill>
                  <a:srgbClr val="3D3B49"/>
                </a:solidFill>
                <a:latin typeface="+mj-lt"/>
              </a:rPr>
              <a:t>D</a:t>
            </a:r>
            <a:r>
              <a:rPr lang="en-US" b="0" i="0" dirty="0">
                <a:solidFill>
                  <a:srgbClr val="3D3B49"/>
                </a:solidFill>
                <a:effectLst/>
                <a:latin typeface="+mj-lt"/>
              </a:rPr>
              <a:t>ata are observations of real-world phenomena.</a:t>
            </a:r>
          </a:p>
          <a:p>
            <a:pPr lvl="1"/>
            <a:r>
              <a:rPr lang="en-US" b="0" i="0" dirty="0">
                <a:solidFill>
                  <a:srgbClr val="3D3B49"/>
                </a:solidFill>
                <a:effectLst/>
                <a:latin typeface="+mj-lt"/>
              </a:rPr>
              <a:t>Personal biometric data can include measurements of our minute-by-minute heart rate, blood sugar level, blood pressure, etc.</a:t>
            </a:r>
          </a:p>
          <a:p>
            <a:r>
              <a:rPr lang="en-US" b="0" i="0" dirty="0">
                <a:solidFill>
                  <a:srgbClr val="3D3B49"/>
                </a:solidFill>
                <a:effectLst/>
                <a:latin typeface="+mj-lt"/>
              </a:rPr>
              <a:t>Each piece of data provides a small window into a limited aspect of reality. </a:t>
            </a:r>
          </a:p>
          <a:p>
            <a:r>
              <a:rPr lang="en-US" b="0" i="0" dirty="0">
                <a:solidFill>
                  <a:srgbClr val="3D3B49"/>
                </a:solidFill>
                <a:effectLst/>
                <a:latin typeface="+mj-lt"/>
              </a:rPr>
              <a:t>The collection of all of these observations gives us a picture of the whole.</a:t>
            </a:r>
          </a:p>
          <a:p>
            <a:r>
              <a:rPr lang="en-US" b="0" i="0" dirty="0">
                <a:solidFill>
                  <a:srgbClr val="3D3B49"/>
                </a:solidFill>
                <a:effectLst/>
                <a:latin typeface="+mj-lt"/>
              </a:rPr>
              <a:t>Raw data however, rarely comes in the form and shape that is necessary for data analysis.</a:t>
            </a:r>
          </a:p>
        </p:txBody>
      </p:sp>
    </p:spTree>
    <p:extLst>
      <p:ext uri="{BB962C8B-B14F-4D97-AF65-F5344CB8AC3E}">
        <p14:creationId xmlns:p14="http://schemas.microsoft.com/office/powerpoint/2010/main" val="3771485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061">
            <a:extLst>
              <a:ext uri="{FF2B5EF4-FFF2-40B4-BE49-F238E27FC236}">
                <a16:creationId xmlns:a16="http://schemas.microsoft.com/office/drawing/2014/main" id="{260FAB11-7BC5-4982-A68D-FD0DC1627DA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65EF7E03-9459-453C-BAC6-8C246BA26182}" type="slidenum">
              <a:rPr lang="en-US" altLang="en-US" sz="1200"/>
              <a:pPr>
                <a:spcBef>
                  <a:spcPct val="0"/>
                </a:spcBef>
                <a:buClrTx/>
                <a:buSzTx/>
                <a:buFontTx/>
                <a:buNone/>
              </a:pPr>
              <a:t>3</a:t>
            </a:fld>
            <a:endParaRPr lang="en-US" altLang="en-US" sz="1200"/>
          </a:p>
        </p:txBody>
      </p:sp>
      <p:sp>
        <p:nvSpPr>
          <p:cNvPr id="17411" name="Rectangle 2">
            <a:extLst>
              <a:ext uri="{FF2B5EF4-FFF2-40B4-BE49-F238E27FC236}">
                <a16:creationId xmlns:a16="http://schemas.microsoft.com/office/drawing/2014/main" id="{32DD2207-C96A-4374-AE59-AF205AAE35C6}"/>
              </a:ext>
            </a:extLst>
          </p:cNvPr>
          <p:cNvSpPr>
            <a:spLocks noGrp="1" noChangeArrowheads="1"/>
          </p:cNvSpPr>
          <p:nvPr>
            <p:ph type="title"/>
          </p:nvPr>
        </p:nvSpPr>
        <p:spPr/>
        <p:txBody>
          <a:bodyPr>
            <a:normAutofit/>
          </a:bodyPr>
          <a:lstStyle/>
          <a:p>
            <a:r>
              <a:rPr lang="en-US" altLang="en-US" dirty="0"/>
              <a:t>Data which need Cleaning</a:t>
            </a:r>
          </a:p>
        </p:txBody>
      </p:sp>
      <p:sp>
        <p:nvSpPr>
          <p:cNvPr id="17412" name="Rectangle 3">
            <a:extLst>
              <a:ext uri="{FF2B5EF4-FFF2-40B4-BE49-F238E27FC236}">
                <a16:creationId xmlns:a16="http://schemas.microsoft.com/office/drawing/2014/main" id="{94686FB9-9AEC-4193-86D6-753315B79A1D}"/>
              </a:ext>
            </a:extLst>
          </p:cNvPr>
          <p:cNvSpPr>
            <a:spLocks noGrp="1" noChangeArrowheads="1"/>
          </p:cNvSpPr>
          <p:nvPr>
            <p:ph type="body" idx="1"/>
          </p:nvPr>
        </p:nvSpPr>
        <p:spPr>
          <a:xfrm>
            <a:off x="581192" y="1167618"/>
            <a:ext cx="11029615" cy="5866228"/>
          </a:xfrm>
        </p:spPr>
        <p:txBody>
          <a:bodyPr>
            <a:normAutofit/>
          </a:bodyPr>
          <a:lstStyle/>
          <a:p>
            <a:pPr>
              <a:lnSpc>
                <a:spcPct val="110000"/>
              </a:lnSpc>
            </a:pPr>
            <a:r>
              <a:rPr lang="en-US" altLang="en-US" sz="2800" dirty="0"/>
              <a:t>Data in the real world is usually dirty</a:t>
            </a:r>
          </a:p>
          <a:p>
            <a:pPr marL="576000" lvl="2">
              <a:lnSpc>
                <a:spcPct val="110000"/>
              </a:lnSpc>
            </a:pPr>
            <a:r>
              <a:rPr lang="en-US" altLang="en-US" dirty="0"/>
              <a:t>incomplete: lacking attribute values, lacking certain attributes of interest, or containing only aggregate data</a:t>
            </a:r>
          </a:p>
          <a:p>
            <a:pPr marL="918000" lvl="3">
              <a:lnSpc>
                <a:spcPct val="110000"/>
              </a:lnSpc>
            </a:pPr>
            <a:r>
              <a:rPr lang="en-US" altLang="en-US" sz="1800" dirty="0"/>
              <a:t>e.g., Occupation=“ ” (missing data)</a:t>
            </a:r>
          </a:p>
          <a:p>
            <a:pPr marL="576000" lvl="2">
              <a:lnSpc>
                <a:spcPct val="110000"/>
              </a:lnSpc>
            </a:pPr>
            <a:r>
              <a:rPr lang="en-US" altLang="en-US" dirty="0"/>
              <a:t>noisy: containing noise, errors, or outliers</a:t>
            </a:r>
          </a:p>
          <a:p>
            <a:pPr marL="918000" lvl="3">
              <a:lnSpc>
                <a:spcPct val="110000"/>
              </a:lnSpc>
            </a:pPr>
            <a:r>
              <a:rPr lang="en-US" altLang="en-US" sz="1800" dirty="0"/>
              <a:t>e.g., Salary=“−10” (an error)</a:t>
            </a:r>
          </a:p>
          <a:p>
            <a:pPr marL="576000" lvl="2">
              <a:lnSpc>
                <a:spcPct val="110000"/>
              </a:lnSpc>
            </a:pPr>
            <a:r>
              <a:rPr lang="en-US" altLang="en-US" dirty="0"/>
              <a:t>inconsistent: containing discrepancies in codes or names, </a:t>
            </a:r>
          </a:p>
          <a:p>
            <a:pPr marL="918000" lvl="3">
              <a:lnSpc>
                <a:spcPct val="110000"/>
              </a:lnSpc>
            </a:pPr>
            <a:r>
              <a:rPr lang="en-US" altLang="en-US" sz="1800" dirty="0"/>
              <a:t>Age=“42”, Birthday=“03/07/2010”</a:t>
            </a:r>
          </a:p>
          <a:p>
            <a:pPr marL="918000" lvl="3">
              <a:lnSpc>
                <a:spcPct val="110000"/>
              </a:lnSpc>
            </a:pPr>
            <a:r>
              <a:rPr lang="en-US" altLang="en-US" sz="1800" dirty="0"/>
              <a:t>Was rating “1, 2, 3”, now rating “A, B, 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9C35-4B38-4151-66F3-39A11CAF597D}"/>
              </a:ext>
            </a:extLst>
          </p:cNvPr>
          <p:cNvSpPr>
            <a:spLocks noGrp="1"/>
          </p:cNvSpPr>
          <p:nvPr>
            <p:ph type="title"/>
          </p:nvPr>
        </p:nvSpPr>
        <p:spPr/>
        <p:txBody>
          <a:bodyPr/>
          <a:lstStyle/>
          <a:p>
            <a:r>
              <a:rPr lang="en-US" dirty="0"/>
              <a:t>data pre-processing</a:t>
            </a:r>
          </a:p>
        </p:txBody>
      </p:sp>
      <p:sp>
        <p:nvSpPr>
          <p:cNvPr id="3" name="Content Placeholder 2">
            <a:extLst>
              <a:ext uri="{FF2B5EF4-FFF2-40B4-BE49-F238E27FC236}">
                <a16:creationId xmlns:a16="http://schemas.microsoft.com/office/drawing/2014/main" id="{9DDC162E-0E44-FAA6-E431-3C5459AD585A}"/>
              </a:ext>
            </a:extLst>
          </p:cNvPr>
          <p:cNvSpPr>
            <a:spLocks noGrp="1"/>
          </p:cNvSpPr>
          <p:nvPr>
            <p:ph idx="1"/>
          </p:nvPr>
        </p:nvSpPr>
        <p:spPr>
          <a:xfrm>
            <a:off x="581192" y="2180496"/>
            <a:ext cx="11029615" cy="3975348"/>
          </a:xfrm>
        </p:spPr>
        <p:txBody>
          <a:bodyPr>
            <a:normAutofit/>
          </a:bodyPr>
          <a:lstStyle/>
          <a:p>
            <a:r>
              <a:rPr lang="en-US" b="1" i="0" dirty="0">
                <a:solidFill>
                  <a:srgbClr val="000000"/>
                </a:solidFill>
                <a:effectLst/>
                <a:latin typeface="+mj-lt"/>
              </a:rPr>
              <a:t>Data pre-processing</a:t>
            </a:r>
            <a:r>
              <a:rPr lang="en-US" b="0" i="0" dirty="0">
                <a:solidFill>
                  <a:srgbClr val="000000"/>
                </a:solidFill>
                <a:effectLst/>
                <a:latin typeface="+mj-lt"/>
              </a:rPr>
              <a:t>, </a:t>
            </a:r>
            <a:r>
              <a:rPr lang="en-US" dirty="0">
                <a:solidFill>
                  <a:srgbClr val="3D3B49"/>
                </a:solidFill>
                <a:latin typeface="+mj-lt"/>
              </a:rPr>
              <a:t>as the name implies, involves curating the data to make it suitable for data analysis.</a:t>
            </a:r>
          </a:p>
          <a:p>
            <a:r>
              <a:rPr lang="en-US" dirty="0">
                <a:solidFill>
                  <a:srgbClr val="3D3B49"/>
                </a:solidFill>
                <a:latin typeface="+mj-lt"/>
              </a:rPr>
              <a:t>Common data pre-processing tasks</a:t>
            </a:r>
          </a:p>
          <a:p>
            <a:pPr lvl="1"/>
            <a:r>
              <a:rPr lang="en-US" dirty="0">
                <a:solidFill>
                  <a:srgbClr val="3D3B49"/>
                </a:solidFill>
                <a:latin typeface="+mj-lt"/>
              </a:rPr>
              <a:t>Data cleaning</a:t>
            </a:r>
          </a:p>
          <a:p>
            <a:pPr lvl="2"/>
            <a:r>
              <a:rPr lang="en-US" dirty="0">
                <a:solidFill>
                  <a:srgbClr val="3D3B49"/>
                </a:solidFill>
                <a:latin typeface="+mj-lt"/>
              </a:rPr>
              <a:t>Deal with incomplete, noisy and inconsistent data</a:t>
            </a:r>
          </a:p>
          <a:p>
            <a:pPr lvl="1"/>
            <a:r>
              <a:rPr lang="en-US" altLang="en-US" sz="2800" dirty="0"/>
              <a:t>Data transformation and data discretization</a:t>
            </a:r>
          </a:p>
          <a:p>
            <a:pPr lvl="2"/>
            <a:r>
              <a:rPr lang="en-US" altLang="en-US" dirty="0"/>
              <a:t>Converting data into a format required for data analysis</a:t>
            </a:r>
            <a:endParaRPr lang="en-US" dirty="0"/>
          </a:p>
        </p:txBody>
      </p:sp>
    </p:spTree>
    <p:extLst>
      <p:ext uri="{BB962C8B-B14F-4D97-AF65-F5344CB8AC3E}">
        <p14:creationId xmlns:p14="http://schemas.microsoft.com/office/powerpoint/2010/main" val="251104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1804A-2F0E-57EE-D25B-6C89844CD00D}"/>
              </a:ext>
            </a:extLst>
          </p:cNvPr>
          <p:cNvSpPr>
            <a:spLocks noGrp="1"/>
          </p:cNvSpPr>
          <p:nvPr>
            <p:ph type="title"/>
          </p:nvPr>
        </p:nvSpPr>
        <p:spPr/>
        <p:txBody>
          <a:bodyPr/>
          <a:lstStyle/>
          <a:p>
            <a:r>
              <a:rPr lang="en-US" dirty="0"/>
              <a:t>Incomplete(Missing) data</a:t>
            </a:r>
          </a:p>
        </p:txBody>
      </p:sp>
      <p:sp>
        <p:nvSpPr>
          <p:cNvPr id="3" name="Content Placeholder 2">
            <a:extLst>
              <a:ext uri="{FF2B5EF4-FFF2-40B4-BE49-F238E27FC236}">
                <a16:creationId xmlns:a16="http://schemas.microsoft.com/office/drawing/2014/main" id="{38FC4C8A-5E8E-D4ED-E95F-2E9578F656A0}"/>
              </a:ext>
            </a:extLst>
          </p:cNvPr>
          <p:cNvSpPr>
            <a:spLocks noGrp="1"/>
          </p:cNvSpPr>
          <p:nvPr>
            <p:ph idx="1"/>
          </p:nvPr>
        </p:nvSpPr>
        <p:spPr>
          <a:xfrm>
            <a:off x="581192" y="2180496"/>
            <a:ext cx="11029615" cy="4780743"/>
          </a:xfrm>
        </p:spPr>
        <p:txBody>
          <a:bodyPr>
            <a:normAutofit fontScale="85000" lnSpcReduction="10000"/>
          </a:bodyPr>
          <a:lstStyle/>
          <a:p>
            <a:pPr>
              <a:lnSpc>
                <a:spcPct val="110000"/>
              </a:lnSpc>
            </a:pPr>
            <a:r>
              <a:rPr lang="en-US" sz="2800" dirty="0"/>
              <a:t>Missing values, as the name suggests, are values we expect to have but we don’t. </a:t>
            </a:r>
          </a:p>
          <a:p>
            <a:pPr>
              <a:lnSpc>
                <a:spcPct val="110000"/>
              </a:lnSpc>
            </a:pPr>
            <a:r>
              <a:rPr lang="en-US" sz="2800" dirty="0"/>
              <a:t>In the simplest terms, missing values are empty cells in a dataset that we want to use for analytic goals.</a:t>
            </a:r>
          </a:p>
          <a:p>
            <a:pPr>
              <a:lnSpc>
                <a:spcPct val="110000"/>
              </a:lnSpc>
            </a:pPr>
            <a:r>
              <a:rPr lang="en-US" sz="2800" dirty="0"/>
              <a:t>Data may be missing due to several issues such as</a:t>
            </a:r>
          </a:p>
          <a:p>
            <a:pPr lvl="1">
              <a:lnSpc>
                <a:spcPct val="110000"/>
              </a:lnSpc>
            </a:pPr>
            <a:r>
              <a:rPr lang="en-US" sz="2400" dirty="0"/>
              <a:t>Human error.</a:t>
            </a:r>
          </a:p>
          <a:p>
            <a:pPr lvl="1">
              <a:lnSpc>
                <a:spcPct val="110000"/>
              </a:lnSpc>
            </a:pPr>
            <a:r>
              <a:rPr lang="en-US" sz="2400" dirty="0"/>
              <a:t>Respondents may refuse to answer a survey question.</a:t>
            </a:r>
          </a:p>
          <a:p>
            <a:pPr lvl="1">
              <a:lnSpc>
                <a:spcPct val="110000"/>
              </a:lnSpc>
            </a:pPr>
            <a:r>
              <a:rPr lang="en-US" sz="2400" dirty="0"/>
              <a:t>The person taking the survey does not understand the question.</a:t>
            </a:r>
          </a:p>
          <a:p>
            <a:pPr lvl="1">
              <a:lnSpc>
                <a:spcPct val="110000"/>
              </a:lnSpc>
            </a:pPr>
            <a:r>
              <a:rPr lang="en-US" sz="2400" dirty="0"/>
              <a:t>The provided value is an obvious error, so it was deleted.</a:t>
            </a:r>
          </a:p>
          <a:p>
            <a:pPr lvl="1">
              <a:lnSpc>
                <a:spcPct val="110000"/>
              </a:lnSpc>
            </a:pPr>
            <a:r>
              <a:rPr lang="en-US" sz="2400" dirty="0"/>
              <a:t>Sensor malfunctions.</a:t>
            </a:r>
          </a:p>
          <a:p>
            <a:pPr lvl="1">
              <a:lnSpc>
                <a:spcPct val="110000"/>
              </a:lnSpc>
            </a:pPr>
            <a:r>
              <a:rPr lang="en-US" sz="2400" dirty="0"/>
              <a:t>Programing bugs.</a:t>
            </a:r>
          </a:p>
          <a:p>
            <a:pPr lvl="1">
              <a:lnSpc>
                <a:spcPct val="110000"/>
              </a:lnSpc>
            </a:pPr>
            <a:endParaRPr lang="en-US" sz="2400" dirty="0"/>
          </a:p>
        </p:txBody>
      </p:sp>
    </p:spTree>
    <p:extLst>
      <p:ext uri="{BB962C8B-B14F-4D97-AF65-F5344CB8AC3E}">
        <p14:creationId xmlns:p14="http://schemas.microsoft.com/office/powerpoint/2010/main" val="225321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6485D-37D9-7B1A-C5E4-73BD9350DDAE}"/>
              </a:ext>
            </a:extLst>
          </p:cNvPr>
          <p:cNvSpPr>
            <a:spLocks noGrp="1"/>
          </p:cNvSpPr>
          <p:nvPr>
            <p:ph type="title"/>
          </p:nvPr>
        </p:nvSpPr>
        <p:spPr/>
        <p:txBody>
          <a:bodyPr/>
          <a:lstStyle/>
          <a:p>
            <a:r>
              <a:rPr lang="en-US" dirty="0"/>
              <a:t>Types of missing values</a:t>
            </a:r>
          </a:p>
        </p:txBody>
      </p:sp>
      <p:sp>
        <p:nvSpPr>
          <p:cNvPr id="3" name="Content Placeholder 2">
            <a:extLst>
              <a:ext uri="{FF2B5EF4-FFF2-40B4-BE49-F238E27FC236}">
                <a16:creationId xmlns:a16="http://schemas.microsoft.com/office/drawing/2014/main" id="{978B27E8-CD53-01A8-A645-1E6DEF92CF16}"/>
              </a:ext>
            </a:extLst>
          </p:cNvPr>
          <p:cNvSpPr>
            <a:spLocks noGrp="1"/>
          </p:cNvSpPr>
          <p:nvPr>
            <p:ph idx="1"/>
          </p:nvPr>
        </p:nvSpPr>
        <p:spPr>
          <a:xfrm>
            <a:off x="581192" y="2180496"/>
            <a:ext cx="11029615" cy="4264549"/>
          </a:xfrm>
        </p:spPr>
        <p:txBody>
          <a:bodyPr>
            <a:normAutofit fontScale="85000" lnSpcReduction="20000"/>
          </a:bodyPr>
          <a:lstStyle/>
          <a:p>
            <a:r>
              <a:rPr lang="en-US" sz="3000" dirty="0"/>
              <a:t>Missing completely at random (MCAR) : With MCAR there is no relationship between the missing data and any other values observed or unobserved within the given dataset.. The fact that it is missing is independent of the remaining variables.</a:t>
            </a:r>
          </a:p>
          <a:p>
            <a:r>
              <a:rPr lang="en-US" sz="3000" dirty="0"/>
              <a:t>Missing at random (MAR) :When data are MAR, the fact that the data are missing is systematically related to the observed but not the unobserved data.  This means that missing values can be explained by variables on which you have complete information.</a:t>
            </a:r>
          </a:p>
          <a:p>
            <a:pPr algn="l"/>
            <a:r>
              <a:rPr lang="en-US" sz="3000" dirty="0"/>
              <a:t>Missing not at </a:t>
            </a:r>
            <a:r>
              <a:rPr lang="en-US" sz="3100" dirty="0"/>
              <a:t>random (MNAR):  </a:t>
            </a:r>
            <a:r>
              <a:rPr lang="en-US" sz="3000" dirty="0"/>
              <a:t>With MNAR missing values depend on the unobserved data. If there is some structure/pattern in missing data and other observed data can not explain it, then it is Missing Not At Random (MNAR).</a:t>
            </a:r>
            <a:endParaRPr lang="en-US" sz="3100" dirty="0"/>
          </a:p>
        </p:txBody>
      </p:sp>
    </p:spTree>
    <p:extLst>
      <p:ext uri="{BB962C8B-B14F-4D97-AF65-F5344CB8AC3E}">
        <p14:creationId xmlns:p14="http://schemas.microsoft.com/office/powerpoint/2010/main" val="250809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B077-A160-B256-40F2-94E4368779CA}"/>
              </a:ext>
            </a:extLst>
          </p:cNvPr>
          <p:cNvSpPr>
            <a:spLocks noGrp="1"/>
          </p:cNvSpPr>
          <p:nvPr>
            <p:ph type="title"/>
          </p:nvPr>
        </p:nvSpPr>
        <p:spPr/>
        <p:txBody>
          <a:bodyPr/>
          <a:lstStyle/>
          <a:p>
            <a:r>
              <a:rPr lang="en-US" dirty="0"/>
              <a:t>Dealing with missing values</a:t>
            </a:r>
          </a:p>
        </p:txBody>
      </p:sp>
      <p:sp>
        <p:nvSpPr>
          <p:cNvPr id="3" name="Content Placeholder 2">
            <a:extLst>
              <a:ext uri="{FF2B5EF4-FFF2-40B4-BE49-F238E27FC236}">
                <a16:creationId xmlns:a16="http://schemas.microsoft.com/office/drawing/2014/main" id="{1D3C6A5A-C895-0AD0-B2CE-3FB0881E6EDC}"/>
              </a:ext>
            </a:extLst>
          </p:cNvPr>
          <p:cNvSpPr>
            <a:spLocks noGrp="1"/>
          </p:cNvSpPr>
          <p:nvPr>
            <p:ph idx="1"/>
          </p:nvPr>
        </p:nvSpPr>
        <p:spPr>
          <a:xfrm>
            <a:off x="581192" y="2180496"/>
            <a:ext cx="11029615" cy="4485775"/>
          </a:xfrm>
        </p:spPr>
        <p:txBody>
          <a:bodyPr>
            <a:normAutofit/>
          </a:bodyPr>
          <a:lstStyle/>
          <a:p>
            <a:r>
              <a:rPr lang="en-US" dirty="0"/>
              <a:t>Keep them as they are : best approach if data analytic technique can handle missing values</a:t>
            </a:r>
          </a:p>
          <a:p>
            <a:r>
              <a:rPr lang="en-US" dirty="0"/>
              <a:t>Remove the data objects (rows) with missing values : </a:t>
            </a:r>
          </a:p>
          <a:p>
            <a:pPr lvl="1"/>
            <a:r>
              <a:rPr lang="en-US" dirty="0"/>
              <a:t>Should be careful not to introduce bias into the dataset, and removing valuable information from the data. </a:t>
            </a:r>
          </a:p>
          <a:p>
            <a:pPr lvl="1"/>
            <a:r>
              <a:rPr lang="en-US" dirty="0"/>
              <a:t>When the missing values in a dataset are of the type MNAR or MAR, data objects with missing values should not be removed</a:t>
            </a:r>
          </a:p>
          <a:p>
            <a:pPr lvl="1"/>
            <a:endParaRPr lang="en-US" dirty="0"/>
          </a:p>
        </p:txBody>
      </p:sp>
    </p:spTree>
    <p:extLst>
      <p:ext uri="{BB962C8B-B14F-4D97-AF65-F5344CB8AC3E}">
        <p14:creationId xmlns:p14="http://schemas.microsoft.com/office/powerpoint/2010/main" val="2633795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B077-A160-B256-40F2-94E4368779CA}"/>
              </a:ext>
            </a:extLst>
          </p:cNvPr>
          <p:cNvSpPr>
            <a:spLocks noGrp="1"/>
          </p:cNvSpPr>
          <p:nvPr>
            <p:ph type="title"/>
          </p:nvPr>
        </p:nvSpPr>
        <p:spPr/>
        <p:txBody>
          <a:bodyPr/>
          <a:lstStyle/>
          <a:p>
            <a:r>
              <a:rPr lang="en-US" dirty="0"/>
              <a:t>Dealing with missing values</a:t>
            </a:r>
          </a:p>
        </p:txBody>
      </p:sp>
      <p:sp>
        <p:nvSpPr>
          <p:cNvPr id="3" name="Content Placeholder 2">
            <a:extLst>
              <a:ext uri="{FF2B5EF4-FFF2-40B4-BE49-F238E27FC236}">
                <a16:creationId xmlns:a16="http://schemas.microsoft.com/office/drawing/2014/main" id="{1D3C6A5A-C895-0AD0-B2CE-3FB0881E6EDC}"/>
              </a:ext>
            </a:extLst>
          </p:cNvPr>
          <p:cNvSpPr>
            <a:spLocks noGrp="1"/>
          </p:cNvSpPr>
          <p:nvPr>
            <p:ph idx="1"/>
          </p:nvPr>
        </p:nvSpPr>
        <p:spPr>
          <a:xfrm>
            <a:off x="581192" y="2180496"/>
            <a:ext cx="11029615" cy="4485775"/>
          </a:xfrm>
        </p:spPr>
        <p:txBody>
          <a:bodyPr>
            <a:normAutofit lnSpcReduction="10000"/>
          </a:bodyPr>
          <a:lstStyle/>
          <a:p>
            <a:r>
              <a:rPr lang="en-US" dirty="0"/>
              <a:t>Remove the attributes (columns) with missing values :</a:t>
            </a:r>
          </a:p>
          <a:p>
            <a:pPr lvl="1"/>
            <a:r>
              <a:rPr lang="en-US" dirty="0"/>
              <a:t>When most of the missing values in a dataset come from one or two attributes, removing the attributes could be considered.</a:t>
            </a:r>
          </a:p>
          <a:p>
            <a:pPr lvl="1"/>
            <a:r>
              <a:rPr lang="en-US" sz="2700" dirty="0"/>
              <a:t>However, if the attributes are not absolutely essential to the project, removing the attributes with too many missing values might be the right approach.</a:t>
            </a:r>
          </a:p>
          <a:p>
            <a:pPr lvl="1"/>
            <a:r>
              <a:rPr lang="en-US" sz="2700" dirty="0"/>
              <a:t>When the number of missing values in one attribute is large enough (roughly more than 25%), estimating and inputting missing values becomes meaningless, and letting go of the attribute is better than estimating missing values.</a:t>
            </a:r>
          </a:p>
          <a:p>
            <a:pPr lvl="1"/>
            <a:endParaRPr lang="en-US" dirty="0"/>
          </a:p>
        </p:txBody>
      </p:sp>
    </p:spTree>
    <p:extLst>
      <p:ext uri="{BB962C8B-B14F-4D97-AF65-F5344CB8AC3E}">
        <p14:creationId xmlns:p14="http://schemas.microsoft.com/office/powerpoint/2010/main" val="1483901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B077-A160-B256-40F2-94E4368779CA}"/>
              </a:ext>
            </a:extLst>
          </p:cNvPr>
          <p:cNvSpPr>
            <a:spLocks noGrp="1"/>
          </p:cNvSpPr>
          <p:nvPr>
            <p:ph type="title"/>
          </p:nvPr>
        </p:nvSpPr>
        <p:spPr/>
        <p:txBody>
          <a:bodyPr/>
          <a:lstStyle/>
          <a:p>
            <a:r>
              <a:rPr lang="en-US" dirty="0"/>
              <a:t>Dealing with missing values (Contd.)</a:t>
            </a:r>
          </a:p>
        </p:txBody>
      </p:sp>
      <p:sp>
        <p:nvSpPr>
          <p:cNvPr id="3" name="Content Placeholder 2">
            <a:extLst>
              <a:ext uri="{FF2B5EF4-FFF2-40B4-BE49-F238E27FC236}">
                <a16:creationId xmlns:a16="http://schemas.microsoft.com/office/drawing/2014/main" id="{1D3C6A5A-C895-0AD0-B2CE-3FB0881E6EDC}"/>
              </a:ext>
            </a:extLst>
          </p:cNvPr>
          <p:cNvSpPr>
            <a:spLocks noGrp="1"/>
          </p:cNvSpPr>
          <p:nvPr>
            <p:ph idx="1"/>
          </p:nvPr>
        </p:nvSpPr>
        <p:spPr/>
        <p:txBody>
          <a:bodyPr>
            <a:normAutofit lnSpcReduction="10000"/>
          </a:bodyPr>
          <a:lstStyle/>
          <a:p>
            <a:r>
              <a:rPr lang="en-US" dirty="0"/>
              <a:t>Estimate and impute a value :  </a:t>
            </a:r>
          </a:p>
          <a:p>
            <a:pPr lvl="1"/>
            <a:r>
              <a:rPr lang="en-US" dirty="0"/>
              <a:t>Analytic tools are used to fill missing values. </a:t>
            </a:r>
          </a:p>
          <a:p>
            <a:pPr lvl="1"/>
            <a:r>
              <a:rPr lang="en-US" dirty="0"/>
              <a:t>If the missing values are of the MCAR or MAR type and the analytic chosen cannot process the dataset with missing values, imputing the missing values might be the best approach.</a:t>
            </a:r>
          </a:p>
          <a:p>
            <a:pPr lvl="1"/>
            <a:r>
              <a:rPr lang="en-US" dirty="0"/>
              <a:t>Imputing with the general central tendency (mean, median, or mode), regression analysis and interpolation are possible.</a:t>
            </a:r>
          </a:p>
          <a:p>
            <a:endParaRPr lang="en-US" dirty="0"/>
          </a:p>
        </p:txBody>
      </p:sp>
    </p:spTree>
    <p:extLst>
      <p:ext uri="{BB962C8B-B14F-4D97-AF65-F5344CB8AC3E}">
        <p14:creationId xmlns:p14="http://schemas.microsoft.com/office/powerpoint/2010/main" val="3439937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A3F8F-4F87-03CD-57E2-0F9F696979CC}"/>
              </a:ext>
            </a:extLst>
          </p:cNvPr>
          <p:cNvSpPr>
            <a:spLocks noGrp="1"/>
          </p:cNvSpPr>
          <p:nvPr>
            <p:ph type="title"/>
          </p:nvPr>
        </p:nvSpPr>
        <p:spPr/>
        <p:txBody>
          <a:bodyPr>
            <a:normAutofit/>
          </a:bodyPr>
          <a:lstStyle/>
          <a:p>
            <a:r>
              <a:rPr lang="en-US" sz="4000" dirty="0"/>
              <a:t>Outliers</a:t>
            </a:r>
          </a:p>
        </p:txBody>
      </p:sp>
      <p:sp>
        <p:nvSpPr>
          <p:cNvPr id="3" name="Content Placeholder 2">
            <a:extLst>
              <a:ext uri="{FF2B5EF4-FFF2-40B4-BE49-F238E27FC236}">
                <a16:creationId xmlns:a16="http://schemas.microsoft.com/office/drawing/2014/main" id="{085F53DA-3A36-2A28-CA3C-A773CA1CA3FA}"/>
              </a:ext>
            </a:extLst>
          </p:cNvPr>
          <p:cNvSpPr>
            <a:spLocks noGrp="1"/>
          </p:cNvSpPr>
          <p:nvPr>
            <p:ph idx="1"/>
          </p:nvPr>
        </p:nvSpPr>
        <p:spPr>
          <a:xfrm>
            <a:off x="581192" y="2180496"/>
            <a:ext cx="11029615" cy="4176059"/>
          </a:xfrm>
        </p:spPr>
        <p:txBody>
          <a:bodyPr>
            <a:normAutofit fontScale="92500" lnSpcReduction="20000"/>
          </a:bodyPr>
          <a:lstStyle/>
          <a:p>
            <a:r>
              <a:rPr lang="en-US" dirty="0"/>
              <a:t>Outliers or extreme points, are data objects whose values are too different than the rest of the population.</a:t>
            </a:r>
          </a:p>
          <a:p>
            <a:r>
              <a:rPr lang="en-US" dirty="0"/>
              <a:t>Outliers could occur due to errors in data and outliers that are not errors can skew the results of analytic tools that are sensitive to the existence of outliers.</a:t>
            </a:r>
          </a:p>
          <a:p>
            <a:r>
              <a:rPr lang="en-US" dirty="0"/>
              <a:t>Detecting outliers</a:t>
            </a:r>
          </a:p>
          <a:p>
            <a:pPr lvl="1"/>
            <a:r>
              <a:rPr lang="en-US" dirty="0"/>
              <a:t>Univariate outlier detection : Box plots, bar charts</a:t>
            </a:r>
          </a:p>
          <a:p>
            <a:pPr lvl="1"/>
            <a:r>
              <a:rPr lang="en-US" dirty="0"/>
              <a:t>Bivariate outlier detection : scatter plots, color coded contingency tables</a:t>
            </a:r>
          </a:p>
          <a:p>
            <a:pPr lvl="1"/>
            <a:r>
              <a:rPr lang="en-US" dirty="0"/>
              <a:t>Multivariate outlier detection: Cluster analysis</a:t>
            </a:r>
          </a:p>
          <a:p>
            <a:endParaRPr lang="en-US" dirty="0"/>
          </a:p>
        </p:txBody>
      </p:sp>
    </p:spTree>
    <p:extLst>
      <p:ext uri="{BB962C8B-B14F-4D97-AF65-F5344CB8AC3E}">
        <p14:creationId xmlns:p14="http://schemas.microsoft.com/office/powerpoint/2010/main" val="2992081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BF542-A482-414A-3D4D-1C606A3AAE4D}"/>
              </a:ext>
            </a:extLst>
          </p:cNvPr>
          <p:cNvSpPr>
            <a:spLocks noGrp="1"/>
          </p:cNvSpPr>
          <p:nvPr>
            <p:ph type="title"/>
          </p:nvPr>
        </p:nvSpPr>
        <p:spPr/>
        <p:txBody>
          <a:bodyPr/>
          <a:lstStyle/>
          <a:p>
            <a:r>
              <a:rPr lang="en-US" dirty="0"/>
              <a:t>Outlier detection</a:t>
            </a:r>
          </a:p>
        </p:txBody>
      </p:sp>
      <p:pic>
        <p:nvPicPr>
          <p:cNvPr id="6" name="Content Placeholder 5" descr="Chart, box and whisker chart&#10;&#10;Description automatically generated">
            <a:extLst>
              <a:ext uri="{FF2B5EF4-FFF2-40B4-BE49-F238E27FC236}">
                <a16:creationId xmlns:a16="http://schemas.microsoft.com/office/drawing/2014/main" id="{A76EE12A-1D7B-2C3E-5228-89F051D49F59}"/>
              </a:ext>
            </a:extLst>
          </p:cNvPr>
          <p:cNvPicPr>
            <a:picLocks noGrp="1" noChangeAspect="1"/>
          </p:cNvPicPr>
          <p:nvPr>
            <p:ph idx="1"/>
          </p:nvPr>
        </p:nvPicPr>
        <p:blipFill rotWithShape="1">
          <a:blip r:embed="rId2"/>
          <a:srcRect l="14699" t="12653" r="12280"/>
          <a:stretch/>
        </p:blipFill>
        <p:spPr>
          <a:xfrm>
            <a:off x="1644795" y="1817372"/>
            <a:ext cx="3672349" cy="2201751"/>
          </a:xfrm>
        </p:spPr>
      </p:pic>
      <p:pic>
        <p:nvPicPr>
          <p:cNvPr id="4" name="Picture 3" descr="A picture containing diagram&#10;&#10;Description automatically generated">
            <a:extLst>
              <a:ext uri="{FF2B5EF4-FFF2-40B4-BE49-F238E27FC236}">
                <a16:creationId xmlns:a16="http://schemas.microsoft.com/office/drawing/2014/main" id="{67738D09-6D25-CB6F-4D53-3A453354B028}"/>
              </a:ext>
            </a:extLst>
          </p:cNvPr>
          <p:cNvPicPr>
            <a:picLocks noChangeAspect="1"/>
          </p:cNvPicPr>
          <p:nvPr/>
        </p:nvPicPr>
        <p:blipFill>
          <a:blip r:embed="rId3"/>
          <a:stretch>
            <a:fillRect/>
          </a:stretch>
        </p:blipFill>
        <p:spPr>
          <a:xfrm>
            <a:off x="6363207" y="4277402"/>
            <a:ext cx="3348859" cy="2411178"/>
          </a:xfrm>
          <a:prstGeom prst="rect">
            <a:avLst/>
          </a:prstGeom>
        </p:spPr>
      </p:pic>
      <p:pic>
        <p:nvPicPr>
          <p:cNvPr id="8" name="Picture 7" descr="Chart, scatter chart&#10;&#10;Description automatically generated">
            <a:extLst>
              <a:ext uri="{FF2B5EF4-FFF2-40B4-BE49-F238E27FC236}">
                <a16:creationId xmlns:a16="http://schemas.microsoft.com/office/drawing/2014/main" id="{0B56350C-A1E5-A8CA-16F5-749AF39D4CAE}"/>
              </a:ext>
            </a:extLst>
          </p:cNvPr>
          <p:cNvPicPr>
            <a:picLocks noChangeAspect="1"/>
          </p:cNvPicPr>
          <p:nvPr/>
        </p:nvPicPr>
        <p:blipFill>
          <a:blip r:embed="rId4"/>
          <a:stretch>
            <a:fillRect/>
          </a:stretch>
        </p:blipFill>
        <p:spPr>
          <a:xfrm>
            <a:off x="5781368" y="1876364"/>
            <a:ext cx="3511002" cy="2355389"/>
          </a:xfrm>
          <a:prstGeom prst="rect">
            <a:avLst/>
          </a:prstGeom>
        </p:spPr>
      </p:pic>
      <p:pic>
        <p:nvPicPr>
          <p:cNvPr id="10" name="Picture 9" descr="Calendar&#10;&#10;Description automatically generated">
            <a:extLst>
              <a:ext uri="{FF2B5EF4-FFF2-40B4-BE49-F238E27FC236}">
                <a16:creationId xmlns:a16="http://schemas.microsoft.com/office/drawing/2014/main" id="{421551B0-4832-9F7C-C26C-5AF941073B4E}"/>
              </a:ext>
            </a:extLst>
          </p:cNvPr>
          <p:cNvPicPr>
            <a:picLocks noChangeAspect="1"/>
          </p:cNvPicPr>
          <p:nvPr/>
        </p:nvPicPr>
        <p:blipFill>
          <a:blip r:embed="rId5"/>
          <a:stretch>
            <a:fillRect/>
          </a:stretch>
        </p:blipFill>
        <p:spPr>
          <a:xfrm>
            <a:off x="1380575" y="4506259"/>
            <a:ext cx="3936569" cy="1968285"/>
          </a:xfrm>
          <a:prstGeom prst="rect">
            <a:avLst/>
          </a:prstGeom>
        </p:spPr>
      </p:pic>
      <p:sp>
        <p:nvSpPr>
          <p:cNvPr id="3" name="TextBox 2">
            <a:extLst>
              <a:ext uri="{FF2B5EF4-FFF2-40B4-BE49-F238E27FC236}">
                <a16:creationId xmlns:a16="http://schemas.microsoft.com/office/drawing/2014/main" id="{B2E440E3-6BA4-95AE-34CC-DBB74674E44A}"/>
              </a:ext>
            </a:extLst>
          </p:cNvPr>
          <p:cNvSpPr txBox="1"/>
          <p:nvPr/>
        </p:nvSpPr>
        <p:spPr>
          <a:xfrm>
            <a:off x="3046079" y="4048619"/>
            <a:ext cx="2212258" cy="369332"/>
          </a:xfrm>
          <a:prstGeom prst="rect">
            <a:avLst/>
          </a:prstGeom>
          <a:noFill/>
        </p:spPr>
        <p:txBody>
          <a:bodyPr wrap="square" rtlCol="0">
            <a:spAutoFit/>
          </a:bodyPr>
          <a:lstStyle/>
          <a:p>
            <a:r>
              <a:rPr lang="en-US" dirty="0"/>
              <a:t>Box Plot</a:t>
            </a:r>
          </a:p>
        </p:txBody>
      </p:sp>
      <p:sp>
        <p:nvSpPr>
          <p:cNvPr id="9" name="TextBox 8">
            <a:extLst>
              <a:ext uri="{FF2B5EF4-FFF2-40B4-BE49-F238E27FC236}">
                <a16:creationId xmlns:a16="http://schemas.microsoft.com/office/drawing/2014/main" id="{F4226E85-3595-FB4A-50F1-D7397EB33087}"/>
              </a:ext>
            </a:extLst>
          </p:cNvPr>
          <p:cNvSpPr txBox="1"/>
          <p:nvPr/>
        </p:nvSpPr>
        <p:spPr>
          <a:xfrm>
            <a:off x="2828713" y="6444868"/>
            <a:ext cx="2212258" cy="369332"/>
          </a:xfrm>
          <a:prstGeom prst="rect">
            <a:avLst/>
          </a:prstGeom>
          <a:noFill/>
        </p:spPr>
        <p:txBody>
          <a:bodyPr wrap="square" rtlCol="0">
            <a:spAutoFit/>
          </a:bodyPr>
          <a:lstStyle/>
          <a:p>
            <a:r>
              <a:rPr lang="en-US" dirty="0"/>
              <a:t>Contingency table </a:t>
            </a:r>
          </a:p>
        </p:txBody>
      </p:sp>
      <p:sp>
        <p:nvSpPr>
          <p:cNvPr id="11" name="TextBox 10">
            <a:extLst>
              <a:ext uri="{FF2B5EF4-FFF2-40B4-BE49-F238E27FC236}">
                <a16:creationId xmlns:a16="http://schemas.microsoft.com/office/drawing/2014/main" id="{383775E4-93FF-AF47-EF0F-D118C5EB3DC4}"/>
              </a:ext>
            </a:extLst>
          </p:cNvPr>
          <p:cNvSpPr txBox="1"/>
          <p:nvPr/>
        </p:nvSpPr>
        <p:spPr>
          <a:xfrm>
            <a:off x="7861779" y="4136927"/>
            <a:ext cx="2212258" cy="369332"/>
          </a:xfrm>
          <a:prstGeom prst="rect">
            <a:avLst/>
          </a:prstGeom>
          <a:noFill/>
        </p:spPr>
        <p:txBody>
          <a:bodyPr wrap="square" rtlCol="0">
            <a:spAutoFit/>
          </a:bodyPr>
          <a:lstStyle/>
          <a:p>
            <a:r>
              <a:rPr lang="en-US" dirty="0"/>
              <a:t>Scatter Plot</a:t>
            </a:r>
          </a:p>
        </p:txBody>
      </p:sp>
      <p:sp>
        <p:nvSpPr>
          <p:cNvPr id="12" name="TextBox 11">
            <a:extLst>
              <a:ext uri="{FF2B5EF4-FFF2-40B4-BE49-F238E27FC236}">
                <a16:creationId xmlns:a16="http://schemas.microsoft.com/office/drawing/2014/main" id="{0AF60978-F4BB-CA29-BB6E-1AB8ED3F093B}"/>
              </a:ext>
            </a:extLst>
          </p:cNvPr>
          <p:cNvSpPr txBox="1"/>
          <p:nvPr/>
        </p:nvSpPr>
        <p:spPr>
          <a:xfrm>
            <a:off x="8186241" y="6412608"/>
            <a:ext cx="2212258" cy="369332"/>
          </a:xfrm>
          <a:prstGeom prst="rect">
            <a:avLst/>
          </a:prstGeom>
          <a:noFill/>
        </p:spPr>
        <p:txBody>
          <a:bodyPr wrap="square" rtlCol="0">
            <a:spAutoFit/>
          </a:bodyPr>
          <a:lstStyle/>
          <a:p>
            <a:r>
              <a:rPr lang="en-US" dirty="0"/>
              <a:t>Clustering</a:t>
            </a:r>
          </a:p>
        </p:txBody>
      </p:sp>
    </p:spTree>
    <p:extLst>
      <p:ext uri="{BB962C8B-B14F-4D97-AF65-F5344CB8AC3E}">
        <p14:creationId xmlns:p14="http://schemas.microsoft.com/office/powerpoint/2010/main" val="1076766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46A94-D14F-60D3-FC7C-CD537C75B16D}"/>
              </a:ext>
            </a:extLst>
          </p:cNvPr>
          <p:cNvSpPr>
            <a:spLocks noGrp="1"/>
          </p:cNvSpPr>
          <p:nvPr>
            <p:ph type="title"/>
          </p:nvPr>
        </p:nvSpPr>
        <p:spPr/>
        <p:txBody>
          <a:bodyPr/>
          <a:lstStyle/>
          <a:p>
            <a:r>
              <a:rPr lang="en-US" dirty="0"/>
              <a:t>Approaches to deal with outliers</a:t>
            </a:r>
          </a:p>
        </p:txBody>
      </p:sp>
      <p:sp>
        <p:nvSpPr>
          <p:cNvPr id="3" name="Content Placeholder 2">
            <a:extLst>
              <a:ext uri="{FF2B5EF4-FFF2-40B4-BE49-F238E27FC236}">
                <a16:creationId xmlns:a16="http://schemas.microsoft.com/office/drawing/2014/main" id="{48423712-EB94-3E76-A27A-49B4B4424974}"/>
              </a:ext>
            </a:extLst>
          </p:cNvPr>
          <p:cNvSpPr>
            <a:spLocks noGrp="1"/>
          </p:cNvSpPr>
          <p:nvPr>
            <p:ph idx="1"/>
          </p:nvPr>
        </p:nvSpPr>
        <p:spPr/>
        <p:txBody>
          <a:bodyPr>
            <a:normAutofit/>
          </a:bodyPr>
          <a:lstStyle/>
          <a:p>
            <a:r>
              <a:rPr lang="en-US" dirty="0"/>
              <a:t>Do nothing : This is done when analytic tools can easily handle outliers. </a:t>
            </a:r>
          </a:p>
          <a:p>
            <a:r>
              <a:rPr lang="en-US" dirty="0"/>
              <a:t>Replace with the upper cap or lower cap : The method is used for univariate outliers when we do not want to lose information by removing data objects.</a:t>
            </a:r>
          </a:p>
          <a:p>
            <a:r>
              <a:rPr lang="en-US" dirty="0"/>
              <a:t>Remove data objects with outliers</a:t>
            </a:r>
          </a:p>
        </p:txBody>
      </p:sp>
    </p:spTree>
    <p:extLst>
      <p:ext uri="{BB962C8B-B14F-4D97-AF65-F5344CB8AC3E}">
        <p14:creationId xmlns:p14="http://schemas.microsoft.com/office/powerpoint/2010/main" val="3547489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1731-9061-5713-5E78-F350FE27CFE6}"/>
              </a:ext>
            </a:extLst>
          </p:cNvPr>
          <p:cNvSpPr>
            <a:spLocks noGrp="1"/>
          </p:cNvSpPr>
          <p:nvPr>
            <p:ph type="title"/>
          </p:nvPr>
        </p:nvSpPr>
        <p:spPr/>
        <p:txBody>
          <a:bodyPr/>
          <a:lstStyle/>
          <a:p>
            <a:r>
              <a:rPr lang="en-US" dirty="0"/>
              <a:t>Data reduction</a:t>
            </a:r>
          </a:p>
        </p:txBody>
      </p:sp>
      <p:sp>
        <p:nvSpPr>
          <p:cNvPr id="3" name="Content Placeholder 2">
            <a:extLst>
              <a:ext uri="{FF2B5EF4-FFF2-40B4-BE49-F238E27FC236}">
                <a16:creationId xmlns:a16="http://schemas.microsoft.com/office/drawing/2014/main" id="{10F90292-F5AF-7EF9-C9DA-6DFA4666F229}"/>
              </a:ext>
            </a:extLst>
          </p:cNvPr>
          <p:cNvSpPr>
            <a:spLocks noGrp="1"/>
          </p:cNvSpPr>
          <p:nvPr>
            <p:ph idx="1"/>
          </p:nvPr>
        </p:nvSpPr>
        <p:spPr>
          <a:xfrm>
            <a:off x="581192" y="2180496"/>
            <a:ext cx="11029615" cy="3975348"/>
          </a:xfrm>
        </p:spPr>
        <p:txBody>
          <a:bodyPr>
            <a:normAutofit fontScale="92500" lnSpcReduction="20000"/>
          </a:bodyPr>
          <a:lstStyle/>
          <a:p>
            <a:pPr algn="l"/>
            <a:r>
              <a:rPr lang="en-US" sz="2800" dirty="0"/>
              <a:t>Data reduction is about reducing the size of data due to one of the following three reasons:</a:t>
            </a:r>
          </a:p>
          <a:p>
            <a:r>
              <a:rPr lang="en-US" sz="2800" b="1" dirty="0"/>
              <a:t>High-Dimensional Visualizations</a:t>
            </a:r>
            <a:r>
              <a:rPr lang="en-US" sz="2800" dirty="0"/>
              <a:t>: When we have to pack more than three to five dimensions into one visual, we will reach the human limitation of comprehension.</a:t>
            </a:r>
          </a:p>
          <a:p>
            <a:r>
              <a:rPr lang="en-US" sz="2800" b="1" dirty="0"/>
              <a:t>Computational Cost</a:t>
            </a:r>
            <a:r>
              <a:rPr lang="en-US" sz="2800" dirty="0"/>
              <a:t>: Datasets that are too large may require too much computation. This might be the case for algorithmic approaches.</a:t>
            </a:r>
          </a:p>
          <a:p>
            <a:r>
              <a:rPr lang="en-US" sz="2800" b="1" dirty="0"/>
              <a:t>Curse of Dimensionality</a:t>
            </a:r>
            <a:r>
              <a:rPr lang="en-US" sz="2800" dirty="0"/>
              <a:t>: Some of the statistical approaches become incapable of finding meaningful patterns in the data because there are too many attributes.</a:t>
            </a:r>
          </a:p>
          <a:p>
            <a:endParaRPr lang="en-US" sz="2400" dirty="0"/>
          </a:p>
        </p:txBody>
      </p:sp>
    </p:spTree>
    <p:extLst>
      <p:ext uri="{BB962C8B-B14F-4D97-AF65-F5344CB8AC3E}">
        <p14:creationId xmlns:p14="http://schemas.microsoft.com/office/powerpoint/2010/main" val="1571301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0E71-60F9-3048-0CE2-EE627095ACDD}"/>
              </a:ext>
            </a:extLst>
          </p:cNvPr>
          <p:cNvSpPr>
            <a:spLocks noGrp="1"/>
          </p:cNvSpPr>
          <p:nvPr>
            <p:ph type="title"/>
          </p:nvPr>
        </p:nvSpPr>
        <p:spPr/>
        <p:txBody>
          <a:bodyPr/>
          <a:lstStyle/>
          <a:p>
            <a:r>
              <a:rPr lang="en-US" dirty="0"/>
              <a:t>Objectives of data reduction</a:t>
            </a:r>
          </a:p>
        </p:txBody>
      </p:sp>
      <p:sp>
        <p:nvSpPr>
          <p:cNvPr id="3" name="Content Placeholder 2">
            <a:extLst>
              <a:ext uri="{FF2B5EF4-FFF2-40B4-BE49-F238E27FC236}">
                <a16:creationId xmlns:a16="http://schemas.microsoft.com/office/drawing/2014/main" id="{A3042442-017F-AB82-E96B-94557C78D3D4}"/>
              </a:ext>
            </a:extLst>
          </p:cNvPr>
          <p:cNvSpPr>
            <a:spLocks noGrp="1"/>
          </p:cNvSpPr>
          <p:nvPr>
            <p:ph idx="1"/>
          </p:nvPr>
        </p:nvSpPr>
        <p:spPr>
          <a:xfrm>
            <a:off x="581192" y="2062512"/>
            <a:ext cx="11029615" cy="4677504"/>
          </a:xfrm>
        </p:spPr>
        <p:txBody>
          <a:bodyPr>
            <a:normAutofit/>
          </a:bodyPr>
          <a:lstStyle/>
          <a:p>
            <a:r>
              <a:rPr lang="en-US" sz="2400" dirty="0"/>
              <a:t>There are two objectives of data reduction.</a:t>
            </a:r>
          </a:p>
          <a:p>
            <a:pPr lvl="1"/>
            <a:r>
              <a:rPr lang="en-US" sz="2400" dirty="0"/>
              <a:t>First, data reduction seeks to obtain a reduced representation of the dataset that is much smaller in volume. </a:t>
            </a:r>
          </a:p>
          <a:p>
            <a:pPr lvl="1"/>
            <a:r>
              <a:rPr lang="en-US" sz="2400" dirty="0"/>
              <a:t>Second, it tries to closely maintain the integrity of the original data, which means making sure that data reduction will not lead to including bias and critical information being lost in the data.</a:t>
            </a:r>
          </a:p>
          <a:p>
            <a:r>
              <a:rPr lang="en-US" sz="2400" dirty="0"/>
              <a:t>There are two types of data reduction methods. </a:t>
            </a:r>
          </a:p>
          <a:p>
            <a:pPr lvl="1"/>
            <a:r>
              <a:rPr lang="en-US" sz="2000" dirty="0"/>
              <a:t>Numerosity data reduction : performs data reduction by reducing the number of data objects or rows in a dataset</a:t>
            </a:r>
          </a:p>
          <a:p>
            <a:pPr lvl="1"/>
            <a:r>
              <a:rPr lang="en-US" sz="2000" dirty="0"/>
              <a:t>Dimensionality data reduction. performs data reduction by reducing the number of dimensions or attributes in a dataset</a:t>
            </a:r>
          </a:p>
        </p:txBody>
      </p:sp>
    </p:spTree>
    <p:extLst>
      <p:ext uri="{BB962C8B-B14F-4D97-AF65-F5344CB8AC3E}">
        <p14:creationId xmlns:p14="http://schemas.microsoft.com/office/powerpoint/2010/main" val="2427389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29F02-E089-B19A-8C5F-DCCCAE4A73E6}"/>
              </a:ext>
            </a:extLst>
          </p:cNvPr>
          <p:cNvSpPr>
            <a:spLocks noGrp="1"/>
          </p:cNvSpPr>
          <p:nvPr>
            <p:ph type="title"/>
          </p:nvPr>
        </p:nvSpPr>
        <p:spPr/>
        <p:txBody>
          <a:bodyPr/>
          <a:lstStyle/>
          <a:p>
            <a:r>
              <a:rPr lang="en-US" sz="3600" dirty="0"/>
              <a:t>Numerosity data reduction </a:t>
            </a:r>
            <a:endParaRPr lang="en-US" dirty="0"/>
          </a:p>
        </p:txBody>
      </p:sp>
      <p:sp>
        <p:nvSpPr>
          <p:cNvPr id="3" name="Content Placeholder 2">
            <a:extLst>
              <a:ext uri="{FF2B5EF4-FFF2-40B4-BE49-F238E27FC236}">
                <a16:creationId xmlns:a16="http://schemas.microsoft.com/office/drawing/2014/main" id="{9714BC44-27AE-1C2A-A360-C5AC3901FDD6}"/>
              </a:ext>
            </a:extLst>
          </p:cNvPr>
          <p:cNvSpPr>
            <a:spLocks noGrp="1"/>
          </p:cNvSpPr>
          <p:nvPr>
            <p:ph idx="1"/>
          </p:nvPr>
        </p:nvSpPr>
        <p:spPr/>
        <p:txBody>
          <a:bodyPr>
            <a:normAutofit fontScale="92500" lnSpcReduction="20000"/>
          </a:bodyPr>
          <a:lstStyle/>
          <a:p>
            <a:r>
              <a:rPr lang="en-US" dirty="0"/>
              <a:t>Some numerosity data reduction techniques are follows:</a:t>
            </a:r>
          </a:p>
          <a:p>
            <a:pPr lvl="1"/>
            <a:r>
              <a:rPr lang="en-US" sz="2700" b="1" dirty="0"/>
              <a:t>Random Sampling</a:t>
            </a:r>
            <a:r>
              <a:rPr lang="en-US" sz="2700" dirty="0"/>
              <a:t>: Randomly selecting some of the data objects to avoid unaffordable computational costs.</a:t>
            </a:r>
          </a:p>
          <a:p>
            <a:pPr lvl="1"/>
            <a:r>
              <a:rPr lang="en-US" sz="2700" b="1" dirty="0"/>
              <a:t>Stratified Sampling</a:t>
            </a:r>
            <a:r>
              <a:rPr lang="en-US" sz="2700" dirty="0"/>
              <a:t>: Randomly selecting some of the data objects to avoid the unaffordable computational costs, all the while maintaining the ratio representation of the sub-populations in the sample.</a:t>
            </a:r>
          </a:p>
          <a:p>
            <a:pPr lvl="1"/>
            <a:r>
              <a:rPr lang="en-US" sz="2700" b="1" dirty="0"/>
              <a:t>Random Over/Under Sampling</a:t>
            </a:r>
            <a:r>
              <a:rPr lang="en-US" sz="2700" dirty="0"/>
              <a:t>: Randomly selecting some of the data objects to avoid the unaffordable computational costs, all the while creating a prescribed representation of the sub-populations in the sample.</a:t>
            </a:r>
          </a:p>
          <a:p>
            <a:endParaRPr lang="en-US" dirty="0"/>
          </a:p>
        </p:txBody>
      </p:sp>
    </p:spTree>
    <p:extLst>
      <p:ext uri="{BB962C8B-B14F-4D97-AF65-F5344CB8AC3E}">
        <p14:creationId xmlns:p14="http://schemas.microsoft.com/office/powerpoint/2010/main" val="2731279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0F5DE-84D7-C3BA-C244-DA14D592BBB4}"/>
              </a:ext>
            </a:extLst>
          </p:cNvPr>
          <p:cNvSpPr>
            <a:spLocks noGrp="1"/>
          </p:cNvSpPr>
          <p:nvPr>
            <p:ph type="title"/>
          </p:nvPr>
        </p:nvSpPr>
        <p:spPr/>
        <p:txBody>
          <a:bodyPr/>
          <a:lstStyle/>
          <a:p>
            <a:r>
              <a:rPr lang="en-US" dirty="0"/>
              <a:t>Dimensionality reduction</a:t>
            </a:r>
          </a:p>
        </p:txBody>
      </p:sp>
      <p:sp>
        <p:nvSpPr>
          <p:cNvPr id="3" name="Content Placeholder 2">
            <a:extLst>
              <a:ext uri="{FF2B5EF4-FFF2-40B4-BE49-F238E27FC236}">
                <a16:creationId xmlns:a16="http://schemas.microsoft.com/office/drawing/2014/main" id="{C183CFD2-62CB-7357-618F-FBF33151A4DC}"/>
              </a:ext>
            </a:extLst>
          </p:cNvPr>
          <p:cNvSpPr>
            <a:spLocks noGrp="1"/>
          </p:cNvSpPr>
          <p:nvPr>
            <p:ph idx="1"/>
          </p:nvPr>
        </p:nvSpPr>
        <p:spPr/>
        <p:txBody>
          <a:bodyPr>
            <a:normAutofit/>
          </a:bodyPr>
          <a:lstStyle/>
          <a:p>
            <a:pPr>
              <a:lnSpc>
                <a:spcPct val="80000"/>
              </a:lnSpc>
            </a:pPr>
            <a:r>
              <a:rPr lang="en-US" sz="3000" dirty="0"/>
              <a:t>The number of input variables or features for a dataset is referred to as its dimensionality.</a:t>
            </a:r>
          </a:p>
          <a:p>
            <a:pPr>
              <a:lnSpc>
                <a:spcPct val="80000"/>
              </a:lnSpc>
            </a:pPr>
            <a:r>
              <a:rPr lang="en-US" sz="3000" dirty="0"/>
              <a:t>Dimensionality reduction is used to reduce the number of attributes (columns) in a data set.</a:t>
            </a:r>
          </a:p>
          <a:p>
            <a:pPr>
              <a:lnSpc>
                <a:spcPct val="80000"/>
              </a:lnSpc>
            </a:pPr>
            <a:r>
              <a:rPr lang="en-US" sz="3000" dirty="0"/>
              <a:t>More attributes often make a predictive modeling task more challenging to model, more generally referred to as the curse of dimensionality.</a:t>
            </a:r>
          </a:p>
        </p:txBody>
      </p:sp>
    </p:spTree>
    <p:extLst>
      <p:ext uri="{BB962C8B-B14F-4D97-AF65-F5344CB8AC3E}">
        <p14:creationId xmlns:p14="http://schemas.microsoft.com/office/powerpoint/2010/main" val="2683417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A6166-2C3C-2DFE-1AE4-9C10DC8EFD2D}"/>
              </a:ext>
            </a:extLst>
          </p:cNvPr>
          <p:cNvSpPr>
            <a:spLocks noGrp="1"/>
          </p:cNvSpPr>
          <p:nvPr>
            <p:ph type="title"/>
          </p:nvPr>
        </p:nvSpPr>
        <p:spPr/>
        <p:txBody>
          <a:bodyPr>
            <a:normAutofit/>
          </a:bodyPr>
          <a:lstStyle/>
          <a:p>
            <a:r>
              <a:rPr lang="en-US" dirty="0"/>
              <a:t>Dimension reduction techniques</a:t>
            </a:r>
          </a:p>
        </p:txBody>
      </p:sp>
      <p:sp>
        <p:nvSpPr>
          <p:cNvPr id="3" name="Content Placeholder 2">
            <a:extLst>
              <a:ext uri="{FF2B5EF4-FFF2-40B4-BE49-F238E27FC236}">
                <a16:creationId xmlns:a16="http://schemas.microsoft.com/office/drawing/2014/main" id="{9BBA9B9D-5119-393F-6573-13752143AE18}"/>
              </a:ext>
            </a:extLst>
          </p:cNvPr>
          <p:cNvSpPr>
            <a:spLocks noGrp="1"/>
          </p:cNvSpPr>
          <p:nvPr>
            <p:ph idx="1"/>
          </p:nvPr>
        </p:nvSpPr>
        <p:spPr>
          <a:xfrm>
            <a:off x="581192" y="2227006"/>
            <a:ext cx="11029616" cy="4454013"/>
          </a:xfrm>
        </p:spPr>
        <p:txBody>
          <a:bodyPr>
            <a:normAutofit fontScale="92500" lnSpcReduction="10000"/>
          </a:bodyPr>
          <a:lstStyle/>
          <a:p>
            <a:pPr lvl="1"/>
            <a:r>
              <a:rPr lang="en-US" sz="2500" dirty="0"/>
              <a:t>Dimensionality reduction techniques can be categorized into two broad categories</a:t>
            </a:r>
          </a:p>
          <a:p>
            <a:pPr lvl="1"/>
            <a:r>
              <a:rPr lang="en-US" sz="2500" dirty="0"/>
              <a:t>Feature selection :The feature selection method aims to find the most relevant subset of the input variables from the original dataset. Feature selection includes three strategies, namely:</a:t>
            </a:r>
          </a:p>
          <a:p>
            <a:pPr lvl="2"/>
            <a:r>
              <a:rPr lang="en-US" sz="2100" dirty="0"/>
              <a:t>Filter strategy</a:t>
            </a:r>
          </a:p>
          <a:p>
            <a:pPr lvl="2"/>
            <a:r>
              <a:rPr lang="en-US" sz="2100" dirty="0"/>
              <a:t>Wrapper strategy </a:t>
            </a:r>
          </a:p>
          <a:p>
            <a:pPr lvl="2"/>
            <a:r>
              <a:rPr lang="en-US" sz="2100" dirty="0"/>
              <a:t>Embedded strategy</a:t>
            </a:r>
          </a:p>
          <a:p>
            <a:pPr lvl="1"/>
            <a:r>
              <a:rPr lang="en-US" sz="2500" dirty="0"/>
              <a:t>Feature extraction : Feature extraction, converts the data from the high-dimensional space to one with lesser dimensions. This technique finds a smaller set of new variables, each of which is a combination of input variables (containing the same information as the input variables). </a:t>
            </a:r>
          </a:p>
        </p:txBody>
      </p:sp>
    </p:spTree>
    <p:extLst>
      <p:ext uri="{BB962C8B-B14F-4D97-AF65-F5344CB8AC3E}">
        <p14:creationId xmlns:p14="http://schemas.microsoft.com/office/powerpoint/2010/main" val="3556091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5610-2999-47C4-A356-36326BBC080E}"/>
              </a:ext>
            </a:extLst>
          </p:cNvPr>
          <p:cNvSpPr>
            <a:spLocks noGrp="1"/>
          </p:cNvSpPr>
          <p:nvPr>
            <p:ph type="title"/>
          </p:nvPr>
        </p:nvSpPr>
        <p:spPr/>
        <p:txBody>
          <a:bodyPr/>
          <a:lstStyle/>
          <a:p>
            <a:r>
              <a:rPr lang="en-US" dirty="0"/>
              <a:t>Filter methods</a:t>
            </a:r>
          </a:p>
        </p:txBody>
      </p:sp>
      <p:sp>
        <p:nvSpPr>
          <p:cNvPr id="3" name="Content Placeholder 2">
            <a:extLst>
              <a:ext uri="{FF2B5EF4-FFF2-40B4-BE49-F238E27FC236}">
                <a16:creationId xmlns:a16="http://schemas.microsoft.com/office/drawing/2014/main" id="{DB27A4CC-6216-4DA3-859A-97BFFF831E8C}"/>
              </a:ext>
            </a:extLst>
          </p:cNvPr>
          <p:cNvSpPr>
            <a:spLocks noGrp="1"/>
          </p:cNvSpPr>
          <p:nvPr>
            <p:ph idx="1"/>
          </p:nvPr>
        </p:nvSpPr>
        <p:spPr>
          <a:xfrm>
            <a:off x="581192" y="2180496"/>
            <a:ext cx="11029615" cy="2067039"/>
          </a:xfrm>
        </p:spPr>
        <p:txBody>
          <a:bodyPr>
            <a:normAutofit/>
          </a:bodyPr>
          <a:lstStyle/>
          <a:p>
            <a:r>
              <a:rPr lang="en-US" sz="2400" b="0" i="0" dirty="0">
                <a:solidFill>
                  <a:srgbClr val="222222"/>
                </a:solidFill>
                <a:effectLst/>
                <a:latin typeface="+mj-lt"/>
              </a:rPr>
              <a:t>Filter methods are generally used as a pre-processing step.</a:t>
            </a:r>
          </a:p>
          <a:p>
            <a:r>
              <a:rPr lang="en-US" sz="2400" b="0" i="0" dirty="0">
                <a:solidFill>
                  <a:srgbClr val="222222"/>
                </a:solidFill>
                <a:effectLst/>
                <a:latin typeface="+mj-lt"/>
              </a:rPr>
              <a:t> The selection of features is independent of any machine learning algorithms. </a:t>
            </a:r>
          </a:p>
          <a:p>
            <a:r>
              <a:rPr lang="en-US" sz="2400" b="0" i="0" dirty="0">
                <a:solidFill>
                  <a:srgbClr val="222222"/>
                </a:solidFill>
                <a:effectLst/>
                <a:latin typeface="+mj-lt"/>
              </a:rPr>
              <a:t>Instead, features are selected on the basis of their scores in various statistical tests for their correlation with the outcome variable.</a:t>
            </a:r>
            <a:endParaRPr lang="en-US" sz="2400" dirty="0">
              <a:latin typeface="+mj-lt"/>
            </a:endParaRPr>
          </a:p>
        </p:txBody>
      </p:sp>
      <p:pic>
        <p:nvPicPr>
          <p:cNvPr id="6" name="Picture 5" descr="Table&#10;&#10;Description automatically generated">
            <a:extLst>
              <a:ext uri="{FF2B5EF4-FFF2-40B4-BE49-F238E27FC236}">
                <a16:creationId xmlns:a16="http://schemas.microsoft.com/office/drawing/2014/main" id="{6328CEA8-AE7F-A771-4D06-DBBD9BDF7951}"/>
              </a:ext>
            </a:extLst>
          </p:cNvPr>
          <p:cNvPicPr>
            <a:picLocks noChangeAspect="1"/>
          </p:cNvPicPr>
          <p:nvPr/>
        </p:nvPicPr>
        <p:blipFill>
          <a:blip r:embed="rId2"/>
          <a:stretch>
            <a:fillRect/>
          </a:stretch>
        </p:blipFill>
        <p:spPr>
          <a:xfrm>
            <a:off x="1999315" y="4536640"/>
            <a:ext cx="8193367" cy="1117855"/>
          </a:xfrm>
          <a:prstGeom prst="rect">
            <a:avLst/>
          </a:prstGeom>
        </p:spPr>
      </p:pic>
    </p:spTree>
    <p:extLst>
      <p:ext uri="{BB962C8B-B14F-4D97-AF65-F5344CB8AC3E}">
        <p14:creationId xmlns:p14="http://schemas.microsoft.com/office/powerpoint/2010/main" val="1685683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BCE6-AD51-4D1D-89C3-5F6424CB2965}"/>
              </a:ext>
            </a:extLst>
          </p:cNvPr>
          <p:cNvSpPr>
            <a:spLocks noGrp="1"/>
          </p:cNvSpPr>
          <p:nvPr>
            <p:ph type="title"/>
          </p:nvPr>
        </p:nvSpPr>
        <p:spPr/>
        <p:txBody>
          <a:bodyPr/>
          <a:lstStyle/>
          <a:p>
            <a:r>
              <a:rPr lang="en-US" dirty="0"/>
              <a:t>Examples for filter methods</a:t>
            </a:r>
          </a:p>
        </p:txBody>
      </p:sp>
      <p:sp>
        <p:nvSpPr>
          <p:cNvPr id="3" name="Content Placeholder 2">
            <a:extLst>
              <a:ext uri="{FF2B5EF4-FFF2-40B4-BE49-F238E27FC236}">
                <a16:creationId xmlns:a16="http://schemas.microsoft.com/office/drawing/2014/main" id="{8A746DD5-9716-4D6F-AD7C-AE123A910266}"/>
              </a:ext>
            </a:extLst>
          </p:cNvPr>
          <p:cNvSpPr>
            <a:spLocks noGrp="1"/>
          </p:cNvSpPr>
          <p:nvPr>
            <p:ph idx="1"/>
          </p:nvPr>
        </p:nvSpPr>
        <p:spPr/>
        <p:txBody>
          <a:bodyPr>
            <a:normAutofit fontScale="92500" lnSpcReduction="10000"/>
          </a:bodyPr>
          <a:lstStyle/>
          <a:p>
            <a:pPr fontAlgn="base"/>
            <a:r>
              <a:rPr lang="en-US" dirty="0">
                <a:solidFill>
                  <a:srgbClr val="273239"/>
                </a:solidFill>
                <a:latin typeface="urw-din"/>
              </a:rPr>
              <a:t>Chi-square test —</a:t>
            </a:r>
          </a:p>
          <a:p>
            <a:pPr marL="576000" lvl="2" fontAlgn="base"/>
            <a:r>
              <a:rPr lang="en-US" dirty="0">
                <a:solidFill>
                  <a:srgbClr val="222222"/>
                </a:solidFill>
                <a:latin typeface="+mj-lt"/>
              </a:rPr>
              <a:t>Chi-square method (X2) is generally used to test the relationship between categorical variables. </a:t>
            </a:r>
          </a:p>
          <a:p>
            <a:pPr marL="576000" lvl="2" fontAlgn="base"/>
            <a:r>
              <a:rPr lang="en-US" dirty="0">
                <a:solidFill>
                  <a:srgbClr val="222222"/>
                </a:solidFill>
                <a:latin typeface="+mj-lt"/>
              </a:rPr>
              <a:t>It compares the observed values from different attributes of the dataset to its expected value.</a:t>
            </a:r>
          </a:p>
          <a:p>
            <a:pPr marL="576000" lvl="2" fontAlgn="base"/>
            <a:r>
              <a:rPr lang="en-US" dirty="0">
                <a:solidFill>
                  <a:srgbClr val="222222"/>
                </a:solidFill>
                <a:latin typeface="+mj-lt"/>
              </a:rPr>
              <a:t>In the test, Chi-square between each feature and the target  is obtained  and desired number of features with the best Chi-square scores are selected.</a:t>
            </a:r>
          </a:p>
          <a:p>
            <a:pPr marL="576000" lvl="2" fontAlgn="base"/>
            <a:r>
              <a:rPr lang="en-US" dirty="0">
                <a:solidFill>
                  <a:srgbClr val="222222"/>
                </a:solidFill>
                <a:latin typeface="+mj-lt"/>
              </a:rPr>
              <a:t> X2  test requires: the variables have to be categorical, sampled independently and values should have an expected frequency greater than 5.</a:t>
            </a:r>
          </a:p>
        </p:txBody>
      </p:sp>
    </p:spTree>
    <p:extLst>
      <p:ext uri="{BB962C8B-B14F-4D97-AF65-F5344CB8AC3E}">
        <p14:creationId xmlns:p14="http://schemas.microsoft.com/office/powerpoint/2010/main" val="3581481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BCE6-AD51-4D1D-89C3-5F6424CB2965}"/>
              </a:ext>
            </a:extLst>
          </p:cNvPr>
          <p:cNvSpPr>
            <a:spLocks noGrp="1"/>
          </p:cNvSpPr>
          <p:nvPr>
            <p:ph type="title"/>
          </p:nvPr>
        </p:nvSpPr>
        <p:spPr/>
        <p:txBody>
          <a:bodyPr/>
          <a:lstStyle/>
          <a:p>
            <a:r>
              <a:rPr lang="en-US" dirty="0"/>
              <a:t>Examples for filter methods</a:t>
            </a:r>
          </a:p>
        </p:txBody>
      </p:sp>
      <p:sp>
        <p:nvSpPr>
          <p:cNvPr id="3" name="Content Placeholder 2">
            <a:extLst>
              <a:ext uri="{FF2B5EF4-FFF2-40B4-BE49-F238E27FC236}">
                <a16:creationId xmlns:a16="http://schemas.microsoft.com/office/drawing/2014/main" id="{8A746DD5-9716-4D6F-AD7C-AE123A910266}"/>
              </a:ext>
            </a:extLst>
          </p:cNvPr>
          <p:cNvSpPr>
            <a:spLocks noGrp="1"/>
          </p:cNvSpPr>
          <p:nvPr>
            <p:ph idx="1"/>
          </p:nvPr>
        </p:nvSpPr>
        <p:spPr>
          <a:xfrm>
            <a:off x="581192" y="2180496"/>
            <a:ext cx="11029615" cy="4677504"/>
          </a:xfrm>
        </p:spPr>
        <p:txBody>
          <a:bodyPr>
            <a:normAutofit fontScale="70000" lnSpcReduction="20000"/>
          </a:bodyPr>
          <a:lstStyle/>
          <a:p>
            <a:r>
              <a:rPr lang="en-US" i="0" dirty="0">
                <a:solidFill>
                  <a:srgbClr val="273239"/>
                </a:solidFill>
                <a:effectLst/>
                <a:latin typeface="+mj-lt"/>
              </a:rPr>
              <a:t>Correlation Coefficient </a:t>
            </a:r>
            <a:r>
              <a:rPr lang="en-US" b="1" i="0" dirty="0">
                <a:solidFill>
                  <a:srgbClr val="273239"/>
                </a:solidFill>
                <a:effectLst/>
                <a:latin typeface="+mj-lt"/>
              </a:rPr>
              <a:t>–</a:t>
            </a:r>
            <a:r>
              <a:rPr lang="en-US" b="0" i="0" dirty="0">
                <a:solidFill>
                  <a:srgbClr val="273239"/>
                </a:solidFill>
                <a:effectLst/>
                <a:latin typeface="+mj-lt"/>
              </a:rPr>
              <a:t> </a:t>
            </a:r>
          </a:p>
          <a:p>
            <a:pPr lvl="1"/>
            <a:r>
              <a:rPr lang="en-US" b="0" i="0" dirty="0">
                <a:solidFill>
                  <a:srgbClr val="273239"/>
                </a:solidFill>
                <a:effectLst/>
                <a:latin typeface="+mj-lt"/>
              </a:rPr>
              <a:t>Pearson’s Correlation Coefficient is a measure of quantifying the association between the two continuous variables and the direction of the relationship with its values ranging from </a:t>
            </a:r>
            <a:r>
              <a:rPr lang="en-US" b="0" i="1" dirty="0">
                <a:solidFill>
                  <a:srgbClr val="273239"/>
                </a:solidFill>
                <a:effectLst/>
                <a:latin typeface="+mj-lt"/>
              </a:rPr>
              <a:t>-1 to 1</a:t>
            </a:r>
            <a:r>
              <a:rPr lang="en-US" b="0" i="0" dirty="0">
                <a:solidFill>
                  <a:srgbClr val="273239"/>
                </a:solidFill>
                <a:effectLst/>
                <a:latin typeface="+mj-lt"/>
              </a:rPr>
              <a:t>.</a:t>
            </a:r>
          </a:p>
          <a:p>
            <a:pPr lvl="1"/>
            <a:r>
              <a:rPr lang="en-US" b="0" i="0" dirty="0">
                <a:solidFill>
                  <a:srgbClr val="222222"/>
                </a:solidFill>
                <a:effectLst/>
                <a:latin typeface="+mj-lt"/>
              </a:rPr>
              <a:t>Through correlation, we can predict one variable from the other.</a:t>
            </a:r>
          </a:p>
          <a:p>
            <a:pPr lvl="1"/>
            <a:r>
              <a:rPr lang="en-US" b="0" i="0" dirty="0">
                <a:solidFill>
                  <a:srgbClr val="222222"/>
                </a:solidFill>
                <a:effectLst/>
                <a:latin typeface="+mj-lt"/>
              </a:rPr>
              <a:t>The logic behind using correlation for feature selection is that the good variables are highly correlated with the target. </a:t>
            </a:r>
          </a:p>
          <a:p>
            <a:pPr lvl="1"/>
            <a:r>
              <a:rPr lang="en-US" b="0" i="0" dirty="0">
                <a:solidFill>
                  <a:srgbClr val="222222"/>
                </a:solidFill>
                <a:effectLst/>
                <a:latin typeface="+mj-lt"/>
              </a:rPr>
              <a:t>Furthermore, variables should be correlated with the target but should be uncorrelated among themselves.</a:t>
            </a:r>
          </a:p>
          <a:p>
            <a:pPr lvl="1"/>
            <a:r>
              <a:rPr lang="en-US" b="0" i="0" dirty="0">
                <a:solidFill>
                  <a:srgbClr val="222222"/>
                </a:solidFill>
                <a:effectLst/>
                <a:latin typeface="+mj-lt"/>
              </a:rPr>
              <a:t>If two variables are correlated, we can predict one from the other. </a:t>
            </a:r>
          </a:p>
          <a:p>
            <a:pPr lvl="1"/>
            <a:r>
              <a:rPr lang="en-US" b="0" i="0" dirty="0">
                <a:solidFill>
                  <a:srgbClr val="222222"/>
                </a:solidFill>
                <a:effectLst/>
                <a:latin typeface="+mj-lt"/>
              </a:rPr>
              <a:t>Therefore, if two features are correlated, the model only really needs one of them, as the second one does not add additional information</a:t>
            </a:r>
          </a:p>
          <a:p>
            <a:pPr lvl="1"/>
            <a:r>
              <a:rPr lang="en-US" b="0" i="0" dirty="0">
                <a:solidFill>
                  <a:srgbClr val="222222"/>
                </a:solidFill>
                <a:effectLst/>
                <a:latin typeface="+mj-lt"/>
              </a:rPr>
              <a:t>If we find that the predictor variables are correlated among themselves, we can drop the variable which has a lower correlation coefficient value with the target variable</a:t>
            </a:r>
            <a:endParaRPr lang="en-US" b="0" i="0" dirty="0">
              <a:solidFill>
                <a:srgbClr val="273239"/>
              </a:solidFill>
              <a:effectLst/>
              <a:latin typeface="+mj-lt"/>
            </a:endParaRPr>
          </a:p>
          <a:p>
            <a:endParaRPr lang="en-US" dirty="0">
              <a:latin typeface="+mj-lt"/>
            </a:endParaRPr>
          </a:p>
        </p:txBody>
      </p:sp>
    </p:spTree>
    <p:extLst>
      <p:ext uri="{BB962C8B-B14F-4D97-AF65-F5344CB8AC3E}">
        <p14:creationId xmlns:p14="http://schemas.microsoft.com/office/powerpoint/2010/main" val="1265308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848B5-B8FB-4EDB-B9A5-254900EEB72F}"/>
              </a:ext>
            </a:extLst>
          </p:cNvPr>
          <p:cNvSpPr>
            <a:spLocks noGrp="1"/>
          </p:cNvSpPr>
          <p:nvPr>
            <p:ph type="title"/>
          </p:nvPr>
        </p:nvSpPr>
        <p:spPr/>
        <p:txBody>
          <a:bodyPr/>
          <a:lstStyle/>
          <a:p>
            <a:r>
              <a:rPr lang="en-US" dirty="0"/>
              <a:t>Wrapper methods</a:t>
            </a:r>
          </a:p>
        </p:txBody>
      </p:sp>
      <p:sp>
        <p:nvSpPr>
          <p:cNvPr id="3" name="Content Placeholder 2">
            <a:extLst>
              <a:ext uri="{FF2B5EF4-FFF2-40B4-BE49-F238E27FC236}">
                <a16:creationId xmlns:a16="http://schemas.microsoft.com/office/drawing/2014/main" id="{E0C866A7-AB67-4BB1-ADE3-BDDF584FA92B}"/>
              </a:ext>
            </a:extLst>
          </p:cNvPr>
          <p:cNvSpPr>
            <a:spLocks noGrp="1"/>
          </p:cNvSpPr>
          <p:nvPr>
            <p:ph idx="1"/>
          </p:nvPr>
        </p:nvSpPr>
        <p:spPr>
          <a:xfrm>
            <a:off x="581192" y="2180497"/>
            <a:ext cx="11029615" cy="2008046"/>
          </a:xfrm>
        </p:spPr>
        <p:txBody>
          <a:bodyPr>
            <a:normAutofit fontScale="92500" lnSpcReduction="20000"/>
          </a:bodyPr>
          <a:lstStyle/>
          <a:p>
            <a:pPr fontAlgn="base"/>
            <a:r>
              <a:rPr lang="en-US" sz="2800" dirty="0">
                <a:solidFill>
                  <a:srgbClr val="273239"/>
                </a:solidFill>
                <a:latin typeface="+mj-lt"/>
              </a:rPr>
              <a:t>Wrappers require some method to search the space of all possible subsets of features, assessing their quality by learning and evaluating a classifier with that feature subset. </a:t>
            </a:r>
          </a:p>
          <a:p>
            <a:pPr fontAlgn="base"/>
            <a:r>
              <a:rPr lang="en-US" sz="2800" dirty="0">
                <a:solidFill>
                  <a:srgbClr val="273239"/>
                </a:solidFill>
                <a:latin typeface="+mj-lt"/>
              </a:rPr>
              <a:t>The feature selection process is based on a specific machine learning algorithm that we are trying to fit on a given dataset.</a:t>
            </a:r>
          </a:p>
        </p:txBody>
      </p:sp>
      <p:pic>
        <p:nvPicPr>
          <p:cNvPr id="5" name="Picture 4" descr="Diagram, text&#10;&#10;Description automatically generated">
            <a:extLst>
              <a:ext uri="{FF2B5EF4-FFF2-40B4-BE49-F238E27FC236}">
                <a16:creationId xmlns:a16="http://schemas.microsoft.com/office/drawing/2014/main" id="{726D2381-CB83-B08D-CD1D-07E2B6413795}"/>
              </a:ext>
            </a:extLst>
          </p:cNvPr>
          <p:cNvPicPr>
            <a:picLocks noChangeAspect="1"/>
          </p:cNvPicPr>
          <p:nvPr/>
        </p:nvPicPr>
        <p:blipFill>
          <a:blip r:embed="rId2"/>
          <a:stretch>
            <a:fillRect/>
          </a:stretch>
        </p:blipFill>
        <p:spPr>
          <a:xfrm>
            <a:off x="1162663" y="4092097"/>
            <a:ext cx="9866671" cy="2765903"/>
          </a:xfrm>
          <a:prstGeom prst="rect">
            <a:avLst/>
          </a:prstGeom>
        </p:spPr>
      </p:pic>
    </p:spTree>
    <p:extLst>
      <p:ext uri="{BB962C8B-B14F-4D97-AF65-F5344CB8AC3E}">
        <p14:creationId xmlns:p14="http://schemas.microsoft.com/office/powerpoint/2010/main" val="3643254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114E-1C26-6616-278E-F33A6FEA482B}"/>
              </a:ext>
            </a:extLst>
          </p:cNvPr>
          <p:cNvSpPr>
            <a:spLocks noGrp="1"/>
          </p:cNvSpPr>
          <p:nvPr>
            <p:ph type="title"/>
          </p:nvPr>
        </p:nvSpPr>
        <p:spPr/>
        <p:txBody>
          <a:bodyPr/>
          <a:lstStyle/>
          <a:p>
            <a:r>
              <a:rPr lang="en-US" dirty="0"/>
              <a:t>Wrapper methods (contd.)</a:t>
            </a:r>
          </a:p>
        </p:txBody>
      </p:sp>
      <p:sp>
        <p:nvSpPr>
          <p:cNvPr id="5" name="AutoShape 4">
            <a:extLst>
              <a:ext uri="{FF2B5EF4-FFF2-40B4-BE49-F238E27FC236}">
                <a16:creationId xmlns:a16="http://schemas.microsoft.com/office/drawing/2014/main" id="{50BB956D-CD64-2001-AA11-481F054906E6}"/>
              </a:ext>
            </a:extLst>
          </p:cNvPr>
          <p:cNvSpPr>
            <a:spLocks noGrp="1" noChangeAspect="1" noChangeArrowheads="1"/>
          </p:cNvSpPr>
          <p:nvPr>
            <p:ph idx="1"/>
          </p:nvPr>
        </p:nvSpPr>
        <p:spPr bwMode="auto">
          <a:xfrm>
            <a:off x="581192" y="2180496"/>
            <a:ext cx="11029615" cy="44415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70000" lnSpcReduction="20000"/>
          </a:bodyPr>
          <a:lstStyle/>
          <a:p>
            <a:pPr algn="l"/>
            <a:r>
              <a:rPr lang="en-US" b="1" i="0" dirty="0">
                <a:solidFill>
                  <a:srgbClr val="222222"/>
                </a:solidFill>
                <a:effectLst/>
                <a:latin typeface="+mj-lt"/>
              </a:rPr>
              <a:t>Forward Feature Selection</a:t>
            </a:r>
            <a:endParaRPr lang="en-US" b="0" i="0" dirty="0">
              <a:solidFill>
                <a:srgbClr val="222222"/>
              </a:solidFill>
              <a:effectLst/>
              <a:latin typeface="+mj-lt"/>
            </a:endParaRPr>
          </a:p>
          <a:p>
            <a:pPr lvl="1"/>
            <a:r>
              <a:rPr lang="en-US" b="0" i="0" dirty="0">
                <a:solidFill>
                  <a:srgbClr val="222222"/>
                </a:solidFill>
                <a:effectLst/>
                <a:latin typeface="+mj-lt"/>
              </a:rPr>
              <a:t>This is an iterative method wherein we start with the best performing variable against the target.</a:t>
            </a:r>
          </a:p>
          <a:p>
            <a:pPr lvl="1"/>
            <a:r>
              <a:rPr lang="en-US" b="0" i="0" dirty="0">
                <a:solidFill>
                  <a:srgbClr val="222222"/>
                </a:solidFill>
                <a:effectLst/>
                <a:latin typeface="+mj-lt"/>
              </a:rPr>
              <a:t>Next, we select another variable that gives the best performance in combination with the first selected variable. </a:t>
            </a:r>
          </a:p>
          <a:p>
            <a:pPr lvl="1"/>
            <a:r>
              <a:rPr lang="en-US" b="0" i="0" dirty="0">
                <a:solidFill>
                  <a:srgbClr val="222222"/>
                </a:solidFill>
                <a:effectLst/>
                <a:latin typeface="+mj-lt"/>
              </a:rPr>
              <a:t>This process continues until the preset criterion is achieved.</a:t>
            </a:r>
          </a:p>
          <a:p>
            <a:pPr algn="l"/>
            <a:r>
              <a:rPr lang="en-US" b="1" i="0" dirty="0">
                <a:solidFill>
                  <a:srgbClr val="222222"/>
                </a:solidFill>
                <a:effectLst/>
                <a:latin typeface="+mj-lt"/>
              </a:rPr>
              <a:t>Backward Feature Elimination</a:t>
            </a:r>
            <a:endParaRPr lang="en-US" b="0" i="0" dirty="0">
              <a:solidFill>
                <a:srgbClr val="222222"/>
              </a:solidFill>
              <a:effectLst/>
              <a:latin typeface="+mj-lt"/>
            </a:endParaRPr>
          </a:p>
          <a:p>
            <a:pPr lvl="1"/>
            <a:r>
              <a:rPr lang="en-US" b="0" i="0" dirty="0">
                <a:solidFill>
                  <a:srgbClr val="222222"/>
                </a:solidFill>
                <a:effectLst/>
                <a:latin typeface="+mj-lt"/>
              </a:rPr>
              <a:t>This method works exactly opposite to the Forward Feature Selection method. </a:t>
            </a:r>
          </a:p>
          <a:p>
            <a:pPr lvl="1"/>
            <a:r>
              <a:rPr lang="en-US" b="0" i="0" dirty="0">
                <a:solidFill>
                  <a:srgbClr val="222222"/>
                </a:solidFill>
                <a:effectLst/>
                <a:latin typeface="+mj-lt"/>
              </a:rPr>
              <a:t>Here, we start with all the features available and build a model. </a:t>
            </a:r>
          </a:p>
          <a:p>
            <a:pPr lvl="1"/>
            <a:r>
              <a:rPr lang="en-US" b="0" i="0" dirty="0">
                <a:solidFill>
                  <a:srgbClr val="222222"/>
                </a:solidFill>
                <a:effectLst/>
                <a:latin typeface="+mj-lt"/>
              </a:rPr>
              <a:t>Next, we the variable from the model which gives the best evaluation measure value. T</a:t>
            </a:r>
          </a:p>
          <a:p>
            <a:pPr lvl="1"/>
            <a:r>
              <a:rPr lang="en-US" b="0" i="0" dirty="0">
                <a:solidFill>
                  <a:srgbClr val="222222"/>
                </a:solidFill>
                <a:effectLst/>
                <a:latin typeface="+mj-lt"/>
              </a:rPr>
              <a:t>This process is continued until the preset criterion is achieved.</a:t>
            </a:r>
          </a:p>
          <a:p>
            <a:pPr lvl="1"/>
            <a:r>
              <a:rPr lang="en-US" sz="2900" dirty="0">
                <a:solidFill>
                  <a:srgbClr val="222222"/>
                </a:solidFill>
                <a:latin typeface="+mj-lt"/>
              </a:rPr>
              <a:t>This method can be used when building Linear Regression or Logistic Regression models</a:t>
            </a:r>
          </a:p>
          <a:p>
            <a:pPr algn="l"/>
            <a:endParaRPr lang="en-US" dirty="0">
              <a:solidFill>
                <a:srgbClr val="222222"/>
              </a:solidFill>
              <a:latin typeface="+mj-lt"/>
            </a:endParaRPr>
          </a:p>
          <a:p>
            <a:pPr algn="l"/>
            <a:endParaRPr lang="en-US" b="0" i="0" dirty="0">
              <a:solidFill>
                <a:srgbClr val="222222"/>
              </a:solidFill>
              <a:effectLst/>
              <a:latin typeface="+mj-lt"/>
            </a:endParaRPr>
          </a:p>
          <a:p>
            <a:endParaRPr lang="en-US" dirty="0">
              <a:latin typeface="+mj-lt"/>
            </a:endParaRPr>
          </a:p>
        </p:txBody>
      </p:sp>
    </p:spTree>
    <p:extLst>
      <p:ext uri="{BB962C8B-B14F-4D97-AF65-F5344CB8AC3E}">
        <p14:creationId xmlns:p14="http://schemas.microsoft.com/office/powerpoint/2010/main" val="3883888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CB2E9-C165-EAD3-8FCE-16F23F1A1795}"/>
              </a:ext>
            </a:extLst>
          </p:cNvPr>
          <p:cNvSpPr>
            <a:spLocks noGrp="1"/>
          </p:cNvSpPr>
          <p:nvPr>
            <p:ph type="title"/>
          </p:nvPr>
        </p:nvSpPr>
        <p:spPr/>
        <p:txBody>
          <a:bodyPr/>
          <a:lstStyle/>
          <a:p>
            <a:r>
              <a:rPr lang="en-US" dirty="0"/>
              <a:t>Embedded methods</a:t>
            </a:r>
          </a:p>
        </p:txBody>
      </p:sp>
      <p:sp>
        <p:nvSpPr>
          <p:cNvPr id="3" name="Content Placeholder 2">
            <a:extLst>
              <a:ext uri="{FF2B5EF4-FFF2-40B4-BE49-F238E27FC236}">
                <a16:creationId xmlns:a16="http://schemas.microsoft.com/office/drawing/2014/main" id="{2AD6F57B-8F2E-758D-BDB0-DDE673D421B1}"/>
              </a:ext>
            </a:extLst>
          </p:cNvPr>
          <p:cNvSpPr>
            <a:spLocks noGrp="1"/>
          </p:cNvSpPr>
          <p:nvPr>
            <p:ph idx="1"/>
          </p:nvPr>
        </p:nvSpPr>
        <p:spPr>
          <a:xfrm>
            <a:off x="581192" y="2180496"/>
            <a:ext cx="11029615" cy="2568485"/>
          </a:xfrm>
        </p:spPr>
        <p:txBody>
          <a:bodyPr>
            <a:normAutofit fontScale="70000" lnSpcReduction="20000"/>
          </a:bodyPr>
          <a:lstStyle/>
          <a:p>
            <a:r>
              <a:rPr lang="en-US" b="0" i="0" dirty="0">
                <a:solidFill>
                  <a:srgbClr val="222222"/>
                </a:solidFill>
                <a:effectLst/>
                <a:latin typeface="+mj-lt"/>
              </a:rPr>
              <a:t>These methods encompass the benefits of both the wrapper and filter methods, by including interactions of features but also maintaining reasonable computational cost. </a:t>
            </a:r>
          </a:p>
          <a:p>
            <a:r>
              <a:rPr lang="en-US" b="0" i="0" dirty="0">
                <a:solidFill>
                  <a:srgbClr val="222222"/>
                </a:solidFill>
                <a:effectLst/>
                <a:latin typeface="+mj-lt"/>
              </a:rPr>
              <a:t>Embedded methods are iterative in the sense that takes care of each iteration of the model training process and carefully extracts those features which contribute the most to the training for a particular iteration.</a:t>
            </a:r>
          </a:p>
          <a:p>
            <a:r>
              <a:rPr lang="en-US" b="0" i="0" dirty="0">
                <a:solidFill>
                  <a:srgbClr val="222222"/>
                </a:solidFill>
                <a:effectLst/>
                <a:latin typeface="+mj-lt"/>
              </a:rPr>
              <a:t>Some of the most popular examples of these methods are LASSO and RIDGE regression which have inbuilt penalization functions to reduce overfitting</a:t>
            </a:r>
            <a:endParaRPr lang="en-US" dirty="0">
              <a:latin typeface="+mj-lt"/>
            </a:endParaRPr>
          </a:p>
        </p:txBody>
      </p:sp>
      <p:pic>
        <p:nvPicPr>
          <p:cNvPr id="5" name="Picture 4" descr="Diagram, text&#10;&#10;Description automatically generated with medium confidence">
            <a:extLst>
              <a:ext uri="{FF2B5EF4-FFF2-40B4-BE49-F238E27FC236}">
                <a16:creationId xmlns:a16="http://schemas.microsoft.com/office/drawing/2014/main" id="{A27394A0-1624-334F-E3B2-E7E6E6A43B62}"/>
              </a:ext>
            </a:extLst>
          </p:cNvPr>
          <p:cNvPicPr>
            <a:picLocks noChangeAspect="1"/>
          </p:cNvPicPr>
          <p:nvPr/>
        </p:nvPicPr>
        <p:blipFill rotWithShape="1">
          <a:blip r:embed="rId2"/>
          <a:srcRect t="12120" b="6498"/>
          <a:stretch/>
        </p:blipFill>
        <p:spPr>
          <a:xfrm>
            <a:off x="2010696" y="4616242"/>
            <a:ext cx="8170606" cy="2079522"/>
          </a:xfrm>
          <a:prstGeom prst="rect">
            <a:avLst/>
          </a:prstGeom>
        </p:spPr>
      </p:pic>
    </p:spTree>
    <p:extLst>
      <p:ext uri="{BB962C8B-B14F-4D97-AF65-F5344CB8AC3E}">
        <p14:creationId xmlns:p14="http://schemas.microsoft.com/office/powerpoint/2010/main" val="1108416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48A5D-38A4-269D-9588-7984C6E64FE2}"/>
              </a:ext>
            </a:extLst>
          </p:cNvPr>
          <p:cNvSpPr>
            <a:spLocks noGrp="1"/>
          </p:cNvSpPr>
          <p:nvPr>
            <p:ph type="title"/>
          </p:nvPr>
        </p:nvSpPr>
        <p:spPr/>
        <p:txBody>
          <a:bodyPr>
            <a:normAutofit/>
          </a:bodyPr>
          <a:lstStyle/>
          <a:p>
            <a:r>
              <a:rPr lang="en-US" dirty="0"/>
              <a:t>Other feature selection techniques</a:t>
            </a:r>
          </a:p>
        </p:txBody>
      </p:sp>
      <p:sp>
        <p:nvSpPr>
          <p:cNvPr id="3" name="Content Placeholder 2">
            <a:extLst>
              <a:ext uri="{FF2B5EF4-FFF2-40B4-BE49-F238E27FC236}">
                <a16:creationId xmlns:a16="http://schemas.microsoft.com/office/drawing/2014/main" id="{A0BABBEE-69C7-A103-3608-C5D1E3499640}"/>
              </a:ext>
            </a:extLst>
          </p:cNvPr>
          <p:cNvSpPr>
            <a:spLocks noGrp="1"/>
          </p:cNvSpPr>
          <p:nvPr>
            <p:ph idx="1"/>
          </p:nvPr>
        </p:nvSpPr>
        <p:spPr>
          <a:xfrm>
            <a:off x="581192" y="2180496"/>
            <a:ext cx="11029615" cy="4382536"/>
          </a:xfrm>
        </p:spPr>
        <p:txBody>
          <a:bodyPr>
            <a:normAutofit/>
          </a:bodyPr>
          <a:lstStyle/>
          <a:p>
            <a:r>
              <a:rPr lang="en-US" dirty="0"/>
              <a:t>Random forest</a:t>
            </a:r>
          </a:p>
          <a:p>
            <a:pPr marL="576000" lvl="2"/>
            <a:r>
              <a:rPr lang="en-US" sz="2600" dirty="0"/>
              <a:t>Random forest, as the name suggests, instead of just relying on one decision tree to perform classification or prediction, uses many small decision trees in a randomized way.</a:t>
            </a:r>
          </a:p>
          <a:p>
            <a:pPr marL="576000" lvl="2"/>
            <a:r>
              <a:rPr lang="en-US" sz="2600" dirty="0"/>
              <a:t>These smaller decision trees are called weak predictors or classifiers. </a:t>
            </a:r>
          </a:p>
          <a:p>
            <a:pPr marL="576000" lvl="2"/>
            <a:r>
              <a:rPr lang="en-US" sz="2600" dirty="0"/>
              <a:t>As a dimension reduction method, the number of times each attribute appeared in the multiple weak decision trees is looked at and arrive at a percentage of decision trees that each attribute was employed by.</a:t>
            </a:r>
          </a:p>
        </p:txBody>
      </p:sp>
    </p:spTree>
    <p:extLst>
      <p:ext uri="{BB962C8B-B14F-4D97-AF65-F5344CB8AC3E}">
        <p14:creationId xmlns:p14="http://schemas.microsoft.com/office/powerpoint/2010/main" val="2275975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48A5D-38A4-269D-9588-7984C6E64FE2}"/>
              </a:ext>
            </a:extLst>
          </p:cNvPr>
          <p:cNvSpPr>
            <a:spLocks noGrp="1"/>
          </p:cNvSpPr>
          <p:nvPr>
            <p:ph type="title"/>
          </p:nvPr>
        </p:nvSpPr>
        <p:spPr/>
        <p:txBody>
          <a:bodyPr>
            <a:normAutofit/>
          </a:bodyPr>
          <a:lstStyle/>
          <a:p>
            <a:r>
              <a:rPr lang="en-US" dirty="0"/>
              <a:t>Feature extraction techniques</a:t>
            </a:r>
          </a:p>
        </p:txBody>
      </p:sp>
      <p:sp>
        <p:nvSpPr>
          <p:cNvPr id="3" name="Content Placeholder 2">
            <a:extLst>
              <a:ext uri="{FF2B5EF4-FFF2-40B4-BE49-F238E27FC236}">
                <a16:creationId xmlns:a16="http://schemas.microsoft.com/office/drawing/2014/main" id="{A0BABBEE-69C7-A103-3608-C5D1E3499640}"/>
              </a:ext>
            </a:extLst>
          </p:cNvPr>
          <p:cNvSpPr>
            <a:spLocks noGrp="1"/>
          </p:cNvSpPr>
          <p:nvPr>
            <p:ph idx="1"/>
          </p:nvPr>
        </p:nvSpPr>
        <p:spPr>
          <a:xfrm>
            <a:off x="581192" y="2180496"/>
            <a:ext cx="11029615" cy="4382536"/>
          </a:xfrm>
        </p:spPr>
        <p:txBody>
          <a:bodyPr>
            <a:normAutofit fontScale="77500" lnSpcReduction="20000"/>
          </a:bodyPr>
          <a:lstStyle/>
          <a:p>
            <a:r>
              <a:rPr lang="en-US" dirty="0"/>
              <a:t>Principal Component Analysis</a:t>
            </a:r>
          </a:p>
          <a:p>
            <a:pPr lvl="1"/>
            <a:r>
              <a:rPr lang="en-US" b="0" i="0" dirty="0">
                <a:solidFill>
                  <a:srgbClr val="292929"/>
                </a:solidFill>
                <a:effectLst/>
                <a:latin typeface="charter"/>
              </a:rPr>
              <a:t>PCA is a linear dimensionality reduction technique (algorithm) that transforms a set of correlated variables (p) into a smaller k (k&lt;p) number of uncorrelated variables called </a:t>
            </a:r>
            <a:r>
              <a:rPr lang="en-US" b="1" i="1" dirty="0">
                <a:solidFill>
                  <a:srgbClr val="292929"/>
                </a:solidFill>
                <a:effectLst/>
                <a:latin typeface="charter"/>
              </a:rPr>
              <a:t>principal components</a:t>
            </a:r>
            <a:r>
              <a:rPr lang="en-US" b="0" i="0" dirty="0">
                <a:solidFill>
                  <a:srgbClr val="292929"/>
                </a:solidFill>
                <a:effectLst/>
                <a:latin typeface="charter"/>
              </a:rPr>
              <a:t> while retaining as much of the variation in the original dataset as possible.</a:t>
            </a:r>
          </a:p>
          <a:p>
            <a:pPr lvl="1"/>
            <a:r>
              <a:rPr lang="en-US" sz="2900" dirty="0">
                <a:solidFill>
                  <a:srgbClr val="292929"/>
                </a:solidFill>
                <a:latin typeface="charter"/>
              </a:rPr>
              <a:t>A principal component is a linear combination of the original variables</a:t>
            </a:r>
          </a:p>
          <a:p>
            <a:pPr lvl="1"/>
            <a:r>
              <a:rPr lang="en-US" sz="2900" dirty="0">
                <a:solidFill>
                  <a:srgbClr val="292929"/>
                </a:solidFill>
                <a:latin typeface="charter"/>
              </a:rPr>
              <a:t>Principal components are extracted in such a way that the first principal component explains maximum variance in the dataset</a:t>
            </a:r>
          </a:p>
          <a:p>
            <a:pPr lvl="1"/>
            <a:r>
              <a:rPr lang="en-US" sz="2900" dirty="0">
                <a:solidFill>
                  <a:srgbClr val="292929"/>
                </a:solidFill>
                <a:latin typeface="charter"/>
              </a:rPr>
              <a:t>Second principal component tries to explain the remaining variance in the dataset and is uncorrelated to the first principal component</a:t>
            </a:r>
          </a:p>
          <a:p>
            <a:pPr lvl="1"/>
            <a:r>
              <a:rPr lang="en-US" sz="2900" dirty="0">
                <a:solidFill>
                  <a:srgbClr val="292929"/>
                </a:solidFill>
                <a:latin typeface="charter"/>
              </a:rPr>
              <a:t>Third principal component tries to explain the variance which is not explained by the first two principal components and so on</a:t>
            </a:r>
          </a:p>
          <a:p>
            <a:pPr lvl="1"/>
            <a:endParaRPr lang="en-US" dirty="0"/>
          </a:p>
        </p:txBody>
      </p:sp>
    </p:spTree>
    <p:extLst>
      <p:ext uri="{BB962C8B-B14F-4D97-AF65-F5344CB8AC3E}">
        <p14:creationId xmlns:p14="http://schemas.microsoft.com/office/powerpoint/2010/main" val="2063782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089E-FA3A-5540-020A-8A9863D620B5}"/>
              </a:ext>
            </a:extLst>
          </p:cNvPr>
          <p:cNvSpPr>
            <a:spLocks noGrp="1"/>
          </p:cNvSpPr>
          <p:nvPr>
            <p:ph type="title"/>
          </p:nvPr>
        </p:nvSpPr>
        <p:spPr/>
        <p:txBody>
          <a:bodyPr/>
          <a:lstStyle/>
          <a:p>
            <a:r>
              <a:rPr lang="en-US" dirty="0"/>
              <a:t>Data transformation</a:t>
            </a:r>
          </a:p>
        </p:txBody>
      </p:sp>
      <p:sp>
        <p:nvSpPr>
          <p:cNvPr id="3" name="Content Placeholder 2">
            <a:extLst>
              <a:ext uri="{FF2B5EF4-FFF2-40B4-BE49-F238E27FC236}">
                <a16:creationId xmlns:a16="http://schemas.microsoft.com/office/drawing/2014/main" id="{6241CA95-98C6-107C-761B-819E7FB490FB}"/>
              </a:ext>
            </a:extLst>
          </p:cNvPr>
          <p:cNvSpPr>
            <a:spLocks noGrp="1"/>
          </p:cNvSpPr>
          <p:nvPr>
            <p:ph idx="1"/>
          </p:nvPr>
        </p:nvSpPr>
        <p:spPr/>
        <p:txBody>
          <a:bodyPr>
            <a:normAutofit/>
          </a:bodyPr>
          <a:lstStyle/>
          <a:p>
            <a:r>
              <a:rPr lang="en-US" dirty="0"/>
              <a:t>Normalization and standardization</a:t>
            </a:r>
          </a:p>
          <a:p>
            <a:r>
              <a:rPr lang="en-US" dirty="0"/>
              <a:t>Binary coding, ranking transformation, and discretization</a:t>
            </a:r>
          </a:p>
          <a:p>
            <a:r>
              <a:rPr lang="en-US" dirty="0"/>
              <a:t>Attribute construction</a:t>
            </a:r>
          </a:p>
          <a:p>
            <a:r>
              <a:rPr lang="en-US" dirty="0"/>
              <a:t>Log transformation</a:t>
            </a:r>
          </a:p>
          <a:p>
            <a:r>
              <a:rPr lang="en-US" dirty="0"/>
              <a:t>Smoothing, aggregation, and binning</a:t>
            </a:r>
          </a:p>
        </p:txBody>
      </p:sp>
    </p:spTree>
    <p:extLst>
      <p:ext uri="{BB962C8B-B14F-4D97-AF65-F5344CB8AC3E}">
        <p14:creationId xmlns:p14="http://schemas.microsoft.com/office/powerpoint/2010/main" val="236607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58A03-C1B2-6FC3-68A4-8A341370122A}"/>
              </a:ext>
            </a:extLst>
          </p:cNvPr>
          <p:cNvSpPr>
            <a:spLocks noGrp="1"/>
          </p:cNvSpPr>
          <p:nvPr>
            <p:ph type="title"/>
          </p:nvPr>
        </p:nvSpPr>
        <p:spPr/>
        <p:txBody>
          <a:bodyPr/>
          <a:lstStyle/>
          <a:p>
            <a:r>
              <a:rPr lang="en-US" dirty="0"/>
              <a:t>Normalization and standardization</a:t>
            </a:r>
          </a:p>
        </p:txBody>
      </p:sp>
      <p:sp>
        <p:nvSpPr>
          <p:cNvPr id="3" name="Content Placeholder 2">
            <a:extLst>
              <a:ext uri="{FF2B5EF4-FFF2-40B4-BE49-F238E27FC236}">
                <a16:creationId xmlns:a16="http://schemas.microsoft.com/office/drawing/2014/main" id="{F5AB8E4D-35EB-B5BA-397A-88B98B9A1B92}"/>
              </a:ext>
            </a:extLst>
          </p:cNvPr>
          <p:cNvSpPr>
            <a:spLocks noGrp="1"/>
          </p:cNvSpPr>
          <p:nvPr>
            <p:ph idx="1"/>
          </p:nvPr>
        </p:nvSpPr>
        <p:spPr/>
        <p:txBody>
          <a:bodyPr>
            <a:normAutofit fontScale="77500" lnSpcReduction="20000"/>
          </a:bodyPr>
          <a:lstStyle/>
          <a:p>
            <a:r>
              <a:rPr lang="en-US" b="1" i="1" dirty="0">
                <a:effectLst/>
                <a:latin typeface="charter"/>
              </a:rPr>
              <a:t>Normalization </a:t>
            </a:r>
            <a:r>
              <a:rPr lang="en-US" dirty="0"/>
              <a:t>typically means rescales the values into a range of [0,1].</a:t>
            </a:r>
          </a:p>
          <a:p>
            <a:r>
              <a:rPr lang="en-US" b="1" i="1" dirty="0">
                <a:effectLst/>
                <a:latin typeface="charter"/>
              </a:rPr>
              <a:t>Standardization </a:t>
            </a:r>
            <a:r>
              <a:rPr lang="en-US" dirty="0"/>
              <a:t>typically means rescales data to have a mean of 0 and a standard deviation of 1 (unit variance).</a:t>
            </a:r>
          </a:p>
          <a:p>
            <a:r>
              <a:rPr lang="en-US" dirty="0"/>
              <a:t>When to use standardization and normalization</a:t>
            </a:r>
          </a:p>
          <a:p>
            <a:pPr lvl="1"/>
            <a:r>
              <a:rPr lang="en-US" dirty="0"/>
              <a:t>Data analytics technique require the range of all the attributes in a dataset to be equal</a:t>
            </a:r>
          </a:p>
          <a:p>
            <a:pPr lvl="2"/>
            <a:r>
              <a:rPr lang="en-US" dirty="0"/>
              <a:t>This will be needed especially for algorithmic data analytics that uses the distance between the data objects. (e.g. KNN, K-Means)</a:t>
            </a:r>
          </a:p>
          <a:p>
            <a:pPr lvl="1"/>
            <a:r>
              <a:rPr lang="en-US" dirty="0"/>
              <a:t>Data analytics technique require variance and/or the standard deviation of all the attributes to be equal.</a:t>
            </a:r>
          </a:p>
          <a:p>
            <a:pPr lvl="2"/>
            <a:r>
              <a:rPr lang="en-US" dirty="0"/>
              <a:t>E.g. PCA</a:t>
            </a:r>
          </a:p>
        </p:txBody>
      </p:sp>
    </p:spTree>
    <p:extLst>
      <p:ext uri="{BB962C8B-B14F-4D97-AF65-F5344CB8AC3E}">
        <p14:creationId xmlns:p14="http://schemas.microsoft.com/office/powerpoint/2010/main" val="1820946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B8276-2D9E-86B2-91BF-107BDD39BC2B}"/>
              </a:ext>
            </a:extLst>
          </p:cNvPr>
          <p:cNvSpPr>
            <a:spLocks noGrp="1"/>
          </p:cNvSpPr>
          <p:nvPr>
            <p:ph type="title"/>
          </p:nvPr>
        </p:nvSpPr>
        <p:spPr/>
        <p:txBody>
          <a:bodyPr/>
          <a:lstStyle/>
          <a:p>
            <a:r>
              <a:rPr lang="en-US" dirty="0"/>
              <a:t>Min-max normalization and standardizing</a:t>
            </a:r>
          </a:p>
        </p:txBody>
      </p:sp>
      <p:pic>
        <p:nvPicPr>
          <p:cNvPr id="7" name="Content Placeholder 6">
            <a:extLst>
              <a:ext uri="{FF2B5EF4-FFF2-40B4-BE49-F238E27FC236}">
                <a16:creationId xmlns:a16="http://schemas.microsoft.com/office/drawing/2014/main" id="{B1698417-636F-CA43-B01B-CDE9F54F66B2}"/>
              </a:ext>
            </a:extLst>
          </p:cNvPr>
          <p:cNvPicPr>
            <a:picLocks noGrp="1" noChangeAspect="1"/>
          </p:cNvPicPr>
          <p:nvPr>
            <p:ph sz="half" idx="1"/>
          </p:nvPr>
        </p:nvPicPr>
        <p:blipFill>
          <a:blip r:embed="rId2"/>
          <a:stretch>
            <a:fillRect/>
          </a:stretch>
        </p:blipFill>
        <p:spPr>
          <a:xfrm>
            <a:off x="943898" y="2137637"/>
            <a:ext cx="4222084" cy="3723413"/>
          </a:xfrm>
        </p:spPr>
      </p:pic>
      <p:sp>
        <p:nvSpPr>
          <p:cNvPr id="5" name="Content Placeholder 4">
            <a:extLst>
              <a:ext uri="{FF2B5EF4-FFF2-40B4-BE49-F238E27FC236}">
                <a16:creationId xmlns:a16="http://schemas.microsoft.com/office/drawing/2014/main" id="{9E440433-1DF1-1D20-D16C-07BC31EF8743}"/>
              </a:ext>
            </a:extLst>
          </p:cNvPr>
          <p:cNvSpPr>
            <a:spLocks noGrp="1"/>
          </p:cNvSpPr>
          <p:nvPr>
            <p:ph sz="half" idx="2"/>
          </p:nvPr>
        </p:nvSpPr>
        <p:spPr/>
        <p:txBody>
          <a:bodyPr>
            <a:normAutofit/>
          </a:bodyPr>
          <a:lstStyle/>
          <a:p>
            <a:r>
              <a:rPr lang="en-US" sz="2400" dirty="0"/>
              <a:t>Ex: using salary vs GPA for analysis</a:t>
            </a:r>
          </a:p>
          <a:p>
            <a:endParaRPr lang="en-US"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3959228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7AE7D-4BC9-4F98-DB73-48CB8415663F}"/>
              </a:ext>
            </a:extLst>
          </p:cNvPr>
          <p:cNvSpPr>
            <a:spLocks noGrp="1"/>
          </p:cNvSpPr>
          <p:nvPr>
            <p:ph type="title"/>
          </p:nvPr>
        </p:nvSpPr>
        <p:spPr/>
        <p:txBody>
          <a:bodyPr>
            <a:normAutofit fontScale="90000"/>
          </a:bodyPr>
          <a:lstStyle/>
          <a:p>
            <a:r>
              <a:rPr lang="en-US" dirty="0"/>
              <a:t>Binary coding, ranking transformation, and discretization</a:t>
            </a:r>
          </a:p>
        </p:txBody>
      </p:sp>
      <p:sp>
        <p:nvSpPr>
          <p:cNvPr id="5" name="Content Placeholder 4">
            <a:extLst>
              <a:ext uri="{FF2B5EF4-FFF2-40B4-BE49-F238E27FC236}">
                <a16:creationId xmlns:a16="http://schemas.microsoft.com/office/drawing/2014/main" id="{33B695D8-7D30-9AE4-BBB2-372BE3F2D9E7}"/>
              </a:ext>
            </a:extLst>
          </p:cNvPr>
          <p:cNvSpPr>
            <a:spLocks noGrp="1"/>
          </p:cNvSpPr>
          <p:nvPr>
            <p:ph idx="1"/>
          </p:nvPr>
        </p:nvSpPr>
        <p:spPr>
          <a:xfrm>
            <a:off x="581192" y="2003520"/>
            <a:ext cx="11029615" cy="3678303"/>
          </a:xfrm>
        </p:spPr>
        <p:txBody>
          <a:bodyPr>
            <a:normAutofit/>
          </a:bodyPr>
          <a:lstStyle/>
          <a:p>
            <a:r>
              <a:rPr lang="en-US" sz="2400" dirty="0"/>
              <a:t>Sometimes it is required to transform numerical representation to categorical representation, or vice versa. </a:t>
            </a:r>
          </a:p>
          <a:p>
            <a:r>
              <a:rPr lang="en-US" sz="2400" dirty="0"/>
              <a:t>To do these transformations binary coding, ranking transformation, and discretization could be used.</a:t>
            </a:r>
          </a:p>
          <a:p>
            <a:endParaRPr lang="en-US" sz="2400" dirty="0"/>
          </a:p>
          <a:p>
            <a:endParaRPr lang="en-US" sz="2400" dirty="0"/>
          </a:p>
          <a:p>
            <a:endParaRPr lang="en-US" sz="2400" dirty="0"/>
          </a:p>
        </p:txBody>
      </p:sp>
      <p:pic>
        <p:nvPicPr>
          <p:cNvPr id="7" name="Picture 6" descr="Diagram&#10;&#10;Description automatically generated">
            <a:extLst>
              <a:ext uri="{FF2B5EF4-FFF2-40B4-BE49-F238E27FC236}">
                <a16:creationId xmlns:a16="http://schemas.microsoft.com/office/drawing/2014/main" id="{6EB0A23A-835C-C3BA-3C64-5BA28C206649}"/>
              </a:ext>
            </a:extLst>
          </p:cNvPr>
          <p:cNvPicPr>
            <a:picLocks noChangeAspect="1"/>
          </p:cNvPicPr>
          <p:nvPr/>
        </p:nvPicPr>
        <p:blipFill>
          <a:blip r:embed="rId2"/>
          <a:stretch>
            <a:fillRect/>
          </a:stretch>
        </p:blipFill>
        <p:spPr>
          <a:xfrm>
            <a:off x="2177927" y="4009506"/>
            <a:ext cx="6862833" cy="2465036"/>
          </a:xfrm>
          <a:prstGeom prst="rect">
            <a:avLst/>
          </a:prstGeom>
        </p:spPr>
      </p:pic>
    </p:spTree>
    <p:extLst>
      <p:ext uri="{BB962C8B-B14F-4D97-AF65-F5344CB8AC3E}">
        <p14:creationId xmlns:p14="http://schemas.microsoft.com/office/powerpoint/2010/main" val="3321369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7925-DFEE-4E60-0028-AB567EC743FC}"/>
              </a:ext>
            </a:extLst>
          </p:cNvPr>
          <p:cNvSpPr>
            <a:spLocks noGrp="1"/>
          </p:cNvSpPr>
          <p:nvPr>
            <p:ph type="title"/>
          </p:nvPr>
        </p:nvSpPr>
        <p:spPr/>
        <p:txBody>
          <a:bodyPr>
            <a:normAutofit fontScale="90000"/>
          </a:bodyPr>
          <a:lstStyle/>
          <a:p>
            <a:r>
              <a:rPr lang="en-US" dirty="0"/>
              <a:t>Example : Binary coding, ranking transformation and attribute construction</a:t>
            </a:r>
          </a:p>
        </p:txBody>
      </p:sp>
      <p:pic>
        <p:nvPicPr>
          <p:cNvPr id="5" name="Content Placeholder 4" descr="Diagram&#10;&#10;Description automatically generated">
            <a:extLst>
              <a:ext uri="{FF2B5EF4-FFF2-40B4-BE49-F238E27FC236}">
                <a16:creationId xmlns:a16="http://schemas.microsoft.com/office/drawing/2014/main" id="{B5B7B397-3199-B631-FE08-0E7F77A013EA}"/>
              </a:ext>
            </a:extLst>
          </p:cNvPr>
          <p:cNvPicPr>
            <a:picLocks noGrp="1" noChangeAspect="1"/>
          </p:cNvPicPr>
          <p:nvPr>
            <p:ph idx="1"/>
          </p:nvPr>
        </p:nvPicPr>
        <p:blipFill>
          <a:blip r:embed="rId2"/>
          <a:stretch>
            <a:fillRect/>
          </a:stretch>
        </p:blipFill>
        <p:spPr>
          <a:xfrm>
            <a:off x="2093479" y="1864653"/>
            <a:ext cx="7227501" cy="4831115"/>
          </a:xfrm>
        </p:spPr>
      </p:pic>
    </p:spTree>
    <p:extLst>
      <p:ext uri="{BB962C8B-B14F-4D97-AF65-F5344CB8AC3E}">
        <p14:creationId xmlns:p14="http://schemas.microsoft.com/office/powerpoint/2010/main" val="2586294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F27A-E24A-3034-1D06-50CFCEF50335}"/>
              </a:ext>
            </a:extLst>
          </p:cNvPr>
          <p:cNvSpPr>
            <a:spLocks noGrp="1"/>
          </p:cNvSpPr>
          <p:nvPr>
            <p:ph type="title"/>
          </p:nvPr>
        </p:nvSpPr>
        <p:spPr/>
        <p:txBody>
          <a:bodyPr/>
          <a:lstStyle/>
          <a:p>
            <a:r>
              <a:rPr lang="en-US" dirty="0"/>
              <a:t>Discretization </a:t>
            </a:r>
          </a:p>
        </p:txBody>
      </p:sp>
      <p:sp>
        <p:nvSpPr>
          <p:cNvPr id="3" name="Content Placeholder 2">
            <a:extLst>
              <a:ext uri="{FF2B5EF4-FFF2-40B4-BE49-F238E27FC236}">
                <a16:creationId xmlns:a16="http://schemas.microsoft.com/office/drawing/2014/main" id="{200FEEBB-BC66-B865-52CE-7BA8980CD1E4}"/>
              </a:ext>
            </a:extLst>
          </p:cNvPr>
          <p:cNvSpPr>
            <a:spLocks noGrp="1"/>
          </p:cNvSpPr>
          <p:nvPr>
            <p:ph idx="1"/>
          </p:nvPr>
        </p:nvSpPr>
        <p:spPr/>
        <p:txBody>
          <a:bodyPr>
            <a:normAutofit/>
          </a:bodyPr>
          <a:lstStyle/>
          <a:p>
            <a:r>
              <a:rPr lang="en-US" sz="2400" dirty="0"/>
              <a:t>Equal width: equal width approach makes sure that cut-off points will lead to equal intervals of the numerical attribute</a:t>
            </a:r>
          </a:p>
          <a:p>
            <a:r>
              <a:rPr lang="en-US" sz="2400" dirty="0"/>
              <a:t>Equal frequency : aims to have an equal number of data objects in each bin.</a:t>
            </a:r>
          </a:p>
          <a:p>
            <a:r>
              <a:rPr lang="en-US" sz="2400" dirty="0"/>
              <a:t>Ad hoc approach : cut-off points are determined based on the knowledge about the attribute.</a:t>
            </a:r>
          </a:p>
          <a:p>
            <a:endParaRPr lang="en-US" sz="2400" dirty="0"/>
          </a:p>
          <a:p>
            <a:endParaRPr lang="en-US" sz="2400" dirty="0"/>
          </a:p>
          <a:p>
            <a:endParaRPr lang="en-US" sz="2400" dirty="0"/>
          </a:p>
        </p:txBody>
      </p:sp>
      <p:pic>
        <p:nvPicPr>
          <p:cNvPr id="5" name="Picture 4" descr="Chart, bar chart, histogram&#10;&#10;Description automatically generated">
            <a:extLst>
              <a:ext uri="{FF2B5EF4-FFF2-40B4-BE49-F238E27FC236}">
                <a16:creationId xmlns:a16="http://schemas.microsoft.com/office/drawing/2014/main" id="{ED6D7CCE-4BE2-522C-E7F4-B7411B5D43F7}"/>
              </a:ext>
            </a:extLst>
          </p:cNvPr>
          <p:cNvPicPr>
            <a:picLocks noChangeAspect="1"/>
          </p:cNvPicPr>
          <p:nvPr/>
        </p:nvPicPr>
        <p:blipFill rotWithShape="1">
          <a:blip r:embed="rId2"/>
          <a:srcRect l="10313" t="14425" r="20479"/>
          <a:stretch/>
        </p:blipFill>
        <p:spPr>
          <a:xfrm>
            <a:off x="2757948" y="4468760"/>
            <a:ext cx="3480620" cy="2389239"/>
          </a:xfrm>
          <a:prstGeom prst="rect">
            <a:avLst/>
          </a:prstGeom>
        </p:spPr>
      </p:pic>
      <p:pic>
        <p:nvPicPr>
          <p:cNvPr id="7" name="Picture 6" descr="Chart, bar chart&#10;&#10;Description automatically generated">
            <a:extLst>
              <a:ext uri="{FF2B5EF4-FFF2-40B4-BE49-F238E27FC236}">
                <a16:creationId xmlns:a16="http://schemas.microsoft.com/office/drawing/2014/main" id="{E5E1FF80-7DAE-48F1-23A5-5A0AC5D15F2C}"/>
              </a:ext>
            </a:extLst>
          </p:cNvPr>
          <p:cNvPicPr>
            <a:picLocks noChangeAspect="1"/>
          </p:cNvPicPr>
          <p:nvPr/>
        </p:nvPicPr>
        <p:blipFill rotWithShape="1">
          <a:blip r:embed="rId3"/>
          <a:srcRect t="14644"/>
          <a:stretch/>
        </p:blipFill>
        <p:spPr>
          <a:xfrm>
            <a:off x="6238568" y="4586748"/>
            <a:ext cx="5029200" cy="2271252"/>
          </a:xfrm>
          <a:prstGeom prst="rect">
            <a:avLst/>
          </a:prstGeom>
        </p:spPr>
      </p:pic>
    </p:spTree>
    <p:extLst>
      <p:ext uri="{BB962C8B-B14F-4D97-AF65-F5344CB8AC3E}">
        <p14:creationId xmlns:p14="http://schemas.microsoft.com/office/powerpoint/2010/main" val="4144297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5FECA-4803-B3D2-390D-9DCC5DBC07C6}"/>
              </a:ext>
            </a:extLst>
          </p:cNvPr>
          <p:cNvSpPr>
            <a:spLocks noGrp="1"/>
          </p:cNvSpPr>
          <p:nvPr>
            <p:ph type="title"/>
          </p:nvPr>
        </p:nvSpPr>
        <p:spPr/>
        <p:txBody>
          <a:bodyPr/>
          <a:lstStyle/>
          <a:p>
            <a:r>
              <a:rPr lang="en-US" dirty="0"/>
              <a:t>Attribute construction</a:t>
            </a:r>
          </a:p>
        </p:txBody>
      </p:sp>
      <p:sp>
        <p:nvSpPr>
          <p:cNvPr id="3" name="Content Placeholder 2">
            <a:extLst>
              <a:ext uri="{FF2B5EF4-FFF2-40B4-BE49-F238E27FC236}">
                <a16:creationId xmlns:a16="http://schemas.microsoft.com/office/drawing/2014/main" id="{ACF2EB74-35B9-F05F-711D-75AA50E43B7C}"/>
              </a:ext>
            </a:extLst>
          </p:cNvPr>
          <p:cNvSpPr>
            <a:spLocks noGrp="1"/>
          </p:cNvSpPr>
          <p:nvPr>
            <p:ph idx="1"/>
          </p:nvPr>
        </p:nvSpPr>
        <p:spPr/>
        <p:txBody>
          <a:bodyPr>
            <a:normAutofit fontScale="92500" lnSpcReduction="20000"/>
          </a:bodyPr>
          <a:lstStyle/>
          <a:p>
            <a:r>
              <a:rPr lang="en-US" dirty="0"/>
              <a:t>Attribute Construction uses the knowledge about the original attribute to assume more accurate information into the transformed data. </a:t>
            </a:r>
          </a:p>
          <a:p>
            <a:pPr lvl="1"/>
            <a:r>
              <a:rPr lang="en-US" dirty="0"/>
              <a:t>Example : as we know, achieving any of the degrees in the Education Level attribute takes a different number of years of education.</a:t>
            </a:r>
          </a:p>
          <a:p>
            <a:r>
              <a:rPr lang="en-US" dirty="0"/>
              <a:t>Attribute construction can also be done by combining more than one attribute. </a:t>
            </a:r>
          </a:p>
          <a:p>
            <a:pPr lvl="1"/>
            <a:r>
              <a:rPr lang="en-US" dirty="0"/>
              <a:t>Example: determining whether a person is healthy by interpreting the BMI received based on height and weight)</a:t>
            </a:r>
          </a:p>
        </p:txBody>
      </p:sp>
    </p:spTree>
    <p:extLst>
      <p:ext uri="{BB962C8B-B14F-4D97-AF65-F5344CB8AC3E}">
        <p14:creationId xmlns:p14="http://schemas.microsoft.com/office/powerpoint/2010/main" val="24335578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BC12AA-1C15-4500-BC9C-8EE83A441DE9}">
  <ds:schemaRefs>
    <ds:schemaRef ds:uri="16c05727-aa75-4e4a-9b5f-8a80a1165891"/>
    <ds:schemaRef ds:uri="http://purl.org/dc/dcmitype/"/>
    <ds:schemaRef ds:uri="http://purl.org/dc/elements/1.1/"/>
    <ds:schemaRef ds:uri="http://schemas.openxmlformats.org/package/2006/metadata/core-properties"/>
    <ds:schemaRef ds:uri="http://purl.org/dc/terms/"/>
    <ds:schemaRef ds:uri="http://schemas.microsoft.com/office/2006/documentManagement/types"/>
    <ds:schemaRef ds:uri="http://www.w3.org/XML/1998/namespace"/>
    <ds:schemaRef ds:uri="71af3243-3dd4-4a8d-8c0d-dd76da1f02a5"/>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BA0CF3B2-1F0F-4FC5-8002-3E4869ABAD55}">
  <ds:schemaRefs>
    <ds:schemaRef ds:uri="http://schemas.microsoft.com/sharepoint/v3/contenttype/forms"/>
  </ds:schemaRefs>
</ds:datastoreItem>
</file>

<file path=customXml/itemProps3.xml><?xml version="1.0" encoding="utf-8"?>
<ds:datastoreItem xmlns:ds="http://schemas.openxmlformats.org/officeDocument/2006/customXml" ds:itemID="{1F69AFF4-BB30-4BA0-AD22-82CC3C432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Dividend design</Template>
  <TotalTime>0</TotalTime>
  <Words>2455</Words>
  <Application>Microsoft Office PowerPoint</Application>
  <PresentationFormat>Widescreen</PresentationFormat>
  <Paragraphs>191</Paragraphs>
  <Slides>32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Calibri</vt:lpstr>
      <vt:lpstr>charter</vt:lpstr>
      <vt:lpstr>Gill Sans MT</vt:lpstr>
      <vt:lpstr>urw-din</vt:lpstr>
      <vt:lpstr>Wingdings</vt:lpstr>
      <vt:lpstr>Wingdings 2</vt:lpstr>
      <vt:lpstr>Dividend</vt:lpstr>
      <vt:lpstr>2.Data pre-processing and feature engineering</vt:lpstr>
      <vt:lpstr>Data</vt:lpstr>
      <vt:lpstr>Data which need Cleaning</vt:lpstr>
      <vt:lpstr>data pre-processing</vt:lpstr>
      <vt:lpstr>Incomplete(Missing) data</vt:lpstr>
      <vt:lpstr>Types of missing values</vt:lpstr>
      <vt:lpstr>Dealing with missing values</vt:lpstr>
      <vt:lpstr>Dealing with missing values</vt:lpstr>
      <vt:lpstr>Dealing with missing values (Contd.)</vt:lpstr>
      <vt:lpstr>Outliers</vt:lpstr>
      <vt:lpstr>Outlier detection</vt:lpstr>
      <vt:lpstr>Approaches to deal with outliers</vt:lpstr>
      <vt:lpstr>Data reduction</vt:lpstr>
      <vt:lpstr>Objectives of data reduction</vt:lpstr>
      <vt:lpstr>Numerosity data reduction </vt:lpstr>
      <vt:lpstr>Dimensionality reduction</vt:lpstr>
      <vt:lpstr>Dimension reduction techniques</vt:lpstr>
      <vt:lpstr>Filter methods</vt:lpstr>
      <vt:lpstr>Examples for filter methods</vt:lpstr>
      <vt:lpstr>Examples for filter methods</vt:lpstr>
      <vt:lpstr>Wrapper methods</vt:lpstr>
      <vt:lpstr>Wrapper methods (contd.)</vt:lpstr>
      <vt:lpstr>Embedded methods</vt:lpstr>
      <vt:lpstr>Other feature selection techniques</vt:lpstr>
      <vt:lpstr>Feature extraction techniques</vt:lpstr>
      <vt:lpstr>Data transformation</vt:lpstr>
      <vt:lpstr>Normalization and standardization</vt:lpstr>
      <vt:lpstr>Min-max normalization and standardizing</vt:lpstr>
      <vt:lpstr>Binary coding, ranking transformation, and discretization</vt:lpstr>
      <vt:lpstr>Example : Binary coding, ranking transformation and attribute construction</vt:lpstr>
      <vt:lpstr>Discretization </vt:lpstr>
      <vt:lpstr>Attribute construction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2019-02-27T03:17:00Z</dcterms:created>
  <dcterms:modified xsi:type="dcterms:W3CDTF">2025-07-30T03:44:21Z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