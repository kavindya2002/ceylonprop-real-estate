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handoutMasterIdLst>
    <p:handoutMasterId r:id="rId36"/>
  </p:handoutMasterIdLst>
  <p:sldIdLst>
    <p:sldId id="256" r:id="rId5"/>
    <p:sldId id="416" r:id="rId6"/>
    <p:sldId id="417" r:id="rId7"/>
    <p:sldId id="419" r:id="rId8"/>
    <p:sldId id="420" r:id="rId9"/>
    <p:sldId id="422" r:id="rId10"/>
    <p:sldId id="421" r:id="rId11"/>
    <p:sldId id="423" r:id="rId12"/>
    <p:sldId id="426" r:id="rId13"/>
    <p:sldId id="427" r:id="rId14"/>
    <p:sldId id="424" r:id="rId15"/>
    <p:sldId id="442" r:id="rId16"/>
    <p:sldId id="444" r:id="rId17"/>
    <p:sldId id="447" r:id="rId18"/>
    <p:sldId id="441" r:id="rId19"/>
    <p:sldId id="432" r:id="rId20"/>
    <p:sldId id="433" r:id="rId21"/>
    <p:sldId id="448" r:id="rId22"/>
    <p:sldId id="431" r:id="rId23"/>
    <p:sldId id="434" r:id="rId24"/>
    <p:sldId id="445" r:id="rId25"/>
    <p:sldId id="446" r:id="rId26"/>
    <p:sldId id="418" r:id="rId27"/>
    <p:sldId id="430" r:id="rId28"/>
    <p:sldId id="429" r:id="rId29"/>
    <p:sldId id="435" r:id="rId30"/>
    <p:sldId id="436" r:id="rId31"/>
    <p:sldId id="438" r:id="rId32"/>
    <p:sldId id="440" r:id="rId33"/>
    <p:sldId id="437" r:id="rId34"/>
    <p:sldId id="260" r:id="rId3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26" autoAdjust="0"/>
    <p:restoredTop sz="94648" autoAdjust="0"/>
  </p:normalViewPr>
  <p:slideViewPr>
    <p:cSldViewPr snapToGrid="0">
      <p:cViewPr varScale="1">
        <p:scale>
          <a:sx n="68" d="100"/>
          <a:sy n="68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52984-7118-460F-BE3F-B40B1CE0FCE0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27C0E-6BF5-444D-BA45-C000BCEF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79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Data Science &amp; analytics (it3080)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of regression</a:t>
            </a:r>
          </a:p>
          <a:p>
            <a:r>
              <a:rPr lang="en-US" dirty="0"/>
              <a:t>Simple linear-regression</a:t>
            </a:r>
          </a:p>
          <a:p>
            <a:r>
              <a:rPr lang="en-US" dirty="0"/>
              <a:t>Least square method</a:t>
            </a:r>
          </a:p>
          <a:p>
            <a:r>
              <a:rPr lang="en-US" dirty="0"/>
              <a:t>Determinants of a good regression</a:t>
            </a:r>
          </a:p>
          <a:p>
            <a:r>
              <a:rPr lang="en-US" dirty="0"/>
              <a:t>Multiple regression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4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applications of regression</a:t>
            </a:r>
          </a:p>
          <a:p>
            <a:r>
              <a:rPr lang="en-US" dirty="0"/>
              <a:t>Explain determinants of a good regression</a:t>
            </a:r>
          </a:p>
          <a:p>
            <a:r>
              <a:rPr lang="en-US" dirty="0"/>
              <a:t>Develop a simple linear regression model for a given dataset</a:t>
            </a:r>
          </a:p>
          <a:p>
            <a:r>
              <a:rPr lang="en-US" dirty="0"/>
              <a:t>Interpret results obtained by application of simple and multiple regression in python.</a:t>
            </a:r>
          </a:p>
        </p:txBody>
      </p:sp>
    </p:spTree>
    <p:extLst>
      <p:ext uri="{BB962C8B-B14F-4D97-AF65-F5344CB8AC3E}">
        <p14:creationId xmlns:p14="http://schemas.microsoft.com/office/powerpoint/2010/main" val="326350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Regression analysis is a statistical technique for investigating and modeling the relationship between variables. </a:t>
            </a:r>
          </a:p>
          <a:p>
            <a:r>
              <a:rPr lang="en-US" dirty="0"/>
              <a:t>It is also one of the most common methods of prediction </a:t>
            </a:r>
          </a:p>
          <a:p>
            <a:r>
              <a:rPr lang="en-US" altLang="en-US" dirty="0"/>
              <a:t>The technique concerned with predicting some variables by knowing others</a:t>
            </a:r>
          </a:p>
          <a:p>
            <a:r>
              <a:rPr lang="en-US" dirty="0"/>
              <a:t>More precisely regression attempts to explain the variation in a dependent variable using the variation in independent variables.</a:t>
            </a:r>
          </a:p>
          <a:p>
            <a:r>
              <a:rPr lang="en-US" dirty="0"/>
              <a:t>It is used whenever there is a causal relationship between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Prediction of </a:t>
            </a:r>
          </a:p>
          <a:p>
            <a:pPr lvl="1"/>
            <a:r>
              <a:rPr lang="en-US" dirty="0"/>
              <a:t>Economy growth</a:t>
            </a:r>
          </a:p>
          <a:p>
            <a:pPr lvl="1"/>
            <a:r>
              <a:rPr lang="en-US" dirty="0"/>
              <a:t>Sales, </a:t>
            </a:r>
          </a:p>
          <a:p>
            <a:pPr lvl="1"/>
            <a:r>
              <a:rPr lang="en-US" dirty="0"/>
              <a:t>Product prices &amp; etc.</a:t>
            </a:r>
          </a:p>
          <a:p>
            <a:r>
              <a:rPr lang="en-US" dirty="0"/>
              <a:t>Optimizing business processes</a:t>
            </a:r>
          </a:p>
          <a:p>
            <a:r>
              <a:rPr lang="en-US" dirty="0"/>
              <a:t>Generate insights on consumer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3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of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Select some sample data </a:t>
            </a:r>
          </a:p>
          <a:p>
            <a:r>
              <a:rPr lang="en-US" dirty="0"/>
              <a:t>Design a model that works for that sample</a:t>
            </a:r>
          </a:p>
          <a:p>
            <a:r>
              <a:rPr lang="en-US" dirty="0"/>
              <a:t>Make the prediction for the population based on the model developed.</a:t>
            </a:r>
          </a:p>
          <a:p>
            <a:pPr lvl="1"/>
            <a:r>
              <a:rPr lang="en-US" dirty="0"/>
              <a:t>Population:  is a group of phenomena that have something in common. </a:t>
            </a:r>
          </a:p>
          <a:p>
            <a:pPr lvl="1"/>
            <a:r>
              <a:rPr lang="en-US" dirty="0"/>
              <a:t>Sample: is a smaller group of members of a population selected to represent the population</a:t>
            </a:r>
          </a:p>
        </p:txBody>
      </p:sp>
    </p:spTree>
    <p:extLst>
      <p:ext uri="{BB962C8B-B14F-4D97-AF65-F5344CB8AC3E}">
        <p14:creationId xmlns:p14="http://schemas.microsoft.com/office/powerpoint/2010/main" val="98860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Linear regression assumes l</a:t>
            </a:r>
            <a:r>
              <a:rPr lang="en-US" altLang="zh-TW" dirty="0"/>
              <a:t>inear dependence between two or more variables: constant rate of increase of one variable with respect to another.</a:t>
            </a:r>
          </a:p>
          <a:p>
            <a:r>
              <a:rPr lang="en-US" altLang="zh-TW" dirty="0"/>
              <a:t>Examples:</a:t>
            </a:r>
          </a:p>
          <a:p>
            <a:pPr marL="576000" lvl="2"/>
            <a:r>
              <a:rPr lang="en-US" altLang="zh-TW" dirty="0"/>
              <a:t> Income and educational level</a:t>
            </a:r>
          </a:p>
          <a:p>
            <a:pPr marL="576000" lvl="2"/>
            <a:r>
              <a:rPr lang="en-US" altLang="zh-TW" dirty="0"/>
              <a:t> Demand for electricity and the weather</a:t>
            </a:r>
          </a:p>
          <a:p>
            <a:pPr marL="576000" lvl="2"/>
            <a:r>
              <a:rPr lang="en-US" altLang="zh-TW" dirty="0"/>
              <a:t> Home sales and interest rates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1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Assume Y is a dependent variable which is being predicted.</a:t>
            </a:r>
          </a:p>
          <a:p>
            <a:r>
              <a:rPr lang="en-US" dirty="0"/>
              <a:t>Assume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 ….,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are independent variables which are predictors.</a:t>
            </a:r>
          </a:p>
          <a:p>
            <a:r>
              <a:rPr lang="en-US" dirty="0"/>
              <a:t>In linear regression we assume that Y is a function of the independent variable x</a:t>
            </a:r>
            <a:r>
              <a:rPr lang="en-US" baseline="-25000" dirty="0"/>
              <a:t>1</a:t>
            </a:r>
            <a:r>
              <a:rPr lang="en-US" dirty="0"/>
              <a:t> to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which could be denoted as </a:t>
            </a:r>
          </a:p>
          <a:p>
            <a:pPr marL="0" indent="0">
              <a:buNone/>
            </a:pPr>
            <a:r>
              <a:rPr lang="en-US" dirty="0"/>
              <a:t>					Y= F(x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 ….,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)</a:t>
            </a:r>
          </a:p>
          <a:p>
            <a:r>
              <a:rPr lang="en-US" dirty="0"/>
              <a:t>Simple linear regression which considers only one independent variable is the simplest form of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420829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 -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994420" cy="400515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Suppose we assume that there is a linear relationship between your years of education and salary.</a:t>
            </a:r>
          </a:p>
          <a:p>
            <a:r>
              <a:rPr lang="en-US" dirty="0"/>
              <a:t>We collect data from a number of people regarding their education and salary.</a:t>
            </a:r>
          </a:p>
          <a:p>
            <a:r>
              <a:rPr lang="en-US" dirty="0"/>
              <a:t>When we plot the data using a scatter plot as shown in figure we can clearly suggests a linear relationship between years of education and salary.</a:t>
            </a:r>
          </a:p>
          <a:p>
            <a:r>
              <a:rPr lang="en-US" dirty="0"/>
              <a:t>The data points in the plot generally, but not exactly, fall along a straight line.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" r="50921" b="11149"/>
          <a:stretch/>
        </p:blipFill>
        <p:spPr>
          <a:xfrm>
            <a:off x="6575613" y="2689634"/>
            <a:ext cx="2568388" cy="2467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57" b="11697"/>
          <a:stretch/>
        </p:blipFill>
        <p:spPr>
          <a:xfrm>
            <a:off x="9480177" y="2689634"/>
            <a:ext cx="2466807" cy="24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9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y represent salary and x represent years of education, then the equation of a straight line relating these two variables could be shown in the format : y=</a:t>
            </a:r>
            <a:r>
              <a:rPr lang="en-US" altLang="zh-TW" i="1" dirty="0">
                <a:latin typeface="Book Antiqua" panose="02040602050305030304" pitchFamily="18" charset="0"/>
                <a:sym typeface="Symbol" panose="05050102010706020507" pitchFamily="18" charset="2"/>
              </a:rPr>
              <a:t> </a:t>
            </a:r>
            <a:r>
              <a:rPr lang="en-US" altLang="zh-TW" baseline="-30000" dirty="0">
                <a:latin typeface="Book Antiqua" panose="02040602050305030304" pitchFamily="18" charset="0"/>
              </a:rPr>
              <a:t>0</a:t>
            </a:r>
            <a:r>
              <a:rPr lang="en-US" altLang="zh-TW" dirty="0">
                <a:latin typeface="Book Antiqua" panose="02040602050305030304" pitchFamily="18" charset="0"/>
              </a:rPr>
              <a:t> + </a:t>
            </a:r>
            <a:r>
              <a:rPr lang="en-US" altLang="zh-TW" i="1" dirty="0">
                <a:latin typeface="Book Antiqua" panose="02040602050305030304" pitchFamily="18" charset="0"/>
                <a:sym typeface="Symbol" panose="05050102010706020507" pitchFamily="18" charset="2"/>
              </a:rPr>
              <a:t></a:t>
            </a:r>
            <a:r>
              <a:rPr lang="en-US" altLang="zh-TW" baseline="-30000" dirty="0">
                <a:latin typeface="Book Antiqua" panose="02040602050305030304" pitchFamily="18" charset="0"/>
              </a:rPr>
              <a:t>1</a:t>
            </a:r>
            <a:r>
              <a:rPr lang="en-US" altLang="zh-TW" dirty="0">
                <a:latin typeface="Book Antiqua" panose="02040602050305030304" pitchFamily="18" charset="0"/>
              </a:rPr>
              <a:t>x+</a:t>
            </a:r>
            <a:r>
              <a:rPr lang="az-Cyrl-AZ" altLang="zh-TW" dirty="0">
                <a:latin typeface="Sylfaen" panose="010A0502050306030303" pitchFamily="18" charset="0"/>
              </a:rPr>
              <a:t>є</a:t>
            </a:r>
            <a:endParaRPr lang="en-US" altLang="zh-TW" dirty="0">
              <a:latin typeface="Sylfaen" panose="010A0502050306030303" pitchFamily="18" charset="0"/>
            </a:endParaRPr>
          </a:p>
          <a:p>
            <a:pPr marL="576000" lvl="2"/>
            <a:r>
              <a:rPr lang="en-US" altLang="zh-TW" dirty="0"/>
              <a:t>β</a:t>
            </a:r>
            <a:r>
              <a:rPr lang="en-US" altLang="zh-TW" baseline="-25000" dirty="0"/>
              <a:t>0</a:t>
            </a:r>
            <a:r>
              <a:rPr lang="en-US" altLang="zh-TW" dirty="0"/>
              <a:t> is the intercept and β</a:t>
            </a:r>
            <a:r>
              <a:rPr lang="en-US" altLang="zh-TW" baseline="-25000" dirty="0"/>
              <a:t>1</a:t>
            </a:r>
            <a:r>
              <a:rPr lang="en-US" altLang="zh-TW" dirty="0"/>
              <a:t> is the slope. </a:t>
            </a:r>
          </a:p>
          <a:p>
            <a:pPr marL="576000" lvl="2"/>
            <a:r>
              <a:rPr lang="en-US" altLang="zh-TW" dirty="0"/>
              <a:t>The data points do not fall exactly on a straight line and it should be reflected in the equation.</a:t>
            </a:r>
          </a:p>
          <a:p>
            <a:pPr marL="576000" lvl="2"/>
            <a:r>
              <a:rPr lang="en-US" altLang="zh-TW" dirty="0"/>
              <a:t>error ε  is the the difference between the observed value of y and the straight line (β</a:t>
            </a:r>
            <a:r>
              <a:rPr lang="en-US" altLang="zh-TW" baseline="-25000" dirty="0"/>
              <a:t>0</a:t>
            </a:r>
            <a:r>
              <a:rPr lang="en-US" altLang="zh-TW" dirty="0"/>
              <a:t> + β</a:t>
            </a:r>
            <a:r>
              <a:rPr lang="en-US" altLang="zh-TW" baseline="-25000" dirty="0"/>
              <a:t>1</a:t>
            </a:r>
            <a:r>
              <a:rPr lang="en-US" altLang="zh-TW" dirty="0"/>
              <a:t>x) </a:t>
            </a:r>
          </a:p>
        </p:txBody>
      </p:sp>
    </p:spTree>
    <p:extLst>
      <p:ext uri="{BB962C8B-B14F-4D97-AF65-F5344CB8AC3E}">
        <p14:creationId xmlns:p14="http://schemas.microsoft.com/office/powerpoint/2010/main" val="122182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06000" lvl="1">
                  <a:lnSpc>
                    <a:spcPct val="80000"/>
                  </a:lnSpc>
                </a:pPr>
                <a:r>
                  <a:rPr lang="en-US" dirty="0"/>
                  <a:t>Equation y=</a:t>
                </a:r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 </a:t>
                </a:r>
                <a:r>
                  <a:rPr lang="en-US" altLang="zh-TW" baseline="-30000" dirty="0">
                    <a:latin typeface="Book Antiqua" panose="02040602050305030304" pitchFamily="18" charset="0"/>
                  </a:rPr>
                  <a:t>0</a:t>
                </a:r>
                <a:r>
                  <a:rPr lang="en-US" altLang="zh-TW" dirty="0">
                    <a:latin typeface="Book Antiqua" panose="02040602050305030304" pitchFamily="18" charset="0"/>
                  </a:rPr>
                  <a:t> + </a:t>
                </a:r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TW" baseline="-30000" dirty="0">
                    <a:latin typeface="Book Antiqua" panose="02040602050305030304" pitchFamily="18" charset="0"/>
                  </a:rPr>
                  <a:t>1</a:t>
                </a:r>
                <a:r>
                  <a:rPr lang="en-US" altLang="zh-TW" dirty="0">
                    <a:latin typeface="Book Antiqua" panose="02040602050305030304" pitchFamily="18" charset="0"/>
                  </a:rPr>
                  <a:t>x +</a:t>
                </a:r>
                <a:r>
                  <a:rPr lang="az-Cyrl-AZ" altLang="zh-TW" dirty="0">
                    <a:latin typeface="Sylfaen" panose="010A0502050306030303" pitchFamily="18" charset="0"/>
                  </a:rPr>
                  <a:t>є</a:t>
                </a:r>
                <a:r>
                  <a:rPr lang="en-US" altLang="zh-TW" dirty="0">
                    <a:latin typeface="Sylfaen" panose="010A0502050306030303" pitchFamily="18" charset="0"/>
                  </a:rPr>
                  <a:t> </a:t>
                </a:r>
                <a:r>
                  <a:rPr lang="en-US" altLang="zh-TW" sz="2500" dirty="0"/>
                  <a:t>is called a linear regression model.</a:t>
                </a:r>
              </a:p>
              <a:p>
                <a:pPr marL="306000" lvl="1">
                  <a:lnSpc>
                    <a:spcPct val="80000"/>
                  </a:lnSpc>
                </a:pPr>
                <a:r>
                  <a:rPr lang="en-US" altLang="zh-TW" dirty="0"/>
                  <a:t>Customarily x is called the independent variable and y is called the dependent variable. </a:t>
                </a:r>
              </a:p>
              <a:p>
                <a:pPr marL="306000" lvl="1">
                  <a:lnSpc>
                    <a:spcPct val="80000"/>
                  </a:lnSpc>
                </a:pPr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TW" i="1" baseline="-25000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1</a:t>
                </a:r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and </a:t>
                </a:r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TW" baseline="-30000" dirty="0">
                    <a:latin typeface="Book Antiqua" panose="02040602050305030304" pitchFamily="18" charset="0"/>
                  </a:rPr>
                  <a:t>0</a:t>
                </a:r>
                <a:r>
                  <a:rPr lang="en-US" altLang="zh-TW" dirty="0">
                    <a:latin typeface="Book Antiqua" panose="02040602050305030304" pitchFamily="18" charset="0"/>
                  </a:rPr>
                  <a:t> </a:t>
                </a:r>
                <a:r>
                  <a:rPr lang="en-US" altLang="zh-TW" dirty="0"/>
                  <a:t>are regression coefficients</a:t>
                </a:r>
              </a:p>
              <a:p>
                <a:pPr marL="306000" lvl="1">
                  <a:lnSpc>
                    <a:spcPct val="80000"/>
                  </a:lnSpc>
                </a:pPr>
                <a:r>
                  <a:rPr lang="en-US" dirty="0"/>
                  <a:t>Suppose that the mean and variance of ε are 0 and σ</a:t>
                </a:r>
                <a:r>
                  <a:rPr lang="en-US" baseline="30000" dirty="0"/>
                  <a:t>2</a:t>
                </a:r>
                <a:r>
                  <a:rPr lang="en-US" dirty="0"/>
                  <a:t> respectively. </a:t>
                </a:r>
              </a:p>
              <a:p>
                <a:pPr marL="306000" lvl="1"/>
                <a:r>
                  <a:rPr lang="en-US" dirty="0"/>
                  <a:t>Then the equation for the regression line (</a:t>
                </a:r>
                <a:r>
                  <a:rPr lang="en-US" dirty="0" err="1"/>
                  <a:t>i.e</a:t>
                </a:r>
                <a:r>
                  <a:rPr lang="en-US" dirty="0"/>
                  <a:t> best fitted line) for the points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i="1" dirty="0">
                            <a:latin typeface="Book Antiqua" panose="02040602050305030304" pitchFamily="18" charset="0"/>
                            <a:sym typeface="Symbol" panose="05050102010706020507" pitchFamily="18" charset="2"/>
                          </a:rPr>
                          <m:t></m:t>
                        </m:r>
                      </m:e>
                    </m:acc>
                  </m:oMath>
                </a14:m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baseline="-30000" dirty="0">
                    <a:latin typeface="Book Antiqua" panose="02040602050305030304" pitchFamily="18" charset="0"/>
                  </a:rPr>
                  <a:t>0</a:t>
                </a:r>
                <a:r>
                  <a:rPr lang="en-US" altLang="zh-TW" dirty="0">
                    <a:latin typeface="Book Antiqua" panose="0204060205030503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i="1" dirty="0">
                            <a:latin typeface="Book Antiqua" panose="02040602050305030304" pitchFamily="18" charset="0"/>
                            <a:sym typeface="Symbol" panose="05050102010706020507" pitchFamily="18" charset="2"/>
                          </a:rPr>
                          <m:t></m:t>
                        </m:r>
                      </m:e>
                    </m:acc>
                  </m:oMath>
                </a14:m>
                <a:r>
                  <a:rPr lang="en-US" altLang="zh-TW" i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baseline="-30000" dirty="0">
                    <a:latin typeface="Book Antiqua" panose="02040602050305030304" pitchFamily="18" charset="0"/>
                  </a:rPr>
                  <a:t>1</a:t>
                </a:r>
                <a:r>
                  <a:rPr lang="en-US" altLang="zh-TW" dirty="0">
                    <a:latin typeface="Book Antiqua" panose="02040602050305030304" pitchFamily="18" charset="0"/>
                  </a:rPr>
                  <a:t>x</a:t>
                </a:r>
                <a:endParaRPr lang="en-US" altLang="zh-TW" dirty="0">
                  <a:latin typeface="Sylfaen" panose="010A0502050306030303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b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16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simple linear regression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Linearity: The existing relation between X and Y is linear</a:t>
            </a:r>
          </a:p>
          <a:p>
            <a:r>
              <a:rPr lang="en-US" dirty="0"/>
              <a:t>Homogeneity: The mean value of the error is zero</a:t>
            </a:r>
          </a:p>
          <a:p>
            <a:r>
              <a:rPr lang="en-US" dirty="0"/>
              <a:t>Homoscedasticity: The variance of the errors is constant</a:t>
            </a:r>
          </a:p>
          <a:p>
            <a:r>
              <a:rPr lang="en-US" dirty="0"/>
              <a:t>Normality: The predicted variable and errors follow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81161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simple linear regression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8769" y="2735880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The existing relation between X and Y is linear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Homogeneity: The mean value of the error is zero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19" y="2939048"/>
            <a:ext cx="3990315" cy="13419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143" y="2981552"/>
            <a:ext cx="3713430" cy="12569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126" y="4865825"/>
            <a:ext cx="3012344" cy="18518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755" y="4987654"/>
            <a:ext cx="2686775" cy="167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5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linearity of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13589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Correlation measures the strength of the linear association between two variables</a:t>
                </a:r>
              </a:p>
              <a:p>
                <a:r>
                  <a:rPr lang="en-US" dirty="0" err="1"/>
                  <a:t>Cov</a:t>
                </a:r>
                <a:r>
                  <a:rPr lang="en-US" dirty="0"/>
                  <a:t> (x, y)=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 err="1"/>
                  <a:t>Cor</a:t>
                </a:r>
                <a:r>
                  <a:rPr lang="en-US" dirty="0"/>
                  <a:t> (</a:t>
                </a:r>
                <a:r>
                  <a:rPr lang="en-US" dirty="0" err="1"/>
                  <a:t>x,y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Cov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,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b="1" i="1" baseline="-2500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.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𝑺𝒚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-1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dirty="0" smtClean="0"/>
                      <m:t>Cor</m:t>
                    </m:r>
                    <m:r>
                      <m:rPr>
                        <m:nor/>
                      </m:rPr>
                      <a:rPr lang="en-US" dirty="0" smtClean="0"/>
                      <m:t> (</m:t>
                    </m:r>
                    <m:r>
                      <m:rPr>
                        <m:nor/>
                      </m:rPr>
                      <a:rPr lang="en-US" dirty="0" smtClean="0"/>
                      <m:t>x</m:t>
                    </m:r>
                    <m:r>
                      <m:rPr>
                        <m:nor/>
                      </m:rPr>
                      <a:rPr lang="en-US" dirty="0" smtClean="0"/>
                      <m:t>,</m:t>
                    </m:r>
                    <m:r>
                      <m:rPr>
                        <m:nor/>
                      </m:rPr>
                      <a:rPr lang="en-US" dirty="0" smtClean="0"/>
                      <m:t>y</m:t>
                    </m:r>
                    <m:r>
                      <m:rPr>
                        <m:nor/>
                      </m:rPr>
                      <a:rPr lang="en-US" dirty="0" smtClean="0"/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+1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Cor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= -1 represents, one variable is increase one unit, then with respect to that variable the other variable decrease in exactly one unit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Cor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= +1 represents, one variable is increase one unit, then with respect to that variable the other variable increase in exactly one unit</a:t>
                </a:r>
              </a:p>
              <a:p>
                <a:r>
                  <a:rPr lang="en-US" dirty="0"/>
                  <a:t>If </a:t>
                </a:r>
                <a:r>
                  <a:rPr lang="en-US" dirty="0" err="1"/>
                  <a:t>Cor</a:t>
                </a:r>
                <a:r>
                  <a:rPr lang="en-US" dirty="0"/>
                  <a:t> (</a:t>
                </a:r>
                <a:r>
                  <a:rPr lang="en-US" dirty="0" err="1"/>
                  <a:t>x,y</a:t>
                </a:r>
                <a:r>
                  <a:rPr lang="en-US" dirty="0"/>
                  <a:t>) = 0 : There is no any linear relation between x and y variable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135898"/>
              </a:xfrm>
              <a:blipFill>
                <a:blip r:embed="rId2"/>
                <a:stretch>
                  <a:fillRect l="-387" t="-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30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Simple linear regression model (contd.)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</a:t>
            </a:r>
            <a:r>
              <a:rPr lang="en-US" sz="2400" dirty="0" err="1"/>
              <a:t>Cor</a:t>
            </a:r>
            <a:r>
              <a:rPr lang="en-US" sz="2400" dirty="0"/>
              <a:t> (X,Y) &gt; 0 there is a positive linear relationship. Then then β1 &gt; 0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If </a:t>
            </a:r>
            <a:r>
              <a:rPr lang="en-US" sz="2400" dirty="0" err="1"/>
              <a:t>Cor</a:t>
            </a:r>
            <a:r>
              <a:rPr lang="en-US" sz="2400" dirty="0"/>
              <a:t> (X,Y) &lt; 0 there is a negative linear relationship. Then β1 &lt; 0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0" y="3348317"/>
            <a:ext cx="4373202" cy="28061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596" y="3356345"/>
            <a:ext cx="4244716" cy="279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6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 of a good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158089" cy="367830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Sum of squares total (SST) : squared differences between observed dependent variables and its mean. It represents the total variability of the dataset.</a:t>
                </a:r>
              </a:p>
              <a:p>
                <a:pPr lvl="1"/>
                <a:r>
                  <a:rPr lang="en-US" dirty="0"/>
                  <a:t>SST=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i="1" baseline="30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Sum of squares regression (SSR) : Squared difference between predicted value and the mean of the variable. It represents  discrepancy between a model and actual data (explained variability)</a:t>
                </a:r>
              </a:p>
              <a:p>
                <a:pPr lvl="1"/>
                <a:r>
                  <a:rPr lang="en-US" dirty="0"/>
                  <a:t>SSR=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cy-GB" i="1" smtClean="0">
                                <a:latin typeface="Cambria Math" panose="02040503050406030204" pitchFamily="18" charset="0"/>
                              </a:rPr>
                              <m:t>ŷ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Sum of squared error (SSE) : squared difference between predicted value and the observed value. It represents the error in prediction (Unexplained variability)</a:t>
                </a:r>
              </a:p>
              <a:p>
                <a:pPr lvl="1"/>
                <a:r>
                  <a:rPr lang="en-US" dirty="0"/>
                  <a:t>SSE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 ŷ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158089" cy="3678303"/>
              </a:xfrm>
              <a:blipFill>
                <a:blip r:embed="rId2"/>
                <a:stretch>
                  <a:fillRect l="-382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6286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Determinants of a good regression(Contd.)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819607" cy="3678303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dirty="0"/>
              <a:t>SST= SSR +SSE</a:t>
            </a:r>
          </a:p>
          <a:p>
            <a:r>
              <a:rPr lang="en-US" dirty="0"/>
              <a:t>Total        = explained + unexplained</a:t>
            </a:r>
          </a:p>
          <a:p>
            <a:pPr marL="0" indent="0">
              <a:buNone/>
            </a:pPr>
            <a:r>
              <a:rPr lang="en-US" dirty="0"/>
              <a:t>   variability     </a:t>
            </a:r>
            <a:r>
              <a:rPr lang="en-US" dirty="0" err="1"/>
              <a:t>variability</a:t>
            </a:r>
            <a:r>
              <a:rPr lang="en-US" dirty="0"/>
              <a:t>    </a:t>
            </a:r>
            <a:r>
              <a:rPr lang="en-US" dirty="0" err="1"/>
              <a:t>variability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Lower SSE results better regression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16" t="1464" r="1441" b="1400"/>
          <a:stretch/>
        </p:blipFill>
        <p:spPr>
          <a:xfrm>
            <a:off x="6400799" y="2433917"/>
            <a:ext cx="4992199" cy="34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64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Determinants of a good regression(Contd.)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5152"/>
            <a:ext cx="11029615" cy="5172502"/>
          </a:xfrm>
        </p:spPr>
        <p:txBody>
          <a:bodyPr>
            <a:normAutofit/>
          </a:bodyPr>
          <a:lstStyle/>
          <a:p>
            <a:pPr marL="306000" lvl="1"/>
            <a:r>
              <a:rPr lang="en-US" sz="2400" dirty="0"/>
              <a:t>Adequacy of a regression model could be checked using the F-static</a:t>
            </a:r>
          </a:p>
          <a:p>
            <a:pPr marL="576000" lvl="2"/>
            <a:r>
              <a:rPr lang="en-US" sz="2000" dirty="0"/>
              <a:t>If p value associated with the F-statistic is significant (p&lt;</a:t>
            </a:r>
            <a:r>
              <a:rPr lang="el-GR" sz="2000" dirty="0"/>
              <a:t>α</a:t>
            </a:r>
            <a:r>
              <a:rPr lang="en-US" sz="2000" dirty="0"/>
              <a:t>) then, the model is considered adequate.</a:t>
            </a:r>
          </a:p>
          <a:p>
            <a:pPr marL="576000" lvl="2"/>
            <a:r>
              <a:rPr lang="el-GR" sz="2000" dirty="0"/>
              <a:t>α</a:t>
            </a:r>
            <a:r>
              <a:rPr lang="en-US" sz="2000" dirty="0"/>
              <a:t> is the probability that our conclusion is incorrect</a:t>
            </a:r>
          </a:p>
          <a:p>
            <a:pPr marL="306000" lvl="1"/>
            <a:r>
              <a:rPr lang="en-US" sz="2400" dirty="0"/>
              <a:t>Significance of the regression coefficients is determined by t-statistic</a:t>
            </a:r>
          </a:p>
          <a:p>
            <a:pPr marL="306000" lvl="1"/>
            <a:r>
              <a:rPr lang="en-US" sz="2400" dirty="0"/>
              <a:t>Assuming</a:t>
            </a:r>
          </a:p>
          <a:p>
            <a:pPr marL="576000" lvl="2"/>
            <a:r>
              <a:rPr lang="en-US" sz="2000" dirty="0"/>
              <a:t>Null hypothesis (H0) : </a:t>
            </a:r>
            <a:r>
              <a:rPr lang="el-GR" sz="2000" dirty="0"/>
              <a:t>β</a:t>
            </a:r>
            <a:r>
              <a:rPr lang="en-US" sz="2000" dirty="0"/>
              <a:t>1 = 0 </a:t>
            </a:r>
          </a:p>
          <a:p>
            <a:pPr marL="576000" lvl="2"/>
            <a:r>
              <a:rPr lang="en-US" sz="2000" dirty="0"/>
              <a:t>Alternative hypothesis (H1) : </a:t>
            </a:r>
            <a:r>
              <a:rPr lang="el-GR" sz="2000" dirty="0"/>
              <a:t>β</a:t>
            </a:r>
            <a:r>
              <a:rPr lang="en-US" sz="2000" dirty="0"/>
              <a:t>1 ≠ 0</a:t>
            </a:r>
          </a:p>
          <a:p>
            <a:pPr marL="306000" lvl="1"/>
            <a:r>
              <a:rPr lang="en-US" sz="2400" dirty="0"/>
              <a:t>If p value associated with the t-statistic is not significant then the null hypothesis is not rejected.</a:t>
            </a:r>
          </a:p>
        </p:txBody>
      </p:sp>
    </p:spTree>
    <p:extLst>
      <p:ext uri="{BB962C8B-B14F-4D97-AF65-F5344CB8AC3E}">
        <p14:creationId xmlns:p14="http://schemas.microsoft.com/office/powerpoint/2010/main" val="2089441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of </a:t>
            </a:r>
            <a:r>
              <a:rPr lang="el-GR" i="1" dirty="0"/>
              <a:t>β</a:t>
            </a:r>
            <a:r>
              <a:rPr lang="el-GR" baseline="-25000" dirty="0"/>
              <a:t>0</a:t>
            </a:r>
            <a:r>
              <a:rPr lang="el-GR" dirty="0"/>
              <a:t> </a:t>
            </a:r>
            <a:r>
              <a:rPr lang="en-US" dirty="0"/>
              <a:t>and </a:t>
            </a:r>
            <a:r>
              <a:rPr lang="el-GR" i="1" dirty="0"/>
              <a:t>β</a:t>
            </a:r>
            <a:r>
              <a:rPr lang="el-GR" baseline="-25000" dirty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a number of methods to predict </a:t>
            </a:r>
            <a:r>
              <a:rPr lang="el-GR" i="1" dirty="0"/>
              <a:t>β</a:t>
            </a:r>
            <a:r>
              <a:rPr lang="el-GR" baseline="-25000" dirty="0"/>
              <a:t>0</a:t>
            </a:r>
            <a:r>
              <a:rPr lang="el-GR" dirty="0"/>
              <a:t> </a:t>
            </a:r>
            <a:r>
              <a:rPr lang="en-US" dirty="0"/>
              <a:t>and </a:t>
            </a:r>
            <a:r>
              <a:rPr lang="el-GR" i="1" dirty="0"/>
              <a:t>β</a:t>
            </a:r>
            <a:r>
              <a:rPr lang="el-GR" baseline="-25000" dirty="0"/>
              <a:t>1</a:t>
            </a:r>
            <a:r>
              <a:rPr lang="en-US" baseline="-25000" dirty="0"/>
              <a:t>.</a:t>
            </a:r>
          </a:p>
          <a:p>
            <a:r>
              <a:rPr lang="en-US" dirty="0"/>
              <a:t>These include,</a:t>
            </a:r>
          </a:p>
          <a:p>
            <a:pPr lvl="1"/>
            <a:r>
              <a:rPr lang="en-US" dirty="0"/>
              <a:t>Ordinary least square</a:t>
            </a:r>
          </a:p>
          <a:p>
            <a:pPr lvl="1"/>
            <a:r>
              <a:rPr lang="en-US" dirty="0"/>
              <a:t>Generalized least square</a:t>
            </a:r>
          </a:p>
          <a:p>
            <a:pPr lvl="1"/>
            <a:r>
              <a:rPr lang="en-US" dirty="0"/>
              <a:t>Maximum Likelihood estimation</a:t>
            </a:r>
          </a:p>
          <a:p>
            <a:pPr lvl="1"/>
            <a:r>
              <a:rPr lang="en-US" dirty="0"/>
              <a:t>Bayesian regression</a:t>
            </a:r>
          </a:p>
          <a:p>
            <a:pPr lvl="1"/>
            <a:r>
              <a:rPr lang="en-US" dirty="0"/>
              <a:t>Kernel regression</a:t>
            </a:r>
          </a:p>
        </p:txBody>
      </p:sp>
    </p:spTree>
    <p:extLst>
      <p:ext uri="{BB962C8B-B14F-4D97-AF65-F5344CB8AC3E}">
        <p14:creationId xmlns:p14="http://schemas.microsoft.com/office/powerpoint/2010/main" val="4223577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Gauss proposed in 1809 the method of least squares for obtaining the values β</a:t>
            </a:r>
            <a:r>
              <a:rPr lang="en-US" baseline="-25000" dirty="0"/>
              <a:t>0</a:t>
            </a:r>
            <a:r>
              <a:rPr lang="en-US" dirty="0"/>
              <a:t> and β</a:t>
            </a:r>
            <a:r>
              <a:rPr lang="en-US" baseline="-25000" dirty="0"/>
              <a:t>1</a:t>
            </a:r>
            <a:r>
              <a:rPr lang="en-US" dirty="0"/>
              <a:t> that best ﬁt the data:</a:t>
            </a:r>
          </a:p>
          <a:p>
            <a:r>
              <a:rPr lang="en-US" dirty="0"/>
              <a:t>In Least Square Method β</a:t>
            </a:r>
            <a:r>
              <a:rPr lang="en-US" baseline="-25000" dirty="0"/>
              <a:t>0</a:t>
            </a:r>
            <a:r>
              <a:rPr lang="en-US" dirty="0"/>
              <a:t> and β</a:t>
            </a:r>
            <a:r>
              <a:rPr lang="en-US" baseline="-25000" dirty="0"/>
              <a:t>1</a:t>
            </a:r>
            <a:r>
              <a:rPr lang="en-US" dirty="0"/>
              <a:t> are estimated so that the SSE is minimum</a:t>
            </a:r>
          </a:p>
          <a:p>
            <a:r>
              <a:rPr lang="en-US" dirty="0"/>
              <a:t>When SSE is minimum the model has a better explanatory power.</a:t>
            </a:r>
          </a:p>
          <a:p>
            <a:r>
              <a:rPr lang="en-US" dirty="0"/>
              <a:t>Lower error leads to better explanatory power.</a:t>
            </a:r>
          </a:p>
        </p:txBody>
      </p:sp>
    </p:spTree>
    <p:extLst>
      <p:ext uri="{BB962C8B-B14F-4D97-AF65-F5344CB8AC3E}">
        <p14:creationId xmlns:p14="http://schemas.microsoft.com/office/powerpoint/2010/main" val="1347016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are given by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18" y="3205202"/>
            <a:ext cx="5552705" cy="284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94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85" y="2347171"/>
            <a:ext cx="9487152" cy="22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20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78084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python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3" y="2180496"/>
                <a:ext cx="5846502" cy="367830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Dependent variable is GPA</a:t>
                </a:r>
              </a:p>
              <a:p>
                <a:r>
                  <a:rPr lang="en-US" dirty="0"/>
                  <a:t>Model used is Ordinary Least Square(OLS) method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𝑆𝑆𝑇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If R</a:t>
                </a:r>
                <a:r>
                  <a:rPr lang="en-US" baseline="30000" dirty="0"/>
                  <a:t>2</a:t>
                </a:r>
                <a:r>
                  <a:rPr lang="en-US" dirty="0"/>
                  <a:t> is 0 the regression line does not explain the variability of the data</a:t>
                </a:r>
              </a:p>
              <a:p>
                <a:pPr lvl="1"/>
                <a:r>
                  <a:rPr lang="en-US" dirty="0"/>
                  <a:t>If R</a:t>
                </a:r>
                <a:r>
                  <a:rPr lang="en-US" baseline="30000" dirty="0"/>
                  <a:t>2</a:t>
                </a:r>
                <a:r>
                  <a:rPr lang="en-US" dirty="0"/>
                  <a:t> is 1 the model explains the entire variability</a:t>
                </a:r>
              </a:p>
              <a:p>
                <a:pPr lvl="1"/>
                <a:r>
                  <a:rPr lang="en-US" dirty="0"/>
                  <a:t>In this case the SAT explains 41% of the variability of GPA which indicate some variables are missing.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3" y="2180496"/>
                <a:ext cx="5846502" cy="3678303"/>
              </a:xfrm>
              <a:blipFill rotWithShape="0">
                <a:blip r:embed="rId2"/>
                <a:stretch>
                  <a:fillRect l="-730" t="-166" r="-1668" b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533" y="2180496"/>
            <a:ext cx="48672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6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python output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409935" cy="3678303"/>
          </a:xfrm>
        </p:spPr>
        <p:txBody>
          <a:bodyPr>
            <a:normAutofit fontScale="70000" lnSpcReduction="20000"/>
          </a:bodyPr>
          <a:lstStyle/>
          <a:p>
            <a:r>
              <a:rPr lang="el-GR" dirty="0">
                <a:latin typeface="Georgia" panose="02040502050405020303" pitchFamily="18" charset="0"/>
              </a:rPr>
              <a:t>β</a:t>
            </a:r>
            <a:r>
              <a:rPr lang="en-US" baseline="-25000" dirty="0"/>
              <a:t>0</a:t>
            </a:r>
            <a:r>
              <a:rPr lang="en-US" dirty="0"/>
              <a:t>= 0.2750 &amp; </a:t>
            </a:r>
            <a:r>
              <a:rPr lang="el-GR" dirty="0">
                <a:latin typeface="Georgia" panose="02040502050405020303" pitchFamily="18" charset="0"/>
              </a:rPr>
              <a:t>β </a:t>
            </a:r>
            <a:r>
              <a:rPr lang="en-US" baseline="-25000" dirty="0"/>
              <a:t>1</a:t>
            </a:r>
            <a:r>
              <a:rPr lang="en-US" dirty="0"/>
              <a:t>=0.0017</a:t>
            </a:r>
          </a:p>
          <a:p>
            <a:r>
              <a:rPr lang="en-US" dirty="0"/>
              <a:t>Regression equation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Ŷ= 0.0275+0.0017x</a:t>
            </a:r>
            <a:r>
              <a:rPr lang="en-US" baseline="-25000" dirty="0">
                <a:latin typeface="Georgia" panose="02040502050405020303" pitchFamily="18" charset="0"/>
              </a:rPr>
              <a:t>1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GPA = 0.0275+0.0017 * SAT</a:t>
            </a:r>
          </a:p>
          <a:p>
            <a:r>
              <a:rPr lang="en-US" dirty="0"/>
              <a:t>Standard error shows the accuracy of the prediction</a:t>
            </a:r>
          </a:p>
          <a:p>
            <a:pPr lvl="1"/>
            <a:r>
              <a:rPr lang="en-US" dirty="0"/>
              <a:t>Expected value is low</a:t>
            </a:r>
          </a:p>
          <a:p>
            <a:r>
              <a:rPr lang="en-US" dirty="0"/>
              <a:t>P value shows whether the null hypothesis is accepted or not </a:t>
            </a:r>
          </a:p>
          <a:p>
            <a:pPr lvl="1"/>
            <a:r>
              <a:rPr lang="en-US" dirty="0"/>
              <a:t>If P&lt;0.05 null hypothesis is rejected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80496"/>
            <a:ext cx="5619680" cy="134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19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Practically variables such as GPA cannot be predicted based on a single variable</a:t>
            </a:r>
          </a:p>
          <a:p>
            <a:r>
              <a:rPr lang="en-US" dirty="0"/>
              <a:t>You might have to consider other variables such as income, marital status, gender &amp; etc.</a:t>
            </a:r>
          </a:p>
          <a:p>
            <a:r>
              <a:rPr lang="en-US" dirty="0"/>
              <a:t>If we need a good model, we might have to use multiple regression.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414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Population multiple regression model is 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γ = </a:t>
            </a:r>
            <a:r>
              <a:rPr lang="en-US" altLang="zh-TW" i="1" dirty="0">
                <a:latin typeface="Book Antiqua" panose="02040602050305030304" pitchFamily="18" charset="0"/>
                <a:sym typeface="Symbol" panose="05050102010706020507" pitchFamily="18" charset="2"/>
              </a:rPr>
              <a:t></a:t>
            </a:r>
            <a:r>
              <a:rPr lang="en-US" altLang="zh-TW" baseline="-30000" dirty="0">
                <a:latin typeface="Book Antiqua" panose="02040602050305030304" pitchFamily="18" charset="0"/>
              </a:rPr>
              <a:t>0</a:t>
            </a:r>
            <a:r>
              <a:rPr lang="en-US" altLang="zh-TW" dirty="0">
                <a:latin typeface="Book Antiqua" panose="02040602050305030304" pitchFamily="18" charset="0"/>
              </a:rPr>
              <a:t> + </a:t>
            </a:r>
            <a:r>
              <a:rPr lang="en-US" altLang="zh-TW" i="1" dirty="0">
                <a:latin typeface="Book Antiqua" panose="02040602050305030304" pitchFamily="18" charset="0"/>
                <a:sym typeface="Symbol" panose="05050102010706020507" pitchFamily="18" charset="2"/>
              </a:rPr>
              <a:t></a:t>
            </a:r>
            <a:r>
              <a:rPr lang="en-US" altLang="zh-TW" baseline="-30000" dirty="0">
                <a:latin typeface="Book Antiqua" panose="02040602050305030304" pitchFamily="18" charset="0"/>
              </a:rPr>
              <a:t>1</a:t>
            </a:r>
            <a:r>
              <a:rPr lang="en-US" altLang="zh-TW" dirty="0">
                <a:latin typeface="Book Antiqua" panose="02040602050305030304" pitchFamily="18" charset="0"/>
              </a:rPr>
              <a:t>x</a:t>
            </a:r>
            <a:r>
              <a:rPr lang="en-US" altLang="zh-TW" baseline="-25000" dirty="0">
                <a:latin typeface="Book Antiqua" panose="02040602050305030304" pitchFamily="18" charset="0"/>
              </a:rPr>
              <a:t>1</a:t>
            </a:r>
            <a:r>
              <a:rPr lang="en-US" altLang="zh-TW" dirty="0">
                <a:latin typeface="Book Antiqua" panose="02040602050305030304" pitchFamily="18" charset="0"/>
              </a:rPr>
              <a:t> +</a:t>
            </a:r>
            <a:r>
              <a:rPr lang="en-US" altLang="zh-TW" i="1" dirty="0">
                <a:latin typeface="Book Antiqua" panose="02040602050305030304" pitchFamily="18" charset="0"/>
                <a:sym typeface="Symbol" panose="05050102010706020507" pitchFamily="18" charset="2"/>
              </a:rPr>
              <a:t> </a:t>
            </a:r>
            <a:r>
              <a:rPr lang="en-US" altLang="zh-TW" baseline="-30000" dirty="0">
                <a:latin typeface="Book Antiqua" panose="02040602050305030304" pitchFamily="18" charset="0"/>
              </a:rPr>
              <a:t>2</a:t>
            </a:r>
            <a:r>
              <a:rPr lang="en-US" altLang="zh-TW" dirty="0">
                <a:latin typeface="Book Antiqua" panose="02040602050305030304" pitchFamily="18" charset="0"/>
              </a:rPr>
              <a:t>x</a:t>
            </a:r>
            <a:r>
              <a:rPr lang="en-US" altLang="zh-TW" baseline="-25000" dirty="0">
                <a:latin typeface="Book Antiqua" panose="02040602050305030304" pitchFamily="18" charset="0"/>
              </a:rPr>
              <a:t>2</a:t>
            </a:r>
            <a:r>
              <a:rPr lang="en-US" altLang="zh-TW" dirty="0">
                <a:latin typeface="Book Antiqua" panose="02040602050305030304" pitchFamily="18" charset="0"/>
              </a:rPr>
              <a:t> ………+</a:t>
            </a:r>
            <a:r>
              <a:rPr lang="en-US" altLang="zh-TW" i="1" dirty="0">
                <a:latin typeface="Book Antiqua" panose="02040602050305030304" pitchFamily="18" charset="0"/>
                <a:sym typeface="Symbol" panose="05050102010706020507" pitchFamily="18" charset="2"/>
              </a:rPr>
              <a:t> </a:t>
            </a:r>
            <a:r>
              <a:rPr lang="en-US" altLang="zh-TW" baseline="-30000" dirty="0" err="1">
                <a:latin typeface="Book Antiqua" panose="02040602050305030304" pitchFamily="18" charset="0"/>
              </a:rPr>
              <a:t>k</a:t>
            </a:r>
            <a:r>
              <a:rPr lang="en-US" altLang="zh-TW" dirty="0" err="1">
                <a:latin typeface="Book Antiqua" panose="02040602050305030304" pitchFamily="18" charset="0"/>
              </a:rPr>
              <a:t>x</a:t>
            </a:r>
            <a:r>
              <a:rPr lang="en-US" altLang="zh-TW" baseline="-25000" dirty="0" err="1">
                <a:latin typeface="Book Antiqua" panose="02040602050305030304" pitchFamily="18" charset="0"/>
              </a:rPr>
              <a:t>k</a:t>
            </a:r>
            <a:r>
              <a:rPr lang="en-US" altLang="zh-TW" dirty="0">
                <a:latin typeface="Book Antiqua" panose="02040602050305030304" pitchFamily="18" charset="0"/>
              </a:rPr>
              <a:t> +</a:t>
            </a:r>
            <a:r>
              <a:rPr lang="az-Cyrl-AZ" altLang="zh-TW" dirty="0">
                <a:latin typeface="Sylfaen" panose="010A0502050306030303" pitchFamily="18" charset="0"/>
              </a:rPr>
              <a:t>є</a:t>
            </a:r>
            <a:endParaRPr lang="en-US" altLang="zh-TW" dirty="0">
              <a:latin typeface="Sylfaen" panose="010A0502050306030303" pitchFamily="18" charset="0"/>
            </a:endParaRPr>
          </a:p>
          <a:p>
            <a:r>
              <a:rPr lang="en-US" altLang="zh-TW" dirty="0"/>
              <a:t>Since the equation is having more than 3 dimensions, there is no visual way to represent the equation.</a:t>
            </a:r>
          </a:p>
          <a:p>
            <a:r>
              <a:rPr lang="en-US" altLang="zh-TW" dirty="0"/>
              <a:t>Therefore, what is concerned in multiple regression is finding a best fitting model with minimum SSE and high SSR</a:t>
            </a:r>
          </a:p>
          <a:p>
            <a:r>
              <a:rPr lang="en-US" altLang="zh-TW" dirty="0"/>
              <a:t>Note that, if the SSR is high, the model has a more explanatory power.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372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35165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ineffective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Every time you add a predictor to a model, the R-squared increases, even if due to chance alone. </a:t>
            </a:r>
          </a:p>
          <a:p>
            <a:r>
              <a:rPr lang="en-US" dirty="0"/>
              <a:t>It never decreases. </a:t>
            </a:r>
          </a:p>
          <a:p>
            <a:r>
              <a:rPr lang="en-US" dirty="0"/>
              <a:t>Suppose you compare a five-predictor model with a higher R-squared to a one-predictor model. </a:t>
            </a:r>
          </a:p>
          <a:p>
            <a:pPr lvl="1"/>
            <a:r>
              <a:rPr lang="en-US" dirty="0"/>
              <a:t>Does the five predictor model have a higher R-squared because it’s better? </a:t>
            </a:r>
          </a:p>
          <a:p>
            <a:pPr lvl="1"/>
            <a:r>
              <a:rPr lang="en-US" dirty="0"/>
              <a:t>Or is the R-squared higher because it has more predictors? Simply compare the adjusted R-squared values to find out!</a:t>
            </a:r>
          </a:p>
          <a:p>
            <a:r>
              <a:rPr lang="en-US" dirty="0"/>
              <a:t>Thus, we need another way to identify whether our predictors improve the model or not.</a:t>
            </a:r>
          </a:p>
        </p:txBody>
      </p:sp>
    </p:spTree>
    <p:extLst>
      <p:ext uri="{BB962C8B-B14F-4D97-AF65-F5344CB8AC3E}">
        <p14:creationId xmlns:p14="http://schemas.microsoft.com/office/powerpoint/2010/main" val="993617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ineffective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adjusted R-squared penalizes excessive use of variables</a:t>
            </a:r>
          </a:p>
          <a:p>
            <a:r>
              <a:rPr lang="en-US" dirty="0"/>
              <a:t>It is always lower than the R-squared.</a:t>
            </a:r>
          </a:p>
          <a:p>
            <a:r>
              <a:rPr lang="en-US" dirty="0"/>
              <a:t>The adjusted R-squared compares the explanatory power of regression models that contain different numbers of predictors.</a:t>
            </a:r>
          </a:p>
          <a:p>
            <a:r>
              <a:rPr lang="en-US" dirty="0"/>
              <a:t>The adjusted R-squared increases only if the new term improves the model more than would be expected by chance. </a:t>
            </a:r>
          </a:p>
          <a:p>
            <a:r>
              <a:rPr lang="en-US" dirty="0"/>
              <a:t>It decreases when a predictor improves the model by less than expected by chance </a:t>
            </a:r>
          </a:p>
          <a:p>
            <a:r>
              <a:rPr lang="en-US" dirty="0"/>
              <a:t>The adjusted R-squared and p-value of the variables are useful in removing ineffective variables from the model.</a:t>
            </a:r>
          </a:p>
        </p:txBody>
      </p:sp>
    </p:spTree>
    <p:extLst>
      <p:ext uri="{BB962C8B-B14F-4D97-AF65-F5344CB8AC3E}">
        <p14:creationId xmlns:p14="http://schemas.microsoft.com/office/powerpoint/2010/main" val="2008359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purl.org/dc/terms/"/>
    <ds:schemaRef ds:uri="http://purl.org/dc/dcmitype/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Dividend design</Template>
  <TotalTime>0</TotalTime>
  <Words>1614</Words>
  <Application>Microsoft Office PowerPoint</Application>
  <PresentationFormat>Widescreen</PresentationFormat>
  <Paragraphs>174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Book Antiqua</vt:lpstr>
      <vt:lpstr>Calibri</vt:lpstr>
      <vt:lpstr>Cambria Math</vt:lpstr>
      <vt:lpstr>Corbel</vt:lpstr>
      <vt:lpstr>Georgia</vt:lpstr>
      <vt:lpstr>Gill Sans MT</vt:lpstr>
      <vt:lpstr>Sylfaen</vt:lpstr>
      <vt:lpstr>Wingdings 2</vt:lpstr>
      <vt:lpstr>Dividend</vt:lpstr>
      <vt:lpstr>regression</vt:lpstr>
      <vt:lpstr>Overview</vt:lpstr>
      <vt:lpstr>Lesson learning outcomes</vt:lpstr>
      <vt:lpstr>Introduction to regression</vt:lpstr>
      <vt:lpstr>Applications of regression analysis</vt:lpstr>
      <vt:lpstr>Procedure of regression analysis</vt:lpstr>
      <vt:lpstr>Linear regression</vt:lpstr>
      <vt:lpstr>Linear regression (contd.)</vt:lpstr>
      <vt:lpstr>Simple linear regression - An example</vt:lpstr>
      <vt:lpstr>An example (contd.)</vt:lpstr>
      <vt:lpstr>Simple linear regression model</vt:lpstr>
      <vt:lpstr>Assumptions of simple linear regression</vt:lpstr>
      <vt:lpstr>Assumptions of simple linear regression</vt:lpstr>
      <vt:lpstr>Measuring the linearity of variables</vt:lpstr>
      <vt:lpstr>Simple linear regression model (contd.)</vt:lpstr>
      <vt:lpstr>Determinants of a good regression</vt:lpstr>
      <vt:lpstr>Determinants of a good regression(Contd.)</vt:lpstr>
      <vt:lpstr>Determinants of a good regression(Contd.)</vt:lpstr>
      <vt:lpstr>Estimation of β0 and β1</vt:lpstr>
      <vt:lpstr>Least square method</vt:lpstr>
      <vt:lpstr>Least square method (contd.)</vt:lpstr>
      <vt:lpstr>Exercise</vt:lpstr>
      <vt:lpstr>PowerPoint Presentation</vt:lpstr>
      <vt:lpstr>Interpreting python output</vt:lpstr>
      <vt:lpstr>Interpreting python output (contd.)</vt:lpstr>
      <vt:lpstr>Multiple regression</vt:lpstr>
      <vt:lpstr>Multiple regression (contd.)</vt:lpstr>
      <vt:lpstr>PowerPoint Presentation</vt:lpstr>
      <vt:lpstr>Removing ineffective variables</vt:lpstr>
      <vt:lpstr>Removing ineffective variables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2019-02-27T03:17:00Z</dcterms:created>
  <dcterms:modified xsi:type="dcterms:W3CDTF">2020-08-12T07:44:06Z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