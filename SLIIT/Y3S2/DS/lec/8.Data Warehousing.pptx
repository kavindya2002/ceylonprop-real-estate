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72" r:id="rId4"/>
  </p:sldMasterIdLst>
  <p:handoutMasterIdLst>
    <p:handoutMasterId r:id="rId58"/>
  </p:handoutMasterIdLst>
  <p:sldIdLst>
    <p:sldId id="256" r:id="rId5"/>
    <p:sldId id="262" r:id="rId6"/>
    <p:sldId id="257" r:id="rId7"/>
    <p:sldId id="346" r:id="rId8"/>
    <p:sldId id="344" r:id="rId9"/>
    <p:sldId id="263" r:id="rId10"/>
    <p:sldId id="261" r:id="rId11"/>
    <p:sldId id="348" r:id="rId12"/>
    <p:sldId id="349" r:id="rId13"/>
    <p:sldId id="350" r:id="rId14"/>
    <p:sldId id="351" r:id="rId15"/>
    <p:sldId id="347" r:id="rId16"/>
    <p:sldId id="355" r:id="rId17"/>
    <p:sldId id="354" r:id="rId18"/>
    <p:sldId id="356" r:id="rId19"/>
    <p:sldId id="358" r:id="rId20"/>
    <p:sldId id="357" r:id="rId21"/>
    <p:sldId id="272" r:id="rId22"/>
    <p:sldId id="364" r:id="rId23"/>
    <p:sldId id="311" r:id="rId24"/>
    <p:sldId id="359" r:id="rId25"/>
    <p:sldId id="360" r:id="rId26"/>
    <p:sldId id="267" r:id="rId27"/>
    <p:sldId id="268" r:id="rId28"/>
    <p:sldId id="269" r:id="rId29"/>
    <p:sldId id="266" r:id="rId30"/>
    <p:sldId id="288" r:id="rId31"/>
    <p:sldId id="361" r:id="rId32"/>
    <p:sldId id="362" r:id="rId33"/>
    <p:sldId id="363" r:id="rId34"/>
    <p:sldId id="373" r:id="rId35"/>
    <p:sldId id="374" r:id="rId36"/>
    <p:sldId id="375" r:id="rId37"/>
    <p:sldId id="376" r:id="rId38"/>
    <p:sldId id="377" r:id="rId39"/>
    <p:sldId id="378" r:id="rId40"/>
    <p:sldId id="365" r:id="rId41"/>
    <p:sldId id="368" r:id="rId42"/>
    <p:sldId id="369" r:id="rId43"/>
    <p:sldId id="371" r:id="rId44"/>
    <p:sldId id="320" r:id="rId45"/>
    <p:sldId id="302" r:id="rId46"/>
    <p:sldId id="324" r:id="rId47"/>
    <p:sldId id="326" r:id="rId48"/>
    <p:sldId id="327" r:id="rId49"/>
    <p:sldId id="328" r:id="rId50"/>
    <p:sldId id="379" r:id="rId51"/>
    <p:sldId id="372" r:id="rId52"/>
    <p:sldId id="331" r:id="rId53"/>
    <p:sldId id="332" r:id="rId54"/>
    <p:sldId id="334" r:id="rId55"/>
    <p:sldId id="336" r:id="rId56"/>
    <p:sldId id="260" r:id="rId57"/>
  </p:sldIdLst>
  <p:sldSz cx="12192000" cy="6858000"/>
  <p:notesSz cx="9866313" cy="67357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8" autoAdjust="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handoutMaster" Target="handoutMasters/handoutMaster1.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4275403" cy="33795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588627" y="0"/>
            <a:ext cx="4275403" cy="337958"/>
          </a:xfrm>
          <a:prstGeom prst="rect">
            <a:avLst/>
          </a:prstGeom>
        </p:spPr>
        <p:txBody>
          <a:bodyPr vert="horz" lIns="91440" tIns="45720" rIns="91440" bIns="45720" rtlCol="0"/>
          <a:lstStyle>
            <a:lvl1pPr algn="r">
              <a:defRPr sz="1200"/>
            </a:lvl1pPr>
          </a:lstStyle>
          <a:p>
            <a:fld id="{C0581BD3-BEC6-4B3C-A11E-503FB500E6B3}" type="datetimeFigureOut">
              <a:rPr lang="en-US" smtClean="0"/>
              <a:t>10/11/2020</a:t>
            </a:fld>
            <a:endParaRPr lang="en-US"/>
          </a:p>
        </p:txBody>
      </p:sp>
      <p:sp>
        <p:nvSpPr>
          <p:cNvPr id="4" name="Footer Placeholder 3"/>
          <p:cNvSpPr>
            <a:spLocks noGrp="1"/>
          </p:cNvSpPr>
          <p:nvPr>
            <p:ph type="ftr" sz="quarter" idx="2"/>
          </p:nvPr>
        </p:nvSpPr>
        <p:spPr>
          <a:xfrm>
            <a:off x="1" y="6397807"/>
            <a:ext cx="4275403" cy="33795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588627" y="6397807"/>
            <a:ext cx="4275403" cy="337957"/>
          </a:xfrm>
          <a:prstGeom prst="rect">
            <a:avLst/>
          </a:prstGeom>
        </p:spPr>
        <p:txBody>
          <a:bodyPr vert="horz" lIns="91440" tIns="45720" rIns="91440" bIns="45720" rtlCol="0" anchor="b"/>
          <a:lstStyle>
            <a:lvl1pPr algn="r">
              <a:defRPr sz="1200"/>
            </a:lvl1pPr>
          </a:lstStyle>
          <a:p>
            <a:fld id="{EE9E5748-333E-4780-9CE1-372B661613CA}" type="slidenum">
              <a:rPr lang="en-US" smtClean="0"/>
              <a:t>‹#›</a:t>
            </a:fld>
            <a:endParaRPr lang="en-US"/>
          </a:p>
        </p:txBody>
      </p:sp>
    </p:spTree>
    <p:extLst>
      <p:ext uri="{BB962C8B-B14F-4D97-AF65-F5344CB8AC3E}">
        <p14:creationId xmlns:p14="http://schemas.microsoft.com/office/powerpoint/2010/main" val="2890018923"/>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10/11/2020</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normAutofit/>
          </a:bodyPr>
          <a:lstStyle>
            <a:lvl1pPr>
              <a:defRPr sz="4000"/>
            </a:lvl1pPr>
          </a:lstStyle>
          <a:p>
            <a:r>
              <a:rPr lang="en-US" dirty="0"/>
              <a:t>Click to edit Master title style</a:t>
            </a:r>
          </a:p>
        </p:txBody>
      </p:sp>
      <p:sp>
        <p:nvSpPr>
          <p:cNvPr id="3" name="Content Placeholder 2"/>
          <p:cNvSpPr>
            <a:spLocks noGrp="1"/>
          </p:cNvSpPr>
          <p:nvPr>
            <p:ph idx="1"/>
          </p:nvPr>
        </p:nvSpPr>
        <p:spPr>
          <a:xfrm>
            <a:off x="581192" y="2180496"/>
            <a:ext cx="11029615" cy="3678303"/>
          </a:xfrm>
        </p:spPr>
        <p:txBody>
          <a:bodyPr/>
          <a:lstStyle>
            <a:lvl1pPr>
              <a:defRPr sz="3200"/>
            </a:lvl1pPr>
            <a:lvl2pPr>
              <a:defRPr sz="2800"/>
            </a:lvl2pPr>
            <a:lvl3pPr>
              <a:defRPr sz="2400"/>
            </a:lvl3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smtClean="0"/>
              <a:pPr/>
              <a:t>10/11/2020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10/11/2020</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10/11/2020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10/11/2020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10/11/2020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10/11/2020</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10/11/2020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10/11/2020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10/11/2020</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10/11/2020</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C02C5318-1A1E-49D0-B2E2-A4B0FA9E8A40}"/>
              </a:ext>
            </a:extLst>
          </p:cNvPr>
          <p:cNvSpPr>
            <a:spLocks noGrp="1"/>
          </p:cNvSpPr>
          <p:nvPr>
            <p:ph type="ctrTitle"/>
          </p:nvPr>
        </p:nvSpPr>
        <p:spPr>
          <a:xfrm>
            <a:off x="581191" y="4572000"/>
            <a:ext cx="10993549" cy="895244"/>
          </a:xfrm>
        </p:spPr>
        <p:txBody>
          <a:bodyPr>
            <a:noAutofit/>
          </a:bodyPr>
          <a:lstStyle/>
          <a:p>
            <a:r>
              <a:rPr lang="en-US">
                <a:solidFill>
                  <a:schemeClr val="bg1"/>
                </a:solidFill>
              </a:rPr>
              <a:t>Data Warehousing</a:t>
            </a:r>
            <a:endParaRPr lang="en-US" dirty="0">
              <a:solidFill>
                <a:schemeClr val="bg1"/>
              </a:solidFill>
            </a:endParaRPr>
          </a:p>
        </p:txBody>
      </p:sp>
      <p:sp>
        <p:nvSpPr>
          <p:cNvPr id="3" name="Subtitle 2">
            <a:extLst>
              <a:ext uri="{FF2B5EF4-FFF2-40B4-BE49-F238E27FC236}">
                <a16:creationId xmlns:a16="http://schemas.microsoft.com/office/drawing/2014/main" id="{48B6CF59-4E5B-494D-A2F7-97ADD01E6497}"/>
              </a:ext>
            </a:extLst>
          </p:cNvPr>
          <p:cNvSpPr>
            <a:spLocks noGrp="1"/>
          </p:cNvSpPr>
          <p:nvPr>
            <p:ph type="subTitle" idx="1"/>
          </p:nvPr>
        </p:nvSpPr>
        <p:spPr>
          <a:xfrm>
            <a:off x="581194" y="5467246"/>
            <a:ext cx="10993546" cy="484822"/>
          </a:xfrm>
        </p:spPr>
        <p:txBody>
          <a:bodyPr>
            <a:normAutofit/>
          </a:bodyPr>
          <a:lstStyle/>
          <a:p>
            <a:r>
              <a:rPr lang="en-US" dirty="0">
                <a:solidFill>
                  <a:srgbClr val="7CEBFF"/>
                </a:solidFill>
              </a:rPr>
              <a:t>Data Science &amp; analytics (it3080)</a:t>
            </a: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 </a:t>
            </a:r>
          </a:p>
        </p:txBody>
      </p:sp>
      <p:sp>
        <p:nvSpPr>
          <p:cNvPr id="3" name="Content Placeholder 2"/>
          <p:cNvSpPr>
            <a:spLocks noGrp="1"/>
          </p:cNvSpPr>
          <p:nvPr>
            <p:ph idx="1"/>
          </p:nvPr>
        </p:nvSpPr>
        <p:spPr/>
        <p:txBody>
          <a:bodyPr>
            <a:normAutofit/>
          </a:bodyPr>
          <a:lstStyle/>
          <a:p>
            <a:pPr lvl="0"/>
            <a:r>
              <a:rPr lang="en-US" sz="2400" dirty="0"/>
              <a:t>What is a data warehouse?</a:t>
            </a:r>
          </a:p>
          <a:p>
            <a:pPr lvl="0"/>
            <a:r>
              <a:rPr lang="en-US" sz="2400" dirty="0"/>
              <a:t>Architecture of a data warehouse</a:t>
            </a:r>
          </a:p>
          <a:p>
            <a:pPr lvl="0"/>
            <a:r>
              <a:rPr lang="en-US" sz="2400" dirty="0"/>
              <a:t>Dimension modelling</a:t>
            </a:r>
          </a:p>
          <a:p>
            <a:pPr lvl="0"/>
            <a:r>
              <a:rPr lang="en-US" sz="2400" dirty="0"/>
              <a:t>Logical design of a data warehouse</a:t>
            </a:r>
          </a:p>
          <a:p>
            <a:pPr lvl="0"/>
            <a:r>
              <a:rPr lang="en-US" sz="2400" dirty="0"/>
              <a:t>Implementing a data warehouse</a:t>
            </a:r>
          </a:p>
          <a:p>
            <a:pPr lvl="0"/>
            <a:r>
              <a:rPr lang="en-US" sz="2400" dirty="0"/>
              <a:t>Extract, Transform, Load (ETL)</a:t>
            </a:r>
          </a:p>
        </p:txBody>
      </p:sp>
    </p:spTree>
    <p:extLst>
      <p:ext uri="{BB962C8B-B14F-4D97-AF65-F5344CB8AC3E}">
        <p14:creationId xmlns:p14="http://schemas.microsoft.com/office/powerpoint/2010/main" val="17292372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Lesson Learning outcomes</a:t>
            </a:r>
          </a:p>
        </p:txBody>
      </p:sp>
      <p:sp>
        <p:nvSpPr>
          <p:cNvPr id="3" name="Content Placeholder 2"/>
          <p:cNvSpPr>
            <a:spLocks noGrp="1"/>
          </p:cNvSpPr>
          <p:nvPr>
            <p:ph idx="1"/>
          </p:nvPr>
        </p:nvSpPr>
        <p:spPr/>
        <p:txBody>
          <a:bodyPr>
            <a:normAutofit lnSpcReduction="10000"/>
          </a:bodyPr>
          <a:lstStyle/>
          <a:p>
            <a:r>
              <a:rPr lang="en-US" dirty="0"/>
              <a:t>Explain what a data warehouse is.</a:t>
            </a:r>
          </a:p>
          <a:p>
            <a:r>
              <a:rPr lang="en-US" dirty="0"/>
              <a:t>Compare traditional databases and data warehouses</a:t>
            </a:r>
          </a:p>
          <a:p>
            <a:r>
              <a:rPr lang="en-US" dirty="0"/>
              <a:t>Propose a logical design for a data warehouse to cater given business requirements</a:t>
            </a:r>
          </a:p>
          <a:p>
            <a:r>
              <a:rPr lang="en-US" dirty="0"/>
              <a:t>Explain the ETL Process</a:t>
            </a:r>
          </a:p>
          <a:p>
            <a:r>
              <a:rPr lang="en-US" dirty="0"/>
              <a:t>Explain the concept of slowly changing dimensions</a:t>
            </a:r>
          </a:p>
          <a:p>
            <a:endParaRPr lang="en-US" dirty="0"/>
          </a:p>
        </p:txBody>
      </p:sp>
    </p:spTree>
    <p:extLst>
      <p:ext uri="{BB962C8B-B14F-4D97-AF65-F5344CB8AC3E}">
        <p14:creationId xmlns:p14="http://schemas.microsoft.com/office/powerpoint/2010/main" val="2932890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data warehouse?</a:t>
            </a:r>
          </a:p>
        </p:txBody>
      </p:sp>
      <p:sp>
        <p:nvSpPr>
          <p:cNvPr id="3" name="Content Placeholder 2"/>
          <p:cNvSpPr>
            <a:spLocks noGrp="1"/>
          </p:cNvSpPr>
          <p:nvPr>
            <p:ph idx="1"/>
          </p:nvPr>
        </p:nvSpPr>
        <p:spPr>
          <a:xfrm>
            <a:off x="581192" y="2180496"/>
            <a:ext cx="11029615" cy="3897575"/>
          </a:xfrm>
        </p:spPr>
        <p:txBody>
          <a:bodyPr>
            <a:normAutofit fontScale="85000" lnSpcReduction="20000"/>
          </a:bodyPr>
          <a:lstStyle/>
          <a:p>
            <a:r>
              <a:rPr lang="en-US" dirty="0"/>
              <a:t>A data warehouse is a </a:t>
            </a:r>
            <a:r>
              <a:rPr lang="en-US" dirty="0">
                <a:solidFill>
                  <a:schemeClr val="accent1">
                    <a:lumMod val="60000"/>
                    <a:lumOff val="40000"/>
                  </a:schemeClr>
                </a:solidFill>
              </a:rPr>
              <a:t>integrated</a:t>
            </a:r>
            <a:r>
              <a:rPr lang="en-US" dirty="0"/>
              <a:t>, </a:t>
            </a:r>
            <a:r>
              <a:rPr lang="en-US" dirty="0">
                <a:solidFill>
                  <a:schemeClr val="accent1">
                    <a:lumMod val="60000"/>
                    <a:lumOff val="40000"/>
                  </a:schemeClr>
                </a:solidFill>
              </a:rPr>
              <a:t>subject-oriented</a:t>
            </a:r>
            <a:r>
              <a:rPr lang="en-US" dirty="0"/>
              <a:t>, </a:t>
            </a:r>
            <a:r>
              <a:rPr lang="en-US" dirty="0">
                <a:solidFill>
                  <a:schemeClr val="accent1">
                    <a:lumMod val="60000"/>
                    <a:lumOff val="40000"/>
                  </a:schemeClr>
                </a:solidFill>
              </a:rPr>
              <a:t>time-variant</a:t>
            </a:r>
            <a:r>
              <a:rPr lang="en-US" dirty="0"/>
              <a:t> and </a:t>
            </a:r>
            <a:r>
              <a:rPr lang="en-US" dirty="0">
                <a:solidFill>
                  <a:schemeClr val="accent1">
                    <a:lumMod val="60000"/>
                    <a:lumOff val="40000"/>
                  </a:schemeClr>
                </a:solidFill>
              </a:rPr>
              <a:t>non-volatile</a:t>
            </a:r>
            <a:r>
              <a:rPr lang="en-US" dirty="0"/>
              <a:t> collection of data in support of management's decision making process.</a:t>
            </a:r>
          </a:p>
          <a:p>
            <a:pPr lvl="1"/>
            <a:r>
              <a:rPr lang="en-US" dirty="0"/>
              <a:t>Integrated : A Data warehouse extracts data from many operational systems.</a:t>
            </a:r>
          </a:p>
          <a:p>
            <a:pPr lvl="2"/>
            <a:r>
              <a:rPr lang="en-US" dirty="0"/>
              <a:t>Ex: Sales, Inventory, Payroll, Production</a:t>
            </a:r>
          </a:p>
          <a:p>
            <a:pPr lvl="1"/>
            <a:r>
              <a:rPr lang="en-US" dirty="0"/>
              <a:t>Subject-oriented : A data warehouse can be used to analyze a particular subject area</a:t>
            </a:r>
          </a:p>
          <a:p>
            <a:pPr lvl="1"/>
            <a:r>
              <a:rPr lang="en-US" dirty="0"/>
              <a:t>Time-Variant:  data warehouses maintains historical data.</a:t>
            </a:r>
          </a:p>
          <a:p>
            <a:pPr lvl="1"/>
            <a:r>
              <a:rPr lang="en-US" dirty="0"/>
              <a:t>Non-volatile : New data could be added to the data warehouses. However, </a:t>
            </a:r>
            <a:r>
              <a:rPr lang="en-US" altLang="zh-TW" dirty="0"/>
              <a:t>existing data in the warehouse is not overwritten or updated.</a:t>
            </a:r>
            <a:endParaRPr lang="en-US" dirty="0"/>
          </a:p>
        </p:txBody>
      </p:sp>
    </p:spTree>
    <p:extLst>
      <p:ext uri="{BB962C8B-B14F-4D97-AF65-F5344CB8AC3E}">
        <p14:creationId xmlns:p14="http://schemas.microsoft.com/office/powerpoint/2010/main" val="1240283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a data warehouse? (contd.)</a:t>
            </a:r>
          </a:p>
        </p:txBody>
      </p:sp>
      <p:sp>
        <p:nvSpPr>
          <p:cNvPr id="3" name="Content Placeholder 2"/>
          <p:cNvSpPr>
            <a:spLocks noGrp="1"/>
          </p:cNvSpPr>
          <p:nvPr>
            <p:ph idx="1"/>
          </p:nvPr>
        </p:nvSpPr>
        <p:spPr/>
        <p:txBody>
          <a:bodyPr>
            <a:normAutofit fontScale="92500" lnSpcReduction="20000"/>
          </a:bodyPr>
          <a:lstStyle/>
          <a:p>
            <a:r>
              <a:rPr lang="en-US" dirty="0"/>
              <a:t>Historical data are stored in data warehouses. These data are </a:t>
            </a:r>
            <a:r>
              <a:rPr lang="en-US" i="1" dirty="0"/>
              <a:t>queried </a:t>
            </a:r>
            <a:r>
              <a:rPr lang="en-US" dirty="0"/>
              <a:t>for </a:t>
            </a:r>
            <a:r>
              <a:rPr lang="en-US" i="1" dirty="0"/>
              <a:t>business intelligence </a:t>
            </a:r>
            <a:r>
              <a:rPr lang="en-US" dirty="0"/>
              <a:t>or other </a:t>
            </a:r>
            <a:r>
              <a:rPr lang="en-US" i="1" dirty="0"/>
              <a:t>analytical activities.</a:t>
            </a:r>
          </a:p>
          <a:p>
            <a:pPr lvl="1"/>
            <a:r>
              <a:rPr lang="en-US" i="1" dirty="0"/>
              <a:t>Ex: What is the profitability of different products? What is the number of sales for each region for each product?</a:t>
            </a:r>
            <a:endParaRPr lang="en-US" dirty="0"/>
          </a:p>
          <a:p>
            <a:r>
              <a:rPr lang="en-US" dirty="0"/>
              <a:t>To answer such queries the data warehouse stores data in both atomic and summarized levels.</a:t>
            </a:r>
          </a:p>
          <a:p>
            <a:pPr lvl="1"/>
            <a:r>
              <a:rPr lang="en-US" dirty="0"/>
              <a:t>Atomic level data to get more detailed information</a:t>
            </a:r>
          </a:p>
          <a:p>
            <a:pPr lvl="1"/>
            <a:r>
              <a:rPr lang="en-US" dirty="0"/>
              <a:t>Pre-summarized data to speed up data retrievals </a:t>
            </a:r>
          </a:p>
        </p:txBody>
      </p:sp>
    </p:spTree>
    <p:extLst>
      <p:ext uri="{BB962C8B-B14F-4D97-AF65-F5344CB8AC3E}">
        <p14:creationId xmlns:p14="http://schemas.microsoft.com/office/powerpoint/2010/main" val="2464873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data warehouses? </a:t>
            </a:r>
          </a:p>
        </p:txBody>
      </p:sp>
      <p:sp>
        <p:nvSpPr>
          <p:cNvPr id="3" name="Content Placeholder 2"/>
          <p:cNvSpPr>
            <a:spLocks noGrp="1"/>
          </p:cNvSpPr>
          <p:nvPr>
            <p:ph idx="1"/>
          </p:nvPr>
        </p:nvSpPr>
        <p:spPr/>
        <p:txBody>
          <a:bodyPr>
            <a:normAutofit fontScale="85000" lnSpcReduction="10000"/>
          </a:bodyPr>
          <a:lstStyle/>
          <a:p>
            <a:r>
              <a:rPr lang="en-US" sz="3100" dirty="0"/>
              <a:t>Data warehouses provides an integrated and total view of the enterprise</a:t>
            </a:r>
          </a:p>
          <a:p>
            <a:r>
              <a:rPr lang="en-US" sz="3100" dirty="0"/>
              <a:t>OLTP databases does not perform very well for preparing reports where data should be queried from large number of tables.</a:t>
            </a:r>
          </a:p>
          <a:p>
            <a:r>
              <a:rPr lang="en-US" sz="3100" dirty="0"/>
              <a:t>Data warehouses are extremely quick in retrieving data due to its specialized data structure.</a:t>
            </a:r>
          </a:p>
          <a:p>
            <a:r>
              <a:rPr lang="en-US" altLang="en-GB" dirty="0"/>
              <a:t>Data warehouses does not interfere with local processing at sources. While complex queries are run at warehouses OLTP queries are run at information sources.</a:t>
            </a:r>
            <a:endParaRPr lang="en-US" altLang="en-GB" sz="3200" dirty="0"/>
          </a:p>
        </p:txBody>
      </p:sp>
    </p:spTree>
    <p:extLst>
      <p:ext uri="{BB962C8B-B14F-4D97-AF65-F5344CB8AC3E}">
        <p14:creationId xmlns:p14="http://schemas.microsoft.com/office/powerpoint/2010/main" val="1743390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37DE-1724-4945-9E9B-F55710A9E9AB}"/>
              </a:ext>
            </a:extLst>
          </p:cNvPr>
          <p:cNvSpPr>
            <a:spLocks noGrp="1"/>
          </p:cNvSpPr>
          <p:nvPr>
            <p:ph type="title"/>
          </p:nvPr>
        </p:nvSpPr>
        <p:spPr/>
        <p:txBody>
          <a:bodyPr/>
          <a:lstStyle/>
          <a:p>
            <a:r>
              <a:rPr lang="en-US" dirty="0"/>
              <a:t>Databases vs data warehouses</a:t>
            </a:r>
          </a:p>
        </p:txBody>
      </p:sp>
      <p:sp>
        <p:nvSpPr>
          <p:cNvPr id="3" name="Content Placeholder 2">
            <a:extLst>
              <a:ext uri="{FF2B5EF4-FFF2-40B4-BE49-F238E27FC236}">
                <a16:creationId xmlns:a16="http://schemas.microsoft.com/office/drawing/2014/main" id="{695751E3-4D91-409A-9FB3-2469B4050DA8}"/>
              </a:ext>
            </a:extLst>
          </p:cNvPr>
          <p:cNvSpPr>
            <a:spLocks noGrp="1"/>
          </p:cNvSpPr>
          <p:nvPr>
            <p:ph idx="1"/>
          </p:nvPr>
        </p:nvSpPr>
        <p:spPr/>
        <p:txBody>
          <a:bodyPr/>
          <a:lstStyle/>
          <a:p>
            <a:endParaRPr lang="en-US" dirty="0"/>
          </a:p>
          <a:p>
            <a:endParaRPr lang="en-US" dirty="0"/>
          </a:p>
          <a:p>
            <a:endParaRPr lang="en-US"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3218700084"/>
              </p:ext>
            </p:extLst>
          </p:nvPr>
        </p:nvGraphicFramePr>
        <p:xfrm>
          <a:off x="764986" y="2568389"/>
          <a:ext cx="10366190" cy="3371625"/>
        </p:xfrm>
        <a:graphic>
          <a:graphicData uri="http://schemas.openxmlformats.org/drawingml/2006/table">
            <a:tbl>
              <a:tblPr firstRow="1" bandRow="1">
                <a:tableStyleId>{5C22544A-7EE6-4342-B048-85BDC9FD1C3A}</a:tableStyleId>
              </a:tblPr>
              <a:tblGrid>
                <a:gridCol w="4850453">
                  <a:extLst>
                    <a:ext uri="{9D8B030D-6E8A-4147-A177-3AD203B41FA5}">
                      <a16:colId xmlns:a16="http://schemas.microsoft.com/office/drawing/2014/main" val="20000"/>
                    </a:ext>
                  </a:extLst>
                </a:gridCol>
                <a:gridCol w="5515737">
                  <a:extLst>
                    <a:ext uri="{9D8B030D-6E8A-4147-A177-3AD203B41FA5}">
                      <a16:colId xmlns:a16="http://schemas.microsoft.com/office/drawing/2014/main" val="20001"/>
                    </a:ext>
                  </a:extLst>
                </a:gridCol>
              </a:tblGrid>
              <a:tr h="430305">
                <a:tc>
                  <a:txBody>
                    <a:bodyPr/>
                    <a:lstStyle/>
                    <a:p>
                      <a:pPr algn="ctr"/>
                      <a:r>
                        <a:rPr lang="en-US" dirty="0"/>
                        <a:t>Databases</a:t>
                      </a:r>
                    </a:p>
                  </a:txBody>
                  <a:tcPr/>
                </a:tc>
                <a:tc>
                  <a:txBody>
                    <a:bodyPr/>
                    <a:lstStyle/>
                    <a:p>
                      <a:pPr algn="ctr"/>
                      <a:r>
                        <a:rPr lang="en-US" dirty="0"/>
                        <a:t>Data warehouse</a:t>
                      </a:r>
                    </a:p>
                  </a:txBody>
                  <a:tcPr/>
                </a:tc>
                <a:extLst>
                  <a:ext uri="{0D108BD9-81ED-4DB2-BD59-A6C34878D82A}">
                    <a16:rowId xmlns:a16="http://schemas.microsoft.com/office/drawing/2014/main" val="10000"/>
                  </a:ext>
                </a:extLst>
              </a:tr>
              <a:tr h="370840">
                <a:tc>
                  <a:txBody>
                    <a:bodyPr/>
                    <a:lstStyle/>
                    <a:p>
                      <a:r>
                        <a:rPr lang="en-US" dirty="0"/>
                        <a:t>Meant for OLTP</a:t>
                      </a:r>
                    </a:p>
                  </a:txBody>
                  <a:tcPr/>
                </a:tc>
                <a:tc>
                  <a:txBody>
                    <a:bodyPr/>
                    <a:lstStyle/>
                    <a:p>
                      <a:r>
                        <a:rPr lang="en-US" dirty="0"/>
                        <a:t>Meant for</a:t>
                      </a:r>
                      <a:r>
                        <a:rPr lang="en-US" baseline="0" dirty="0"/>
                        <a:t> OLAP</a:t>
                      </a:r>
                      <a:endParaRPr lang="en-US" dirty="0"/>
                    </a:p>
                  </a:txBody>
                  <a:tcPr/>
                </a:tc>
                <a:extLst>
                  <a:ext uri="{0D108BD9-81ED-4DB2-BD59-A6C34878D82A}">
                    <a16:rowId xmlns:a16="http://schemas.microsoft.com/office/drawing/2014/main" val="10001"/>
                  </a:ext>
                </a:extLst>
              </a:tr>
              <a:tr h="370840">
                <a:tc>
                  <a:txBody>
                    <a:bodyPr/>
                    <a:lstStyle/>
                    <a:p>
                      <a:r>
                        <a:rPr lang="en-US" dirty="0"/>
                        <a:t>Highly</a:t>
                      </a:r>
                      <a:r>
                        <a:rPr lang="en-US" baseline="0" dirty="0"/>
                        <a:t> normalized with reduced redundancies. </a:t>
                      </a:r>
                    </a:p>
                    <a:p>
                      <a:pPr lvl="1"/>
                      <a:r>
                        <a:rPr lang="en-US" baseline="0" dirty="0"/>
                        <a:t>Faster insertions</a:t>
                      </a:r>
                    </a:p>
                    <a:p>
                      <a:pPr lvl="1"/>
                      <a:r>
                        <a:rPr lang="en-US" baseline="0" dirty="0"/>
                        <a:t>Slow in querying due to joins</a:t>
                      </a:r>
                      <a:endParaRPr lang="en-US" dirty="0"/>
                    </a:p>
                  </a:txBody>
                  <a:tcPr/>
                </a:tc>
                <a:tc>
                  <a:txBody>
                    <a:bodyPr/>
                    <a:lstStyle/>
                    <a:p>
                      <a:r>
                        <a:rPr lang="en-US" dirty="0"/>
                        <a:t>Reduce the number of tables required</a:t>
                      </a:r>
                      <a:r>
                        <a:rPr lang="en-US" baseline="0" dirty="0"/>
                        <a:t> for querying by deformalizing</a:t>
                      </a:r>
                    </a:p>
                    <a:p>
                      <a:pPr lvl="1"/>
                      <a:r>
                        <a:rPr lang="en-US" baseline="0" dirty="0"/>
                        <a:t>Redundancies may be high but yet acceptable due to speed of querying</a:t>
                      </a:r>
                      <a:endParaRPr lang="en-US" dirty="0"/>
                    </a:p>
                  </a:txBody>
                  <a:tcPr/>
                </a:tc>
                <a:extLst>
                  <a:ext uri="{0D108BD9-81ED-4DB2-BD59-A6C34878D82A}">
                    <a16:rowId xmlns:a16="http://schemas.microsoft.com/office/drawing/2014/main" val="10002"/>
                  </a:ext>
                </a:extLst>
              </a:tr>
              <a:tr h="370840">
                <a:tc>
                  <a:txBody>
                    <a:bodyPr/>
                    <a:lstStyle/>
                    <a:p>
                      <a:r>
                        <a:rPr lang="en-US" dirty="0"/>
                        <a:t>Data is not </a:t>
                      </a:r>
                      <a:r>
                        <a:rPr lang="en-US" baseline="0" dirty="0"/>
                        <a:t>standardized</a:t>
                      </a:r>
                      <a:endParaRPr lang="en-US" dirty="0"/>
                    </a:p>
                  </a:txBody>
                  <a:tcPr/>
                </a:tc>
                <a:tc>
                  <a:txBody>
                    <a:bodyPr/>
                    <a:lstStyle/>
                    <a:p>
                      <a:r>
                        <a:rPr lang="en-US" dirty="0"/>
                        <a:t>Data is standardized</a:t>
                      </a:r>
                    </a:p>
                  </a:txBody>
                  <a:tcPr/>
                </a:tc>
                <a:extLst>
                  <a:ext uri="{0D108BD9-81ED-4DB2-BD59-A6C34878D82A}">
                    <a16:rowId xmlns:a16="http://schemas.microsoft.com/office/drawing/2014/main" val="10003"/>
                  </a:ext>
                </a:extLst>
              </a:tr>
              <a:tr h="370840">
                <a:tc>
                  <a:txBody>
                    <a:bodyPr/>
                    <a:lstStyle/>
                    <a:p>
                      <a:r>
                        <a:rPr lang="en-US" dirty="0"/>
                        <a:t>Current snapshot of data</a:t>
                      </a:r>
                    </a:p>
                  </a:txBody>
                  <a:tcPr/>
                </a:tc>
                <a:tc>
                  <a:txBody>
                    <a:bodyPr/>
                    <a:lstStyle/>
                    <a:p>
                      <a:r>
                        <a:rPr lang="en-US" sz="1800" b="0" i="0" kern="1200" dirty="0">
                          <a:solidFill>
                            <a:schemeClr val="dk1"/>
                          </a:solidFill>
                          <a:effectLst/>
                          <a:latin typeface="+mn-lt"/>
                          <a:ea typeface="+mn-ea"/>
                          <a:cs typeface="+mn-cs"/>
                        </a:rPr>
                        <a:t>Contains</a:t>
                      </a:r>
                      <a:r>
                        <a:rPr lang="en-US" sz="1800" b="0" i="0" kern="1200" baseline="0" dirty="0">
                          <a:solidFill>
                            <a:schemeClr val="dk1"/>
                          </a:solidFill>
                          <a:effectLst/>
                          <a:latin typeface="+mn-lt"/>
                          <a:ea typeface="+mn-ea"/>
                          <a:cs typeface="+mn-cs"/>
                        </a:rPr>
                        <a:t> historical data</a:t>
                      </a:r>
                      <a:endParaRPr lang="en-US" dirty="0"/>
                    </a:p>
                  </a:txBody>
                  <a:tcPr/>
                </a:tc>
                <a:extLst>
                  <a:ext uri="{0D108BD9-81ED-4DB2-BD59-A6C34878D82A}">
                    <a16:rowId xmlns:a16="http://schemas.microsoft.com/office/drawing/2014/main" val="10004"/>
                  </a:ext>
                </a:extLst>
              </a:tr>
              <a:tr h="370840">
                <a:tc>
                  <a:txBody>
                    <a:bodyPr/>
                    <a:lstStyle/>
                    <a:p>
                      <a:r>
                        <a:rPr lang="en-US" dirty="0"/>
                        <a:t>Should have minimal indexes to have speed in writing</a:t>
                      </a:r>
                    </a:p>
                  </a:txBody>
                  <a:tcPr/>
                </a:tc>
                <a:tc>
                  <a:txBody>
                    <a:bodyPr/>
                    <a:lstStyle/>
                    <a:p>
                      <a:r>
                        <a:rPr lang="en-US" dirty="0"/>
                        <a:t>Should have maximum indexing for read speed.</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64496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 of a data warehouse</a:t>
            </a:r>
          </a:p>
        </p:txBody>
      </p:sp>
      <p:sp>
        <p:nvSpPr>
          <p:cNvPr id="3" name="Content Placeholder 2"/>
          <p:cNvSpPr>
            <a:spLocks noGrp="1"/>
          </p:cNvSpPr>
          <p:nvPr>
            <p:ph idx="1"/>
          </p:nvPr>
        </p:nvSpPr>
        <p:spPr/>
        <p:txBody>
          <a:bodyPr/>
          <a:lstStyle/>
          <a:p>
            <a:endParaRPr lang="en-US" dirty="0"/>
          </a:p>
          <a:p>
            <a:endParaRPr lang="en-US" dirty="0"/>
          </a:p>
          <a:p>
            <a:endParaRPr lang="en-US" dirty="0"/>
          </a:p>
          <a:p>
            <a:endParaRPr lang="en-US" dirty="0"/>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808" y="2049091"/>
            <a:ext cx="9752381" cy="4507936"/>
          </a:xfrm>
          <a:prstGeom prst="rect">
            <a:avLst/>
          </a:prstGeom>
        </p:spPr>
      </p:pic>
    </p:spTree>
    <p:extLst>
      <p:ext uri="{BB962C8B-B14F-4D97-AF65-F5344CB8AC3E}">
        <p14:creationId xmlns:p14="http://schemas.microsoft.com/office/powerpoint/2010/main" val="1483175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architecture of a data warehouse (Contd.)</a:t>
            </a:r>
          </a:p>
        </p:txBody>
      </p:sp>
      <p:sp>
        <p:nvSpPr>
          <p:cNvPr id="3" name="Content Placeholder 2"/>
          <p:cNvSpPr>
            <a:spLocks noGrp="1"/>
          </p:cNvSpPr>
          <p:nvPr>
            <p:ph idx="1"/>
          </p:nvPr>
        </p:nvSpPr>
        <p:spPr/>
        <p:txBody>
          <a:bodyPr>
            <a:normAutofit fontScale="85000" lnSpcReduction="20000"/>
          </a:bodyPr>
          <a:lstStyle/>
          <a:p>
            <a:r>
              <a:rPr lang="en-US" dirty="0"/>
              <a:t>Data sources layer : The data source are from where original data are, collected from a variety internal and external sources.</a:t>
            </a:r>
          </a:p>
          <a:p>
            <a:r>
              <a:rPr lang="en-US" dirty="0"/>
              <a:t>Staging layer : </a:t>
            </a:r>
          </a:p>
          <a:p>
            <a:pPr lvl="1"/>
            <a:r>
              <a:rPr lang="en-US" dirty="0"/>
              <a:t>The extracted data coming from several disparate sources needs to be changed, converted, and made ready in a format that is suitable to be stored for querying and analysis. </a:t>
            </a:r>
          </a:p>
          <a:p>
            <a:pPr lvl="1"/>
            <a:r>
              <a:rPr lang="en-US" dirty="0"/>
              <a:t>Three major functions need to be performed for getting the data ready namely, extract the data, transform the data, and load the data into the data warehouse. </a:t>
            </a:r>
          </a:p>
          <a:p>
            <a:pPr lvl="1"/>
            <a:r>
              <a:rPr lang="en-US" dirty="0"/>
              <a:t>These functions take place in a staging area.</a:t>
            </a:r>
          </a:p>
        </p:txBody>
      </p:sp>
    </p:spTree>
    <p:extLst>
      <p:ext uri="{BB962C8B-B14F-4D97-AF65-F5344CB8AC3E}">
        <p14:creationId xmlns:p14="http://schemas.microsoft.com/office/powerpoint/2010/main" val="31162767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architecture of a data warehouse (Contd.)</a:t>
            </a:r>
          </a:p>
        </p:txBody>
      </p:sp>
      <p:sp>
        <p:nvSpPr>
          <p:cNvPr id="3" name="Content Placeholder 2"/>
          <p:cNvSpPr>
            <a:spLocks noGrp="1"/>
          </p:cNvSpPr>
          <p:nvPr>
            <p:ph idx="1"/>
          </p:nvPr>
        </p:nvSpPr>
        <p:spPr/>
        <p:txBody>
          <a:bodyPr>
            <a:normAutofit lnSpcReduction="10000"/>
          </a:bodyPr>
          <a:lstStyle/>
          <a:p>
            <a:r>
              <a:rPr lang="en-US" dirty="0"/>
              <a:t>Storage layer : The data storage layer stores data that was cleansed in the staging area as a single central repository. Depending on the business the storage area may also contains data marts.</a:t>
            </a:r>
          </a:p>
          <a:p>
            <a:r>
              <a:rPr lang="en-US" dirty="0"/>
              <a:t>Presentation layer : The presentation layer provides users with the ability to query the data to gain insights and develop automated or ad-hoc reports. </a:t>
            </a:r>
          </a:p>
        </p:txBody>
      </p:sp>
    </p:spTree>
    <p:extLst>
      <p:ext uri="{BB962C8B-B14F-4D97-AF65-F5344CB8AC3E}">
        <p14:creationId xmlns:p14="http://schemas.microsoft.com/office/powerpoint/2010/main" val="40399039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warehouse vs data marts</a:t>
            </a:r>
          </a:p>
        </p:txBody>
      </p:sp>
      <p:sp>
        <p:nvSpPr>
          <p:cNvPr id="3" name="Content Placeholder 2"/>
          <p:cNvSpPr>
            <a:spLocks noGrp="1"/>
          </p:cNvSpPr>
          <p:nvPr>
            <p:ph idx="1"/>
          </p:nvPr>
        </p:nvSpPr>
        <p:spPr>
          <a:xfrm>
            <a:off x="581192" y="2247731"/>
            <a:ext cx="11029615" cy="3678303"/>
          </a:xfrm>
        </p:spPr>
        <p:txBody>
          <a:bodyPr/>
          <a:lstStyle/>
          <a:p>
            <a:r>
              <a:rPr lang="en-US" altLang="en-GB" sz="2800" i="1" dirty="0"/>
              <a:t>Data warehouse</a:t>
            </a:r>
            <a:r>
              <a:rPr lang="en-US" altLang="en-GB" sz="2800" dirty="0"/>
              <a:t>: collects all information about subjects (</a:t>
            </a:r>
            <a:r>
              <a:rPr lang="en-US" altLang="en-GB" sz="2400" i="1" dirty="0" err="1">
                <a:latin typeface="Courier New" panose="02070309020205020404" pitchFamily="49" charset="0"/>
              </a:rPr>
              <a:t>customers,products,sales,assets</a:t>
            </a:r>
            <a:r>
              <a:rPr lang="en-US" altLang="en-GB" sz="2400" i="1" dirty="0">
                <a:latin typeface="Courier New" panose="02070309020205020404" pitchFamily="49" charset="0"/>
              </a:rPr>
              <a:t>, personnel</a:t>
            </a:r>
            <a:r>
              <a:rPr lang="en-US" altLang="en-GB" sz="2800" dirty="0"/>
              <a:t>) that span an entire organization</a:t>
            </a:r>
          </a:p>
          <a:p>
            <a:pPr lvl="1"/>
            <a:r>
              <a:rPr lang="en-US" altLang="en-GB" sz="2400" dirty="0"/>
              <a:t>Requires extensive business modeling (may take years to design and build)</a:t>
            </a:r>
          </a:p>
          <a:p>
            <a:r>
              <a:rPr lang="en-US" altLang="en-GB" sz="2800" i="1" dirty="0"/>
              <a:t>Data Marts</a:t>
            </a:r>
            <a:r>
              <a:rPr lang="en-US" altLang="en-GB" sz="2800" dirty="0"/>
              <a:t>: Departmental subsets that focus on selected subjects	</a:t>
            </a:r>
          </a:p>
          <a:p>
            <a:pPr lvl="1"/>
            <a:r>
              <a:rPr lang="en-US" altLang="en-GB" sz="2400" dirty="0"/>
              <a:t>Marketing data mart: customer, product, sales</a:t>
            </a:r>
          </a:p>
          <a:p>
            <a:pPr lvl="1"/>
            <a:r>
              <a:rPr lang="en-US" altLang="en-GB" sz="2400" dirty="0"/>
              <a:t>Faster roll out, but complex integration in the long run</a:t>
            </a:r>
            <a:endParaRPr lang="en-US" altLang="en-GB" dirty="0"/>
          </a:p>
          <a:p>
            <a:endParaRPr lang="en-US" dirty="0"/>
          </a:p>
        </p:txBody>
      </p:sp>
    </p:spTree>
    <p:extLst>
      <p:ext uri="{BB962C8B-B14F-4D97-AF65-F5344CB8AC3E}">
        <p14:creationId xmlns:p14="http://schemas.microsoft.com/office/powerpoint/2010/main" val="41576287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Designing a data warehouse</a:t>
            </a:r>
          </a:p>
        </p:txBody>
      </p:sp>
      <p:sp>
        <p:nvSpPr>
          <p:cNvPr id="3" name="Content Placeholder 2"/>
          <p:cNvSpPr>
            <a:spLocks noGrp="1"/>
          </p:cNvSpPr>
          <p:nvPr>
            <p:ph idx="1"/>
          </p:nvPr>
        </p:nvSpPr>
        <p:spPr/>
        <p:txBody>
          <a:bodyPr>
            <a:normAutofit fontScale="85000" lnSpcReduction="20000"/>
          </a:bodyPr>
          <a:lstStyle/>
          <a:p>
            <a:r>
              <a:rPr lang="en-US" dirty="0"/>
              <a:t>In several ways, building a data warehouse is very different from building an operational system.</a:t>
            </a:r>
          </a:p>
          <a:p>
            <a:r>
              <a:rPr lang="en-US" dirty="0"/>
              <a:t>For an operational system, the users are able to give you precise details of the required functions, information content, and usage patterns. </a:t>
            </a:r>
          </a:p>
          <a:p>
            <a:r>
              <a:rPr lang="en-US" dirty="0"/>
              <a:t>However, for a data warehousing system, the users are generally unable to define their requirements clearly. </a:t>
            </a:r>
          </a:p>
          <a:p>
            <a:r>
              <a:rPr lang="en-US" dirty="0"/>
              <a:t>They cannot define precisely what information they really want from the data warehouse, nor can they express how they would like to use the information or process it.</a:t>
            </a:r>
          </a:p>
        </p:txBody>
      </p:sp>
    </p:spTree>
    <p:extLst>
      <p:ext uri="{BB962C8B-B14F-4D97-AF65-F5344CB8AC3E}">
        <p14:creationId xmlns:p14="http://schemas.microsoft.com/office/powerpoint/2010/main" val="3628262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7F2F4-CACD-4837-9410-41C505110E0E}"/>
              </a:ext>
            </a:extLst>
          </p:cNvPr>
          <p:cNvSpPr>
            <a:spLocks noGrp="1"/>
          </p:cNvSpPr>
          <p:nvPr>
            <p:ph type="title"/>
          </p:nvPr>
        </p:nvSpPr>
        <p:spPr/>
        <p:txBody>
          <a:bodyPr/>
          <a:lstStyle/>
          <a:p>
            <a:r>
              <a:rPr lang="en-US" dirty="0"/>
              <a:t>Designing a data warehouse (contd.)</a:t>
            </a:r>
          </a:p>
        </p:txBody>
      </p:sp>
      <p:sp>
        <p:nvSpPr>
          <p:cNvPr id="3" name="Content Placeholder 2">
            <a:extLst>
              <a:ext uri="{FF2B5EF4-FFF2-40B4-BE49-F238E27FC236}">
                <a16:creationId xmlns:a16="http://schemas.microsoft.com/office/drawing/2014/main" id="{67D45C6D-B39F-433C-9832-5526542F9E50}"/>
              </a:ext>
            </a:extLst>
          </p:cNvPr>
          <p:cNvSpPr>
            <a:spLocks noGrp="1"/>
          </p:cNvSpPr>
          <p:nvPr>
            <p:ph idx="1"/>
          </p:nvPr>
        </p:nvSpPr>
        <p:spPr/>
        <p:txBody>
          <a:bodyPr>
            <a:normAutofit fontScale="92500" lnSpcReduction="10000"/>
          </a:bodyPr>
          <a:lstStyle/>
          <a:p>
            <a:r>
              <a:rPr lang="en-US" dirty="0"/>
              <a:t>However, data warehouse users can provide very important insights into how they think about the business. </a:t>
            </a:r>
          </a:p>
          <a:p>
            <a:r>
              <a:rPr lang="en-US" dirty="0"/>
              <a:t>They are aware of what measurement units are important for them. </a:t>
            </a:r>
          </a:p>
          <a:p>
            <a:r>
              <a:rPr lang="en-US" dirty="0"/>
              <a:t>Each user department knows how they measure success in that particular department. </a:t>
            </a:r>
          </a:p>
          <a:p>
            <a:r>
              <a:rPr lang="en-US" dirty="0"/>
              <a:t>The users can also provide insights into how they combine the various pieces of information for strategic decision making.</a:t>
            </a:r>
          </a:p>
        </p:txBody>
      </p:sp>
    </p:spTree>
    <p:extLst>
      <p:ext uri="{BB962C8B-B14F-4D97-AF65-F5344CB8AC3E}">
        <p14:creationId xmlns:p14="http://schemas.microsoft.com/office/powerpoint/2010/main" val="2549507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7304AA1-A63F-48D7-A6D3-4AF92D54426B}"/>
              </a:ext>
            </a:extLst>
          </p:cNvPr>
          <p:cNvSpPr>
            <a:spLocks noGrp="1"/>
          </p:cNvSpPr>
          <p:nvPr>
            <p:ph idx="1"/>
          </p:nvPr>
        </p:nvSpPr>
        <p:spPr/>
        <p:txBody>
          <a:bodyPr/>
          <a:lstStyle/>
          <a:p>
            <a:r>
              <a:rPr lang="en-US" dirty="0"/>
              <a:t>Managers think of the business in terms of business dimensions.</a:t>
            </a:r>
          </a:p>
          <a:p>
            <a:pPr lvl="1"/>
            <a:r>
              <a:rPr lang="en-US" dirty="0"/>
              <a:t>Ex: How much did a new product generate ? -&gt; by months, user demographics, by sales location &amp; etc.</a:t>
            </a:r>
          </a:p>
          <a:p>
            <a:pPr lvl="1"/>
            <a:endParaRPr lang="en-US" dirty="0"/>
          </a:p>
          <a:p>
            <a:pPr lvl="1"/>
            <a:endParaRPr lang="en-US" dirty="0"/>
          </a:p>
          <a:p>
            <a:endParaRPr lang="en-US" dirty="0"/>
          </a:p>
        </p:txBody>
      </p:sp>
      <p:sp>
        <p:nvSpPr>
          <p:cNvPr id="2" name="Title 1">
            <a:extLst>
              <a:ext uri="{FF2B5EF4-FFF2-40B4-BE49-F238E27FC236}">
                <a16:creationId xmlns:a16="http://schemas.microsoft.com/office/drawing/2014/main" id="{669108F0-0E19-4829-B554-24B8AD0D6235}"/>
              </a:ext>
            </a:extLst>
          </p:cNvPr>
          <p:cNvSpPr>
            <a:spLocks noGrp="1"/>
          </p:cNvSpPr>
          <p:nvPr>
            <p:ph type="title"/>
          </p:nvPr>
        </p:nvSpPr>
        <p:spPr/>
        <p:txBody>
          <a:bodyPr/>
          <a:lstStyle/>
          <a:p>
            <a:r>
              <a:rPr lang="en-US" dirty="0"/>
              <a:t>Dimensional nature of business data</a:t>
            </a:r>
          </a:p>
        </p:txBody>
      </p:sp>
      <p:pic>
        <p:nvPicPr>
          <p:cNvPr id="4" name="Picture 3">
            <a:extLst>
              <a:ext uri="{FF2B5EF4-FFF2-40B4-BE49-F238E27FC236}">
                <a16:creationId xmlns:a16="http://schemas.microsoft.com/office/drawing/2014/main" id="{77752F43-B3AD-476D-9E75-5FEF11D8D4D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282" t="-50000" r="-14282" b="106338"/>
          <a:stretch/>
        </p:blipFill>
        <p:spPr bwMode="auto">
          <a:xfrm>
            <a:off x="2711670" y="1607440"/>
            <a:ext cx="8569325" cy="21064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4">
            <a:extLst>
              <a:ext uri="{FF2B5EF4-FFF2-40B4-BE49-F238E27FC236}">
                <a16:creationId xmlns:a16="http://schemas.microsoft.com/office/drawing/2014/main" id="{70FE12EF-4008-4A0B-9D0E-C281252774F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0000"/>
          <a:stretch/>
        </p:blipFill>
        <p:spPr bwMode="auto">
          <a:xfrm>
            <a:off x="1287924" y="4044456"/>
            <a:ext cx="9092737" cy="2559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134823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1B9A9-DFCD-47CF-9D66-6CAAF1C27615}"/>
              </a:ext>
            </a:extLst>
          </p:cNvPr>
          <p:cNvSpPr>
            <a:spLocks noGrp="1"/>
          </p:cNvSpPr>
          <p:nvPr>
            <p:ph type="title"/>
          </p:nvPr>
        </p:nvSpPr>
        <p:spPr/>
        <p:txBody>
          <a:bodyPr/>
          <a:lstStyle/>
          <a:p>
            <a:r>
              <a:rPr lang="en-US" dirty="0"/>
              <a:t>Dimensional modelling</a:t>
            </a:r>
          </a:p>
        </p:txBody>
      </p:sp>
      <p:sp>
        <p:nvSpPr>
          <p:cNvPr id="3" name="Content Placeholder 2">
            <a:extLst>
              <a:ext uri="{FF2B5EF4-FFF2-40B4-BE49-F238E27FC236}">
                <a16:creationId xmlns:a16="http://schemas.microsoft.com/office/drawing/2014/main" id="{076AE5D1-F88D-47DB-9B13-6A88B7BD0310}"/>
              </a:ext>
            </a:extLst>
          </p:cNvPr>
          <p:cNvSpPr>
            <a:spLocks noGrp="1"/>
          </p:cNvSpPr>
          <p:nvPr>
            <p:ph idx="1"/>
          </p:nvPr>
        </p:nvSpPr>
        <p:spPr/>
        <p:txBody>
          <a:bodyPr>
            <a:normAutofit fontScale="77500" lnSpcReduction="20000"/>
          </a:bodyPr>
          <a:lstStyle/>
          <a:p>
            <a:r>
              <a:rPr lang="en-US" dirty="0"/>
              <a:t>A Dimensional Model is a database structure that is optimized for online queries and Data Warehousing tools.</a:t>
            </a:r>
          </a:p>
          <a:p>
            <a:r>
              <a:rPr lang="en-US" dirty="0"/>
              <a:t>Dimensional modeling gets its name from the business dimensions which are need to incorporate into the logical data model of the data warehouse. </a:t>
            </a:r>
          </a:p>
          <a:p>
            <a:r>
              <a:rPr lang="en-US" dirty="0"/>
              <a:t>It is a logical design technique to structure the business dimensions and the metrics that are analyzed along these dimensions. </a:t>
            </a:r>
          </a:p>
          <a:p>
            <a:r>
              <a:rPr lang="en-US" dirty="0"/>
              <a:t>Dimensional Models are designed for reading, summarizing and analyzing numeric information, whereas Relational Models are optimized for adding and maintaining data using real-time operational systems.</a:t>
            </a:r>
            <a:br>
              <a:rPr lang="en-US" dirty="0"/>
            </a:br>
            <a:endParaRPr lang="en-US" dirty="0"/>
          </a:p>
        </p:txBody>
      </p:sp>
    </p:spTree>
    <p:extLst>
      <p:ext uri="{BB962C8B-B14F-4D97-AF65-F5344CB8AC3E}">
        <p14:creationId xmlns:p14="http://schemas.microsoft.com/office/powerpoint/2010/main" val="1671888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1B9A9-DFCD-47CF-9D66-6CAAF1C27615}"/>
              </a:ext>
            </a:extLst>
          </p:cNvPr>
          <p:cNvSpPr>
            <a:spLocks noGrp="1"/>
          </p:cNvSpPr>
          <p:nvPr>
            <p:ph type="title"/>
          </p:nvPr>
        </p:nvSpPr>
        <p:spPr/>
        <p:txBody>
          <a:bodyPr/>
          <a:lstStyle/>
          <a:p>
            <a:r>
              <a:rPr lang="en-US" dirty="0"/>
              <a:t>Dimensional modelling (contd.)</a:t>
            </a:r>
          </a:p>
        </p:txBody>
      </p:sp>
      <p:sp>
        <p:nvSpPr>
          <p:cNvPr id="3" name="Content Placeholder 2">
            <a:extLst>
              <a:ext uri="{FF2B5EF4-FFF2-40B4-BE49-F238E27FC236}">
                <a16:creationId xmlns:a16="http://schemas.microsoft.com/office/drawing/2014/main" id="{076AE5D1-F88D-47DB-9B13-6A88B7BD0310}"/>
              </a:ext>
            </a:extLst>
          </p:cNvPr>
          <p:cNvSpPr>
            <a:spLocks noGrp="1"/>
          </p:cNvSpPr>
          <p:nvPr>
            <p:ph idx="1"/>
          </p:nvPr>
        </p:nvSpPr>
        <p:spPr/>
        <p:txBody>
          <a:bodyPr>
            <a:normAutofit fontScale="92500" lnSpcReduction="20000"/>
          </a:bodyPr>
          <a:lstStyle/>
          <a:p>
            <a:r>
              <a:rPr lang="en-US" dirty="0"/>
              <a:t>In a data warehouse a dimension model is comprised of "fact" and "dimension" tables. </a:t>
            </a:r>
          </a:p>
          <a:p>
            <a:r>
              <a:rPr lang="en-US" dirty="0"/>
              <a:t>A fact table consists of facts of a particular business process. Facts are also known as measurements or metrics. A fact table record captures a measurement or a metric.</a:t>
            </a:r>
          </a:p>
          <a:p>
            <a:r>
              <a:rPr lang="en-US" dirty="0"/>
              <a:t>Dimension tables are used to represent business entities such as products, sales, people &amp; etc. They contain attributes that provide context to the measures which will be used to for analysis.</a:t>
            </a:r>
          </a:p>
        </p:txBody>
      </p:sp>
    </p:spTree>
    <p:extLst>
      <p:ext uri="{BB962C8B-B14F-4D97-AF65-F5344CB8AC3E}">
        <p14:creationId xmlns:p14="http://schemas.microsoft.com/office/powerpoint/2010/main" val="25283604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A6C0B-2062-48E6-9BE2-FB1F59E39E52}"/>
              </a:ext>
            </a:extLst>
          </p:cNvPr>
          <p:cNvSpPr>
            <a:spLocks noGrp="1"/>
          </p:cNvSpPr>
          <p:nvPr>
            <p:ph type="title"/>
          </p:nvPr>
        </p:nvSpPr>
        <p:spPr/>
        <p:txBody>
          <a:bodyPr/>
          <a:lstStyle/>
          <a:p>
            <a:r>
              <a:rPr lang="en-US" dirty="0"/>
              <a:t>Developing a dimensional model</a:t>
            </a:r>
          </a:p>
        </p:txBody>
      </p:sp>
      <p:sp>
        <p:nvSpPr>
          <p:cNvPr id="3" name="Content Placeholder 2">
            <a:extLst>
              <a:ext uri="{FF2B5EF4-FFF2-40B4-BE49-F238E27FC236}">
                <a16:creationId xmlns:a16="http://schemas.microsoft.com/office/drawing/2014/main" id="{548E1CAD-48ED-46D2-9AB1-99C53A9869E5}"/>
              </a:ext>
            </a:extLst>
          </p:cNvPr>
          <p:cNvSpPr>
            <a:spLocks noGrp="1"/>
          </p:cNvSpPr>
          <p:nvPr>
            <p:ph idx="1"/>
          </p:nvPr>
        </p:nvSpPr>
        <p:spPr/>
        <p:txBody>
          <a:bodyPr>
            <a:normAutofit fontScale="85000" lnSpcReduction="20000"/>
          </a:bodyPr>
          <a:lstStyle/>
          <a:p>
            <a:r>
              <a:rPr lang="en-US" dirty="0"/>
              <a:t>Consider a subject to be analyzed (Ex: Sales)</a:t>
            </a:r>
          </a:p>
          <a:p>
            <a:r>
              <a:rPr lang="en-US" dirty="0"/>
              <a:t>These subjects are associated with a number of measured facts or the measurements that are of interest for analysis.</a:t>
            </a:r>
          </a:p>
          <a:p>
            <a:r>
              <a:rPr lang="en-US" dirty="0"/>
              <a:t>These measurements are to be analyzed along several dimensions.</a:t>
            </a:r>
          </a:p>
          <a:p>
            <a:pPr lvl="1"/>
            <a:r>
              <a:rPr lang="en-US" dirty="0"/>
              <a:t>Ex: Facts </a:t>
            </a:r>
            <a:r>
              <a:rPr lang="en-US" dirty="0">
                <a:latin typeface="Franklin Gothic Book" panose="020B0503020102020204" pitchFamily="34" charset="0"/>
              </a:rPr>
              <a:t>→</a:t>
            </a:r>
            <a:r>
              <a:rPr lang="en-US" dirty="0"/>
              <a:t> actual sales, forecast sales, and budget sales</a:t>
            </a:r>
          </a:p>
          <a:p>
            <a:pPr lvl="1"/>
            <a:r>
              <a:rPr lang="en-US" dirty="0"/>
              <a:t>Dimensions </a:t>
            </a:r>
            <a:r>
              <a:rPr lang="en-US" dirty="0">
                <a:latin typeface="Franklin Gothic Book" panose="020B0503020102020204" pitchFamily="34" charset="0"/>
              </a:rPr>
              <a:t>→</a:t>
            </a:r>
            <a:r>
              <a:rPr lang="en-US" dirty="0"/>
              <a:t>time, location, product, and demographic age group.</a:t>
            </a:r>
          </a:p>
          <a:p>
            <a:r>
              <a:rPr lang="en-US" dirty="0"/>
              <a:t>Each dimension are associated with several attributes. Attributes may have hierarchies among them</a:t>
            </a:r>
          </a:p>
        </p:txBody>
      </p:sp>
    </p:spTree>
    <p:extLst>
      <p:ext uri="{BB962C8B-B14F-4D97-AF65-F5344CB8AC3E}">
        <p14:creationId xmlns:p14="http://schemas.microsoft.com/office/powerpoint/2010/main" val="30067453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 in dimensions</a:t>
            </a:r>
          </a:p>
        </p:txBody>
      </p:sp>
      <p:sp>
        <p:nvSpPr>
          <p:cNvPr id="3" name="Content Placeholder 2"/>
          <p:cNvSpPr>
            <a:spLocks noGrp="1"/>
          </p:cNvSpPr>
          <p:nvPr>
            <p:ph idx="1"/>
          </p:nvPr>
        </p:nvSpPr>
        <p:spPr/>
        <p:txBody>
          <a:bodyPr>
            <a:normAutofit fontScale="85000" lnSpcReduction="20000"/>
          </a:bodyPr>
          <a:lstStyle/>
          <a:p>
            <a:r>
              <a:rPr lang="en-US" dirty="0"/>
              <a:t>Attributes are basically the properties of the dimensions on which you wish to perform different analysis.</a:t>
            </a:r>
          </a:p>
          <a:p>
            <a:pPr lvl="1"/>
            <a:r>
              <a:rPr lang="en-US" dirty="0"/>
              <a:t>Ex: Product Dimension : Name, color, size, price</a:t>
            </a:r>
          </a:p>
          <a:p>
            <a:r>
              <a:rPr lang="en-US" dirty="0"/>
              <a:t>Hierarchies are specification of levels that represents relationship between different attributes within a dimension</a:t>
            </a:r>
          </a:p>
          <a:p>
            <a:pPr lvl="1"/>
            <a:r>
              <a:rPr lang="en-US" dirty="0"/>
              <a:t>Ex: Possible hierarchy in the Time dimension </a:t>
            </a:r>
          </a:p>
          <a:p>
            <a:pPr lvl="2"/>
            <a:r>
              <a:rPr lang="en-US" dirty="0"/>
              <a:t>Year → Quarter → Month → Day</a:t>
            </a:r>
          </a:p>
          <a:p>
            <a:pPr lvl="1"/>
            <a:r>
              <a:rPr lang="en-US" dirty="0"/>
              <a:t>Possible hierarchy in the Product dimension </a:t>
            </a:r>
          </a:p>
          <a:p>
            <a:pPr lvl="2"/>
            <a:r>
              <a:rPr lang="en-US" dirty="0"/>
              <a:t>Category → Brand → Product</a:t>
            </a:r>
          </a:p>
        </p:txBody>
      </p:sp>
    </p:spTree>
    <p:extLst>
      <p:ext uri="{BB962C8B-B14F-4D97-AF65-F5344CB8AC3E}">
        <p14:creationId xmlns:p14="http://schemas.microsoft.com/office/powerpoint/2010/main" val="8016967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26FBF-A2CC-41A6-834C-0B23E06B6D37}"/>
              </a:ext>
            </a:extLst>
          </p:cNvPr>
          <p:cNvSpPr>
            <a:spLocks noGrp="1"/>
          </p:cNvSpPr>
          <p:nvPr>
            <p:ph type="title"/>
          </p:nvPr>
        </p:nvSpPr>
        <p:spPr/>
        <p:txBody>
          <a:bodyPr/>
          <a:lstStyle/>
          <a:p>
            <a:r>
              <a:rPr lang="en-US" dirty="0"/>
              <a:t>Measures of facts</a:t>
            </a:r>
          </a:p>
        </p:txBody>
      </p:sp>
      <p:sp>
        <p:nvSpPr>
          <p:cNvPr id="3" name="Content Placeholder 2">
            <a:extLst>
              <a:ext uri="{FF2B5EF4-FFF2-40B4-BE49-F238E27FC236}">
                <a16:creationId xmlns:a16="http://schemas.microsoft.com/office/drawing/2014/main" id="{B7ABC5C5-80F0-49C6-A783-B1BF615E264E}"/>
              </a:ext>
            </a:extLst>
          </p:cNvPr>
          <p:cNvSpPr>
            <a:spLocks noGrp="1"/>
          </p:cNvSpPr>
          <p:nvPr>
            <p:ph idx="1"/>
          </p:nvPr>
        </p:nvSpPr>
        <p:spPr/>
        <p:txBody>
          <a:bodyPr>
            <a:normAutofit fontScale="70000" lnSpcReduction="20000"/>
          </a:bodyPr>
          <a:lstStyle/>
          <a:p>
            <a:r>
              <a:rPr lang="en-US" dirty="0"/>
              <a:t>A measure is an attribute in the fact table</a:t>
            </a:r>
          </a:p>
          <a:p>
            <a:r>
              <a:rPr lang="en-US" dirty="0"/>
              <a:t>It is a unit of analysis that you wish to perform on some data.</a:t>
            </a:r>
          </a:p>
          <a:p>
            <a:pPr lvl="1"/>
            <a:r>
              <a:rPr lang="en-US" dirty="0"/>
              <a:t>Ex: In a sales Fact table you might find attributes such as sales amount, quantity sold, Sales price, tax, discount, profit, dealer price and actual cost.</a:t>
            </a:r>
          </a:p>
          <a:p>
            <a:r>
              <a:rPr lang="en-US" dirty="0"/>
              <a:t>Measures should be additive (</a:t>
            </a:r>
            <a:r>
              <a:rPr lang="en-US" dirty="0" err="1"/>
              <a:t>i.e</a:t>
            </a:r>
            <a:r>
              <a:rPr lang="en-US" dirty="0"/>
              <a:t> : statistical, financial and mathematical operations and aggregations could be performed on it)</a:t>
            </a:r>
          </a:p>
          <a:p>
            <a:pPr lvl="1"/>
            <a:r>
              <a:rPr lang="en-US" dirty="0"/>
              <a:t>Ex: Phone number is not additive</a:t>
            </a:r>
          </a:p>
          <a:p>
            <a:r>
              <a:rPr lang="en-US" dirty="0"/>
              <a:t>Certain measures such as percentages are not additive, but yet considered as measures since they are still analyzable.</a:t>
            </a:r>
          </a:p>
          <a:p>
            <a:pPr lvl="1"/>
            <a:r>
              <a:rPr lang="en-US" dirty="0"/>
              <a:t>Ex: Discount Percent, ratios such as Profit Margin</a:t>
            </a:r>
          </a:p>
          <a:p>
            <a:endParaRPr lang="en-US" dirty="0"/>
          </a:p>
        </p:txBody>
      </p:sp>
    </p:spTree>
    <p:extLst>
      <p:ext uri="{BB962C8B-B14F-4D97-AF65-F5344CB8AC3E}">
        <p14:creationId xmlns:p14="http://schemas.microsoft.com/office/powerpoint/2010/main" val="13819744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03E974-CD90-4DC3-89A1-3E6EAEFEE769}"/>
              </a:ext>
            </a:extLst>
          </p:cNvPr>
          <p:cNvSpPr>
            <a:spLocks noGrp="1"/>
          </p:cNvSpPr>
          <p:nvPr>
            <p:ph type="title"/>
          </p:nvPr>
        </p:nvSpPr>
        <p:spPr/>
        <p:txBody>
          <a:bodyPr/>
          <a:lstStyle/>
          <a:p>
            <a:r>
              <a:rPr lang="en-US" dirty="0"/>
              <a:t>Granularity</a:t>
            </a:r>
          </a:p>
        </p:txBody>
      </p:sp>
      <p:sp>
        <p:nvSpPr>
          <p:cNvPr id="3" name="Content Placeholder 2">
            <a:extLst>
              <a:ext uri="{FF2B5EF4-FFF2-40B4-BE49-F238E27FC236}">
                <a16:creationId xmlns:a16="http://schemas.microsoft.com/office/drawing/2014/main" id="{2CCF2D85-5415-4F2D-AA7D-168F6BEF5F98}"/>
              </a:ext>
            </a:extLst>
          </p:cNvPr>
          <p:cNvSpPr>
            <a:spLocks noGrp="1"/>
          </p:cNvSpPr>
          <p:nvPr>
            <p:ph idx="1"/>
          </p:nvPr>
        </p:nvSpPr>
        <p:spPr/>
        <p:txBody>
          <a:bodyPr/>
          <a:lstStyle/>
          <a:p>
            <a:r>
              <a:rPr lang="en-US" dirty="0"/>
              <a:t>The fact table grain is the business definition of what a single record represents at the most atomic level.</a:t>
            </a:r>
          </a:p>
          <a:p>
            <a:pPr lvl="1"/>
            <a:r>
              <a:rPr lang="en-US" dirty="0" err="1"/>
              <a:t>i.e</a:t>
            </a:r>
            <a:r>
              <a:rPr lang="en-US" dirty="0"/>
              <a:t> what is the lowest level the business users need to drill down to answer their questions</a:t>
            </a:r>
          </a:p>
          <a:p>
            <a:r>
              <a:rPr lang="en-US" dirty="0"/>
              <a:t>Typically, design tables to store the lowest grain possible</a:t>
            </a:r>
          </a:p>
          <a:p>
            <a:pPr lvl="1"/>
            <a:r>
              <a:rPr lang="en-US" dirty="0"/>
              <a:t>For example, sales order line, or quarterly salesperson quota</a:t>
            </a:r>
          </a:p>
        </p:txBody>
      </p:sp>
    </p:spTree>
    <p:extLst>
      <p:ext uri="{BB962C8B-B14F-4D97-AF65-F5344CB8AC3E}">
        <p14:creationId xmlns:p14="http://schemas.microsoft.com/office/powerpoint/2010/main" val="41527353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83CB9-164D-4510-82BB-A596E2D0ED49}"/>
              </a:ext>
            </a:extLst>
          </p:cNvPr>
          <p:cNvSpPr>
            <a:spLocks noGrp="1"/>
          </p:cNvSpPr>
          <p:nvPr>
            <p:ph type="title"/>
          </p:nvPr>
        </p:nvSpPr>
        <p:spPr/>
        <p:txBody>
          <a:bodyPr/>
          <a:lstStyle/>
          <a:p>
            <a:r>
              <a:rPr lang="en-US" dirty="0"/>
              <a:t>Ex: Hotel occupancy analysis</a:t>
            </a:r>
          </a:p>
        </p:txBody>
      </p:sp>
      <p:pic>
        <p:nvPicPr>
          <p:cNvPr id="5" name="Content Placeholder 4" descr="A picture containing shoji, crossword puzzle, text&#10;&#10;Description automatically generated">
            <a:extLst>
              <a:ext uri="{FF2B5EF4-FFF2-40B4-BE49-F238E27FC236}">
                <a16:creationId xmlns:a16="http://schemas.microsoft.com/office/drawing/2014/main" id="{57E71F38-6EE9-4592-8EEA-27867D0FFBAC}"/>
              </a:ext>
            </a:extLst>
          </p:cNvPr>
          <p:cNvPicPr>
            <a:picLocks noGrp="1" noChangeAspect="1"/>
          </p:cNvPicPr>
          <p:nvPr>
            <p:ph idx="1"/>
          </p:nvPr>
        </p:nvPicPr>
        <p:blipFill>
          <a:blip r:embed="rId2"/>
          <a:stretch>
            <a:fillRect/>
          </a:stretch>
        </p:blipFill>
        <p:spPr>
          <a:xfrm>
            <a:off x="2598057" y="2193525"/>
            <a:ext cx="5544457" cy="4593651"/>
          </a:xfrm>
        </p:spPr>
      </p:pic>
      <p:sp>
        <p:nvSpPr>
          <p:cNvPr id="6" name="TextBox 5">
            <a:extLst>
              <a:ext uri="{FF2B5EF4-FFF2-40B4-BE49-F238E27FC236}">
                <a16:creationId xmlns:a16="http://schemas.microsoft.com/office/drawing/2014/main" id="{AED5F9DC-D59F-4CA6-9093-2C32872E8125}"/>
              </a:ext>
            </a:extLst>
          </p:cNvPr>
          <p:cNvSpPr txBox="1"/>
          <p:nvPr/>
        </p:nvSpPr>
        <p:spPr>
          <a:xfrm>
            <a:off x="2598057" y="1895017"/>
            <a:ext cx="1406154" cy="400110"/>
          </a:xfrm>
          <a:prstGeom prst="rect">
            <a:avLst/>
          </a:prstGeom>
          <a:noFill/>
        </p:spPr>
        <p:txBody>
          <a:bodyPr wrap="none" rtlCol="0">
            <a:spAutoFit/>
          </a:bodyPr>
          <a:lstStyle/>
          <a:p>
            <a:r>
              <a:rPr lang="en-US" sz="2000" dirty="0"/>
              <a:t>Dimensions</a:t>
            </a:r>
          </a:p>
        </p:txBody>
      </p:sp>
      <p:sp>
        <p:nvSpPr>
          <p:cNvPr id="7" name="TextBox 6">
            <a:extLst>
              <a:ext uri="{FF2B5EF4-FFF2-40B4-BE49-F238E27FC236}">
                <a16:creationId xmlns:a16="http://schemas.microsoft.com/office/drawing/2014/main" id="{0CADD6EE-3C9F-4700-AF38-9212B83713A7}"/>
              </a:ext>
            </a:extLst>
          </p:cNvPr>
          <p:cNvSpPr txBox="1"/>
          <p:nvPr/>
        </p:nvSpPr>
        <p:spPr>
          <a:xfrm>
            <a:off x="1204687" y="4136408"/>
            <a:ext cx="1567542" cy="707886"/>
          </a:xfrm>
          <a:prstGeom prst="rect">
            <a:avLst/>
          </a:prstGeom>
          <a:noFill/>
        </p:spPr>
        <p:txBody>
          <a:bodyPr wrap="square" rtlCol="0">
            <a:spAutoFit/>
          </a:bodyPr>
          <a:lstStyle/>
          <a:p>
            <a:r>
              <a:rPr lang="en-US" sz="2000" dirty="0"/>
              <a:t>Attributes/ Hierarchies</a:t>
            </a:r>
          </a:p>
        </p:txBody>
      </p:sp>
    </p:spTree>
    <p:extLst>
      <p:ext uri="{BB962C8B-B14F-4D97-AF65-F5344CB8AC3E}">
        <p14:creationId xmlns:p14="http://schemas.microsoft.com/office/powerpoint/2010/main" val="2290520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9468B2-8B6E-4ADA-8B14-ACD1ADC5642F}"/>
              </a:ext>
            </a:extLst>
          </p:cNvPr>
          <p:cNvSpPr>
            <a:spLocks noGrp="1"/>
          </p:cNvSpPr>
          <p:nvPr>
            <p:ph type="title"/>
          </p:nvPr>
        </p:nvSpPr>
        <p:spPr/>
        <p:txBody>
          <a:bodyPr/>
          <a:lstStyle/>
          <a:p>
            <a:r>
              <a:rPr lang="en-US" dirty="0"/>
              <a:t>Another example</a:t>
            </a:r>
          </a:p>
        </p:txBody>
      </p:sp>
      <p:pic>
        <p:nvPicPr>
          <p:cNvPr id="5" name="Content Placeholder 4" descr="A screenshot of a cell phone&#10;&#10;Description automatically generated">
            <a:extLst>
              <a:ext uri="{FF2B5EF4-FFF2-40B4-BE49-F238E27FC236}">
                <a16:creationId xmlns:a16="http://schemas.microsoft.com/office/drawing/2014/main" id="{1F938D9C-C0B4-40E8-B684-4A36F8A80175}"/>
              </a:ext>
            </a:extLst>
          </p:cNvPr>
          <p:cNvPicPr>
            <a:picLocks noGrp="1" noChangeAspect="1"/>
          </p:cNvPicPr>
          <p:nvPr>
            <p:ph idx="1"/>
          </p:nvPr>
        </p:nvPicPr>
        <p:blipFill>
          <a:blip r:embed="rId2"/>
          <a:stretch>
            <a:fillRect/>
          </a:stretch>
        </p:blipFill>
        <p:spPr>
          <a:xfrm>
            <a:off x="2902858" y="2227551"/>
            <a:ext cx="5805714" cy="4586907"/>
          </a:xfrm>
        </p:spPr>
      </p:pic>
      <p:sp>
        <p:nvSpPr>
          <p:cNvPr id="6" name="TextBox 5">
            <a:extLst>
              <a:ext uri="{FF2B5EF4-FFF2-40B4-BE49-F238E27FC236}">
                <a16:creationId xmlns:a16="http://schemas.microsoft.com/office/drawing/2014/main" id="{0F760A98-0CFA-4608-913F-8A6B3240D6DB}"/>
              </a:ext>
            </a:extLst>
          </p:cNvPr>
          <p:cNvSpPr txBox="1"/>
          <p:nvPr/>
        </p:nvSpPr>
        <p:spPr>
          <a:xfrm>
            <a:off x="2902858" y="1793469"/>
            <a:ext cx="1406154" cy="400110"/>
          </a:xfrm>
          <a:prstGeom prst="rect">
            <a:avLst/>
          </a:prstGeom>
          <a:noFill/>
        </p:spPr>
        <p:txBody>
          <a:bodyPr wrap="none" rtlCol="0">
            <a:spAutoFit/>
          </a:bodyPr>
          <a:lstStyle/>
          <a:p>
            <a:r>
              <a:rPr lang="en-US" sz="2000" dirty="0"/>
              <a:t>Dimensions</a:t>
            </a:r>
          </a:p>
        </p:txBody>
      </p:sp>
      <p:sp>
        <p:nvSpPr>
          <p:cNvPr id="7" name="TextBox 6">
            <a:extLst>
              <a:ext uri="{FF2B5EF4-FFF2-40B4-BE49-F238E27FC236}">
                <a16:creationId xmlns:a16="http://schemas.microsoft.com/office/drawing/2014/main" id="{E689E583-B98E-4FCF-BB32-D57B3AFBE727}"/>
              </a:ext>
            </a:extLst>
          </p:cNvPr>
          <p:cNvSpPr txBox="1"/>
          <p:nvPr/>
        </p:nvSpPr>
        <p:spPr>
          <a:xfrm>
            <a:off x="1204687" y="4136408"/>
            <a:ext cx="1567542" cy="707886"/>
          </a:xfrm>
          <a:prstGeom prst="rect">
            <a:avLst/>
          </a:prstGeom>
          <a:noFill/>
        </p:spPr>
        <p:txBody>
          <a:bodyPr wrap="square" rtlCol="0">
            <a:spAutoFit/>
          </a:bodyPr>
          <a:lstStyle/>
          <a:p>
            <a:r>
              <a:rPr lang="en-US" sz="2000" dirty="0"/>
              <a:t>Attributes/ Hierarchies</a:t>
            </a:r>
          </a:p>
        </p:txBody>
      </p:sp>
    </p:spTree>
    <p:extLst>
      <p:ext uri="{BB962C8B-B14F-4D97-AF65-F5344CB8AC3E}">
        <p14:creationId xmlns:p14="http://schemas.microsoft.com/office/powerpoint/2010/main" val="1334947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Logical design of data warehouses</a:t>
            </a:r>
          </a:p>
        </p:txBody>
      </p:sp>
      <p:sp>
        <p:nvSpPr>
          <p:cNvPr id="3" name="Content Placeholder 2"/>
          <p:cNvSpPr>
            <a:spLocks noGrp="1"/>
          </p:cNvSpPr>
          <p:nvPr>
            <p:ph idx="1"/>
          </p:nvPr>
        </p:nvSpPr>
        <p:spPr/>
        <p:txBody>
          <a:bodyPr>
            <a:normAutofit fontScale="92500" lnSpcReduction="10000"/>
          </a:bodyPr>
          <a:lstStyle/>
          <a:p>
            <a:r>
              <a:rPr lang="en-US" dirty="0"/>
              <a:t>In data warehouses </a:t>
            </a:r>
            <a:r>
              <a:rPr lang="en-US" altLang="en-US" dirty="0"/>
              <a:t>tables mentioned earlier are organized in specialized structures which is known as the schema.</a:t>
            </a:r>
          </a:p>
          <a:p>
            <a:r>
              <a:rPr lang="en-US" altLang="en-US" dirty="0"/>
              <a:t>Following are three such schemas</a:t>
            </a:r>
          </a:p>
          <a:p>
            <a:pPr lvl="1"/>
            <a:r>
              <a:rPr lang="en-US" altLang="en-US" dirty="0">
                <a:solidFill>
                  <a:schemeClr val="hlink"/>
                </a:solidFill>
              </a:rPr>
              <a:t>Star schema</a:t>
            </a:r>
            <a:r>
              <a:rPr lang="en-US" altLang="en-US" dirty="0"/>
              <a:t>: One </a:t>
            </a:r>
            <a:r>
              <a:rPr lang="en-US" altLang="en-US" dirty="0">
                <a:solidFill>
                  <a:schemeClr val="hlink"/>
                </a:solidFill>
              </a:rPr>
              <a:t>fact table</a:t>
            </a:r>
            <a:r>
              <a:rPr lang="en-US" altLang="en-US" dirty="0"/>
              <a:t> and a set of </a:t>
            </a:r>
            <a:r>
              <a:rPr lang="en-US" altLang="en-US" dirty="0">
                <a:solidFill>
                  <a:schemeClr val="hlink"/>
                </a:solidFill>
              </a:rPr>
              <a:t>dimension tables</a:t>
            </a:r>
          </a:p>
          <a:p>
            <a:pPr lvl="1"/>
            <a:r>
              <a:rPr lang="en-US" altLang="en-US" dirty="0">
                <a:solidFill>
                  <a:schemeClr val="hlink"/>
                </a:solidFill>
              </a:rPr>
              <a:t>Snowflake schema</a:t>
            </a:r>
            <a:r>
              <a:rPr lang="en-US" altLang="en-US" dirty="0"/>
              <a:t>: Avoids redundancy of star schemas by normalizing dimension tables</a:t>
            </a:r>
          </a:p>
          <a:p>
            <a:pPr lvl="1"/>
            <a:r>
              <a:rPr lang="en-US" altLang="en-US" dirty="0">
                <a:solidFill>
                  <a:schemeClr val="hlink"/>
                </a:solidFill>
              </a:rPr>
              <a:t>Constellation schema</a:t>
            </a:r>
            <a:r>
              <a:rPr lang="en-US" altLang="en-US" dirty="0"/>
              <a:t>: Multiple fact tables that share dimension tables</a:t>
            </a:r>
          </a:p>
          <a:p>
            <a:endParaRPr lang="en-US" dirty="0"/>
          </a:p>
        </p:txBody>
      </p:sp>
    </p:spTree>
    <p:extLst>
      <p:ext uri="{BB962C8B-B14F-4D97-AF65-F5344CB8AC3E}">
        <p14:creationId xmlns:p14="http://schemas.microsoft.com/office/powerpoint/2010/main" val="30370471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a:t>Star schema</a:t>
            </a:r>
          </a:p>
        </p:txBody>
      </p:sp>
      <p:sp>
        <p:nvSpPr>
          <p:cNvPr id="3" name="Content Placeholder 2"/>
          <p:cNvSpPr>
            <a:spLocks noGrp="1"/>
          </p:cNvSpPr>
          <p:nvPr>
            <p:ph sz="half" idx="1"/>
          </p:nvPr>
        </p:nvSpPr>
        <p:spPr>
          <a:xfrm>
            <a:off x="581193" y="2228003"/>
            <a:ext cx="5422390" cy="4535868"/>
          </a:xfrm>
        </p:spPr>
        <p:txBody>
          <a:bodyPr>
            <a:noAutofit/>
          </a:bodyPr>
          <a:lstStyle/>
          <a:p>
            <a:r>
              <a:rPr lang="en-US" sz="2400" dirty="0"/>
              <a:t>The star schema is the simplest data warehouse schema. </a:t>
            </a:r>
          </a:p>
          <a:p>
            <a:r>
              <a:rPr lang="en-US" altLang="en-US" sz="2400" dirty="0"/>
              <a:t>The schema consists of one </a:t>
            </a:r>
            <a:r>
              <a:rPr lang="en-US" altLang="en-US" sz="2400" dirty="0">
                <a:solidFill>
                  <a:schemeClr val="hlink"/>
                </a:solidFill>
              </a:rPr>
              <a:t>fact table</a:t>
            </a:r>
            <a:r>
              <a:rPr lang="en-US" altLang="en-US" sz="2400" dirty="0"/>
              <a:t> and a set of </a:t>
            </a:r>
            <a:r>
              <a:rPr lang="en-US" altLang="en-US" sz="2400" dirty="0">
                <a:solidFill>
                  <a:schemeClr val="hlink"/>
                </a:solidFill>
              </a:rPr>
              <a:t>dimension tables.</a:t>
            </a:r>
          </a:p>
          <a:p>
            <a:pPr lvl="1">
              <a:lnSpc>
                <a:spcPct val="90000"/>
              </a:lnSpc>
            </a:pPr>
            <a:r>
              <a:rPr lang="en-US" altLang="en-US" sz="2000" dirty="0"/>
              <a:t>There are referential integrity constraints between fact table and dimension tables</a:t>
            </a:r>
          </a:p>
          <a:p>
            <a:pPr>
              <a:lnSpc>
                <a:spcPct val="90000"/>
              </a:lnSpc>
            </a:pPr>
            <a:r>
              <a:rPr lang="en-US" altLang="en-US" sz="2400" dirty="0"/>
              <a:t>Dimension tables may contain redundancies</a:t>
            </a:r>
            <a:endParaRPr lang="en-US" altLang="en-US" sz="2400" dirty="0">
              <a:solidFill>
                <a:schemeClr val="hlink"/>
              </a:solidFill>
            </a:endParaRPr>
          </a:p>
          <a:p>
            <a:r>
              <a:rPr lang="en-US" sz="2400" dirty="0"/>
              <a:t>It is called star schema because the structure of star schema resembles a  star.</a:t>
            </a:r>
          </a:p>
          <a:p>
            <a:endParaRPr lang="en-US" sz="2400" dirty="0"/>
          </a:p>
        </p:txBody>
      </p:sp>
      <p:sp>
        <p:nvSpPr>
          <p:cNvPr id="4" name="Content Placeholder 3"/>
          <p:cNvSpPr>
            <a:spLocks noGrp="1"/>
          </p:cNvSpPr>
          <p:nvPr>
            <p:ph sz="half" idx="2"/>
          </p:nvPr>
        </p:nvSpPr>
        <p:spPr/>
        <p:txBody>
          <a:bodyPr>
            <a:normAutofit/>
          </a:bodyPr>
          <a:lstStyle/>
          <a:p>
            <a:endParaRPr lang="en-US" dirty="0"/>
          </a:p>
        </p:txBody>
      </p:sp>
      <p:pic>
        <p:nvPicPr>
          <p:cNvPr id="5" name="Content Placeholder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02195" y="2228003"/>
            <a:ext cx="5994836" cy="4253479"/>
          </a:xfrm>
          <a:prstGeom prst="rect">
            <a:avLst/>
          </a:prstGeom>
        </p:spPr>
      </p:pic>
    </p:spTree>
    <p:extLst>
      <p:ext uri="{BB962C8B-B14F-4D97-AF65-F5344CB8AC3E}">
        <p14:creationId xmlns:p14="http://schemas.microsoft.com/office/powerpoint/2010/main" val="2794636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sz="4000" dirty="0"/>
              <a:t>Snowflake schema</a:t>
            </a:r>
          </a:p>
        </p:txBody>
      </p:sp>
      <p:sp>
        <p:nvSpPr>
          <p:cNvPr id="7" name="Content Placeholder 6"/>
          <p:cNvSpPr>
            <a:spLocks noGrp="1"/>
          </p:cNvSpPr>
          <p:nvPr>
            <p:ph sz="half" idx="1"/>
          </p:nvPr>
        </p:nvSpPr>
        <p:spPr>
          <a:xfrm>
            <a:off x="581193" y="2228003"/>
            <a:ext cx="5739342" cy="4240032"/>
          </a:xfrm>
        </p:spPr>
        <p:txBody>
          <a:bodyPr>
            <a:noAutofit/>
          </a:bodyPr>
          <a:lstStyle/>
          <a:p>
            <a:r>
              <a:rPr lang="en-US" sz="2400" dirty="0"/>
              <a:t>Snowflake schema is an extension of star schema means it is more complex than star schema. </a:t>
            </a:r>
          </a:p>
          <a:p>
            <a:r>
              <a:rPr lang="en-US" sz="2400" dirty="0"/>
              <a:t>In star schema each dimension is represented by a single dimension table whereas in snowflake schema each dimension is grouped into multiple lookup tables to eliminate the redundancies.</a:t>
            </a:r>
          </a:p>
          <a:p>
            <a:r>
              <a:rPr lang="en-US" altLang="en-US" sz="2400" dirty="0"/>
              <a:t>Normalized tables optimize storage space, but it may decrease performance</a:t>
            </a:r>
          </a:p>
          <a:p>
            <a:endParaRPr lang="en-US" sz="2400" dirty="0"/>
          </a:p>
        </p:txBody>
      </p:sp>
      <p:sp>
        <p:nvSpPr>
          <p:cNvPr id="8" name="Content Placeholder 7"/>
          <p:cNvSpPr>
            <a:spLocks noGrp="1"/>
          </p:cNvSpPr>
          <p:nvPr>
            <p:ph sz="half" idx="2"/>
          </p:nvPr>
        </p:nvSpPr>
        <p:spPr/>
        <p:txBody>
          <a:bodyPr/>
          <a:lstStyle/>
          <a:p>
            <a:endParaRPr lang="en-US" dirty="0"/>
          </a:p>
        </p:txBody>
      </p:sp>
      <p:pic>
        <p:nvPicPr>
          <p:cNvPr id="9" name="Content Placeholder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0535" y="2228003"/>
            <a:ext cx="5714583" cy="3940681"/>
          </a:xfrm>
          <a:prstGeom prst="rect">
            <a:avLst/>
          </a:prstGeom>
        </p:spPr>
      </p:pic>
    </p:spTree>
    <p:extLst>
      <p:ext uri="{BB962C8B-B14F-4D97-AF65-F5344CB8AC3E}">
        <p14:creationId xmlns:p14="http://schemas.microsoft.com/office/powerpoint/2010/main" val="2358136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Fact Constellation Schema</a:t>
            </a:r>
          </a:p>
        </p:txBody>
      </p:sp>
      <p:sp>
        <p:nvSpPr>
          <p:cNvPr id="8" name="Content Placeholder 7"/>
          <p:cNvSpPr>
            <a:spLocks noGrp="1"/>
          </p:cNvSpPr>
          <p:nvPr>
            <p:ph idx="1"/>
          </p:nvPr>
        </p:nvSpPr>
        <p:spPr/>
        <p:txBody>
          <a:bodyPr>
            <a:normAutofit/>
          </a:bodyPr>
          <a:lstStyle/>
          <a:p>
            <a:r>
              <a:rPr lang="en-US" sz="2800" dirty="0"/>
              <a:t>A fact constellation has multiple fact tables. It is also known as galaxy schema.</a:t>
            </a:r>
          </a:p>
          <a:p>
            <a:endParaRPr lang="en-US" sz="2800" dirty="0"/>
          </a:p>
          <a:p>
            <a:endParaRPr lang="en-US" sz="2800" dirty="0"/>
          </a:p>
          <a:p>
            <a:endParaRPr lang="en-US" sz="2800" dirty="0"/>
          </a:p>
          <a:p>
            <a:endParaRPr lang="en-US" sz="2800" dirty="0"/>
          </a:p>
          <a:p>
            <a:endParaRPr lang="en-US" sz="1600" dirty="0"/>
          </a:p>
        </p:txBody>
      </p:sp>
      <p:pic>
        <p:nvPicPr>
          <p:cNvPr id="9" name="Picture 8"/>
          <p:cNvPicPr>
            <a:picLocks noChangeAspect="1"/>
          </p:cNvPicPr>
          <p:nvPr/>
        </p:nvPicPr>
        <p:blipFill rotWithShape="1">
          <a:blip r:embed="rId2">
            <a:extLst>
              <a:ext uri="{28A0092B-C50C-407E-A947-70E740481C1C}">
                <a14:useLocalDpi xmlns:a14="http://schemas.microsoft.com/office/drawing/2010/main" val="0"/>
              </a:ext>
            </a:extLst>
          </a:blip>
          <a:srcRect b="4352"/>
          <a:stretch/>
        </p:blipFill>
        <p:spPr>
          <a:xfrm>
            <a:off x="2743200" y="2840823"/>
            <a:ext cx="6804212" cy="3927751"/>
          </a:xfrm>
          <a:prstGeom prst="rect">
            <a:avLst/>
          </a:prstGeom>
        </p:spPr>
      </p:pic>
    </p:spTree>
    <p:extLst>
      <p:ext uri="{BB962C8B-B14F-4D97-AF65-F5344CB8AC3E}">
        <p14:creationId xmlns:p14="http://schemas.microsoft.com/office/powerpoint/2010/main" val="8605943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Advantages of star schema</a:t>
            </a:r>
          </a:p>
        </p:txBody>
      </p:sp>
      <p:sp>
        <p:nvSpPr>
          <p:cNvPr id="3" name="Content Placeholder 2"/>
          <p:cNvSpPr>
            <a:spLocks noGrp="1"/>
          </p:cNvSpPr>
          <p:nvPr>
            <p:ph idx="1"/>
          </p:nvPr>
        </p:nvSpPr>
        <p:spPr/>
        <p:txBody>
          <a:bodyPr>
            <a:normAutofit lnSpcReduction="10000"/>
          </a:bodyPr>
          <a:lstStyle/>
          <a:p>
            <a:r>
              <a:rPr lang="en-US" dirty="0"/>
              <a:t>Easy to understand</a:t>
            </a:r>
          </a:p>
          <a:p>
            <a:r>
              <a:rPr lang="en-US" dirty="0"/>
              <a:t>Delivers higher performance queries</a:t>
            </a:r>
          </a:p>
          <a:p>
            <a:pPr lvl="1"/>
            <a:r>
              <a:rPr lang="en-US" dirty="0"/>
              <a:t>Fewer table joins</a:t>
            </a:r>
          </a:p>
          <a:p>
            <a:pPr lvl="1"/>
            <a:r>
              <a:rPr lang="en-US" dirty="0"/>
              <a:t>Higher likelihood of using indexes</a:t>
            </a:r>
          </a:p>
          <a:p>
            <a:r>
              <a:rPr lang="en-US" dirty="0"/>
              <a:t>Optimizes navigation</a:t>
            </a:r>
          </a:p>
          <a:p>
            <a:r>
              <a:rPr lang="en-US" dirty="0"/>
              <a:t>Requires low maintenance as the data warehouse evolve</a:t>
            </a:r>
          </a:p>
        </p:txBody>
      </p:sp>
    </p:spTree>
    <p:extLst>
      <p:ext uri="{BB962C8B-B14F-4D97-AF65-F5344CB8AC3E}">
        <p14:creationId xmlns:p14="http://schemas.microsoft.com/office/powerpoint/2010/main" val="21245699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EDB11-792B-4A80-BFF0-5CBBD7B7BF83}"/>
              </a:ext>
            </a:extLst>
          </p:cNvPr>
          <p:cNvSpPr>
            <a:spLocks noGrp="1"/>
          </p:cNvSpPr>
          <p:nvPr>
            <p:ph type="title"/>
          </p:nvPr>
        </p:nvSpPr>
        <p:spPr/>
        <p:txBody>
          <a:bodyPr>
            <a:normAutofit/>
          </a:bodyPr>
          <a:lstStyle/>
          <a:p>
            <a:r>
              <a:rPr lang="en-US" dirty="0"/>
              <a:t>Primary keys in dimension tables</a:t>
            </a:r>
          </a:p>
        </p:txBody>
      </p:sp>
      <p:sp>
        <p:nvSpPr>
          <p:cNvPr id="3" name="Content Placeholder 2">
            <a:extLst>
              <a:ext uri="{FF2B5EF4-FFF2-40B4-BE49-F238E27FC236}">
                <a16:creationId xmlns:a16="http://schemas.microsoft.com/office/drawing/2014/main" id="{53C09447-286F-41AD-9B96-BA5FACAB6219}"/>
              </a:ext>
            </a:extLst>
          </p:cNvPr>
          <p:cNvSpPr>
            <a:spLocks noGrp="1"/>
          </p:cNvSpPr>
          <p:nvPr>
            <p:ph idx="1"/>
          </p:nvPr>
        </p:nvSpPr>
        <p:spPr>
          <a:xfrm>
            <a:off x="581192" y="2180496"/>
            <a:ext cx="11029615" cy="4318778"/>
          </a:xfrm>
        </p:spPr>
        <p:txBody>
          <a:bodyPr>
            <a:normAutofit fontScale="85000" lnSpcReduction="20000"/>
          </a:bodyPr>
          <a:lstStyle/>
          <a:p>
            <a:r>
              <a:rPr lang="en-US" dirty="0"/>
              <a:t>Each row in a dimension table is identified by a unique value of an attribute designated as the primary key of the dimension. </a:t>
            </a:r>
          </a:p>
          <a:p>
            <a:pPr lvl="1"/>
            <a:r>
              <a:rPr lang="en-US" dirty="0"/>
              <a:t>For example, in a product dimension table, the primary key identifies each product, uniquely. </a:t>
            </a:r>
          </a:p>
          <a:p>
            <a:r>
              <a:rPr lang="en-US" dirty="0"/>
              <a:t>However, it is recommended not to use following fields as primary keys</a:t>
            </a:r>
          </a:p>
          <a:p>
            <a:pPr lvl="1"/>
            <a:r>
              <a:rPr lang="en-US" dirty="0"/>
              <a:t>avoid built-in meanings in the primary key of the dimension tables</a:t>
            </a:r>
          </a:p>
          <a:p>
            <a:pPr lvl="1"/>
            <a:r>
              <a:rPr lang="en-US" dirty="0"/>
              <a:t>avoid using fields which are re-assigned as primary keys </a:t>
            </a:r>
          </a:p>
          <a:p>
            <a:r>
              <a:rPr lang="en-US" dirty="0"/>
              <a:t>In a situation where the above cannot be met, surrogate keys could be used. The surrogate keys are simply system-generated sequence numbers (Can be implemented using identity property)</a:t>
            </a:r>
          </a:p>
        </p:txBody>
      </p:sp>
    </p:spTree>
    <p:extLst>
      <p:ext uri="{BB962C8B-B14F-4D97-AF65-F5344CB8AC3E}">
        <p14:creationId xmlns:p14="http://schemas.microsoft.com/office/powerpoint/2010/main" val="2220914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42EAF-967A-48B6-A533-329438762B62}"/>
              </a:ext>
            </a:extLst>
          </p:cNvPr>
          <p:cNvSpPr>
            <a:spLocks noGrp="1"/>
          </p:cNvSpPr>
          <p:nvPr>
            <p:ph type="title"/>
          </p:nvPr>
        </p:nvSpPr>
        <p:spPr/>
        <p:txBody>
          <a:bodyPr/>
          <a:lstStyle/>
          <a:p>
            <a:r>
              <a:rPr lang="en-US" dirty="0"/>
              <a:t>Foreign keys</a:t>
            </a:r>
          </a:p>
        </p:txBody>
      </p:sp>
      <p:sp>
        <p:nvSpPr>
          <p:cNvPr id="3" name="Content Placeholder 2">
            <a:extLst>
              <a:ext uri="{FF2B5EF4-FFF2-40B4-BE49-F238E27FC236}">
                <a16:creationId xmlns:a16="http://schemas.microsoft.com/office/drawing/2014/main" id="{7C117917-B23C-4D8F-B18F-C0CFABF8C0B2}"/>
              </a:ext>
            </a:extLst>
          </p:cNvPr>
          <p:cNvSpPr>
            <a:spLocks noGrp="1"/>
          </p:cNvSpPr>
          <p:nvPr>
            <p:ph idx="1"/>
          </p:nvPr>
        </p:nvSpPr>
        <p:spPr/>
        <p:txBody>
          <a:bodyPr>
            <a:normAutofit fontScale="92500"/>
          </a:bodyPr>
          <a:lstStyle/>
          <a:p>
            <a:r>
              <a:rPr lang="en-US" dirty="0"/>
              <a:t>Each dimension table is in a one-to-many relationship with the central fact table. </a:t>
            </a:r>
          </a:p>
          <a:p>
            <a:r>
              <a:rPr lang="en-US" dirty="0"/>
              <a:t>So the primary key of each dimension table must be a foreign key in the fact table. </a:t>
            </a:r>
          </a:p>
          <a:p>
            <a:r>
              <a:rPr lang="en-US" dirty="0"/>
              <a:t>If there are four dimension tables of product, date, customer, and sales representative, then the primary key of each of these four tables must be present in the orders fact table as foreign keys.</a:t>
            </a:r>
          </a:p>
        </p:txBody>
      </p:sp>
    </p:spTree>
    <p:extLst>
      <p:ext uri="{BB962C8B-B14F-4D97-AF65-F5344CB8AC3E}">
        <p14:creationId xmlns:p14="http://schemas.microsoft.com/office/powerpoint/2010/main" val="8479463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45C5D7-FBE2-48BD-BB2E-0D5BC03F2FE5}"/>
              </a:ext>
            </a:extLst>
          </p:cNvPr>
          <p:cNvSpPr>
            <a:spLocks noGrp="1"/>
          </p:cNvSpPr>
          <p:nvPr>
            <p:ph type="title"/>
          </p:nvPr>
        </p:nvSpPr>
        <p:spPr/>
        <p:txBody>
          <a:bodyPr/>
          <a:lstStyle/>
          <a:p>
            <a:r>
              <a:rPr lang="en-US" dirty="0"/>
              <a:t>Primary key of fact tables</a:t>
            </a:r>
          </a:p>
        </p:txBody>
      </p:sp>
      <p:sp>
        <p:nvSpPr>
          <p:cNvPr id="3" name="Content Placeholder 2">
            <a:extLst>
              <a:ext uri="{FF2B5EF4-FFF2-40B4-BE49-F238E27FC236}">
                <a16:creationId xmlns:a16="http://schemas.microsoft.com/office/drawing/2014/main" id="{6819BF9D-D01F-4BC2-ABAD-072CA51DBC1E}"/>
              </a:ext>
            </a:extLst>
          </p:cNvPr>
          <p:cNvSpPr>
            <a:spLocks noGrp="1"/>
          </p:cNvSpPr>
          <p:nvPr>
            <p:ph idx="1"/>
          </p:nvPr>
        </p:nvSpPr>
        <p:spPr/>
        <p:txBody>
          <a:bodyPr/>
          <a:lstStyle/>
          <a:p>
            <a:r>
              <a:rPr lang="en-US" dirty="0"/>
              <a:t>Following options could be used </a:t>
            </a:r>
          </a:p>
          <a:p>
            <a:pPr lvl="1"/>
            <a:r>
              <a:rPr lang="en-US" dirty="0"/>
              <a:t>Concatenate all the primary keys of the dimension tables. The individual parts of the primary keys are foreign keys.</a:t>
            </a:r>
          </a:p>
          <a:p>
            <a:pPr lvl="1"/>
            <a:r>
              <a:rPr lang="en-US" dirty="0"/>
              <a:t>Use a generated primary key independent of the keys of the dimension tables. In addition to the generated primary key, the foreign keys must also be kept in the fact table as additional attributes. This option increases the size of the fact table.</a:t>
            </a:r>
          </a:p>
        </p:txBody>
      </p:sp>
    </p:spTree>
    <p:extLst>
      <p:ext uri="{BB962C8B-B14F-4D97-AF65-F5344CB8AC3E}">
        <p14:creationId xmlns:p14="http://schemas.microsoft.com/office/powerpoint/2010/main" val="5035866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9CE78-42DB-481F-B403-9FDFD5977265}"/>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99A60DE9-10E6-4E74-B951-EE580E9B6A1B}"/>
              </a:ext>
            </a:extLst>
          </p:cNvPr>
          <p:cNvSpPr>
            <a:spLocks noGrp="1"/>
          </p:cNvSpPr>
          <p:nvPr>
            <p:ph idx="1"/>
          </p:nvPr>
        </p:nvSpPr>
        <p:spPr>
          <a:xfrm>
            <a:off x="581192" y="2180496"/>
            <a:ext cx="11029615" cy="4276575"/>
          </a:xfrm>
        </p:spPr>
        <p:txBody>
          <a:bodyPr>
            <a:normAutofit fontScale="70000" lnSpcReduction="20000"/>
          </a:bodyPr>
          <a:lstStyle/>
          <a:p>
            <a:r>
              <a:rPr lang="en-US" dirty="0"/>
              <a:t>A company manufactures products and sell them in different stores. Each product manufactured has a product Id, a name, unit price and belongs to a category. The products manufactured are stored at different stores across the country. Each store has a store id and a location. The company is interested of knowing following</a:t>
            </a:r>
          </a:p>
          <a:p>
            <a:pPr lvl="1"/>
            <a:r>
              <a:rPr lang="en-US" dirty="0"/>
              <a:t> What day of the week has highest number of sales for a certain product</a:t>
            </a:r>
          </a:p>
          <a:p>
            <a:pPr lvl="1"/>
            <a:r>
              <a:rPr lang="en-US" dirty="0"/>
              <a:t>Which month has the highest income for the store for a certain product</a:t>
            </a:r>
          </a:p>
          <a:p>
            <a:pPr lvl="1"/>
            <a:r>
              <a:rPr lang="en-US" dirty="0"/>
              <a:t>Which store has the highest number of total sales</a:t>
            </a:r>
          </a:p>
          <a:p>
            <a:pPr lvl="1"/>
            <a:r>
              <a:rPr lang="en-US" dirty="0"/>
              <a:t>Which province has the highest income made of a certain product</a:t>
            </a:r>
          </a:p>
          <a:p>
            <a:pPr lvl="1"/>
            <a:r>
              <a:rPr lang="en-US" dirty="0"/>
              <a:t>Which city provides the highest income to the company within the year</a:t>
            </a:r>
          </a:p>
          <a:p>
            <a:pPr lvl="1"/>
            <a:r>
              <a:rPr lang="en-US" dirty="0"/>
              <a:t>What is the weekly income of each store</a:t>
            </a:r>
          </a:p>
          <a:p>
            <a:r>
              <a:rPr lang="en-US" dirty="0"/>
              <a:t>Develop a star schema to cater the above requirements </a:t>
            </a:r>
          </a:p>
        </p:txBody>
      </p:sp>
    </p:spTree>
    <p:extLst>
      <p:ext uri="{BB962C8B-B14F-4D97-AF65-F5344CB8AC3E}">
        <p14:creationId xmlns:p14="http://schemas.microsoft.com/office/powerpoint/2010/main" val="559330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Maintaining historical data</a:t>
            </a:r>
          </a:p>
        </p:txBody>
      </p:sp>
      <p:sp>
        <p:nvSpPr>
          <p:cNvPr id="3" name="Content Placeholder 2"/>
          <p:cNvSpPr>
            <a:spLocks noGrp="1"/>
          </p:cNvSpPr>
          <p:nvPr>
            <p:ph idx="1"/>
          </p:nvPr>
        </p:nvSpPr>
        <p:spPr/>
        <p:txBody>
          <a:bodyPr>
            <a:normAutofit/>
          </a:bodyPr>
          <a:lstStyle/>
          <a:p>
            <a:r>
              <a:rPr lang="en-US" sz="2800" dirty="0"/>
              <a:t>OLTP systems does not usually store historical data.</a:t>
            </a:r>
          </a:p>
          <a:p>
            <a:pPr lvl="1"/>
            <a:r>
              <a:rPr lang="en-US" dirty="0"/>
              <a:t>When an update is needed previous data is overridden immediately.</a:t>
            </a:r>
          </a:p>
          <a:p>
            <a:pPr lvl="2"/>
            <a:r>
              <a:rPr lang="en-US" dirty="0"/>
              <a:t>For example if a place of work of a sales clerk in the same company changes his location attribute value is usually overridden</a:t>
            </a:r>
          </a:p>
          <a:p>
            <a:pPr lvl="2"/>
            <a:r>
              <a:rPr lang="en-US" dirty="0"/>
              <a:t>Comparison of his performance is then not possible location wise</a:t>
            </a:r>
          </a:p>
          <a:p>
            <a:r>
              <a:rPr lang="en-US" sz="2800" dirty="0"/>
              <a:t>When OLTP data is loaded to the data warehouse, changes to existing data are organized.</a:t>
            </a:r>
          </a:p>
        </p:txBody>
      </p:sp>
    </p:spTree>
    <p:extLst>
      <p:ext uri="{BB962C8B-B14F-4D97-AF65-F5344CB8AC3E}">
        <p14:creationId xmlns:p14="http://schemas.microsoft.com/office/powerpoint/2010/main" val="8269951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Slowly changing dimensions</a:t>
            </a:r>
          </a:p>
        </p:txBody>
      </p:sp>
      <p:sp>
        <p:nvSpPr>
          <p:cNvPr id="3" name="Content Placeholder 2"/>
          <p:cNvSpPr>
            <a:spLocks noGrp="1"/>
          </p:cNvSpPr>
          <p:nvPr>
            <p:ph idx="1"/>
          </p:nvPr>
        </p:nvSpPr>
        <p:spPr/>
        <p:txBody>
          <a:bodyPr>
            <a:normAutofit fontScale="85000" lnSpcReduction="20000"/>
          </a:bodyPr>
          <a:lstStyle/>
          <a:p>
            <a:r>
              <a:rPr lang="en-US" dirty="0"/>
              <a:t>Slowing changing dimensions(SCD) are used to maintain historical context in data flowing in to the data warehouse.</a:t>
            </a:r>
          </a:p>
          <a:p>
            <a:r>
              <a:rPr lang="en-US" dirty="0"/>
              <a:t>SCD are known as dimensions which contains slowly changing dimension attributes </a:t>
            </a:r>
          </a:p>
          <a:p>
            <a:pPr lvl="1"/>
            <a:r>
              <a:rPr lang="en-US" dirty="0"/>
              <a:t>Slowly Changing Dimension Attribute – an attribute of a record in a dimension table that varies over time, unpredictably</a:t>
            </a:r>
          </a:p>
          <a:p>
            <a:r>
              <a:rPr lang="en-US" dirty="0"/>
              <a:t>Many different types of SCDs are available including, SCD type 0 to SCD type 6</a:t>
            </a:r>
          </a:p>
          <a:p>
            <a:pPr lvl="1"/>
            <a:r>
              <a:rPr lang="en-US" dirty="0"/>
              <a:t>In most implementations SCD type 1,2 and 3 are used.</a:t>
            </a:r>
          </a:p>
        </p:txBody>
      </p:sp>
    </p:spTree>
    <p:extLst>
      <p:ext uri="{BB962C8B-B14F-4D97-AF65-F5344CB8AC3E}">
        <p14:creationId xmlns:p14="http://schemas.microsoft.com/office/powerpoint/2010/main" val="40260478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SCD type 1</a:t>
            </a:r>
          </a:p>
        </p:txBody>
      </p:sp>
      <p:sp>
        <p:nvSpPr>
          <p:cNvPr id="3" name="Content Placeholder 2"/>
          <p:cNvSpPr>
            <a:spLocks noGrp="1"/>
          </p:cNvSpPr>
          <p:nvPr>
            <p:ph idx="1"/>
          </p:nvPr>
        </p:nvSpPr>
        <p:spPr>
          <a:xfrm>
            <a:off x="581192" y="2368755"/>
            <a:ext cx="11029615" cy="4139622"/>
          </a:xfrm>
        </p:spPr>
        <p:txBody>
          <a:bodyPr/>
          <a:lstStyle/>
          <a:p>
            <a:r>
              <a:rPr lang="en-US" sz="2800" dirty="0"/>
              <a:t>Simplest form of SCD</a:t>
            </a:r>
          </a:p>
          <a:p>
            <a:pPr lvl="1"/>
            <a:r>
              <a:rPr lang="en-US" sz="2400" dirty="0"/>
              <a:t>Does not store any historical data </a:t>
            </a:r>
          </a:p>
          <a:p>
            <a:pPr lvl="1"/>
            <a:r>
              <a:rPr lang="en-US" sz="2400" dirty="0"/>
              <a:t>Overwrites existing data with new values</a:t>
            </a:r>
          </a:p>
          <a:p>
            <a:pPr lvl="1"/>
            <a:r>
              <a:rPr lang="en-US" sz="2400" dirty="0"/>
              <a:t>Ex:</a:t>
            </a:r>
          </a:p>
          <a:p>
            <a:pPr lvl="1"/>
            <a:endParaRPr lang="en-US" dirty="0"/>
          </a:p>
          <a:p>
            <a:pPr lvl="1"/>
            <a:endParaRPr lang="en-US" dirty="0"/>
          </a:p>
          <a:p>
            <a:pPr lvl="1"/>
            <a:endParaRPr lang="en-US" dirty="0"/>
          </a:p>
          <a:p>
            <a:pPr lvl="1"/>
            <a:endParaRPr lang="en-US" dirty="0"/>
          </a:p>
          <a:p>
            <a:pPr lvl="1"/>
            <a:endParaRPr lang="en-US" dirty="0"/>
          </a:p>
        </p:txBody>
      </p:sp>
      <p:graphicFrame>
        <p:nvGraphicFramePr>
          <p:cNvPr id="4" name="Table 3"/>
          <p:cNvGraphicFramePr>
            <a:graphicFrameLocks noGrp="1"/>
          </p:cNvGraphicFramePr>
          <p:nvPr/>
        </p:nvGraphicFramePr>
        <p:xfrm>
          <a:off x="1897530" y="3623973"/>
          <a:ext cx="8127999" cy="222504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370840">
                <a:tc>
                  <a:txBody>
                    <a:bodyPr/>
                    <a:lstStyle/>
                    <a:p>
                      <a:r>
                        <a:rPr lang="en-US" dirty="0"/>
                        <a:t>Employee</a:t>
                      </a:r>
                    </a:p>
                  </a:txBody>
                  <a:tcPr/>
                </a:tc>
                <a:tc>
                  <a:txBody>
                    <a:bodyPr/>
                    <a:lstStyle/>
                    <a:p>
                      <a:r>
                        <a:rPr lang="en-US" dirty="0"/>
                        <a:t>Before</a:t>
                      </a:r>
                    </a:p>
                  </a:txBody>
                  <a:tcPr/>
                </a:tc>
                <a:tc>
                  <a:txBody>
                    <a:bodyPr/>
                    <a:lstStyle/>
                    <a:p>
                      <a:r>
                        <a:rPr lang="en-US" dirty="0"/>
                        <a:t>After</a:t>
                      </a:r>
                    </a:p>
                  </a:txBody>
                  <a:tcPr/>
                </a:tc>
                <a:extLst>
                  <a:ext uri="{0D108BD9-81ED-4DB2-BD59-A6C34878D82A}">
                    <a16:rowId xmlns:a16="http://schemas.microsoft.com/office/drawing/2014/main" val="10000"/>
                  </a:ext>
                </a:extLst>
              </a:tr>
              <a:tr h="370840">
                <a:tc>
                  <a:txBody>
                    <a:bodyPr/>
                    <a:lstStyle/>
                    <a:p>
                      <a:r>
                        <a:rPr lang="en-US" dirty="0"/>
                        <a:t>ID</a:t>
                      </a:r>
                    </a:p>
                  </a:txBody>
                  <a:tcPr/>
                </a:tc>
                <a:tc>
                  <a:txBody>
                    <a:bodyPr/>
                    <a:lstStyle/>
                    <a:p>
                      <a:r>
                        <a:rPr lang="en-US" dirty="0"/>
                        <a:t>2728</a:t>
                      </a:r>
                    </a:p>
                  </a:txBody>
                  <a:tcPr/>
                </a:tc>
                <a:tc>
                  <a:txBody>
                    <a:bodyPr/>
                    <a:lstStyle/>
                    <a:p>
                      <a:r>
                        <a:rPr lang="en-US" dirty="0"/>
                        <a:t>2728</a:t>
                      </a:r>
                    </a:p>
                  </a:txBody>
                  <a:tcPr/>
                </a:tc>
                <a:extLst>
                  <a:ext uri="{0D108BD9-81ED-4DB2-BD59-A6C34878D82A}">
                    <a16:rowId xmlns:a16="http://schemas.microsoft.com/office/drawing/2014/main" val="10001"/>
                  </a:ext>
                </a:extLst>
              </a:tr>
              <a:tr h="370840">
                <a:tc>
                  <a:txBody>
                    <a:bodyPr/>
                    <a:lstStyle/>
                    <a:p>
                      <a:r>
                        <a:rPr lang="en-US" dirty="0"/>
                        <a:t>Name</a:t>
                      </a:r>
                    </a:p>
                  </a:txBody>
                  <a:tcPr/>
                </a:tc>
                <a:tc>
                  <a:txBody>
                    <a:bodyPr/>
                    <a:lstStyle/>
                    <a:p>
                      <a:r>
                        <a:rPr lang="en-US" dirty="0"/>
                        <a:t>James</a:t>
                      </a:r>
                      <a:r>
                        <a:rPr lang="en-US" baseline="0" dirty="0"/>
                        <a:t> Gold</a:t>
                      </a:r>
                      <a:endParaRPr lang="en-US" dirty="0"/>
                    </a:p>
                  </a:txBody>
                  <a:tcPr/>
                </a:tc>
                <a:tc>
                  <a:txBody>
                    <a:bodyPr/>
                    <a:lstStyle/>
                    <a:p>
                      <a:r>
                        <a:rPr lang="en-US" dirty="0"/>
                        <a:t>James Gold</a:t>
                      </a:r>
                    </a:p>
                  </a:txBody>
                  <a:tcPr/>
                </a:tc>
                <a:extLst>
                  <a:ext uri="{0D108BD9-81ED-4DB2-BD59-A6C34878D82A}">
                    <a16:rowId xmlns:a16="http://schemas.microsoft.com/office/drawing/2014/main" val="10002"/>
                  </a:ext>
                </a:extLst>
              </a:tr>
              <a:tr h="370840">
                <a:tc>
                  <a:txBody>
                    <a:bodyPr/>
                    <a:lstStyle/>
                    <a:p>
                      <a:r>
                        <a:rPr lang="en-US" dirty="0" err="1"/>
                        <a:t>SalesRegion</a:t>
                      </a:r>
                      <a:endParaRPr lang="en-US" dirty="0"/>
                    </a:p>
                  </a:txBody>
                  <a:tcPr/>
                </a:tc>
                <a:tc>
                  <a:txBody>
                    <a:bodyPr/>
                    <a:lstStyle/>
                    <a:p>
                      <a:r>
                        <a:rPr lang="en-US" dirty="0"/>
                        <a:t>New York</a:t>
                      </a:r>
                    </a:p>
                  </a:txBody>
                  <a:tcPr/>
                </a:tc>
                <a:tc>
                  <a:txBody>
                    <a:bodyPr/>
                    <a:lstStyle/>
                    <a:p>
                      <a:r>
                        <a:rPr lang="en-US" dirty="0"/>
                        <a:t>Seattle</a:t>
                      </a:r>
                    </a:p>
                  </a:txBody>
                  <a:tcPr/>
                </a:tc>
                <a:extLst>
                  <a:ext uri="{0D108BD9-81ED-4DB2-BD59-A6C34878D82A}">
                    <a16:rowId xmlns:a16="http://schemas.microsoft.com/office/drawing/2014/main" val="10003"/>
                  </a:ext>
                </a:extLst>
              </a:tr>
              <a:tr h="370840">
                <a:tc>
                  <a:txBody>
                    <a:bodyPr/>
                    <a:lstStyle/>
                    <a:p>
                      <a:r>
                        <a:rPr lang="en-US" dirty="0"/>
                        <a:t>Gender</a:t>
                      </a:r>
                    </a:p>
                  </a:txBody>
                  <a:tcPr/>
                </a:tc>
                <a:tc>
                  <a:txBody>
                    <a:bodyPr/>
                    <a:lstStyle/>
                    <a:p>
                      <a:r>
                        <a:rPr lang="en-US" dirty="0"/>
                        <a:t>M</a:t>
                      </a:r>
                    </a:p>
                  </a:txBody>
                  <a:tcPr/>
                </a:tc>
                <a:tc>
                  <a:txBody>
                    <a:bodyPr/>
                    <a:lstStyle/>
                    <a:p>
                      <a:r>
                        <a:rPr lang="en-US" dirty="0"/>
                        <a:t>M</a:t>
                      </a:r>
                    </a:p>
                  </a:txBody>
                  <a:tcPr/>
                </a:tc>
                <a:extLst>
                  <a:ext uri="{0D108BD9-81ED-4DB2-BD59-A6C34878D82A}">
                    <a16:rowId xmlns:a16="http://schemas.microsoft.com/office/drawing/2014/main" val="10004"/>
                  </a:ext>
                </a:extLst>
              </a:tr>
              <a:tr h="370840">
                <a:tc>
                  <a:txBody>
                    <a:bodyPr/>
                    <a:lstStyle/>
                    <a:p>
                      <a:r>
                        <a:rPr lang="en-US" dirty="0" err="1"/>
                        <a:t>MaritalStatus</a:t>
                      </a:r>
                      <a:endParaRPr lang="en-US" dirty="0"/>
                    </a:p>
                  </a:txBody>
                  <a:tcPr/>
                </a:tc>
                <a:tc>
                  <a:txBody>
                    <a:bodyPr/>
                    <a:lstStyle/>
                    <a:p>
                      <a:r>
                        <a:rPr lang="en-US" dirty="0"/>
                        <a:t>Single</a:t>
                      </a:r>
                    </a:p>
                  </a:txBody>
                  <a:tcPr/>
                </a:tc>
                <a:tc>
                  <a:txBody>
                    <a:bodyPr/>
                    <a:lstStyle/>
                    <a:p>
                      <a:r>
                        <a:rPr lang="en-US" dirty="0"/>
                        <a:t>Married</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553183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SCD type 2</a:t>
            </a:r>
          </a:p>
        </p:txBody>
      </p:sp>
      <p:sp>
        <p:nvSpPr>
          <p:cNvPr id="3" name="Content Placeholder 2"/>
          <p:cNvSpPr>
            <a:spLocks noGrp="1"/>
          </p:cNvSpPr>
          <p:nvPr>
            <p:ph idx="1"/>
          </p:nvPr>
        </p:nvSpPr>
        <p:spPr>
          <a:xfrm>
            <a:off x="581192" y="2368755"/>
            <a:ext cx="11029615" cy="4139622"/>
          </a:xfrm>
        </p:spPr>
        <p:txBody>
          <a:bodyPr/>
          <a:lstStyle/>
          <a:p>
            <a:r>
              <a:rPr lang="en-US" sz="2800" dirty="0"/>
              <a:t>Creates a new record for new values</a:t>
            </a:r>
          </a:p>
          <a:p>
            <a:r>
              <a:rPr lang="en-US" sz="2800" dirty="0"/>
              <a:t>Old record is denoted using the End Date attribute</a:t>
            </a:r>
          </a:p>
          <a:p>
            <a:r>
              <a:rPr lang="en-US" sz="2800" dirty="0"/>
              <a:t>Ex:</a:t>
            </a:r>
          </a:p>
          <a:p>
            <a:pPr lvl="1"/>
            <a:endParaRPr lang="en-US" dirty="0"/>
          </a:p>
          <a:p>
            <a:pPr lvl="1"/>
            <a:endParaRPr lang="en-US" dirty="0"/>
          </a:p>
          <a:p>
            <a:pPr lvl="1"/>
            <a:endParaRPr lang="en-US" dirty="0"/>
          </a:p>
          <a:p>
            <a:pPr lvl="1"/>
            <a:endParaRPr lang="en-US" dirty="0"/>
          </a:p>
          <a:p>
            <a:pPr lvl="1"/>
            <a:endParaRPr lang="en-US" dirty="0"/>
          </a:p>
        </p:txBody>
      </p:sp>
      <p:graphicFrame>
        <p:nvGraphicFramePr>
          <p:cNvPr id="4" name="Table 3"/>
          <p:cNvGraphicFramePr>
            <a:graphicFrameLocks noGrp="1"/>
          </p:cNvGraphicFramePr>
          <p:nvPr/>
        </p:nvGraphicFramePr>
        <p:xfrm>
          <a:off x="1789953" y="3314690"/>
          <a:ext cx="8128000" cy="333756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gridCol w="2032000">
                  <a:extLst>
                    <a:ext uri="{9D8B030D-6E8A-4147-A177-3AD203B41FA5}">
                      <a16:colId xmlns:a16="http://schemas.microsoft.com/office/drawing/2014/main" val="20003"/>
                    </a:ext>
                  </a:extLst>
                </a:gridCol>
              </a:tblGrid>
              <a:tr h="370840">
                <a:tc>
                  <a:txBody>
                    <a:bodyPr/>
                    <a:lstStyle/>
                    <a:p>
                      <a:r>
                        <a:rPr lang="en-US" dirty="0"/>
                        <a:t>Employee</a:t>
                      </a:r>
                    </a:p>
                  </a:txBody>
                  <a:tcPr/>
                </a:tc>
                <a:tc>
                  <a:txBody>
                    <a:bodyPr/>
                    <a:lstStyle/>
                    <a:p>
                      <a:r>
                        <a:rPr lang="en-US" dirty="0"/>
                        <a:t>Before</a:t>
                      </a:r>
                    </a:p>
                  </a:txBody>
                  <a:tcPr/>
                </a:tc>
                <a:tc gridSpan="2">
                  <a:txBody>
                    <a:bodyPr/>
                    <a:lstStyle/>
                    <a:p>
                      <a:r>
                        <a:rPr lang="en-US" dirty="0"/>
                        <a:t>After</a:t>
                      </a:r>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r>
                        <a:rPr lang="en-US" dirty="0"/>
                        <a:t>ID</a:t>
                      </a:r>
                    </a:p>
                  </a:txBody>
                  <a:tcPr/>
                </a:tc>
                <a:tc>
                  <a:txBody>
                    <a:bodyPr/>
                    <a:lstStyle/>
                    <a:p>
                      <a:r>
                        <a:rPr lang="en-US" dirty="0"/>
                        <a:t>1067</a:t>
                      </a:r>
                    </a:p>
                  </a:txBody>
                  <a:tcPr/>
                </a:tc>
                <a:tc>
                  <a:txBody>
                    <a:bodyPr/>
                    <a:lstStyle/>
                    <a:p>
                      <a:r>
                        <a:rPr lang="en-US" dirty="0"/>
                        <a:t>1067</a:t>
                      </a:r>
                    </a:p>
                  </a:txBody>
                  <a:tcPr/>
                </a:tc>
                <a:tc>
                  <a:txBody>
                    <a:bodyPr/>
                    <a:lstStyle/>
                    <a:p>
                      <a:r>
                        <a:rPr lang="en-US" dirty="0"/>
                        <a:t>1482</a:t>
                      </a:r>
                    </a:p>
                  </a:txBody>
                  <a:tcPr/>
                </a:tc>
                <a:extLst>
                  <a:ext uri="{0D108BD9-81ED-4DB2-BD59-A6C34878D82A}">
                    <a16:rowId xmlns:a16="http://schemas.microsoft.com/office/drawing/2014/main" val="10001"/>
                  </a:ext>
                </a:extLst>
              </a:tr>
              <a:tr h="370840">
                <a:tc>
                  <a:txBody>
                    <a:bodyPr/>
                    <a:lstStyle/>
                    <a:p>
                      <a:r>
                        <a:rPr lang="en-US" dirty="0"/>
                        <a:t>Original ID</a:t>
                      </a:r>
                    </a:p>
                  </a:txBody>
                  <a:tcPr/>
                </a:tc>
                <a:tc>
                  <a:txBody>
                    <a:bodyPr/>
                    <a:lstStyle/>
                    <a:p>
                      <a:r>
                        <a:rPr lang="en-US" dirty="0"/>
                        <a:t>2728</a:t>
                      </a:r>
                    </a:p>
                  </a:txBody>
                  <a:tcPr/>
                </a:tc>
                <a:tc>
                  <a:txBody>
                    <a:bodyPr/>
                    <a:lstStyle/>
                    <a:p>
                      <a:r>
                        <a:rPr lang="en-US" dirty="0"/>
                        <a:t>2728</a:t>
                      </a:r>
                    </a:p>
                  </a:txBody>
                  <a:tcPr/>
                </a:tc>
                <a:tc>
                  <a:txBody>
                    <a:bodyPr/>
                    <a:lstStyle/>
                    <a:p>
                      <a:r>
                        <a:rPr lang="en-US" dirty="0"/>
                        <a:t>2728</a:t>
                      </a:r>
                    </a:p>
                  </a:txBody>
                  <a:tcPr/>
                </a:tc>
                <a:extLst>
                  <a:ext uri="{0D108BD9-81ED-4DB2-BD59-A6C34878D82A}">
                    <a16:rowId xmlns:a16="http://schemas.microsoft.com/office/drawing/2014/main" val="10002"/>
                  </a:ext>
                </a:extLst>
              </a:tr>
              <a:tr h="370840">
                <a:tc>
                  <a:txBody>
                    <a:bodyPr/>
                    <a:lstStyle/>
                    <a:p>
                      <a:r>
                        <a:rPr lang="en-US" dirty="0"/>
                        <a:t>Name</a:t>
                      </a:r>
                    </a:p>
                  </a:txBody>
                  <a:tcPr/>
                </a:tc>
                <a:tc>
                  <a:txBody>
                    <a:bodyPr/>
                    <a:lstStyle/>
                    <a:p>
                      <a:r>
                        <a:rPr lang="en-US" dirty="0"/>
                        <a:t>James</a:t>
                      </a:r>
                      <a:r>
                        <a:rPr lang="en-US" baseline="0" dirty="0"/>
                        <a:t> Gold</a:t>
                      </a:r>
                      <a:endParaRPr lang="en-US" dirty="0"/>
                    </a:p>
                  </a:txBody>
                  <a:tcPr/>
                </a:tc>
                <a:tc>
                  <a:txBody>
                    <a:bodyPr/>
                    <a:lstStyle/>
                    <a:p>
                      <a:r>
                        <a:rPr lang="en-US" dirty="0"/>
                        <a:t>James Gold</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James Gold</a:t>
                      </a:r>
                    </a:p>
                  </a:txBody>
                  <a:tcPr/>
                </a:tc>
                <a:extLst>
                  <a:ext uri="{0D108BD9-81ED-4DB2-BD59-A6C34878D82A}">
                    <a16:rowId xmlns:a16="http://schemas.microsoft.com/office/drawing/2014/main" val="10003"/>
                  </a:ext>
                </a:extLst>
              </a:tr>
              <a:tr h="370840">
                <a:tc>
                  <a:txBody>
                    <a:bodyPr/>
                    <a:lstStyle/>
                    <a:p>
                      <a:r>
                        <a:rPr lang="en-US" dirty="0" err="1"/>
                        <a:t>SalesRegion</a:t>
                      </a:r>
                      <a:endParaRPr lang="en-US" dirty="0"/>
                    </a:p>
                  </a:txBody>
                  <a:tcPr/>
                </a:tc>
                <a:tc>
                  <a:txBody>
                    <a:bodyPr/>
                    <a:lstStyle/>
                    <a:p>
                      <a:r>
                        <a:rPr lang="en-US" dirty="0"/>
                        <a:t>New York</a:t>
                      </a:r>
                    </a:p>
                  </a:txBody>
                  <a:tcPr/>
                </a:tc>
                <a:tc>
                  <a:txBody>
                    <a:bodyPr/>
                    <a:lstStyle/>
                    <a:p>
                      <a:r>
                        <a:rPr lang="en-US" dirty="0"/>
                        <a:t>New York</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Seattle</a:t>
                      </a:r>
                    </a:p>
                  </a:txBody>
                  <a:tcPr/>
                </a:tc>
                <a:extLst>
                  <a:ext uri="{0D108BD9-81ED-4DB2-BD59-A6C34878D82A}">
                    <a16:rowId xmlns:a16="http://schemas.microsoft.com/office/drawing/2014/main" val="10004"/>
                  </a:ext>
                </a:extLst>
              </a:tr>
              <a:tr h="370840">
                <a:tc>
                  <a:txBody>
                    <a:bodyPr/>
                    <a:lstStyle/>
                    <a:p>
                      <a:r>
                        <a:rPr lang="en-US" dirty="0"/>
                        <a:t>Gender</a:t>
                      </a:r>
                    </a:p>
                  </a:txBody>
                  <a:tcPr/>
                </a:tc>
                <a:tc>
                  <a:txBody>
                    <a:bodyPr/>
                    <a:lstStyle/>
                    <a:p>
                      <a:r>
                        <a:rPr lang="en-US" dirty="0"/>
                        <a:t>M</a:t>
                      </a:r>
                    </a:p>
                  </a:txBody>
                  <a:tcPr/>
                </a:tc>
                <a:tc>
                  <a:txBody>
                    <a:bodyPr/>
                    <a:lstStyle/>
                    <a:p>
                      <a:r>
                        <a:rPr lang="en-US" dirty="0"/>
                        <a:t>M</a:t>
                      </a:r>
                    </a:p>
                  </a:txBody>
                  <a:tcPr/>
                </a:tc>
                <a:tc>
                  <a:txBody>
                    <a:bodyPr/>
                    <a:lstStyle/>
                    <a:p>
                      <a:r>
                        <a:rPr lang="en-US" dirty="0"/>
                        <a:t>M</a:t>
                      </a:r>
                    </a:p>
                  </a:txBody>
                  <a:tcPr/>
                </a:tc>
                <a:extLst>
                  <a:ext uri="{0D108BD9-81ED-4DB2-BD59-A6C34878D82A}">
                    <a16:rowId xmlns:a16="http://schemas.microsoft.com/office/drawing/2014/main" val="10005"/>
                  </a:ext>
                </a:extLst>
              </a:tr>
              <a:tr h="370840">
                <a:tc>
                  <a:txBody>
                    <a:bodyPr/>
                    <a:lstStyle/>
                    <a:p>
                      <a:r>
                        <a:rPr lang="en-US" dirty="0" err="1"/>
                        <a:t>MaritalStatus</a:t>
                      </a:r>
                      <a:endParaRPr lang="en-US" dirty="0"/>
                    </a:p>
                  </a:txBody>
                  <a:tcPr/>
                </a:tc>
                <a:tc>
                  <a:txBody>
                    <a:bodyPr/>
                    <a:lstStyle/>
                    <a:p>
                      <a:r>
                        <a:rPr lang="en-US" dirty="0"/>
                        <a:t>Single</a:t>
                      </a:r>
                    </a:p>
                  </a:txBody>
                  <a:tcPr/>
                </a:tc>
                <a:tc>
                  <a:txBody>
                    <a:bodyPr/>
                    <a:lstStyle/>
                    <a:p>
                      <a:r>
                        <a:rPr lang="en-US" dirty="0"/>
                        <a:t>Single</a:t>
                      </a:r>
                    </a:p>
                  </a:txBody>
                  <a:tcPr/>
                </a:tc>
                <a:tc>
                  <a:txBody>
                    <a:bodyPr/>
                    <a:lstStyle/>
                    <a:p>
                      <a:r>
                        <a:rPr lang="en-US" dirty="0"/>
                        <a:t>Married</a:t>
                      </a:r>
                    </a:p>
                  </a:txBody>
                  <a:tcPr/>
                </a:tc>
                <a:extLst>
                  <a:ext uri="{0D108BD9-81ED-4DB2-BD59-A6C34878D82A}">
                    <a16:rowId xmlns:a16="http://schemas.microsoft.com/office/drawing/2014/main" val="10006"/>
                  </a:ext>
                </a:extLst>
              </a:tr>
              <a:tr h="370840">
                <a:tc>
                  <a:txBody>
                    <a:bodyPr/>
                    <a:lstStyle/>
                    <a:p>
                      <a:r>
                        <a:rPr lang="en-US" dirty="0"/>
                        <a:t>Start Date</a:t>
                      </a:r>
                    </a:p>
                  </a:txBody>
                  <a:tcPr/>
                </a:tc>
                <a:tc>
                  <a:txBody>
                    <a:bodyPr/>
                    <a:lstStyle/>
                    <a:p>
                      <a:r>
                        <a:rPr lang="en-US" dirty="0"/>
                        <a:t>2014-03-01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2014-03-01</a:t>
                      </a:r>
                    </a:p>
                  </a:txBody>
                  <a:tcPr/>
                </a:tc>
                <a:tc>
                  <a:txBody>
                    <a:bodyPr/>
                    <a:lstStyle/>
                    <a:p>
                      <a:r>
                        <a:rPr lang="en-US" dirty="0"/>
                        <a:t>2014-11-25</a:t>
                      </a:r>
                    </a:p>
                  </a:txBody>
                  <a:tcPr/>
                </a:tc>
                <a:extLst>
                  <a:ext uri="{0D108BD9-81ED-4DB2-BD59-A6C34878D82A}">
                    <a16:rowId xmlns:a16="http://schemas.microsoft.com/office/drawing/2014/main" val="10007"/>
                  </a:ext>
                </a:extLst>
              </a:tr>
              <a:tr h="370840">
                <a:tc>
                  <a:txBody>
                    <a:bodyPr/>
                    <a:lstStyle/>
                    <a:p>
                      <a:r>
                        <a:rPr lang="en-US" dirty="0"/>
                        <a:t>End Date</a:t>
                      </a:r>
                    </a:p>
                  </a:txBody>
                  <a:tcPr/>
                </a:tc>
                <a:tc>
                  <a:txBody>
                    <a:bodyPr/>
                    <a:lstStyle/>
                    <a:p>
                      <a:endParaRPr lang="en-US" dirty="0"/>
                    </a:p>
                  </a:txBody>
                  <a:tcPr/>
                </a:tc>
                <a:tc>
                  <a:txBody>
                    <a:bodyPr/>
                    <a:lstStyle/>
                    <a:p>
                      <a:r>
                        <a:rPr lang="en-US" dirty="0"/>
                        <a:t>2014-11-25</a:t>
                      </a:r>
                    </a:p>
                  </a:txBody>
                  <a:tcPr/>
                </a:tc>
                <a:tc>
                  <a:txBody>
                    <a:bodyPr/>
                    <a:lstStyle/>
                    <a:p>
                      <a:endParaRPr lang="en-US" dirty="0"/>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459363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SCD type 3</a:t>
            </a:r>
          </a:p>
        </p:txBody>
      </p:sp>
      <p:sp>
        <p:nvSpPr>
          <p:cNvPr id="3" name="Content Placeholder 2"/>
          <p:cNvSpPr>
            <a:spLocks noGrp="1"/>
          </p:cNvSpPr>
          <p:nvPr>
            <p:ph idx="1"/>
          </p:nvPr>
        </p:nvSpPr>
        <p:spPr>
          <a:xfrm>
            <a:off x="581192" y="2729753"/>
            <a:ext cx="11029615" cy="3778624"/>
          </a:xfrm>
        </p:spPr>
        <p:txBody>
          <a:bodyPr/>
          <a:lstStyle/>
          <a:p>
            <a:r>
              <a:rPr lang="en-US" sz="2800" dirty="0"/>
              <a:t>Used to store historical data only for specific columns</a:t>
            </a:r>
          </a:p>
          <a:p>
            <a:r>
              <a:rPr lang="en-US" sz="2800" dirty="0"/>
              <a:t>Only limited history can be maintained</a:t>
            </a:r>
          </a:p>
          <a:p>
            <a:r>
              <a:rPr lang="en-US" sz="2800" dirty="0"/>
              <a:t>Usually for one previous change only </a:t>
            </a:r>
          </a:p>
          <a:p>
            <a:r>
              <a:rPr lang="en-US" sz="2800" dirty="0"/>
              <a:t>Ex:</a:t>
            </a:r>
          </a:p>
          <a:p>
            <a:pPr lvl="1"/>
            <a:endParaRPr lang="en-US" dirty="0"/>
          </a:p>
          <a:p>
            <a:pPr lvl="1"/>
            <a:endParaRPr lang="en-US" dirty="0"/>
          </a:p>
          <a:p>
            <a:pPr lvl="1"/>
            <a:endParaRPr lang="en-US" dirty="0"/>
          </a:p>
          <a:p>
            <a:pPr lvl="1"/>
            <a:endParaRPr lang="en-US" dirty="0"/>
          </a:p>
          <a:p>
            <a:pPr lvl="1"/>
            <a:endParaRPr lang="en-US" dirty="0"/>
          </a:p>
        </p:txBody>
      </p:sp>
      <p:graphicFrame>
        <p:nvGraphicFramePr>
          <p:cNvPr id="4" name="Table 3"/>
          <p:cNvGraphicFramePr>
            <a:graphicFrameLocks noGrp="1"/>
          </p:cNvGraphicFramePr>
          <p:nvPr/>
        </p:nvGraphicFramePr>
        <p:xfrm>
          <a:off x="1910976" y="3744995"/>
          <a:ext cx="8120529" cy="2966720"/>
        </p:xfrm>
        <a:graphic>
          <a:graphicData uri="http://schemas.openxmlformats.org/drawingml/2006/table">
            <a:tbl>
              <a:tblPr firstRow="1" bandRow="1">
                <a:tableStyleId>{5C22544A-7EE6-4342-B048-85BDC9FD1C3A}</a:tableStyleId>
              </a:tblPr>
              <a:tblGrid>
                <a:gridCol w="2706843">
                  <a:extLst>
                    <a:ext uri="{9D8B030D-6E8A-4147-A177-3AD203B41FA5}">
                      <a16:colId xmlns:a16="http://schemas.microsoft.com/office/drawing/2014/main" val="20000"/>
                    </a:ext>
                  </a:extLst>
                </a:gridCol>
                <a:gridCol w="2706843">
                  <a:extLst>
                    <a:ext uri="{9D8B030D-6E8A-4147-A177-3AD203B41FA5}">
                      <a16:colId xmlns:a16="http://schemas.microsoft.com/office/drawing/2014/main" val="20001"/>
                    </a:ext>
                  </a:extLst>
                </a:gridCol>
                <a:gridCol w="2706843">
                  <a:extLst>
                    <a:ext uri="{9D8B030D-6E8A-4147-A177-3AD203B41FA5}">
                      <a16:colId xmlns:a16="http://schemas.microsoft.com/office/drawing/2014/main" val="20002"/>
                    </a:ext>
                  </a:extLst>
                </a:gridCol>
              </a:tblGrid>
              <a:tr h="370840">
                <a:tc>
                  <a:txBody>
                    <a:bodyPr/>
                    <a:lstStyle/>
                    <a:p>
                      <a:r>
                        <a:rPr lang="en-US" dirty="0"/>
                        <a:t>Employee</a:t>
                      </a:r>
                    </a:p>
                  </a:txBody>
                  <a:tcPr/>
                </a:tc>
                <a:tc>
                  <a:txBody>
                    <a:bodyPr/>
                    <a:lstStyle/>
                    <a:p>
                      <a:r>
                        <a:rPr lang="en-US" dirty="0"/>
                        <a:t>Before</a:t>
                      </a:r>
                    </a:p>
                  </a:txBody>
                  <a:tcPr/>
                </a:tc>
                <a:tc>
                  <a:txBody>
                    <a:bodyPr/>
                    <a:lstStyle/>
                    <a:p>
                      <a:r>
                        <a:rPr lang="en-US" dirty="0"/>
                        <a:t>After</a:t>
                      </a:r>
                    </a:p>
                  </a:txBody>
                  <a:tcPr/>
                </a:tc>
                <a:extLst>
                  <a:ext uri="{0D108BD9-81ED-4DB2-BD59-A6C34878D82A}">
                    <a16:rowId xmlns:a16="http://schemas.microsoft.com/office/drawing/2014/main" val="10000"/>
                  </a:ext>
                </a:extLst>
              </a:tr>
              <a:tr h="370840">
                <a:tc>
                  <a:txBody>
                    <a:bodyPr/>
                    <a:lstStyle/>
                    <a:p>
                      <a:r>
                        <a:rPr lang="en-US" dirty="0"/>
                        <a:t>ID</a:t>
                      </a:r>
                    </a:p>
                  </a:txBody>
                  <a:tcPr/>
                </a:tc>
                <a:tc>
                  <a:txBody>
                    <a:bodyPr/>
                    <a:lstStyle/>
                    <a:p>
                      <a:r>
                        <a:rPr lang="en-US" dirty="0"/>
                        <a:t>2728</a:t>
                      </a:r>
                    </a:p>
                  </a:txBody>
                  <a:tcPr/>
                </a:tc>
                <a:tc>
                  <a:txBody>
                    <a:bodyPr/>
                    <a:lstStyle/>
                    <a:p>
                      <a:r>
                        <a:rPr lang="en-US" dirty="0"/>
                        <a:t>2728</a:t>
                      </a:r>
                    </a:p>
                  </a:txBody>
                  <a:tcPr/>
                </a:tc>
                <a:extLst>
                  <a:ext uri="{0D108BD9-81ED-4DB2-BD59-A6C34878D82A}">
                    <a16:rowId xmlns:a16="http://schemas.microsoft.com/office/drawing/2014/main" val="10001"/>
                  </a:ext>
                </a:extLst>
              </a:tr>
              <a:tr h="370840">
                <a:tc>
                  <a:txBody>
                    <a:bodyPr/>
                    <a:lstStyle/>
                    <a:p>
                      <a:r>
                        <a:rPr lang="en-US" dirty="0"/>
                        <a:t>Name</a:t>
                      </a:r>
                    </a:p>
                  </a:txBody>
                  <a:tcPr/>
                </a:tc>
                <a:tc>
                  <a:txBody>
                    <a:bodyPr/>
                    <a:lstStyle/>
                    <a:p>
                      <a:r>
                        <a:rPr lang="en-US" dirty="0"/>
                        <a:t>James</a:t>
                      </a:r>
                      <a:r>
                        <a:rPr lang="en-US" baseline="0" dirty="0"/>
                        <a:t> Gold</a:t>
                      </a:r>
                      <a:endParaRPr lang="en-US" dirty="0"/>
                    </a:p>
                  </a:txBody>
                  <a:tcPr/>
                </a:tc>
                <a:tc>
                  <a:txBody>
                    <a:bodyPr/>
                    <a:lstStyle/>
                    <a:p>
                      <a:r>
                        <a:rPr lang="en-US" dirty="0"/>
                        <a:t>James Gold</a:t>
                      </a:r>
                    </a:p>
                  </a:txBody>
                  <a:tcPr/>
                </a:tc>
                <a:extLst>
                  <a:ext uri="{0D108BD9-81ED-4DB2-BD59-A6C34878D82A}">
                    <a16:rowId xmlns:a16="http://schemas.microsoft.com/office/drawing/2014/main" val="10002"/>
                  </a:ext>
                </a:extLst>
              </a:tr>
              <a:tr h="370840">
                <a:tc>
                  <a:txBody>
                    <a:bodyPr/>
                    <a:lstStyle/>
                    <a:p>
                      <a:r>
                        <a:rPr lang="en-US" dirty="0" err="1"/>
                        <a:t>SalesRegion</a:t>
                      </a:r>
                      <a:endParaRPr lang="en-US" dirty="0"/>
                    </a:p>
                  </a:txBody>
                  <a:tcPr/>
                </a:tc>
                <a:tc>
                  <a:txBody>
                    <a:bodyPr/>
                    <a:lstStyle/>
                    <a:p>
                      <a:r>
                        <a:rPr lang="en-US" dirty="0"/>
                        <a:t>New York</a:t>
                      </a:r>
                    </a:p>
                  </a:txBody>
                  <a:tcPr/>
                </a:tc>
                <a:tc>
                  <a:txBody>
                    <a:bodyPr/>
                    <a:lstStyle/>
                    <a:p>
                      <a:r>
                        <a:rPr lang="en-US" dirty="0"/>
                        <a:t>Seattle</a:t>
                      </a:r>
                    </a:p>
                  </a:txBody>
                  <a:tcPr/>
                </a:tc>
                <a:extLst>
                  <a:ext uri="{0D108BD9-81ED-4DB2-BD59-A6C34878D82A}">
                    <a16:rowId xmlns:a16="http://schemas.microsoft.com/office/drawing/2014/main" val="10003"/>
                  </a:ext>
                </a:extLst>
              </a:tr>
              <a:tr h="370840">
                <a:tc>
                  <a:txBody>
                    <a:bodyPr/>
                    <a:lstStyle/>
                    <a:p>
                      <a:r>
                        <a:rPr lang="en-US" dirty="0" err="1"/>
                        <a:t>SalesRegion</a:t>
                      </a:r>
                      <a:r>
                        <a:rPr lang="en-US" dirty="0"/>
                        <a:t> Previous</a:t>
                      </a:r>
                    </a:p>
                  </a:txBody>
                  <a:tcPr/>
                </a:tc>
                <a:tc>
                  <a:txBody>
                    <a:bodyPr/>
                    <a:lstStyle/>
                    <a:p>
                      <a:endParaRPr lang="en-US" dirty="0"/>
                    </a:p>
                  </a:txBody>
                  <a:tcPr/>
                </a:tc>
                <a:tc>
                  <a:txBody>
                    <a:bodyPr/>
                    <a:lstStyle/>
                    <a:p>
                      <a:r>
                        <a:rPr lang="en-US" dirty="0"/>
                        <a:t>New York</a:t>
                      </a:r>
                    </a:p>
                  </a:txBody>
                  <a:tcPr/>
                </a:tc>
                <a:extLst>
                  <a:ext uri="{0D108BD9-81ED-4DB2-BD59-A6C34878D82A}">
                    <a16:rowId xmlns:a16="http://schemas.microsoft.com/office/drawing/2014/main" val="10004"/>
                  </a:ext>
                </a:extLst>
              </a:tr>
              <a:tr h="370840">
                <a:tc>
                  <a:txBody>
                    <a:bodyPr/>
                    <a:lstStyle/>
                    <a:p>
                      <a:r>
                        <a:rPr lang="en-US" dirty="0"/>
                        <a:t>Gender</a:t>
                      </a:r>
                    </a:p>
                  </a:txBody>
                  <a:tcPr/>
                </a:tc>
                <a:tc>
                  <a:txBody>
                    <a:bodyPr/>
                    <a:lstStyle/>
                    <a:p>
                      <a:r>
                        <a:rPr lang="en-US" dirty="0"/>
                        <a:t>M</a:t>
                      </a:r>
                    </a:p>
                  </a:txBody>
                  <a:tcPr/>
                </a:tc>
                <a:tc>
                  <a:txBody>
                    <a:bodyPr/>
                    <a:lstStyle/>
                    <a:p>
                      <a:r>
                        <a:rPr lang="en-US" dirty="0"/>
                        <a:t>M</a:t>
                      </a:r>
                    </a:p>
                  </a:txBody>
                  <a:tcPr/>
                </a:tc>
                <a:extLst>
                  <a:ext uri="{0D108BD9-81ED-4DB2-BD59-A6C34878D82A}">
                    <a16:rowId xmlns:a16="http://schemas.microsoft.com/office/drawing/2014/main" val="10005"/>
                  </a:ext>
                </a:extLst>
              </a:tr>
              <a:tr h="370840">
                <a:tc>
                  <a:txBody>
                    <a:bodyPr/>
                    <a:lstStyle/>
                    <a:p>
                      <a:r>
                        <a:rPr lang="en-US" dirty="0" err="1"/>
                        <a:t>MaritalStatus</a:t>
                      </a:r>
                      <a:endParaRPr lang="en-US" dirty="0"/>
                    </a:p>
                  </a:txBody>
                  <a:tcPr/>
                </a:tc>
                <a:tc>
                  <a:txBody>
                    <a:bodyPr/>
                    <a:lstStyle/>
                    <a:p>
                      <a:r>
                        <a:rPr lang="en-US" dirty="0"/>
                        <a:t>Single</a:t>
                      </a:r>
                    </a:p>
                  </a:txBody>
                  <a:tcPr/>
                </a:tc>
                <a:tc>
                  <a:txBody>
                    <a:bodyPr/>
                    <a:lstStyle/>
                    <a:p>
                      <a:r>
                        <a:rPr lang="en-US" dirty="0"/>
                        <a:t>Single</a:t>
                      </a:r>
                    </a:p>
                  </a:txBody>
                  <a:tcPr/>
                </a:tc>
                <a:extLst>
                  <a:ext uri="{0D108BD9-81ED-4DB2-BD59-A6C34878D82A}">
                    <a16:rowId xmlns:a16="http://schemas.microsoft.com/office/drawing/2014/main" val="10006"/>
                  </a:ext>
                </a:extLst>
              </a:tr>
              <a:tr h="370840">
                <a:tc>
                  <a:txBody>
                    <a:bodyPr/>
                    <a:lstStyle/>
                    <a:p>
                      <a:r>
                        <a:rPr lang="en-US" dirty="0" err="1"/>
                        <a:t>EffectiveDate</a:t>
                      </a:r>
                      <a:endParaRPr lang="en-US" dirty="0"/>
                    </a:p>
                  </a:txBody>
                  <a:tcPr/>
                </a:tc>
                <a:tc>
                  <a:txBody>
                    <a:bodyPr/>
                    <a:lstStyle/>
                    <a:p>
                      <a:r>
                        <a:rPr lang="en-US" dirty="0"/>
                        <a:t>2014-03-01</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2014-11-25</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2262550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FDBA4-9D35-42F5-B452-FEC738C8040D}"/>
              </a:ext>
            </a:extLst>
          </p:cNvPr>
          <p:cNvSpPr>
            <a:spLocks noGrp="1"/>
          </p:cNvSpPr>
          <p:nvPr>
            <p:ph type="title"/>
          </p:nvPr>
        </p:nvSpPr>
        <p:spPr/>
        <p:txBody>
          <a:bodyPr>
            <a:noAutofit/>
          </a:bodyPr>
          <a:lstStyle/>
          <a:p>
            <a:r>
              <a:rPr lang="en-US" sz="3200" dirty="0"/>
              <a:t>Implementing a data warehouse using SQL Server</a:t>
            </a:r>
          </a:p>
        </p:txBody>
      </p:sp>
      <p:pic>
        <p:nvPicPr>
          <p:cNvPr id="5" name="Content Placeholder 4" descr="A screenshot of a cell phone&#10;&#10;Description automatically generated">
            <a:extLst>
              <a:ext uri="{FF2B5EF4-FFF2-40B4-BE49-F238E27FC236}">
                <a16:creationId xmlns:a16="http://schemas.microsoft.com/office/drawing/2014/main" id="{48317350-A223-45C1-9630-A3F7340A0914}"/>
              </a:ext>
            </a:extLst>
          </p:cNvPr>
          <p:cNvPicPr>
            <a:picLocks noGrp="1" noChangeAspect="1"/>
          </p:cNvPicPr>
          <p:nvPr>
            <p:ph idx="1"/>
          </p:nvPr>
        </p:nvPicPr>
        <p:blipFill>
          <a:blip r:embed="rId2"/>
          <a:stretch>
            <a:fillRect/>
          </a:stretch>
        </p:blipFill>
        <p:spPr>
          <a:xfrm>
            <a:off x="436098" y="1858530"/>
            <a:ext cx="11291543" cy="4879243"/>
          </a:xfrm>
        </p:spPr>
      </p:pic>
    </p:spTree>
    <p:extLst>
      <p:ext uri="{BB962C8B-B14F-4D97-AF65-F5344CB8AC3E}">
        <p14:creationId xmlns:p14="http://schemas.microsoft.com/office/powerpoint/2010/main" val="4198383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F5474-B3FD-4FED-8CC3-EABD79395C35}"/>
              </a:ext>
            </a:extLst>
          </p:cNvPr>
          <p:cNvSpPr>
            <a:spLocks noGrp="1"/>
          </p:cNvSpPr>
          <p:nvPr>
            <p:ph type="title"/>
          </p:nvPr>
        </p:nvSpPr>
        <p:spPr/>
        <p:txBody>
          <a:bodyPr>
            <a:noAutofit/>
          </a:bodyPr>
          <a:lstStyle/>
          <a:p>
            <a:r>
              <a:rPr lang="en-US" sz="3600" dirty="0"/>
              <a:t>Enterprise information management</a:t>
            </a:r>
          </a:p>
        </p:txBody>
      </p:sp>
      <p:sp>
        <p:nvSpPr>
          <p:cNvPr id="3" name="Content Placeholder 2">
            <a:extLst>
              <a:ext uri="{FF2B5EF4-FFF2-40B4-BE49-F238E27FC236}">
                <a16:creationId xmlns:a16="http://schemas.microsoft.com/office/drawing/2014/main" id="{7F1001E2-DAD0-46C2-8477-0DC8D5251D0F}"/>
              </a:ext>
            </a:extLst>
          </p:cNvPr>
          <p:cNvSpPr>
            <a:spLocks noGrp="1"/>
          </p:cNvSpPr>
          <p:nvPr>
            <p:ph idx="1"/>
          </p:nvPr>
        </p:nvSpPr>
        <p:spPr/>
        <p:txBody>
          <a:bodyPr/>
          <a:lstStyle/>
          <a:p>
            <a:r>
              <a:rPr lang="en-US" dirty="0"/>
              <a:t>“Enterprise Information Management (EIM) is a best practice for creating, managing, sharing, and leveraging information in an enterprise, holistic manner that’s aligned with strategic, data-driven business objectives.”</a:t>
            </a:r>
          </a:p>
          <a:p>
            <a:r>
              <a:rPr lang="en-US" dirty="0"/>
              <a:t>It is concerned of following aspect of data</a:t>
            </a:r>
          </a:p>
          <a:p>
            <a:pPr lvl="1"/>
            <a:r>
              <a:rPr lang="en-US" dirty="0"/>
              <a:t>Complete, Clean, Consistent, Current</a:t>
            </a:r>
          </a:p>
          <a:p>
            <a:pPr lvl="1"/>
            <a:endParaRPr lang="en-US" dirty="0"/>
          </a:p>
        </p:txBody>
      </p:sp>
    </p:spTree>
    <p:extLst>
      <p:ext uri="{BB962C8B-B14F-4D97-AF65-F5344CB8AC3E}">
        <p14:creationId xmlns:p14="http://schemas.microsoft.com/office/powerpoint/2010/main" val="24192694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6EDB-6E65-4654-A7E3-870D0CF32261}"/>
              </a:ext>
            </a:extLst>
          </p:cNvPr>
          <p:cNvSpPr>
            <a:spLocks noGrp="1"/>
          </p:cNvSpPr>
          <p:nvPr>
            <p:ph type="title"/>
          </p:nvPr>
        </p:nvSpPr>
        <p:spPr/>
        <p:txBody>
          <a:bodyPr/>
          <a:lstStyle/>
          <a:p>
            <a:r>
              <a:rPr lang="en-US" dirty="0"/>
              <a:t>SQL Server </a:t>
            </a:r>
            <a:r>
              <a:rPr lang="en-US" dirty="0" err="1"/>
              <a:t>eim</a:t>
            </a:r>
            <a:r>
              <a:rPr lang="en-US" dirty="0"/>
              <a:t> services</a:t>
            </a:r>
          </a:p>
        </p:txBody>
      </p:sp>
      <p:sp>
        <p:nvSpPr>
          <p:cNvPr id="3" name="Content Placeholder 2">
            <a:extLst>
              <a:ext uri="{FF2B5EF4-FFF2-40B4-BE49-F238E27FC236}">
                <a16:creationId xmlns:a16="http://schemas.microsoft.com/office/drawing/2014/main" id="{43FFF88E-00D9-45A9-9099-AF9F8E9F1C59}"/>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661CEEEA-EA75-4AC7-A668-8E4B15CA4CF3}"/>
              </a:ext>
            </a:extLst>
          </p:cNvPr>
          <p:cNvPicPr>
            <a:picLocks noChangeAspect="1"/>
          </p:cNvPicPr>
          <p:nvPr/>
        </p:nvPicPr>
        <p:blipFill>
          <a:blip r:embed="rId2"/>
          <a:stretch>
            <a:fillRect/>
          </a:stretch>
        </p:blipFill>
        <p:spPr>
          <a:xfrm>
            <a:off x="1344149" y="1830539"/>
            <a:ext cx="8986649" cy="4921953"/>
          </a:xfrm>
          <a:prstGeom prst="rect">
            <a:avLst/>
          </a:prstGeom>
        </p:spPr>
      </p:pic>
    </p:spTree>
    <p:extLst>
      <p:ext uri="{BB962C8B-B14F-4D97-AF65-F5344CB8AC3E}">
        <p14:creationId xmlns:p14="http://schemas.microsoft.com/office/powerpoint/2010/main" val="31532492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7E669-B747-4B1A-8473-4B506512EAB0}"/>
              </a:ext>
            </a:extLst>
          </p:cNvPr>
          <p:cNvSpPr>
            <a:spLocks noGrp="1"/>
          </p:cNvSpPr>
          <p:nvPr>
            <p:ph type="title"/>
          </p:nvPr>
        </p:nvSpPr>
        <p:spPr/>
        <p:txBody>
          <a:bodyPr/>
          <a:lstStyle/>
          <a:p>
            <a:r>
              <a:rPr lang="en-US" dirty="0"/>
              <a:t>ETL (extract, transform, load)</a:t>
            </a:r>
          </a:p>
        </p:txBody>
      </p:sp>
      <p:sp>
        <p:nvSpPr>
          <p:cNvPr id="3" name="Content Placeholder 2">
            <a:extLst>
              <a:ext uri="{FF2B5EF4-FFF2-40B4-BE49-F238E27FC236}">
                <a16:creationId xmlns:a16="http://schemas.microsoft.com/office/drawing/2014/main" id="{A6C3ED4B-DE6D-49DC-BB72-6B9CB6910955}"/>
              </a:ext>
            </a:extLst>
          </p:cNvPr>
          <p:cNvSpPr>
            <a:spLocks noGrp="1"/>
          </p:cNvSpPr>
          <p:nvPr>
            <p:ph idx="1"/>
          </p:nvPr>
        </p:nvSpPr>
        <p:spPr>
          <a:xfrm>
            <a:off x="581192" y="2180496"/>
            <a:ext cx="11029615" cy="4121830"/>
          </a:xfrm>
        </p:spPr>
        <p:txBody>
          <a:bodyPr>
            <a:normAutofit fontScale="77500" lnSpcReduction="20000"/>
          </a:bodyPr>
          <a:lstStyle/>
          <a:p>
            <a:r>
              <a:rPr lang="en-US" dirty="0"/>
              <a:t>Mostly, the information contained in a warehouse flows from the same operational systems that could not be directly used to provide strategic information. </a:t>
            </a:r>
          </a:p>
          <a:p>
            <a:r>
              <a:rPr lang="en-US" dirty="0"/>
              <a:t>ETL refers to a set of functions that fall under the broad group of data extraction, transformation, and loading.</a:t>
            </a:r>
          </a:p>
          <a:p>
            <a:r>
              <a:rPr lang="en-US" dirty="0"/>
              <a:t>ETL functions reshape the relevant data from the source systems into useful information to be stored in the data warehouse. </a:t>
            </a:r>
          </a:p>
          <a:p>
            <a:r>
              <a:rPr lang="en-US" dirty="0"/>
              <a:t>Without these functions, there would be no strategic information in the data warehouse. </a:t>
            </a:r>
          </a:p>
          <a:p>
            <a:r>
              <a:rPr lang="en-US" dirty="0"/>
              <a:t>ETL is used to populate dimension and fact tables, in effect to synchronize data between source systems and the data warehouse </a:t>
            </a:r>
          </a:p>
        </p:txBody>
      </p:sp>
    </p:spTree>
    <p:extLst>
      <p:ext uri="{BB962C8B-B14F-4D97-AF65-F5344CB8AC3E}">
        <p14:creationId xmlns:p14="http://schemas.microsoft.com/office/powerpoint/2010/main" val="268237846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AA184-9FAF-4ED2-8B99-39BF0899F824}"/>
              </a:ext>
            </a:extLst>
          </p:cNvPr>
          <p:cNvSpPr>
            <a:spLocks noGrp="1"/>
          </p:cNvSpPr>
          <p:nvPr>
            <p:ph type="title"/>
          </p:nvPr>
        </p:nvSpPr>
        <p:spPr/>
        <p:txBody>
          <a:bodyPr/>
          <a:lstStyle/>
          <a:p>
            <a:r>
              <a:rPr lang="en-US" dirty="0"/>
              <a:t>ETL (Contd.)</a:t>
            </a:r>
          </a:p>
        </p:txBody>
      </p:sp>
      <p:sp>
        <p:nvSpPr>
          <p:cNvPr id="3" name="Content Placeholder 2">
            <a:extLst>
              <a:ext uri="{FF2B5EF4-FFF2-40B4-BE49-F238E27FC236}">
                <a16:creationId xmlns:a16="http://schemas.microsoft.com/office/drawing/2014/main" id="{B8408B38-7CF3-46AB-A9AC-FA8BD3855B9B}"/>
              </a:ext>
            </a:extLst>
          </p:cNvPr>
          <p:cNvSpPr>
            <a:spLocks noGrp="1"/>
          </p:cNvSpPr>
          <p:nvPr>
            <p:ph idx="1"/>
          </p:nvPr>
        </p:nvSpPr>
        <p:spPr/>
        <p:txBody>
          <a:bodyPr>
            <a:normAutofit fontScale="92500" lnSpcReduction="20000"/>
          </a:bodyPr>
          <a:lstStyle/>
          <a:p>
            <a:r>
              <a:rPr lang="en-US" dirty="0"/>
              <a:t>Common challenges:</a:t>
            </a:r>
          </a:p>
          <a:p>
            <a:pPr lvl="1"/>
            <a:r>
              <a:rPr lang="en-US" dirty="0"/>
              <a:t>Retrieving and integrating data from multiple sources </a:t>
            </a:r>
          </a:p>
          <a:p>
            <a:pPr lvl="1"/>
            <a:r>
              <a:rPr lang="en-US" dirty="0"/>
              <a:t>Cleansing and transforming the data </a:t>
            </a:r>
          </a:p>
          <a:p>
            <a:pPr lvl="1"/>
            <a:r>
              <a:rPr lang="en-US" dirty="0"/>
              <a:t>Loading the data into appropriate data stores for analysis and reporting </a:t>
            </a:r>
          </a:p>
          <a:p>
            <a:r>
              <a:rPr lang="en-US" dirty="0"/>
              <a:t>Enterprises spend 60%–80% of their resources developing, testing and maintaining their ETL processes </a:t>
            </a:r>
          </a:p>
          <a:p>
            <a:r>
              <a:rPr lang="en-US" dirty="0"/>
              <a:t>ETL processes usually require dedicated monitoring and maintenance </a:t>
            </a:r>
          </a:p>
        </p:txBody>
      </p:sp>
    </p:spTree>
    <p:extLst>
      <p:ext uri="{BB962C8B-B14F-4D97-AF65-F5344CB8AC3E}">
        <p14:creationId xmlns:p14="http://schemas.microsoft.com/office/powerpoint/2010/main" val="31352382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17A48-EE9B-4207-A0FC-4BF7F13A1118}"/>
              </a:ext>
            </a:extLst>
          </p:cNvPr>
          <p:cNvSpPr>
            <a:spLocks noGrp="1"/>
          </p:cNvSpPr>
          <p:nvPr>
            <p:ph type="title"/>
          </p:nvPr>
        </p:nvSpPr>
        <p:spPr/>
        <p:txBody>
          <a:bodyPr/>
          <a:lstStyle/>
          <a:p>
            <a:r>
              <a:rPr lang="en-US" dirty="0"/>
              <a:t>SQL sever integration service(</a:t>
            </a:r>
            <a:r>
              <a:rPr lang="en-US" dirty="0" err="1"/>
              <a:t>ssis</a:t>
            </a:r>
            <a:r>
              <a:rPr lang="en-US" dirty="0"/>
              <a:t>)</a:t>
            </a:r>
          </a:p>
        </p:txBody>
      </p:sp>
      <p:sp>
        <p:nvSpPr>
          <p:cNvPr id="3" name="Content Placeholder 2">
            <a:extLst>
              <a:ext uri="{FF2B5EF4-FFF2-40B4-BE49-F238E27FC236}">
                <a16:creationId xmlns:a16="http://schemas.microsoft.com/office/drawing/2014/main" id="{F8827329-B2BD-4C3F-93B2-11452DAB7D0B}"/>
              </a:ext>
            </a:extLst>
          </p:cNvPr>
          <p:cNvSpPr>
            <a:spLocks noGrp="1"/>
          </p:cNvSpPr>
          <p:nvPr>
            <p:ph idx="1"/>
          </p:nvPr>
        </p:nvSpPr>
        <p:spPr/>
        <p:txBody>
          <a:bodyPr>
            <a:normAutofit fontScale="92500"/>
          </a:bodyPr>
          <a:lstStyle/>
          <a:p>
            <a:r>
              <a:rPr lang="en-US" dirty="0"/>
              <a:t>SQL Server Integration Service(SSIS) component performs ETL processes to load data from different sources to data warehouse.</a:t>
            </a:r>
          </a:p>
          <a:p>
            <a:pPr lvl="1"/>
            <a:r>
              <a:rPr lang="en-US" dirty="0"/>
              <a:t>SSIS is optimized for working with SQL sever data</a:t>
            </a:r>
          </a:p>
          <a:p>
            <a:pPr lvl="1"/>
            <a:r>
              <a:rPr lang="en-US" dirty="0"/>
              <a:t>However, it can also work with other data sources as well as destinations</a:t>
            </a:r>
          </a:p>
          <a:p>
            <a:pPr lvl="1"/>
            <a:r>
              <a:rPr lang="en-US" dirty="0"/>
              <a:t>SSIS provides a number of components for processes as well as data transformations </a:t>
            </a:r>
          </a:p>
          <a:p>
            <a:pPr lvl="2"/>
            <a:r>
              <a:rPr lang="en-US" dirty="0"/>
              <a:t>Most of those could be done without any code</a:t>
            </a:r>
          </a:p>
        </p:txBody>
      </p:sp>
    </p:spTree>
    <p:extLst>
      <p:ext uri="{BB962C8B-B14F-4D97-AF65-F5344CB8AC3E}">
        <p14:creationId xmlns:p14="http://schemas.microsoft.com/office/powerpoint/2010/main" val="45490209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778A5-507A-409C-ADB4-9647AD54CF44}"/>
              </a:ext>
            </a:extLst>
          </p:cNvPr>
          <p:cNvSpPr>
            <a:spLocks noGrp="1"/>
          </p:cNvSpPr>
          <p:nvPr>
            <p:ph type="title"/>
          </p:nvPr>
        </p:nvSpPr>
        <p:spPr/>
        <p:txBody>
          <a:bodyPr/>
          <a:lstStyle/>
          <a:p>
            <a:r>
              <a:rPr lang="en-US" dirty="0"/>
              <a:t>SSIS package</a:t>
            </a:r>
          </a:p>
        </p:txBody>
      </p:sp>
      <p:sp>
        <p:nvSpPr>
          <p:cNvPr id="3" name="Content Placeholder 2">
            <a:extLst>
              <a:ext uri="{FF2B5EF4-FFF2-40B4-BE49-F238E27FC236}">
                <a16:creationId xmlns:a16="http://schemas.microsoft.com/office/drawing/2014/main" id="{3FE68D2A-2DD6-461E-BC45-095B9D68595E}"/>
              </a:ext>
            </a:extLst>
          </p:cNvPr>
          <p:cNvSpPr>
            <a:spLocks noGrp="1"/>
          </p:cNvSpPr>
          <p:nvPr>
            <p:ph idx="1"/>
          </p:nvPr>
        </p:nvSpPr>
        <p:spPr/>
        <p:txBody>
          <a:bodyPr>
            <a:normAutofit fontScale="92500"/>
          </a:bodyPr>
          <a:lstStyle/>
          <a:p>
            <a:r>
              <a:rPr lang="en-US" dirty="0"/>
              <a:t>A SSIS package is the object that implements Integration Services functionality to extract, transform, and load data.</a:t>
            </a:r>
          </a:p>
          <a:p>
            <a:r>
              <a:rPr lang="en-US" dirty="0"/>
              <a:t>A basic package includes the following elements:</a:t>
            </a:r>
          </a:p>
          <a:p>
            <a:pPr lvl="1"/>
            <a:r>
              <a:rPr lang="en-US" b="1" dirty="0"/>
              <a:t>Control flow elements :</a:t>
            </a:r>
            <a:r>
              <a:rPr lang="en-US" dirty="0"/>
              <a:t>These required elements perform various functions, provide structure, and control the order in which elements run. </a:t>
            </a:r>
          </a:p>
          <a:p>
            <a:pPr lvl="1"/>
            <a:r>
              <a:rPr lang="en-US" b="1" dirty="0"/>
              <a:t>Data flow elements : </a:t>
            </a:r>
            <a:r>
              <a:rPr lang="en-US" dirty="0"/>
              <a:t>These optional elements extract data, modify data, and load data into data sources.</a:t>
            </a:r>
          </a:p>
        </p:txBody>
      </p:sp>
    </p:spTree>
    <p:extLst>
      <p:ext uri="{BB962C8B-B14F-4D97-AF65-F5344CB8AC3E}">
        <p14:creationId xmlns:p14="http://schemas.microsoft.com/office/powerpoint/2010/main" val="14080767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424769-9B0E-442D-A173-AFF6CADF02DF}"/>
              </a:ext>
            </a:extLst>
          </p:cNvPr>
          <p:cNvSpPr>
            <a:spLocks noGrp="1"/>
          </p:cNvSpPr>
          <p:nvPr>
            <p:ph type="title"/>
          </p:nvPr>
        </p:nvSpPr>
        <p:spPr/>
        <p:txBody>
          <a:bodyPr/>
          <a:lstStyle/>
          <a:p>
            <a:r>
              <a:rPr lang="en-US" dirty="0"/>
              <a:t>SSIS Control flow</a:t>
            </a:r>
          </a:p>
        </p:txBody>
      </p:sp>
      <p:sp>
        <p:nvSpPr>
          <p:cNvPr id="3" name="Content Placeholder 2">
            <a:extLst>
              <a:ext uri="{FF2B5EF4-FFF2-40B4-BE49-F238E27FC236}">
                <a16:creationId xmlns:a16="http://schemas.microsoft.com/office/drawing/2014/main" id="{0360B1DF-6CAB-4501-8839-8E984343F291}"/>
              </a:ext>
            </a:extLst>
          </p:cNvPr>
          <p:cNvSpPr>
            <a:spLocks noGrp="1"/>
          </p:cNvSpPr>
          <p:nvPr>
            <p:ph idx="1"/>
          </p:nvPr>
        </p:nvSpPr>
        <p:spPr/>
        <p:txBody>
          <a:bodyPr>
            <a:normAutofit/>
          </a:bodyPr>
          <a:lstStyle/>
          <a:p>
            <a:r>
              <a:rPr lang="en-US" dirty="0"/>
              <a:t>Control flow is the process-oriented workflow engine </a:t>
            </a:r>
          </a:p>
          <a:p>
            <a:r>
              <a:rPr lang="en-US" dirty="0"/>
              <a:t>A SSIS package consists of a single control flow </a:t>
            </a:r>
          </a:p>
          <a:p>
            <a:r>
              <a:rPr lang="en-US" dirty="0"/>
              <a:t>The main control flow elements are tasks, containers, and precedence constraints. There must be at least one control flow element in a package.</a:t>
            </a:r>
          </a:p>
        </p:txBody>
      </p:sp>
    </p:spTree>
    <p:extLst>
      <p:ext uri="{BB962C8B-B14F-4D97-AF65-F5344CB8AC3E}">
        <p14:creationId xmlns:p14="http://schemas.microsoft.com/office/powerpoint/2010/main" val="40149202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29FD6-78A7-4CB2-AA13-F2D84F5DBD1A}"/>
              </a:ext>
            </a:extLst>
          </p:cNvPr>
          <p:cNvSpPr>
            <a:spLocks noGrp="1"/>
          </p:cNvSpPr>
          <p:nvPr>
            <p:ph type="title"/>
          </p:nvPr>
        </p:nvSpPr>
        <p:spPr/>
        <p:txBody>
          <a:bodyPr/>
          <a:lstStyle/>
          <a:p>
            <a:r>
              <a:rPr lang="en-US" dirty="0"/>
              <a:t>CONTROL flow elements - containers</a:t>
            </a:r>
          </a:p>
        </p:txBody>
      </p:sp>
      <p:sp>
        <p:nvSpPr>
          <p:cNvPr id="3" name="Content Placeholder 2">
            <a:extLst>
              <a:ext uri="{FF2B5EF4-FFF2-40B4-BE49-F238E27FC236}">
                <a16:creationId xmlns:a16="http://schemas.microsoft.com/office/drawing/2014/main" id="{F2488E0A-A557-4402-AB17-50065954B653}"/>
              </a:ext>
            </a:extLst>
          </p:cNvPr>
          <p:cNvSpPr>
            <a:spLocks noGrp="1"/>
          </p:cNvSpPr>
          <p:nvPr>
            <p:ph idx="1"/>
          </p:nvPr>
        </p:nvSpPr>
        <p:spPr/>
        <p:txBody>
          <a:bodyPr/>
          <a:lstStyle/>
          <a:p>
            <a:r>
              <a:rPr lang="en-US" dirty="0"/>
              <a:t>Provide structure and services for: </a:t>
            </a:r>
          </a:p>
          <a:p>
            <a:pPr lvl="1"/>
            <a:r>
              <a:rPr lang="en-US" dirty="0"/>
              <a:t>Grouping tasks </a:t>
            </a:r>
          </a:p>
          <a:p>
            <a:pPr lvl="1"/>
            <a:r>
              <a:rPr lang="en-US" dirty="0"/>
              <a:t>Implementing repeating flows</a:t>
            </a:r>
          </a:p>
          <a:p>
            <a:r>
              <a:rPr lang="en-US" dirty="0"/>
              <a:t>Ex: For Loop Container, Foreach Loop Container, Sequence Container</a:t>
            </a:r>
          </a:p>
        </p:txBody>
      </p:sp>
    </p:spTree>
    <p:extLst>
      <p:ext uri="{BB962C8B-B14F-4D97-AF65-F5344CB8AC3E}">
        <p14:creationId xmlns:p14="http://schemas.microsoft.com/office/powerpoint/2010/main" val="7704185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29FD6-78A7-4CB2-AA13-F2D84F5DBD1A}"/>
              </a:ext>
            </a:extLst>
          </p:cNvPr>
          <p:cNvSpPr>
            <a:spLocks noGrp="1"/>
          </p:cNvSpPr>
          <p:nvPr>
            <p:ph type="title"/>
          </p:nvPr>
        </p:nvSpPr>
        <p:spPr/>
        <p:txBody>
          <a:bodyPr/>
          <a:lstStyle/>
          <a:p>
            <a:r>
              <a:rPr lang="en-US" dirty="0"/>
              <a:t>CONTROL flow elements - tasks</a:t>
            </a:r>
          </a:p>
        </p:txBody>
      </p:sp>
      <p:sp>
        <p:nvSpPr>
          <p:cNvPr id="3" name="Content Placeholder 2">
            <a:extLst>
              <a:ext uri="{FF2B5EF4-FFF2-40B4-BE49-F238E27FC236}">
                <a16:creationId xmlns:a16="http://schemas.microsoft.com/office/drawing/2014/main" id="{F2488E0A-A557-4402-AB17-50065954B653}"/>
              </a:ext>
            </a:extLst>
          </p:cNvPr>
          <p:cNvSpPr>
            <a:spLocks noGrp="1"/>
          </p:cNvSpPr>
          <p:nvPr>
            <p:ph idx="1"/>
          </p:nvPr>
        </p:nvSpPr>
        <p:spPr/>
        <p:txBody>
          <a:bodyPr>
            <a:normAutofit fontScale="77500" lnSpcReduction="20000"/>
          </a:bodyPr>
          <a:lstStyle/>
          <a:p>
            <a:r>
              <a:rPr lang="en-US" dirty="0"/>
              <a:t>Perform discrete operations in packages</a:t>
            </a:r>
          </a:p>
          <a:p>
            <a:r>
              <a:rPr lang="en-US" dirty="0"/>
              <a:t>Data Flow Tasks</a:t>
            </a:r>
          </a:p>
          <a:p>
            <a:r>
              <a:rPr lang="en-US" dirty="0"/>
              <a:t>Data Preparation</a:t>
            </a:r>
          </a:p>
          <a:p>
            <a:r>
              <a:rPr lang="en-US" dirty="0"/>
              <a:t>Process Communication</a:t>
            </a:r>
          </a:p>
          <a:p>
            <a:r>
              <a:rPr lang="en-US" dirty="0"/>
              <a:t>Execute SQL</a:t>
            </a:r>
          </a:p>
          <a:p>
            <a:r>
              <a:rPr lang="en-US" dirty="0"/>
              <a:t>Analysis Services</a:t>
            </a:r>
          </a:p>
          <a:p>
            <a:r>
              <a:rPr lang="en-US" dirty="0"/>
              <a:t>Scripting</a:t>
            </a:r>
          </a:p>
          <a:p>
            <a:r>
              <a:rPr lang="en-US" dirty="0"/>
              <a:t>Miscellaneous</a:t>
            </a:r>
          </a:p>
        </p:txBody>
      </p:sp>
    </p:spTree>
    <p:extLst>
      <p:ext uri="{BB962C8B-B14F-4D97-AF65-F5344CB8AC3E}">
        <p14:creationId xmlns:p14="http://schemas.microsoft.com/office/powerpoint/2010/main" val="14420783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CD8A1-B1BB-45D8-B571-31980E90407C}"/>
              </a:ext>
            </a:extLst>
          </p:cNvPr>
          <p:cNvSpPr>
            <a:spLocks noGrp="1"/>
          </p:cNvSpPr>
          <p:nvPr>
            <p:ph type="title"/>
          </p:nvPr>
        </p:nvSpPr>
        <p:spPr/>
        <p:txBody>
          <a:bodyPr/>
          <a:lstStyle/>
          <a:p>
            <a:r>
              <a:rPr lang="en-US" dirty="0"/>
              <a:t>Control Flow – an Example</a:t>
            </a:r>
          </a:p>
        </p:txBody>
      </p:sp>
      <p:pic>
        <p:nvPicPr>
          <p:cNvPr id="5" name="Content Placeholder 4" descr="Graphical user interface&#10;&#10;Description automatically generated">
            <a:extLst>
              <a:ext uri="{FF2B5EF4-FFF2-40B4-BE49-F238E27FC236}">
                <a16:creationId xmlns:a16="http://schemas.microsoft.com/office/drawing/2014/main" id="{1395E267-6FFA-4AFD-8DD9-CAA45241417E}"/>
              </a:ext>
            </a:extLst>
          </p:cNvPr>
          <p:cNvPicPr>
            <a:picLocks noGrp="1" noChangeAspect="1"/>
          </p:cNvPicPr>
          <p:nvPr>
            <p:ph idx="1"/>
          </p:nvPr>
        </p:nvPicPr>
        <p:blipFill rotWithShape="1">
          <a:blip r:embed="rId2"/>
          <a:srcRect l="25668" t="11454" b="23911"/>
          <a:stretch/>
        </p:blipFill>
        <p:spPr>
          <a:xfrm>
            <a:off x="1716259" y="2367311"/>
            <a:ext cx="8309234" cy="3788533"/>
          </a:xfrm>
        </p:spPr>
      </p:pic>
    </p:spTree>
    <p:extLst>
      <p:ext uri="{BB962C8B-B14F-4D97-AF65-F5344CB8AC3E}">
        <p14:creationId xmlns:p14="http://schemas.microsoft.com/office/powerpoint/2010/main" val="28186256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29FD6-78A7-4CB2-AA13-F2D84F5DBD1A}"/>
              </a:ext>
            </a:extLst>
          </p:cNvPr>
          <p:cNvSpPr>
            <a:spLocks noGrp="1"/>
          </p:cNvSpPr>
          <p:nvPr>
            <p:ph type="title"/>
          </p:nvPr>
        </p:nvSpPr>
        <p:spPr/>
        <p:txBody>
          <a:bodyPr/>
          <a:lstStyle/>
          <a:p>
            <a:r>
              <a:rPr lang="en-US" dirty="0"/>
              <a:t>CONTROL flow elements - tasks</a:t>
            </a:r>
          </a:p>
        </p:txBody>
      </p:sp>
      <p:sp>
        <p:nvSpPr>
          <p:cNvPr id="3" name="Content Placeholder 2">
            <a:extLst>
              <a:ext uri="{FF2B5EF4-FFF2-40B4-BE49-F238E27FC236}">
                <a16:creationId xmlns:a16="http://schemas.microsoft.com/office/drawing/2014/main" id="{F2488E0A-A557-4402-AB17-50065954B653}"/>
              </a:ext>
            </a:extLst>
          </p:cNvPr>
          <p:cNvSpPr>
            <a:spLocks noGrp="1"/>
          </p:cNvSpPr>
          <p:nvPr>
            <p:ph idx="1"/>
          </p:nvPr>
        </p:nvSpPr>
        <p:spPr/>
        <p:txBody>
          <a:bodyPr>
            <a:normAutofit fontScale="77500" lnSpcReduction="20000"/>
          </a:bodyPr>
          <a:lstStyle/>
          <a:p>
            <a:r>
              <a:rPr lang="en-US" dirty="0"/>
              <a:t>Perform discrete operations in packages</a:t>
            </a:r>
          </a:p>
          <a:p>
            <a:pPr lvl="1"/>
            <a:r>
              <a:rPr lang="en-US" dirty="0"/>
              <a:t>Data Flow Tasks : defines and runs data flows that extract data, apply transformations, and load data.</a:t>
            </a:r>
          </a:p>
          <a:p>
            <a:pPr lvl="1"/>
            <a:r>
              <a:rPr lang="en-US" dirty="0"/>
              <a:t>Data Preparation : copy files and directories, download files and data, save data returned by Web methods, or work with XML documents</a:t>
            </a:r>
          </a:p>
          <a:p>
            <a:pPr lvl="1"/>
            <a:r>
              <a:rPr lang="en-US" dirty="0"/>
              <a:t>Workflow tasks : communicate with other processes to run packages or programs, send and receive messages between packages, send e-mail messages</a:t>
            </a:r>
          </a:p>
          <a:p>
            <a:pPr lvl="1"/>
            <a:r>
              <a:rPr lang="en-US" dirty="0"/>
              <a:t>Execute SQL tasks : access, copy, insert, delete, or modify SQL Server objects and data.</a:t>
            </a:r>
          </a:p>
          <a:p>
            <a:pPr lvl="1"/>
            <a:r>
              <a:rPr lang="en-US" dirty="0"/>
              <a:t>Scripting tasks: extend package functionality through custom scripts.</a:t>
            </a:r>
          </a:p>
        </p:txBody>
      </p:sp>
    </p:spTree>
    <p:extLst>
      <p:ext uri="{BB962C8B-B14F-4D97-AF65-F5344CB8AC3E}">
        <p14:creationId xmlns:p14="http://schemas.microsoft.com/office/powerpoint/2010/main" val="13037796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50D9E-9DBD-4D49-AE6E-B40328CD684A}"/>
              </a:ext>
            </a:extLst>
          </p:cNvPr>
          <p:cNvSpPr>
            <a:spLocks noGrp="1"/>
          </p:cNvSpPr>
          <p:nvPr>
            <p:ph type="title"/>
          </p:nvPr>
        </p:nvSpPr>
        <p:spPr/>
        <p:txBody>
          <a:bodyPr>
            <a:noAutofit/>
          </a:bodyPr>
          <a:lstStyle/>
          <a:p>
            <a:r>
              <a:rPr lang="en-US" sz="3100" dirty="0"/>
              <a:t>CONTROL flow elements - Precedence constraints</a:t>
            </a:r>
          </a:p>
        </p:txBody>
      </p:sp>
      <p:sp>
        <p:nvSpPr>
          <p:cNvPr id="3" name="Content Placeholder 2">
            <a:extLst>
              <a:ext uri="{FF2B5EF4-FFF2-40B4-BE49-F238E27FC236}">
                <a16:creationId xmlns:a16="http://schemas.microsoft.com/office/drawing/2014/main" id="{7D7DBC6F-113A-473F-ACC7-9D6C56DBA5A6}"/>
              </a:ext>
            </a:extLst>
          </p:cNvPr>
          <p:cNvSpPr>
            <a:spLocks noGrp="1"/>
          </p:cNvSpPr>
          <p:nvPr>
            <p:ph idx="1"/>
          </p:nvPr>
        </p:nvSpPr>
        <p:spPr/>
        <p:txBody>
          <a:bodyPr>
            <a:normAutofit/>
          </a:bodyPr>
          <a:lstStyle/>
          <a:p>
            <a:r>
              <a:rPr lang="en-US" dirty="0"/>
              <a:t>Link containers and tasks to control the order of execution </a:t>
            </a:r>
          </a:p>
          <a:p>
            <a:r>
              <a:rPr lang="en-US" dirty="0"/>
              <a:t>Configure conditions that determine whether the constrained</a:t>
            </a:r>
          </a:p>
          <a:p>
            <a:r>
              <a:rPr lang="en-US" dirty="0"/>
              <a:t>executable runs: </a:t>
            </a:r>
          </a:p>
          <a:p>
            <a:pPr lvl="1"/>
            <a:r>
              <a:rPr lang="en-US" dirty="0"/>
              <a:t>Success, Failure, or Completion constraints</a:t>
            </a:r>
          </a:p>
          <a:p>
            <a:pPr lvl="1"/>
            <a:r>
              <a:rPr lang="en-US" dirty="0"/>
              <a:t>Expressions</a:t>
            </a:r>
          </a:p>
          <a:p>
            <a:pPr lvl="1"/>
            <a:r>
              <a:rPr lang="en-US" dirty="0"/>
              <a:t>Logical AND/OR for multiple constraints</a:t>
            </a:r>
          </a:p>
        </p:txBody>
      </p:sp>
    </p:spTree>
    <p:extLst>
      <p:ext uri="{BB962C8B-B14F-4D97-AF65-F5344CB8AC3E}">
        <p14:creationId xmlns:p14="http://schemas.microsoft.com/office/powerpoint/2010/main" val="23597249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50D9E-9DBD-4D49-AE6E-B40328CD684A}"/>
              </a:ext>
            </a:extLst>
          </p:cNvPr>
          <p:cNvSpPr>
            <a:spLocks noGrp="1"/>
          </p:cNvSpPr>
          <p:nvPr>
            <p:ph type="title"/>
          </p:nvPr>
        </p:nvSpPr>
        <p:spPr/>
        <p:txBody>
          <a:bodyPr>
            <a:normAutofit/>
          </a:bodyPr>
          <a:lstStyle/>
          <a:p>
            <a:r>
              <a:rPr lang="en-US" sz="3100" dirty="0"/>
              <a:t>CONTROL flow elements - Precedence constraints</a:t>
            </a:r>
          </a:p>
        </p:txBody>
      </p:sp>
      <p:pic>
        <p:nvPicPr>
          <p:cNvPr id="4" name="Content Placeholder 3">
            <a:extLst>
              <a:ext uri="{FF2B5EF4-FFF2-40B4-BE49-F238E27FC236}">
                <a16:creationId xmlns:a16="http://schemas.microsoft.com/office/drawing/2014/main" id="{F60B794F-232E-4B3F-8586-C0F8898E39E9}"/>
              </a:ext>
            </a:extLst>
          </p:cNvPr>
          <p:cNvPicPr>
            <a:picLocks noGrp="1" noChangeAspect="1"/>
          </p:cNvPicPr>
          <p:nvPr>
            <p:ph idx="1"/>
          </p:nvPr>
        </p:nvPicPr>
        <p:blipFill>
          <a:blip r:embed="rId2"/>
          <a:stretch>
            <a:fillRect/>
          </a:stretch>
        </p:blipFill>
        <p:spPr>
          <a:xfrm>
            <a:off x="1646962" y="2273258"/>
            <a:ext cx="7859895" cy="4025942"/>
          </a:xfrm>
          <a:prstGeom prst="rect">
            <a:avLst/>
          </a:prstGeom>
        </p:spPr>
      </p:pic>
    </p:spTree>
    <p:extLst>
      <p:ext uri="{BB962C8B-B14F-4D97-AF65-F5344CB8AC3E}">
        <p14:creationId xmlns:p14="http://schemas.microsoft.com/office/powerpoint/2010/main" val="277632962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E4C46-4739-442A-ACA8-D203AEB92A1C}"/>
              </a:ext>
            </a:extLst>
          </p:cNvPr>
          <p:cNvSpPr>
            <a:spLocks noGrp="1"/>
          </p:cNvSpPr>
          <p:nvPr>
            <p:ph type="title"/>
          </p:nvPr>
        </p:nvSpPr>
        <p:spPr/>
        <p:txBody>
          <a:bodyPr/>
          <a:lstStyle/>
          <a:p>
            <a:r>
              <a:rPr lang="en-US" dirty="0"/>
              <a:t>SSIS data flow</a:t>
            </a:r>
          </a:p>
        </p:txBody>
      </p:sp>
      <p:sp>
        <p:nvSpPr>
          <p:cNvPr id="3" name="Content Placeholder 2">
            <a:extLst>
              <a:ext uri="{FF2B5EF4-FFF2-40B4-BE49-F238E27FC236}">
                <a16:creationId xmlns:a16="http://schemas.microsoft.com/office/drawing/2014/main" id="{EDC9BE15-AC6C-4A8B-BD8E-14FB3206BA9C}"/>
              </a:ext>
            </a:extLst>
          </p:cNvPr>
          <p:cNvSpPr>
            <a:spLocks noGrp="1"/>
          </p:cNvSpPr>
          <p:nvPr>
            <p:ph idx="1"/>
          </p:nvPr>
        </p:nvSpPr>
        <p:spPr/>
        <p:txBody>
          <a:bodyPr>
            <a:normAutofit fontScale="92500" lnSpcReduction="10000"/>
          </a:bodyPr>
          <a:lstStyle/>
          <a:p>
            <a:r>
              <a:rPr lang="en-US" dirty="0"/>
              <a:t>Data flow is assembled from components: </a:t>
            </a:r>
          </a:p>
          <a:p>
            <a:pPr lvl="1"/>
            <a:r>
              <a:rPr lang="en-US" dirty="0"/>
              <a:t>Sources that extract data : relational tables, views, files</a:t>
            </a:r>
          </a:p>
          <a:p>
            <a:pPr lvl="1"/>
            <a:r>
              <a:rPr lang="en-US" dirty="0"/>
              <a:t>Destinations that load data : relational tables, views, </a:t>
            </a:r>
            <a:r>
              <a:rPr lang="en-US" dirty="0" err="1"/>
              <a:t>rowsets</a:t>
            </a:r>
            <a:r>
              <a:rPr lang="en-US" dirty="0"/>
              <a:t>, </a:t>
            </a:r>
            <a:r>
              <a:rPr lang="en-US" dirty="0" err="1"/>
              <a:t>recordsets</a:t>
            </a:r>
            <a:endParaRPr lang="en-US" dirty="0"/>
          </a:p>
          <a:p>
            <a:pPr lvl="1"/>
            <a:r>
              <a:rPr lang="en-US" dirty="0"/>
              <a:t>Transformations that modify data</a:t>
            </a:r>
          </a:p>
          <a:p>
            <a:r>
              <a:rPr lang="en-US" dirty="0"/>
              <a:t>Paths connect the data flow components to create a pipeline</a:t>
            </a:r>
          </a:p>
          <a:p>
            <a:r>
              <a:rPr lang="en-US" dirty="0"/>
              <a:t>At design time Data Viewers can be attached to the service paths to visualize the data flowing through a path</a:t>
            </a:r>
          </a:p>
        </p:txBody>
      </p:sp>
    </p:spTree>
    <p:extLst>
      <p:ext uri="{BB962C8B-B14F-4D97-AF65-F5344CB8AC3E}">
        <p14:creationId xmlns:p14="http://schemas.microsoft.com/office/powerpoint/2010/main" val="104890694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29B72-992B-4A84-8904-6DF93EC7794A}"/>
              </a:ext>
            </a:extLst>
          </p:cNvPr>
          <p:cNvSpPr>
            <a:spLocks noGrp="1"/>
          </p:cNvSpPr>
          <p:nvPr>
            <p:ph type="title"/>
          </p:nvPr>
        </p:nvSpPr>
        <p:spPr/>
        <p:txBody>
          <a:bodyPr/>
          <a:lstStyle/>
          <a:p>
            <a:r>
              <a:rPr lang="en-US" dirty="0"/>
              <a:t>Transformations</a:t>
            </a:r>
          </a:p>
        </p:txBody>
      </p:sp>
      <p:sp>
        <p:nvSpPr>
          <p:cNvPr id="3" name="Content Placeholder 2">
            <a:extLst>
              <a:ext uri="{FF2B5EF4-FFF2-40B4-BE49-F238E27FC236}">
                <a16:creationId xmlns:a16="http://schemas.microsoft.com/office/drawing/2014/main" id="{5A594D77-85EC-46EB-9B60-FDD50CE2E12E}"/>
              </a:ext>
            </a:extLst>
          </p:cNvPr>
          <p:cNvSpPr>
            <a:spLocks noGrp="1"/>
          </p:cNvSpPr>
          <p:nvPr>
            <p:ph idx="1"/>
          </p:nvPr>
        </p:nvSpPr>
        <p:spPr>
          <a:xfrm>
            <a:off x="581192" y="2180496"/>
            <a:ext cx="11029615" cy="4206236"/>
          </a:xfrm>
        </p:spPr>
        <p:txBody>
          <a:bodyPr>
            <a:normAutofit fontScale="92500" lnSpcReduction="20000"/>
          </a:bodyPr>
          <a:lstStyle/>
          <a:p>
            <a:r>
              <a:rPr lang="en-US" dirty="0"/>
              <a:t>Common transformations</a:t>
            </a:r>
          </a:p>
          <a:p>
            <a:pPr lvl="1"/>
            <a:r>
              <a:rPr lang="en-US" dirty="0"/>
              <a:t>Aggregate : Aggregate transformation allows to aggregate data from Data Flow</a:t>
            </a:r>
          </a:p>
          <a:p>
            <a:pPr lvl="1"/>
            <a:r>
              <a:rPr lang="en-US" dirty="0"/>
              <a:t>Data Conversion : Performs a similar function to the Convert or Cast functions in T-SQL</a:t>
            </a:r>
          </a:p>
          <a:p>
            <a:pPr lvl="1"/>
            <a:r>
              <a:rPr lang="en-US" dirty="0"/>
              <a:t>Derived columns : Creates a new column that is derived from the output of another column. </a:t>
            </a:r>
          </a:p>
          <a:p>
            <a:pPr lvl="1"/>
            <a:r>
              <a:rPr lang="en-US" dirty="0"/>
              <a:t>Lookup : Compares source data with existing table dataset and filters matching ones and un-matching ones</a:t>
            </a:r>
          </a:p>
          <a:p>
            <a:pPr lvl="1"/>
            <a:r>
              <a:rPr lang="en-US" dirty="0"/>
              <a:t>Merge : Combines two sorted datasets into a single dataset</a:t>
            </a:r>
          </a:p>
        </p:txBody>
      </p:sp>
    </p:spTree>
    <p:extLst>
      <p:ext uri="{BB962C8B-B14F-4D97-AF65-F5344CB8AC3E}">
        <p14:creationId xmlns:p14="http://schemas.microsoft.com/office/powerpoint/2010/main" val="40433580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1419226"/>
            <a:ext cx="3081576" cy="1746762"/>
          </a:xfrm>
        </p:spPr>
        <p:txBody>
          <a:bodyPr>
            <a:normAutofit/>
          </a:bodyPr>
          <a:lstStyle/>
          <a:p>
            <a:r>
              <a:rPr lang="en-US" dirty="0">
                <a:solidFill>
                  <a:srgbClr val="FFFFFF"/>
                </a:solidFill>
              </a:rPr>
              <a:t>Thank You</a:t>
            </a:r>
          </a:p>
        </p:txBody>
      </p:sp>
      <p:sp>
        <p:nvSpPr>
          <p:cNvPr id="3" name="Subtitle 2">
            <a:extLst>
              <a:ext uri="{FF2B5EF4-FFF2-40B4-BE49-F238E27FC236}">
                <a16:creationId xmlns:a16="http://schemas.microsoft.com/office/drawing/2014/main" id="{A9CB511D-EA45-4336-847C-1252667143B5}"/>
              </a:ext>
            </a:extLst>
          </p:cNvPr>
          <p:cNvSpPr>
            <a:spLocks noGrp="1"/>
          </p:cNvSpPr>
          <p:nvPr>
            <p:ph type="subTitle" idx="1"/>
          </p:nvPr>
        </p:nvSpPr>
        <p:spPr>
          <a:xfrm>
            <a:off x="8296275" y="3505095"/>
            <a:ext cx="3081576" cy="2629006"/>
          </a:xfrm>
        </p:spPr>
        <p:txBody>
          <a:bodyPr>
            <a:normAutofit/>
          </a:bodyPr>
          <a:lstStyle/>
          <a:p>
            <a:endParaRPr lang="en-US" dirty="0">
              <a:solidFill>
                <a:schemeClr val="bg2"/>
              </a:solidFill>
            </a:endParaRPr>
          </a:p>
          <a:p>
            <a:endParaRPr lang="en-US" dirty="0">
              <a:solidFill>
                <a:schemeClr val="bg2"/>
              </a:solidFill>
            </a:endParaRPr>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F69AFF4-BB30-4BA0-AD22-82CC3C43276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BC12AA-1C15-4500-BC9C-8EE83A441DE9}">
  <ds:schemaRefs>
    <ds:schemaRef ds:uri="http://schemas.microsoft.com/office/2006/documentManagement/types"/>
    <ds:schemaRef ds:uri="16c05727-aa75-4e4a-9b5f-8a80a1165891"/>
    <ds:schemaRef ds:uri="http://purl.org/dc/dcmitype/"/>
    <ds:schemaRef ds:uri="http://www.w3.org/XML/1998/namespace"/>
    <ds:schemaRef ds:uri="71af3243-3dd4-4a8d-8c0d-dd76da1f02a5"/>
    <ds:schemaRef ds:uri="http://purl.org/dc/terms/"/>
    <ds:schemaRef ds:uri="http://purl.org/dc/elements/1.1/"/>
    <ds:schemaRef ds:uri="http://schemas.microsoft.com/office/infopath/2007/PartnerControl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BA0CF3B2-1F0F-4FC5-8002-3E4869ABAD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Dividend design</Template>
  <TotalTime>0</TotalTime>
  <Words>3131</Words>
  <Application>Microsoft Office PowerPoint</Application>
  <PresentationFormat>Widescreen</PresentationFormat>
  <Paragraphs>367</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Calibri</vt:lpstr>
      <vt:lpstr>Courier New</vt:lpstr>
      <vt:lpstr>Franklin Gothic Book</vt:lpstr>
      <vt:lpstr>Gill Sans MT</vt:lpstr>
      <vt:lpstr>Wingdings 2</vt:lpstr>
      <vt:lpstr>Dividend</vt:lpstr>
      <vt:lpstr>Data Warehousing</vt:lpstr>
      <vt:lpstr>Overview </vt:lpstr>
      <vt:lpstr>Lesson Learning outcomes</vt:lpstr>
      <vt:lpstr>What is a data warehouse?</vt:lpstr>
      <vt:lpstr>What is a data warehouse? (contd.)</vt:lpstr>
      <vt:lpstr>Why data warehouses? </vt:lpstr>
      <vt:lpstr>Databases vs data warehouses</vt:lpstr>
      <vt:lpstr>architecture of a data warehouse</vt:lpstr>
      <vt:lpstr>architecture of a data warehouse (Contd.)</vt:lpstr>
      <vt:lpstr>architecture of a data warehouse (Contd.)</vt:lpstr>
      <vt:lpstr>Data warehouse vs data marts</vt:lpstr>
      <vt:lpstr>Designing a data warehouse</vt:lpstr>
      <vt:lpstr>Designing a data warehouse (contd.)</vt:lpstr>
      <vt:lpstr>Dimensional nature of business data</vt:lpstr>
      <vt:lpstr>Dimensional modelling</vt:lpstr>
      <vt:lpstr>Dimensional modelling (contd.)</vt:lpstr>
      <vt:lpstr>Developing a dimensional model</vt:lpstr>
      <vt:lpstr>Attributes in dimensions</vt:lpstr>
      <vt:lpstr>Measures of facts</vt:lpstr>
      <vt:lpstr>Granularity</vt:lpstr>
      <vt:lpstr>Ex: Hotel occupancy analysis</vt:lpstr>
      <vt:lpstr>Another example</vt:lpstr>
      <vt:lpstr>Logical design of data warehouses</vt:lpstr>
      <vt:lpstr>Star schema</vt:lpstr>
      <vt:lpstr>Snowflake schema</vt:lpstr>
      <vt:lpstr>Fact Constellation Schema</vt:lpstr>
      <vt:lpstr>Advantages of star schema</vt:lpstr>
      <vt:lpstr>Primary keys in dimension tables</vt:lpstr>
      <vt:lpstr>Foreign keys</vt:lpstr>
      <vt:lpstr>Primary key of fact tables</vt:lpstr>
      <vt:lpstr>Exercise</vt:lpstr>
      <vt:lpstr>Maintaining historical data</vt:lpstr>
      <vt:lpstr>Slowly changing dimensions</vt:lpstr>
      <vt:lpstr>SCD type 1</vt:lpstr>
      <vt:lpstr>SCD type 2</vt:lpstr>
      <vt:lpstr>SCD type 3</vt:lpstr>
      <vt:lpstr>Implementing a data warehouse using SQL Server</vt:lpstr>
      <vt:lpstr>Enterprise information management</vt:lpstr>
      <vt:lpstr>SQL Server eim services</vt:lpstr>
      <vt:lpstr>ETL (extract, transform, load)</vt:lpstr>
      <vt:lpstr>ETL (Contd.)</vt:lpstr>
      <vt:lpstr>SQL sever integration service(ssis)</vt:lpstr>
      <vt:lpstr>SSIS package</vt:lpstr>
      <vt:lpstr>SSIS Control flow</vt:lpstr>
      <vt:lpstr>CONTROL flow elements - containers</vt:lpstr>
      <vt:lpstr>CONTROL flow elements - tasks</vt:lpstr>
      <vt:lpstr>Control Flow – an Example</vt:lpstr>
      <vt:lpstr>CONTROL flow elements - tasks</vt:lpstr>
      <vt:lpstr>CONTROL flow elements - Precedence constraints</vt:lpstr>
      <vt:lpstr>CONTROL flow elements - Precedence constraints</vt:lpstr>
      <vt:lpstr>SSIS data flow</vt:lpstr>
      <vt:lpstr>Transformations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2019-02-27T03:17:00Z</dcterms:created>
  <dcterms:modified xsi:type="dcterms:W3CDTF">2020-10-11T05:08:18Z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