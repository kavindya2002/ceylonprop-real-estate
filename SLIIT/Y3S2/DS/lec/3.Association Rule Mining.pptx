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sldIdLst>
    <p:sldId id="262" r:id="rId5"/>
    <p:sldId id="367" r:id="rId6"/>
    <p:sldId id="368" r:id="rId7"/>
    <p:sldId id="263" r:id="rId8"/>
    <p:sldId id="370" r:id="rId9"/>
    <p:sldId id="266" r:id="rId10"/>
    <p:sldId id="267" r:id="rId11"/>
    <p:sldId id="374" r:id="rId12"/>
    <p:sldId id="265" r:id="rId13"/>
    <p:sldId id="268" r:id="rId14"/>
    <p:sldId id="264" r:id="rId15"/>
    <p:sldId id="369" r:id="rId16"/>
    <p:sldId id="269" r:id="rId17"/>
    <p:sldId id="355" r:id="rId18"/>
    <p:sldId id="356" r:id="rId19"/>
    <p:sldId id="357" r:id="rId20"/>
    <p:sldId id="358" r:id="rId21"/>
    <p:sldId id="360" r:id="rId22"/>
    <p:sldId id="361" r:id="rId23"/>
    <p:sldId id="371" r:id="rId24"/>
    <p:sldId id="359" r:id="rId25"/>
    <p:sldId id="372" r:id="rId26"/>
    <p:sldId id="373" r:id="rId27"/>
    <p:sldId id="36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 Association rule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483367"/>
            <a:ext cx="4757723" cy="17108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Market basket analysis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Frequent item sets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Association rule mining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A priori property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931C3-4A80-5114-CFB0-9FA7D80948AB}"/>
              </a:ext>
            </a:extLst>
          </p:cNvPr>
          <p:cNvSpPr txBox="1"/>
          <p:nvPr/>
        </p:nvSpPr>
        <p:spPr>
          <a:xfrm>
            <a:off x="442451" y="449272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Lesson learning outcome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A1DCB7-BD04-7649-EF2D-B4BB79DD01C0}"/>
              </a:ext>
            </a:extLst>
          </p:cNvPr>
          <p:cNvSpPr txBox="1"/>
          <p:nvPr/>
        </p:nvSpPr>
        <p:spPr>
          <a:xfrm>
            <a:off x="442451" y="5142045"/>
            <a:ext cx="899542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</a:rPr>
              <a:t>Identify applications of association rule mining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</a:rPr>
              <a:t>Compute support and confidence of a dataset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</a:rPr>
              <a:t>Explain the </a:t>
            </a:r>
            <a:r>
              <a:rPr lang="en-US" sz="2000" dirty="0" err="1">
                <a:solidFill>
                  <a:schemeClr val="tx2"/>
                </a:solidFill>
              </a:rPr>
              <a:t>Apriori</a:t>
            </a:r>
            <a:r>
              <a:rPr lang="en-US" sz="2000" dirty="0">
                <a:solidFill>
                  <a:schemeClr val="tx2"/>
                </a:solidFill>
              </a:rPr>
              <a:t> property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</a:rPr>
              <a:t>Demonstrate the application of </a:t>
            </a:r>
            <a:r>
              <a:rPr lang="en-US" sz="2000" dirty="0" err="1">
                <a:solidFill>
                  <a:schemeClr val="tx2"/>
                </a:solidFill>
              </a:rPr>
              <a:t>Apriori</a:t>
            </a:r>
            <a:r>
              <a:rPr lang="en-US" sz="2000" dirty="0">
                <a:solidFill>
                  <a:schemeClr val="tx2"/>
                </a:solidFill>
              </a:rPr>
              <a:t>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98CF78-A039-563F-4E10-F44CC63EF5D2}"/>
              </a:ext>
            </a:extLst>
          </p:cNvPr>
          <p:cNvSpPr txBox="1"/>
          <p:nvPr/>
        </p:nvSpPr>
        <p:spPr>
          <a:xfrm>
            <a:off x="442451" y="201450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729237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When we go grocery shopping, we often have a standard list of things to buy. </a:t>
            </a:r>
          </a:p>
          <a:p>
            <a:r>
              <a:rPr lang="en-US" dirty="0"/>
              <a:t>Each shopper has a distinctive list, depending on one’s needs and preferences. </a:t>
            </a:r>
          </a:p>
          <a:p>
            <a:r>
              <a:rPr lang="en-US" dirty="0"/>
              <a:t>A housewife might buy healthy ingredients for a family dinner, while a student might buy chips and coke. </a:t>
            </a:r>
          </a:p>
          <a:p>
            <a:r>
              <a:rPr lang="en-US" dirty="0"/>
              <a:t>Understanding these buying patterns can help to increase sales in several ways. </a:t>
            </a:r>
          </a:p>
        </p:txBody>
      </p:sp>
    </p:spTree>
    <p:extLst>
      <p:ext uri="{BB962C8B-B14F-4D97-AF65-F5344CB8AC3E}">
        <p14:creationId xmlns:p14="http://schemas.microsoft.com/office/powerpoint/2010/main" val="3513079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If there is a pair of items, X and Y (lets say ice cream and strawberries), that are frequently bought together:</a:t>
            </a:r>
          </a:p>
          <a:p>
            <a:pPr lvl="1"/>
            <a:r>
              <a:rPr lang="en-US" dirty="0"/>
              <a:t>Both ice cream and strawberries can be placed on the same shelf, so that buyers of one item would be prompted to buy the other.</a:t>
            </a:r>
          </a:p>
          <a:p>
            <a:pPr lvl="1"/>
            <a:r>
              <a:rPr lang="en-US" dirty="0"/>
              <a:t>Promotional discounts could be applied to just one out of the two items.</a:t>
            </a:r>
          </a:p>
          <a:p>
            <a:pPr lvl="1"/>
            <a:r>
              <a:rPr lang="en-US" dirty="0"/>
              <a:t>Advertisements on ice cream could be targeted at buyers who purchase strawberries.</a:t>
            </a:r>
          </a:p>
          <a:p>
            <a:pPr lvl="1"/>
            <a:r>
              <a:rPr lang="en-US" dirty="0"/>
              <a:t>Ice  cream and strawberries could be combined into a new product, such as having strawberry in flavors of ice cream.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148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D035-0E56-4860-B76E-B4215F481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 rule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1564-8AD3-4131-A45E-CAC621913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Market Basket Analysis is one of the key techniques used by large retailers to uncover associations between items. </a:t>
            </a:r>
          </a:p>
          <a:p>
            <a:r>
              <a:rPr lang="en-US" dirty="0"/>
              <a:t>It allows retailers to identify relationships between the items that people buy.</a:t>
            </a:r>
          </a:p>
          <a:p>
            <a:r>
              <a:rPr lang="en-US" dirty="0"/>
              <a:t>Market Basket Analysis works by looking for combinations of items that occur together frequently in transactions. </a:t>
            </a:r>
          </a:p>
          <a:p>
            <a:r>
              <a:rPr lang="en-US" dirty="0"/>
              <a:t>Association Rules are widely used to analyze retail basket or transaction data, and are intended to identify relationships in transaction data.</a:t>
            </a:r>
          </a:p>
        </p:txBody>
      </p:sp>
    </p:spTree>
    <p:extLst>
      <p:ext uri="{BB962C8B-B14F-4D97-AF65-F5344CB8AC3E}">
        <p14:creationId xmlns:p14="http://schemas.microsoft.com/office/powerpoint/2010/main" val="296115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set of items is referred to as </a:t>
            </a:r>
            <a:r>
              <a:rPr lang="en-US" dirty="0" err="1"/>
              <a:t>itemset</a:t>
            </a:r>
            <a:r>
              <a:rPr lang="en-US" dirty="0"/>
              <a:t> </a:t>
            </a:r>
          </a:p>
          <a:p>
            <a:r>
              <a:rPr lang="en-US" dirty="0"/>
              <a:t>An </a:t>
            </a:r>
            <a:r>
              <a:rPr lang="en-US" dirty="0" err="1"/>
              <a:t>itemset</a:t>
            </a:r>
            <a:r>
              <a:rPr lang="en-US" dirty="0"/>
              <a:t> containing k items is called    k-</a:t>
            </a:r>
            <a:r>
              <a:rPr lang="en-US" dirty="0" err="1"/>
              <a:t>itemset</a:t>
            </a:r>
            <a:r>
              <a:rPr lang="en-US" dirty="0"/>
              <a:t> </a:t>
            </a:r>
          </a:p>
          <a:p>
            <a:r>
              <a:rPr lang="en-US" dirty="0"/>
              <a:t>An </a:t>
            </a:r>
            <a:r>
              <a:rPr lang="en-US" dirty="0" err="1"/>
              <a:t>itemset</a:t>
            </a:r>
            <a:r>
              <a:rPr lang="en-US" dirty="0"/>
              <a:t> can be seen as a conjunction of items </a:t>
            </a:r>
          </a:p>
        </p:txBody>
      </p:sp>
    </p:spTree>
    <p:extLst>
      <p:ext uri="{BB962C8B-B14F-4D97-AF65-F5344CB8AC3E}">
        <p14:creationId xmlns:p14="http://schemas.microsoft.com/office/powerpoint/2010/main" val="3139588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0407E-D86E-4553-AC00-ABC6B6BC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1FCC0F-9BA1-4BF1-9F1B-372793A999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Support refers to a way to express how often item sets are occurring in baskets.</a:t>
                </a:r>
              </a:p>
              <a:p>
                <a:r>
                  <a:rPr lang="en-US" dirty="0"/>
                  <a:t>Support for a 2-itemset is typically written using a probability notation, </a:t>
                </a:r>
              </a:p>
              <a:p>
                <a:pPr lvl="1"/>
                <a:r>
                  <a:rPr lang="en-US" dirty="0"/>
                  <a:t>Support(A,B) = P (A </a:t>
                </a:r>
                <a:r>
                  <a:rPr lang="en-US" dirty="0">
                    <a:sym typeface="Symbol" panose="05050102010706020507" pitchFamily="18" charset="2"/>
                  </a:rPr>
                  <a:t> B)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𝑡𝑟𝑎𝑛𝑠𝑎𝑐𝑡𝑖𝑜𝑛𝑠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h𝑎𝑣𝑖𝑛𝑔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𝑏𝑜𝑡h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𝑡𝑟𝑎𝑛𝑠𝑎𝑐𝑡𝑖𝑡𝑜𝑛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1FCC0F-9BA1-4BF1-9F1B-372793A999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8675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ED7A8-57A0-414C-9FCB-E3EBB51B5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3C63AB-DC6B-4B92-B18C-E16BAF93E1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5" cy="410776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Confidence is used to determine whether one or more items in the set are directing the purchase of other items. </a:t>
                </a:r>
              </a:p>
              <a:p>
                <a:pPr lvl="1"/>
                <a:r>
                  <a:rPr lang="en-US" dirty="0"/>
                  <a:t>For example, it would be interesting to know that 75% of customers who have chips in their basket will also have coke in that same basket. But, on the other hand, maybe only 1% of customers with coke in their basket will also buy chips.</a:t>
                </a:r>
              </a:p>
              <a:p>
                <a:pPr lvl="1"/>
                <a:r>
                  <a:rPr lang="en-US" dirty="0"/>
                  <a:t>The confidence of A leading to B </a:t>
                </a:r>
              </a:p>
              <a:p>
                <a:pPr lvl="2"/>
                <a:r>
                  <a:rPr lang="en-US" dirty="0"/>
                  <a:t>Confidence = P(B|A)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𝑡𝑟𝑎𝑛𝑠𝑎𝑐𝑡𝑖𝑜𝑛𝑠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h𝑎𝑣𝑖𝑛𝑔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𝑏𝑜𝑡h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𝑡𝑟𝑎𝑛𝑠𝑎𝑐𝑡𝑖𝑡𝑜𝑛𝑠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h𝑎𝑣𝑖𝑛𝑔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en-US" dirty="0">
                  <a:sym typeface="Symbol" panose="05050102010706020507" pitchFamily="18" charset="2"/>
                </a:endParaRP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33C63AB-DC6B-4B92-B18C-E16BAF93E1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5" cy="4107762"/>
              </a:xfrm>
              <a:blipFill rotWithShape="0">
                <a:blip r:embed="rId2"/>
                <a:stretch>
                  <a:fillRect l="-939" t="-6825" r="-2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4074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88D9-9ED4-4E17-9A63-99B239D9C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support and confidence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C21C3D-2635-4B6B-A80F-D6ED7BBD1D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5" cy="4459455"/>
              </a:xfrm>
            </p:spPr>
            <p:txBody>
              <a:bodyPr>
                <a:normAutofit fontScale="77500" lnSpcReduction="20000"/>
              </a:bodyPr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S(Milk, Bread)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C(Milk </a:t>
                </a:r>
                <a:r>
                  <a:rPr lang="en-US" dirty="0">
                    <a:latin typeface="Franklin Gothic Book" panose="020B0503020102020204" pitchFamily="34" charset="0"/>
                  </a:rPr>
                  <a:t>→ </a:t>
                </a:r>
                <a:r>
                  <a:rPr lang="en-US" dirty="0"/>
                  <a:t>Bread)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C21C3D-2635-4B6B-A80F-D6ED7BBD1D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5" cy="4459455"/>
              </a:xfrm>
              <a:blipFill>
                <a:blip r:embed="rId3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19685DB4-0432-4E60-ACCC-07361E10BA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010944"/>
              </p:ext>
            </p:extLst>
          </p:nvPr>
        </p:nvGraphicFramePr>
        <p:xfrm>
          <a:off x="3967088" y="2180496"/>
          <a:ext cx="5625872" cy="3055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359338" imgH="2015504" progId="Word.Document.8">
                  <p:embed/>
                </p:oleObj>
              </mc:Choice>
              <mc:Fallback>
                <p:oleObj name="Document" r:id="rId4" imgW="3359338" imgH="2015504" progId="Word.Document.8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19685DB4-0432-4E60-ACCC-07361E10BA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7088" y="2180496"/>
                        <a:ext cx="5625872" cy="30555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7910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6C42B-5ED6-4F2D-A38D-888731F5D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 item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90407-955B-46CA-9DD7-DC969CF22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515726"/>
          </a:xfrm>
        </p:spPr>
        <p:txBody>
          <a:bodyPr>
            <a:normAutofit/>
          </a:bodyPr>
          <a:lstStyle/>
          <a:p>
            <a:r>
              <a:rPr lang="en-US" dirty="0"/>
              <a:t>Suppose </a:t>
            </a:r>
            <a:r>
              <a:rPr lang="en-US" dirty="0" err="1"/>
              <a:t>min_sup</a:t>
            </a:r>
            <a:r>
              <a:rPr lang="en-US" dirty="0"/>
              <a:t> is the minimum support threshold set for a set of transactions</a:t>
            </a:r>
          </a:p>
          <a:p>
            <a:r>
              <a:rPr lang="en-US" dirty="0"/>
              <a:t>If frequency of an </a:t>
            </a:r>
            <a:r>
              <a:rPr lang="en-US" dirty="0" err="1"/>
              <a:t>itemset</a:t>
            </a:r>
            <a:r>
              <a:rPr lang="en-US" dirty="0"/>
              <a:t> is greater or equal to </a:t>
            </a:r>
            <a:r>
              <a:rPr lang="en-US" dirty="0" err="1"/>
              <a:t>min_sup</a:t>
            </a:r>
            <a:r>
              <a:rPr lang="en-US" dirty="0"/>
              <a:t>  the </a:t>
            </a:r>
            <a:r>
              <a:rPr lang="en-US" dirty="0" err="1"/>
              <a:t>itesmset</a:t>
            </a:r>
            <a:r>
              <a:rPr lang="en-US" dirty="0"/>
              <a:t> satisfies the minimum support</a:t>
            </a:r>
          </a:p>
          <a:p>
            <a:r>
              <a:rPr lang="en-US" dirty="0"/>
              <a:t>If an </a:t>
            </a:r>
            <a:r>
              <a:rPr lang="en-US" dirty="0" err="1"/>
              <a:t>itemset</a:t>
            </a:r>
            <a:r>
              <a:rPr lang="en-US" dirty="0"/>
              <a:t> satisﬁes minimum support, then it is a frequent </a:t>
            </a:r>
            <a:r>
              <a:rPr lang="en-US" dirty="0" err="1"/>
              <a:t>itemset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707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55174-1856-4806-9988-07DA07CD3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F7713-0531-40A6-867C-C9E89F6E2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An association rule takes the form if A, then B (i.e., A⇒B)</a:t>
            </a:r>
          </a:p>
          <a:p>
            <a:r>
              <a:rPr lang="en-US" dirty="0"/>
              <a:t>Rules that have either high support or high confidence, and usually both are preferred to make a conclusion</a:t>
            </a:r>
          </a:p>
          <a:p>
            <a:r>
              <a:rPr lang="en-US" dirty="0"/>
              <a:t>Strong rules are those that meet or surpass certain minimum support and confidence criteria. </a:t>
            </a:r>
          </a:p>
          <a:p>
            <a:pPr lvl="1"/>
            <a:r>
              <a:rPr lang="en-US" dirty="0"/>
              <a:t>For example, an analyst interested in finding which supermarket items are purchased together may set a minimum support level of 20% and a minimum confidence level of 70%.</a:t>
            </a:r>
          </a:p>
        </p:txBody>
      </p:sp>
    </p:spTree>
    <p:extLst>
      <p:ext uri="{BB962C8B-B14F-4D97-AF65-F5344CB8AC3E}">
        <p14:creationId xmlns:p14="http://schemas.microsoft.com/office/powerpoint/2010/main" val="935503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88D9-9ED4-4E17-9A63-99B239D9C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 item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C21C3D-2635-4B6B-A80F-D6ED7BBD1D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3" y="2698141"/>
                <a:ext cx="11029615" cy="445945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Consider the rule {Milk, Diaper} =&gt; Beer</a:t>
                </a:r>
              </a:p>
              <a:p>
                <a:r>
                  <a:rPr lang="en-US" dirty="0"/>
                  <a:t>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𝑀𝑖𝑙𝑘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𝐷𝑖𝑎𝑝𝑒𝑟𝑠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𝐵𝑒𝑒𝑟𝑠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C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𝑀𝑖𝑙𝑘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𝐷𝑖𝑎𝑝𝑒𝑟𝑠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𝐵𝑒𝑒𝑟𝑠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𝑀𝑖𝑙𝑘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𝐷𝑖𝑎𝑝𝑒𝑟𝑠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If minimum support is 30% and minimum confidence is 60%, is the rule {Milk, Diaper} =&gt; Beer a strong rule? </a:t>
                </a:r>
              </a:p>
              <a:p>
                <a:pPr lvl="1"/>
                <a:r>
                  <a:rPr lang="en-US" dirty="0"/>
                  <a:t>Answer is yes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C21C3D-2635-4B6B-A80F-D6ED7BBD1D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3" y="2698141"/>
                <a:ext cx="11029615" cy="4459455"/>
              </a:xfrm>
              <a:blipFill>
                <a:blip r:embed="rId3"/>
                <a:stretch>
                  <a:fillRect l="-939" t="-1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19685DB4-0432-4E60-ACCC-07361E10BA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738655"/>
              </p:ext>
            </p:extLst>
          </p:nvPr>
        </p:nvGraphicFramePr>
        <p:xfrm>
          <a:off x="6752491" y="2698141"/>
          <a:ext cx="4717637" cy="2225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359338" imgH="2015504" progId="Word.Document.8">
                  <p:embed/>
                </p:oleObj>
              </mc:Choice>
              <mc:Fallback>
                <p:oleObj name="Document" r:id="rId4" imgW="3359338" imgH="2015504" progId="Word.Document.8">
                  <p:embed/>
                  <p:pic>
                    <p:nvPicPr>
                      <p:cNvPr id="13317" name="Object 2">
                        <a:extLst>
                          <a:ext uri="{FF2B5EF4-FFF2-40B4-BE49-F238E27FC236}">
                            <a16:creationId xmlns:a16="http://schemas.microsoft.com/office/drawing/2014/main" id="{DEDE56D6-D764-4E97-8592-1C5BDA3609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2491" y="2698141"/>
                        <a:ext cx="4717637" cy="2225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1985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6953885" cy="3678303"/>
          </a:xfrm>
        </p:spPr>
        <p:txBody>
          <a:bodyPr/>
          <a:lstStyle/>
          <a:p>
            <a:r>
              <a:rPr lang="en-US" dirty="0"/>
              <a:t>Consider the Rule A=&gt;D</a:t>
            </a:r>
          </a:p>
          <a:p>
            <a:r>
              <a:rPr lang="en-US" dirty="0"/>
              <a:t>Find the support and confidence for the rule</a:t>
            </a:r>
          </a:p>
          <a:p>
            <a:r>
              <a:rPr lang="en-US" dirty="0"/>
              <a:t>If minimum support is 50% and minimum confidence 70% is the rule a strong rule?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077" y="2572334"/>
            <a:ext cx="3884537" cy="251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11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F3763-CAEC-446A-872E-108FBFC9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 rule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19B5F-8F4C-42CC-AFBB-7F3D641DC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07105"/>
            <a:ext cx="11029615" cy="3678303"/>
          </a:xfrm>
        </p:spPr>
        <p:txBody>
          <a:bodyPr>
            <a:normAutofit/>
          </a:bodyPr>
          <a:lstStyle/>
          <a:p>
            <a:r>
              <a:rPr lang="en-US" dirty="0"/>
              <a:t>The mining of association rules from large databases is a two-step process:</a:t>
            </a:r>
          </a:p>
          <a:p>
            <a:pPr lvl="1"/>
            <a:r>
              <a:rPr lang="en-US" dirty="0"/>
              <a:t>Find all frequent </a:t>
            </a:r>
            <a:r>
              <a:rPr lang="en-US" dirty="0" err="1"/>
              <a:t>itemsets</a:t>
            </a:r>
            <a:endParaRPr lang="en-US" dirty="0"/>
          </a:p>
          <a:p>
            <a:pPr lvl="1"/>
            <a:r>
              <a:rPr lang="en-US" dirty="0"/>
              <a:t>From the frequent </a:t>
            </a:r>
            <a:r>
              <a:rPr lang="en-US" dirty="0" err="1"/>
              <a:t>itemsets</a:t>
            </a:r>
            <a:r>
              <a:rPr lang="en-US" dirty="0"/>
              <a:t>, generate association rules satisfying the minimum support and confidence conditions.</a:t>
            </a:r>
          </a:p>
          <a:p>
            <a:r>
              <a:rPr lang="en-US" dirty="0"/>
              <a:t>Frequent itemset generation is computationally expensive…!!!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534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>
            <a:extLst>
              <a:ext uri="{FF2B5EF4-FFF2-40B4-BE49-F238E27FC236}">
                <a16:creationId xmlns:a16="http://schemas.microsoft.com/office/drawing/2014/main" id="{F9278D9E-B89E-4E2F-AE97-DBCCC17AE5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</a:pPr>
            <a:fld id="{0A1D863F-C841-4711-B566-18D711BF2FF6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14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graphicFrame>
        <p:nvGraphicFramePr>
          <p:cNvPr id="19460" name="Object 2">
            <a:extLst>
              <a:ext uri="{FF2B5EF4-FFF2-40B4-BE49-F238E27FC236}">
                <a16:creationId xmlns:a16="http://schemas.microsoft.com/office/drawing/2014/main" id="{154A0129-D323-479A-846A-B53FBF8568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406925"/>
              </p:ext>
            </p:extLst>
          </p:nvPr>
        </p:nvGraphicFramePr>
        <p:xfrm>
          <a:off x="1805379" y="1814732"/>
          <a:ext cx="7034212" cy="4830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811512" imgH="7395972" progId="Visio.Drawing.6">
                  <p:embed/>
                </p:oleObj>
              </mc:Choice>
              <mc:Fallback>
                <p:oleObj name="VISIO" r:id="rId2" imgW="9811512" imgH="7395972" progId="Visio.Drawing.6">
                  <p:embed/>
                  <p:pic>
                    <p:nvPicPr>
                      <p:cNvPr id="19460" name="Object 2">
                        <a:extLst>
                          <a:ext uri="{FF2B5EF4-FFF2-40B4-BE49-F238E27FC236}">
                            <a16:creationId xmlns:a16="http://schemas.microsoft.com/office/drawing/2014/main" id="{154A0129-D323-479A-846A-B53FBF8568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5379" y="1814732"/>
                        <a:ext cx="7034212" cy="4830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4">
            <a:extLst>
              <a:ext uri="{FF2B5EF4-FFF2-40B4-BE49-F238E27FC236}">
                <a16:creationId xmlns:a16="http://schemas.microsoft.com/office/drawing/2014/main" id="{1FF7478A-B8E7-40E6-91A5-E4A08909A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588" y="5767389"/>
            <a:ext cx="2743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Given d items, there are 2</a:t>
            </a:r>
            <a:r>
              <a:rPr lang="en-US" altLang="en-US" sz="2000" baseline="30000" dirty="0"/>
              <a:t>d</a:t>
            </a:r>
            <a:r>
              <a:rPr lang="en-US" altLang="en-US" sz="2000" dirty="0"/>
              <a:t> possible candidate </a:t>
            </a:r>
            <a:r>
              <a:rPr lang="en-US" altLang="en-US" sz="2000" dirty="0" err="1"/>
              <a:t>itemsets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87627F-AC99-4E6B-B864-FB7382060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item sets for five items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872A6-C6F5-46E4-BC71-184F7DFFA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Priori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16E8D-AD16-419A-B502-100B4F9DD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a priori algorithm takes advantage of the a priori property to shrink the search space. </a:t>
            </a:r>
          </a:p>
          <a:p>
            <a:r>
              <a:rPr lang="en-US" dirty="0"/>
              <a:t>The a priori property states that if an itemset Z is not frequent, then adding another item A to the itemset Z will not make Z more frequent. </a:t>
            </a:r>
          </a:p>
          <a:p>
            <a:r>
              <a:rPr lang="en-US" dirty="0"/>
              <a:t> This helpful property reduces significantly the search space for the a priori algorithm.</a:t>
            </a:r>
          </a:p>
        </p:txBody>
      </p:sp>
    </p:spTree>
    <p:extLst>
      <p:ext uri="{BB962C8B-B14F-4D97-AF65-F5344CB8AC3E}">
        <p14:creationId xmlns:p14="http://schemas.microsoft.com/office/powerpoint/2010/main" val="2241872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AA7CE-5009-448A-8355-5CF4BF48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priori property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167A5-D097-4F67-A5DA-FC0A9E1C3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355E5DD8-2780-45BF-9F50-2A056DD3424E}"/>
              </a:ext>
            </a:extLst>
          </p:cNvPr>
          <p:cNvGrpSpPr>
            <a:grpSpLocks/>
          </p:cNvGrpSpPr>
          <p:nvPr/>
        </p:nvGrpSpPr>
        <p:grpSpPr bwMode="auto">
          <a:xfrm>
            <a:off x="581192" y="1856933"/>
            <a:ext cx="8831263" cy="5001067"/>
            <a:chOff x="144" y="686"/>
            <a:chExt cx="5563" cy="3298"/>
          </a:xfrm>
        </p:grpSpPr>
        <p:sp>
          <p:nvSpPr>
            <p:cNvPr id="5" name="Line 3">
              <a:extLst>
                <a:ext uri="{FF2B5EF4-FFF2-40B4-BE49-F238E27FC236}">
                  <a16:creationId xmlns:a16="http://schemas.microsoft.com/office/drawing/2014/main" id="{4F71EE26-BA59-4113-9C5C-944ADFD7AC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1920"/>
              <a:ext cx="57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7D4F62CD-D972-40D5-A619-12EA0A6912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12"/>
              <a:ext cx="100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 dirty="0">
                  <a:solidFill>
                    <a:srgbClr val="0C6D9C"/>
                  </a:solidFill>
                </a:rPr>
                <a:t>Found to be Infrequent</a:t>
              </a:r>
              <a:endParaRPr lang="en-US" altLang="en-US" sz="2000" dirty="0">
                <a:solidFill>
                  <a:srgbClr val="0C6D9C"/>
                </a:solidFill>
                <a:sym typeface="Symbol" panose="05050102010706020507" pitchFamily="18" charset="2"/>
              </a:endParaRPr>
            </a:p>
          </p:txBody>
        </p:sp>
        <p:graphicFrame>
          <p:nvGraphicFramePr>
            <p:cNvPr id="7" name="Object 2">
              <a:extLst>
                <a:ext uri="{FF2B5EF4-FFF2-40B4-BE49-F238E27FC236}">
                  <a16:creationId xmlns:a16="http://schemas.microsoft.com/office/drawing/2014/main" id="{E19F4147-65AB-4B64-9840-A7DA82D566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9866478" imgH="7377618" progId="Visio.Drawing.6">
                    <p:embed/>
                  </p:oleObj>
                </mc:Choice>
                <mc:Fallback>
                  <p:oleObj name="Visio" r:id="rId2" imgW="9866478" imgH="7377618" progId="Visio.Drawing.6">
                    <p:embed/>
                    <p:pic>
                      <p:nvPicPr>
                        <p:cNvPr id="23562" name="Object 2">
                          <a:extLst>
                            <a:ext uri="{FF2B5EF4-FFF2-40B4-BE49-F238E27FC236}">
                              <a16:creationId xmlns:a16="http://schemas.microsoft.com/office/drawing/2014/main" id="{641391C2-69DF-4344-A2A9-1EBB058611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D0B53F9-FF3B-49B7-8A48-BE32E723D1ED}"/>
              </a:ext>
            </a:extLst>
          </p:cNvPr>
          <p:cNvGrpSpPr>
            <a:grpSpLocks/>
          </p:cNvGrpSpPr>
          <p:nvPr/>
        </p:nvGrpSpPr>
        <p:grpSpPr bwMode="auto">
          <a:xfrm>
            <a:off x="2562392" y="1856933"/>
            <a:ext cx="6850063" cy="5001067"/>
            <a:chOff x="1392" y="686"/>
            <a:chExt cx="4315" cy="3298"/>
          </a:xfrm>
        </p:grpSpPr>
        <p:graphicFrame>
          <p:nvGraphicFramePr>
            <p:cNvPr id="9" name="Object 3">
              <a:extLst>
                <a:ext uri="{FF2B5EF4-FFF2-40B4-BE49-F238E27FC236}">
                  <a16:creationId xmlns:a16="http://schemas.microsoft.com/office/drawing/2014/main" id="{7DFDDB29-A251-45BB-9470-626D498D33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9866478" imgH="7377618" progId="Visio.Drawing.6">
                    <p:embed/>
                  </p:oleObj>
                </mc:Choice>
                <mc:Fallback>
                  <p:oleObj name="Visio" r:id="rId4" imgW="9866478" imgH="7377618" progId="Visio.Drawing.6">
                    <p:embed/>
                    <p:pic>
                      <p:nvPicPr>
                        <p:cNvPr id="23558" name="Object 3">
                          <a:extLst>
                            <a:ext uri="{FF2B5EF4-FFF2-40B4-BE49-F238E27FC236}">
                              <a16:creationId xmlns:a16="http://schemas.microsoft.com/office/drawing/2014/main" id="{E8242D48-3F04-460F-8271-1561EA659E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5D41029A-86DD-4CA3-9A6B-5C3F844E8C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494"/>
              <a:ext cx="91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rgbClr val="FF0000"/>
                  </a:solidFill>
                </a:rPr>
                <a:t>Pruned supersets</a:t>
              </a:r>
              <a:endParaRPr lang="en-US" altLang="en-US" sz="2000">
                <a:solidFill>
                  <a:srgbClr val="FF0000"/>
                </a:solidFill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770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25417-34F6-41B2-948F-45BD4004B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7F7098-8CA6-4E96-8AA2-91A9A82E4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725508"/>
              </p:ext>
            </p:extLst>
          </p:nvPr>
        </p:nvGraphicFramePr>
        <p:xfrm>
          <a:off x="581192" y="3066143"/>
          <a:ext cx="216231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009">
                  <a:extLst>
                    <a:ext uri="{9D8B030D-6E8A-4147-A177-3AD203B41FA5}">
                      <a16:colId xmlns:a16="http://schemas.microsoft.com/office/drawing/2014/main" val="2595438362"/>
                    </a:ext>
                  </a:extLst>
                </a:gridCol>
                <a:gridCol w="1093304">
                  <a:extLst>
                    <a:ext uri="{9D8B030D-6E8A-4147-A177-3AD203B41FA5}">
                      <a16:colId xmlns:a16="http://schemas.microsoft.com/office/drawing/2014/main" val="1019647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27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470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Coke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75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Milk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12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300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46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Eggs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99776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05F38B2-791F-4AD1-A408-1B546893F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027099"/>
              </p:ext>
            </p:extLst>
          </p:nvPr>
        </p:nvGraphicFramePr>
        <p:xfrm>
          <a:off x="3517674" y="3073736"/>
          <a:ext cx="292221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697">
                  <a:extLst>
                    <a:ext uri="{9D8B030D-6E8A-4147-A177-3AD203B41FA5}">
                      <a16:colId xmlns:a16="http://schemas.microsoft.com/office/drawing/2014/main" val="2595438362"/>
                    </a:ext>
                  </a:extLst>
                </a:gridCol>
                <a:gridCol w="1030514">
                  <a:extLst>
                    <a:ext uri="{9D8B030D-6E8A-4147-A177-3AD203B41FA5}">
                      <a16:colId xmlns:a16="http://schemas.microsoft.com/office/drawing/2014/main" val="1019647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27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Bread, milk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470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Bread, Beer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75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Bread,  Diaper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12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Milk, Beer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300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Milk, Diaper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46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Beer, Diaper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997765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9D25BB-4A9D-43B2-B507-58EC7EC78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265" y="2340429"/>
            <a:ext cx="11029615" cy="1237678"/>
          </a:xfrm>
        </p:spPr>
        <p:txBody>
          <a:bodyPr>
            <a:normAutofit/>
          </a:bodyPr>
          <a:lstStyle/>
          <a:p>
            <a:r>
              <a:rPr lang="en-US" dirty="0"/>
              <a:t>Minimum support – 60 %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A2B4A2-D0EA-418B-B93C-2C8B30DE3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062868"/>
              </p:ext>
            </p:extLst>
          </p:nvPr>
        </p:nvGraphicFramePr>
        <p:xfrm>
          <a:off x="7214053" y="3055257"/>
          <a:ext cx="439675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244">
                  <a:extLst>
                    <a:ext uri="{9D8B030D-6E8A-4147-A177-3AD203B41FA5}">
                      <a16:colId xmlns:a16="http://schemas.microsoft.com/office/drawing/2014/main" val="1075207584"/>
                    </a:ext>
                  </a:extLst>
                </a:gridCol>
                <a:gridCol w="1550510">
                  <a:extLst>
                    <a:ext uri="{9D8B030D-6E8A-4147-A177-3AD203B41FA5}">
                      <a16:colId xmlns:a16="http://schemas.microsoft.com/office/drawing/2014/main" val="6930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978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Bread, milk, Diaper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22188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D3BB2A0-48AE-4809-B7F8-321329CD5813}"/>
              </a:ext>
            </a:extLst>
          </p:cNvPr>
          <p:cNvSpPr txBox="1"/>
          <p:nvPr/>
        </p:nvSpPr>
        <p:spPr>
          <a:xfrm>
            <a:off x="726694" y="5802813"/>
            <a:ext cx="1659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1- Item sets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BF85E-8A07-43AE-AEE2-0643360B4776}"/>
              </a:ext>
            </a:extLst>
          </p:cNvPr>
          <p:cNvSpPr txBox="1"/>
          <p:nvPr/>
        </p:nvSpPr>
        <p:spPr>
          <a:xfrm>
            <a:off x="3999666" y="5802813"/>
            <a:ext cx="1659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2- Item sets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55C4A-1ACF-4E7B-9E21-84C69F0D4560}"/>
              </a:ext>
            </a:extLst>
          </p:cNvPr>
          <p:cNvSpPr txBox="1"/>
          <p:nvPr/>
        </p:nvSpPr>
        <p:spPr>
          <a:xfrm>
            <a:off x="8738581" y="3885029"/>
            <a:ext cx="1659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3- Item sets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C285BEA-2081-474E-94F2-DCFAD523BAB9}"/>
              </a:ext>
            </a:extLst>
          </p:cNvPr>
          <p:cNvSpPr/>
          <p:nvPr/>
        </p:nvSpPr>
        <p:spPr>
          <a:xfrm>
            <a:off x="2859314" y="4115861"/>
            <a:ext cx="493486" cy="572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19A31A0-F112-47EC-9EAF-AE354D042C4C}"/>
              </a:ext>
            </a:extLst>
          </p:cNvPr>
          <p:cNvSpPr/>
          <p:nvPr/>
        </p:nvSpPr>
        <p:spPr>
          <a:xfrm>
            <a:off x="6604759" y="3236686"/>
            <a:ext cx="492727" cy="5602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91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344AA-89EC-492D-918C-BF58F85FA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Apriori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47FD2-6C08-4F72-987A-62F837064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63847"/>
          </a:xfrm>
        </p:spPr>
        <p:txBody>
          <a:bodyPr>
            <a:normAutofit fontScale="92500" lnSpcReduction="10000"/>
          </a:bodyPr>
          <a:lstStyle/>
          <a:p>
            <a:pPr lvl="2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600" i="1" dirty="0"/>
              <a:t>C</a:t>
            </a:r>
            <a:r>
              <a:rPr lang="en-US" altLang="en-US" sz="2600" i="1" baseline="-25000" dirty="0"/>
              <a:t>k</a:t>
            </a:r>
            <a:r>
              <a:rPr lang="en-US" altLang="en-US" sz="2600" dirty="0"/>
              <a:t>: Candidate itemset of size k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600" i="1" dirty="0"/>
              <a:t>L</a:t>
            </a:r>
            <a:r>
              <a:rPr lang="en-US" altLang="en-US" sz="2600" i="1" baseline="-25000" dirty="0"/>
              <a:t>k</a:t>
            </a:r>
            <a:r>
              <a:rPr lang="en-US" altLang="en-US" sz="2600" dirty="0"/>
              <a:t> : frequent itemset of size k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None/>
            </a:pPr>
            <a:endParaRPr lang="en-US" altLang="en-US" sz="1000" dirty="0"/>
          </a:p>
          <a:p>
            <a:pPr lvl="2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600" i="1" dirty="0"/>
              <a:t>L</a:t>
            </a:r>
            <a:r>
              <a:rPr lang="en-US" altLang="en-US" sz="2600" i="1" baseline="-25000" dirty="0"/>
              <a:t>1</a:t>
            </a:r>
            <a:r>
              <a:rPr lang="en-US" altLang="en-US" sz="2600" dirty="0"/>
              <a:t> = {frequent items of size 1};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600" b="1" dirty="0">
                <a:solidFill>
                  <a:srgbClr val="F83F24"/>
                </a:solidFill>
              </a:rPr>
              <a:t>for</a:t>
            </a:r>
            <a:r>
              <a:rPr lang="en-US" altLang="en-US" sz="2600" b="1" dirty="0"/>
              <a:t> </a:t>
            </a:r>
            <a:r>
              <a:rPr lang="en-US" altLang="en-US" sz="2600" dirty="0"/>
              <a:t>(</a:t>
            </a:r>
            <a:r>
              <a:rPr lang="en-US" altLang="en-US" sz="2600" i="1" dirty="0"/>
              <a:t>k</a:t>
            </a:r>
            <a:r>
              <a:rPr lang="en-US" altLang="en-US" sz="2600" dirty="0"/>
              <a:t> = 1; </a:t>
            </a:r>
            <a:r>
              <a:rPr lang="en-US" altLang="en-US" sz="2600" i="1" dirty="0"/>
              <a:t>L</a:t>
            </a:r>
            <a:r>
              <a:rPr lang="en-US" altLang="en-US" sz="2600" i="1" baseline="-25000" dirty="0"/>
              <a:t>k</a:t>
            </a:r>
            <a:r>
              <a:rPr lang="en-US" altLang="en-US" sz="2600" dirty="0"/>
              <a:t> !=</a:t>
            </a:r>
            <a:r>
              <a:rPr lang="en-US" altLang="en-US" sz="2600" dirty="0">
                <a:sym typeface="Symbol" panose="05050102010706020507" pitchFamily="18" charset="2"/>
              </a:rPr>
              <a:t></a:t>
            </a:r>
            <a:r>
              <a:rPr lang="en-US" altLang="en-US" sz="2600" dirty="0"/>
              <a:t>; </a:t>
            </a:r>
            <a:r>
              <a:rPr lang="en-US" altLang="en-US" sz="2600" i="1" dirty="0"/>
              <a:t>k</a:t>
            </a:r>
            <a:r>
              <a:rPr lang="en-US" altLang="en-US" sz="2600" dirty="0"/>
              <a:t>++) </a:t>
            </a:r>
            <a:r>
              <a:rPr lang="en-US" altLang="en-US" sz="2600" b="1" dirty="0">
                <a:solidFill>
                  <a:srgbClr val="F83F24"/>
                </a:solidFill>
              </a:rPr>
              <a:t>do begin</a:t>
            </a:r>
            <a:endParaRPr lang="en-US" altLang="en-US" sz="2600" dirty="0"/>
          </a:p>
          <a:p>
            <a:pPr lvl="2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600" dirty="0"/>
              <a:t>     </a:t>
            </a:r>
            <a:r>
              <a:rPr lang="en-US" altLang="en-US" sz="2600" i="1" dirty="0"/>
              <a:t>C</a:t>
            </a:r>
            <a:r>
              <a:rPr lang="en-US" altLang="en-US" sz="2600" i="1" baseline="-25000" dirty="0"/>
              <a:t>k+1</a:t>
            </a:r>
            <a:r>
              <a:rPr lang="en-US" altLang="en-US" sz="2600" dirty="0"/>
              <a:t> = candidates generated from </a:t>
            </a:r>
            <a:r>
              <a:rPr lang="en-US" altLang="en-US" sz="2600" i="1" dirty="0"/>
              <a:t>L</a:t>
            </a:r>
            <a:r>
              <a:rPr lang="en-US" altLang="en-US" sz="2600" i="1" baseline="-25000" dirty="0"/>
              <a:t>k </a:t>
            </a:r>
            <a:r>
              <a:rPr lang="en-US" altLang="en-US" sz="2600" dirty="0"/>
              <a:t>based on </a:t>
            </a:r>
            <a:r>
              <a:rPr lang="en-US" altLang="en-US" sz="2600" dirty="0" err="1"/>
              <a:t>Apriori</a:t>
            </a:r>
            <a:r>
              <a:rPr lang="en-US" altLang="en-US" sz="2600" dirty="0"/>
              <a:t> property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600" dirty="0"/>
              <a:t>    </a:t>
            </a:r>
            <a:r>
              <a:rPr lang="en-US" altLang="en-US" sz="2600" b="1" dirty="0">
                <a:solidFill>
                  <a:srgbClr val="F83F24"/>
                </a:solidFill>
              </a:rPr>
              <a:t>for each</a:t>
            </a:r>
            <a:r>
              <a:rPr lang="en-US" altLang="en-US" sz="2600" dirty="0"/>
              <a:t> transaction </a:t>
            </a:r>
            <a:r>
              <a:rPr lang="en-US" altLang="en-US" sz="2600" i="1" dirty="0"/>
              <a:t>t</a:t>
            </a:r>
            <a:r>
              <a:rPr lang="en-US" altLang="en-US" sz="2600" dirty="0"/>
              <a:t> in database do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600" dirty="0"/>
              <a:t>       increment the count of all candidates in C</a:t>
            </a:r>
            <a:r>
              <a:rPr lang="en-US" altLang="en-US" sz="1900" dirty="0"/>
              <a:t>k+1 </a:t>
            </a:r>
            <a:r>
              <a:rPr lang="en-US" altLang="en-US" sz="2600" dirty="0"/>
              <a:t>that are contained in t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600" dirty="0"/>
              <a:t>    </a:t>
            </a:r>
            <a:r>
              <a:rPr lang="en-US" altLang="en-US" sz="2600" i="1" dirty="0"/>
              <a:t>L</a:t>
            </a:r>
            <a:r>
              <a:rPr lang="en-US" altLang="en-US" sz="2600" i="1" baseline="-25000" dirty="0"/>
              <a:t>k+1</a:t>
            </a:r>
            <a:r>
              <a:rPr lang="en-US" altLang="en-US" sz="2600" dirty="0"/>
              <a:t>  = candidates in </a:t>
            </a:r>
            <a:r>
              <a:rPr lang="en-US" altLang="en-US" sz="2600" i="1" dirty="0"/>
              <a:t>C</a:t>
            </a:r>
            <a:r>
              <a:rPr lang="en-US" altLang="en-US" sz="2600" i="1" baseline="-25000" dirty="0"/>
              <a:t>k+1</a:t>
            </a:r>
            <a:r>
              <a:rPr lang="en-US" altLang="en-US" sz="2600" dirty="0"/>
              <a:t> with </a:t>
            </a:r>
            <a:r>
              <a:rPr lang="en-US" altLang="en-US" sz="2600" dirty="0" err="1"/>
              <a:t>min_support</a:t>
            </a:r>
            <a:endParaRPr lang="en-US" altLang="en-US" sz="2600" dirty="0"/>
          </a:p>
          <a:p>
            <a:pPr lvl="2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600" dirty="0"/>
              <a:t>   </a:t>
            </a:r>
            <a:r>
              <a:rPr lang="en-US" altLang="en-US" sz="2600" b="1" dirty="0">
                <a:solidFill>
                  <a:srgbClr val="F83F24"/>
                </a:solidFill>
              </a:rPr>
              <a:t> end</a:t>
            </a:r>
            <a:endParaRPr lang="en-US" altLang="en-US" sz="2600" dirty="0"/>
          </a:p>
          <a:p>
            <a:pPr lvl="2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600" b="1" dirty="0">
                <a:solidFill>
                  <a:srgbClr val="F83F24"/>
                </a:solidFill>
              </a:rPr>
              <a:t>return</a:t>
            </a:r>
            <a:r>
              <a:rPr lang="en-US" altLang="en-US" sz="2600" dirty="0"/>
              <a:t> </a:t>
            </a:r>
            <a:r>
              <a:rPr lang="en-US" altLang="en-US" sz="2600" dirty="0">
                <a:sym typeface="Symbol" panose="05050102010706020507" pitchFamily="18" charset="2"/>
              </a:rPr>
              <a:t></a:t>
            </a:r>
            <a:r>
              <a:rPr lang="en-US" altLang="en-US" sz="2600" i="1" baseline="-25000" dirty="0"/>
              <a:t>k</a:t>
            </a:r>
            <a:r>
              <a:rPr lang="en-US" altLang="en-US" sz="2600" dirty="0"/>
              <a:t> </a:t>
            </a:r>
            <a:r>
              <a:rPr lang="en-US" altLang="en-US" sz="2600" i="1" dirty="0"/>
              <a:t>L</a:t>
            </a:r>
            <a:r>
              <a:rPr lang="en-US" altLang="en-US" sz="2600" i="1" baseline="-25000" dirty="0"/>
              <a:t>k</a:t>
            </a:r>
            <a:r>
              <a:rPr lang="en-US" altLang="en-US" sz="2600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071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DE46-A42B-493C-A1C6-0E5E60194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3FE3D6-0C20-436F-8902-019BB0C24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90146"/>
              </p:ext>
            </p:extLst>
          </p:nvPr>
        </p:nvGraphicFramePr>
        <p:xfrm>
          <a:off x="581192" y="2688073"/>
          <a:ext cx="216231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722">
                  <a:extLst>
                    <a:ext uri="{9D8B030D-6E8A-4147-A177-3AD203B41FA5}">
                      <a16:colId xmlns:a16="http://schemas.microsoft.com/office/drawing/2014/main" val="2595438362"/>
                    </a:ext>
                  </a:extLst>
                </a:gridCol>
                <a:gridCol w="1306591">
                  <a:extLst>
                    <a:ext uri="{9D8B030D-6E8A-4147-A177-3AD203B41FA5}">
                      <a16:colId xmlns:a16="http://schemas.microsoft.com/office/drawing/2014/main" val="1019647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27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1, 3, 4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470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1, 2, 3, 4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75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12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1, 2, 4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300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1,3, 4, 5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46545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DDCABF-09BC-4D47-B978-91A11E0FB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395321"/>
              </p:ext>
            </p:extLst>
          </p:nvPr>
        </p:nvGraphicFramePr>
        <p:xfrm>
          <a:off x="3375192" y="2688073"/>
          <a:ext cx="216231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694">
                  <a:extLst>
                    <a:ext uri="{9D8B030D-6E8A-4147-A177-3AD203B41FA5}">
                      <a16:colId xmlns:a16="http://schemas.microsoft.com/office/drawing/2014/main" val="2595438362"/>
                    </a:ext>
                  </a:extLst>
                </a:gridCol>
                <a:gridCol w="1081619">
                  <a:extLst>
                    <a:ext uri="{9D8B030D-6E8A-4147-A177-3AD203B41FA5}">
                      <a16:colId xmlns:a16="http://schemas.microsoft.com/office/drawing/2014/main" val="1019647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27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470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{2}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75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12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30042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8378A3-4174-4844-9A2B-74A0057B0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611034"/>
              </p:ext>
            </p:extLst>
          </p:nvPr>
        </p:nvGraphicFramePr>
        <p:xfrm>
          <a:off x="6262916" y="2688073"/>
          <a:ext cx="247498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674">
                  <a:extLst>
                    <a:ext uri="{9D8B030D-6E8A-4147-A177-3AD203B41FA5}">
                      <a16:colId xmlns:a16="http://schemas.microsoft.com/office/drawing/2014/main" val="2595438362"/>
                    </a:ext>
                  </a:extLst>
                </a:gridCol>
                <a:gridCol w="1335315">
                  <a:extLst>
                    <a:ext uri="{9D8B030D-6E8A-4147-A177-3AD203B41FA5}">
                      <a16:colId xmlns:a16="http://schemas.microsoft.com/office/drawing/2014/main" val="1019647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27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{1, 2}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470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{1, 3}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75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{1, 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12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{2, 3}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300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{2, 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46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{3, 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12217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3A68F17-C8EB-4684-A636-9FF2617C9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355515"/>
              </p:ext>
            </p:extLst>
          </p:nvPr>
        </p:nvGraphicFramePr>
        <p:xfrm>
          <a:off x="581192" y="5680374"/>
          <a:ext cx="216231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694">
                  <a:extLst>
                    <a:ext uri="{9D8B030D-6E8A-4147-A177-3AD203B41FA5}">
                      <a16:colId xmlns:a16="http://schemas.microsoft.com/office/drawing/2014/main" val="4131032162"/>
                    </a:ext>
                  </a:extLst>
                </a:gridCol>
                <a:gridCol w="1081619">
                  <a:extLst>
                    <a:ext uri="{9D8B030D-6E8A-4147-A177-3AD203B41FA5}">
                      <a16:colId xmlns:a16="http://schemas.microsoft.com/office/drawing/2014/main" val="2043655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298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{1,3 ,4}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9521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226DB8B-1E48-43B6-B4A3-A60732C2F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831351"/>
              </p:ext>
            </p:extLst>
          </p:nvPr>
        </p:nvGraphicFramePr>
        <p:xfrm>
          <a:off x="9467064" y="2688073"/>
          <a:ext cx="247498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674">
                  <a:extLst>
                    <a:ext uri="{9D8B030D-6E8A-4147-A177-3AD203B41FA5}">
                      <a16:colId xmlns:a16="http://schemas.microsoft.com/office/drawing/2014/main" val="2595438362"/>
                    </a:ext>
                  </a:extLst>
                </a:gridCol>
                <a:gridCol w="1335315">
                  <a:extLst>
                    <a:ext uri="{9D8B030D-6E8A-4147-A177-3AD203B41FA5}">
                      <a16:colId xmlns:a16="http://schemas.microsoft.com/office/drawing/2014/main" val="1019647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27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{1, 3}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75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{1, 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12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{2, 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46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{3, 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1221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5822E31-005B-47CB-B127-7646CD412CAC}"/>
              </a:ext>
            </a:extLst>
          </p:cNvPr>
          <p:cNvSpPr txBox="1"/>
          <p:nvPr/>
        </p:nvSpPr>
        <p:spPr>
          <a:xfrm>
            <a:off x="966421" y="4940202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Database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84D42C-D6F9-47E7-A8B8-3101973AA291}"/>
              </a:ext>
            </a:extLst>
          </p:cNvPr>
          <p:cNvSpPr txBox="1"/>
          <p:nvPr/>
        </p:nvSpPr>
        <p:spPr>
          <a:xfrm>
            <a:off x="4089314" y="4627568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E09671-3021-4452-9DBE-D29A68F13ADA}"/>
              </a:ext>
            </a:extLst>
          </p:cNvPr>
          <p:cNvSpPr txBox="1"/>
          <p:nvPr/>
        </p:nvSpPr>
        <p:spPr>
          <a:xfrm>
            <a:off x="7268616" y="5336624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5790FF-8A2D-46F7-B018-9B7F13A450D2}"/>
              </a:ext>
            </a:extLst>
          </p:cNvPr>
          <p:cNvSpPr txBox="1"/>
          <p:nvPr/>
        </p:nvSpPr>
        <p:spPr>
          <a:xfrm>
            <a:off x="10497611" y="4688307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558EB3-8AD9-43AD-9D83-EC5F915570A9}"/>
              </a:ext>
            </a:extLst>
          </p:cNvPr>
          <p:cNvSpPr txBox="1"/>
          <p:nvPr/>
        </p:nvSpPr>
        <p:spPr>
          <a:xfrm>
            <a:off x="1430554" y="6488668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C3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7CF2DE6-437B-4E39-90BA-D5B4C54E6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817357"/>
              </p:ext>
            </p:extLst>
          </p:nvPr>
        </p:nvGraphicFramePr>
        <p:xfrm>
          <a:off x="3363720" y="5663201"/>
          <a:ext cx="216231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694">
                  <a:extLst>
                    <a:ext uri="{9D8B030D-6E8A-4147-A177-3AD203B41FA5}">
                      <a16:colId xmlns:a16="http://schemas.microsoft.com/office/drawing/2014/main" val="4131032162"/>
                    </a:ext>
                  </a:extLst>
                </a:gridCol>
                <a:gridCol w="1081619">
                  <a:extLst>
                    <a:ext uri="{9D8B030D-6E8A-4147-A177-3AD203B41FA5}">
                      <a16:colId xmlns:a16="http://schemas.microsoft.com/office/drawing/2014/main" val="2043655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298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{1,3 ,4}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9521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4849FF4-F40A-418B-B129-05F0713B69A8}"/>
              </a:ext>
            </a:extLst>
          </p:cNvPr>
          <p:cNvSpPr txBox="1"/>
          <p:nvPr/>
        </p:nvSpPr>
        <p:spPr>
          <a:xfrm>
            <a:off x="4249399" y="6488668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1192" y="2017348"/>
            <a:ext cx="2496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Minimum Support – 60%</a:t>
            </a:r>
          </a:p>
        </p:txBody>
      </p:sp>
    </p:spTree>
    <p:extLst>
      <p:ext uri="{BB962C8B-B14F-4D97-AF65-F5344CB8AC3E}">
        <p14:creationId xmlns:p14="http://schemas.microsoft.com/office/powerpoint/2010/main" val="3675996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7083632" cy="3678303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Let 𝐷 be a  database that contains the following four transactions:</a:t>
            </a:r>
          </a:p>
          <a:p>
            <a:pPr lvl="1"/>
            <a:r>
              <a:rPr lang="en-US" dirty="0" err="1"/>
              <a:t>minSup</a:t>
            </a:r>
            <a:r>
              <a:rPr lang="en-US" dirty="0"/>
              <a:t>=60%.</a:t>
            </a:r>
          </a:p>
          <a:p>
            <a:r>
              <a:rPr lang="en-US" dirty="0"/>
              <a:t>Find all frequent </a:t>
            </a:r>
            <a:r>
              <a:rPr lang="en-US" dirty="0" err="1"/>
              <a:t>itemsets</a:t>
            </a:r>
            <a:r>
              <a:rPr lang="en-US" dirty="0"/>
              <a:t> using the </a:t>
            </a:r>
            <a:r>
              <a:rPr lang="en-US" dirty="0" err="1"/>
              <a:t>Apriori</a:t>
            </a:r>
            <a:r>
              <a:rPr lang="en-US" dirty="0"/>
              <a:t> algorithm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825" y="2536048"/>
            <a:ext cx="3644545" cy="238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10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40616-CB3C-4F77-ACAD-CE3A11ABC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association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1D8D2-7BC3-4518-BC39-71AD702A4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First, generate all subsets of frequent item set s.</a:t>
            </a:r>
          </a:p>
          <a:p>
            <a:r>
              <a:rPr lang="en-US" dirty="0"/>
              <a:t>Then, let ss represent a nonempty subset of s. </a:t>
            </a:r>
          </a:p>
          <a:p>
            <a:r>
              <a:rPr lang="en-US" dirty="0"/>
              <a:t>Consider the association rule R: ss⇒(s − ss), where (s − ss) indicates the set s without ss. </a:t>
            </a:r>
          </a:p>
          <a:p>
            <a:r>
              <a:rPr lang="en-US" dirty="0"/>
              <a:t>Generate (and output) R if R fulfills the minimum confidence requirement. </a:t>
            </a:r>
          </a:p>
          <a:p>
            <a:r>
              <a:rPr lang="en-US" dirty="0"/>
              <a:t>Do so for every subset ss of s. </a:t>
            </a:r>
          </a:p>
        </p:txBody>
      </p:sp>
    </p:spTree>
    <p:extLst>
      <p:ext uri="{BB962C8B-B14F-4D97-AF65-F5344CB8AC3E}">
        <p14:creationId xmlns:p14="http://schemas.microsoft.com/office/powerpoint/2010/main" val="2289766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8024926" cy="36783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Possible association rules using L2</a:t>
            </a:r>
          </a:p>
          <a:p>
            <a:pPr lvl="1"/>
            <a:r>
              <a:rPr lang="en-US" dirty="0"/>
              <a:t>1</a:t>
            </a:r>
            <a:r>
              <a:rPr lang="en-US" dirty="0">
                <a:latin typeface="Franklin Gothic Book" panose="020B0503020102020204" pitchFamily="34" charset="0"/>
              </a:rPr>
              <a:t>→</a:t>
            </a:r>
            <a:r>
              <a:rPr lang="en-US" dirty="0"/>
              <a:t>3, 1</a:t>
            </a:r>
            <a:r>
              <a:rPr lang="en-US" dirty="0">
                <a:latin typeface="Franklin Gothic Book" panose="020B0503020102020204" pitchFamily="34" charset="0"/>
              </a:rPr>
              <a:t>→</a:t>
            </a:r>
            <a:r>
              <a:rPr lang="en-US" dirty="0"/>
              <a:t>4, 2</a:t>
            </a:r>
            <a:r>
              <a:rPr lang="en-US" dirty="0">
                <a:latin typeface="Franklin Gothic Book" panose="020B0503020102020204" pitchFamily="34" charset="0"/>
              </a:rPr>
              <a:t>→</a:t>
            </a:r>
            <a:r>
              <a:rPr lang="en-US" dirty="0"/>
              <a:t>4, 3</a:t>
            </a:r>
            <a:r>
              <a:rPr lang="en-US" dirty="0">
                <a:latin typeface="Franklin Gothic Book" panose="020B0503020102020204" pitchFamily="34" charset="0"/>
              </a:rPr>
              <a:t>→</a:t>
            </a:r>
            <a:r>
              <a:rPr lang="en-US" dirty="0"/>
              <a:t>4, 3</a:t>
            </a:r>
            <a:r>
              <a:rPr lang="en-US" dirty="0">
                <a:latin typeface="Franklin Gothic Book" panose="020B0503020102020204" pitchFamily="34" charset="0"/>
              </a:rPr>
              <a:t>→</a:t>
            </a:r>
            <a:r>
              <a:rPr lang="en-US" dirty="0"/>
              <a:t>1, 4</a:t>
            </a:r>
            <a:r>
              <a:rPr lang="en-US" dirty="0">
                <a:latin typeface="Franklin Gothic Book" panose="020B0503020102020204" pitchFamily="34" charset="0"/>
              </a:rPr>
              <a:t>→</a:t>
            </a:r>
            <a:r>
              <a:rPr lang="en-US" dirty="0"/>
              <a:t>1, 4</a:t>
            </a:r>
            <a:r>
              <a:rPr lang="en-US" dirty="0">
                <a:latin typeface="Franklin Gothic Book" panose="020B0503020102020204" pitchFamily="34" charset="0"/>
              </a:rPr>
              <a:t>→</a:t>
            </a:r>
            <a:r>
              <a:rPr lang="en-US" dirty="0"/>
              <a:t>2, 4</a:t>
            </a:r>
            <a:r>
              <a:rPr lang="en-US" dirty="0">
                <a:latin typeface="Franklin Gothic Book" panose="020B0503020102020204" pitchFamily="34" charset="0"/>
              </a:rPr>
              <a:t>→</a:t>
            </a:r>
            <a:r>
              <a:rPr lang="en-US" dirty="0"/>
              <a:t>3  </a:t>
            </a:r>
          </a:p>
          <a:p>
            <a:r>
              <a:rPr lang="en-US" dirty="0"/>
              <a:t>Possible association rules using L3</a:t>
            </a:r>
          </a:p>
          <a:p>
            <a:pPr lvl="1"/>
            <a:r>
              <a:rPr lang="en-US" dirty="0"/>
              <a:t>1</a:t>
            </a:r>
            <a:r>
              <a:rPr lang="en-US" dirty="0">
                <a:latin typeface="Franklin Gothic Book" panose="020B0503020102020204" pitchFamily="34" charset="0"/>
              </a:rPr>
              <a:t>→</a:t>
            </a:r>
            <a:r>
              <a:rPr lang="en-US" dirty="0"/>
              <a:t>34,3</a:t>
            </a:r>
            <a:r>
              <a:rPr lang="en-US" dirty="0">
                <a:latin typeface="Franklin Gothic Book" panose="020B0503020102020204" pitchFamily="34" charset="0"/>
              </a:rPr>
              <a:t>→</a:t>
            </a:r>
            <a:r>
              <a:rPr lang="en-US" dirty="0"/>
              <a:t>14,4</a:t>
            </a:r>
            <a:r>
              <a:rPr lang="en-US" dirty="0">
                <a:latin typeface="Franklin Gothic Book" panose="020B0503020102020204" pitchFamily="34" charset="0"/>
              </a:rPr>
              <a:t>→</a:t>
            </a:r>
            <a:r>
              <a:rPr lang="en-US" dirty="0"/>
              <a:t>13, 13</a:t>
            </a:r>
            <a:r>
              <a:rPr lang="en-US" dirty="0">
                <a:latin typeface="Franklin Gothic Book" panose="020B0503020102020204" pitchFamily="34" charset="0"/>
              </a:rPr>
              <a:t>→</a:t>
            </a:r>
            <a:r>
              <a:rPr lang="en-US" dirty="0"/>
              <a:t>4, 14</a:t>
            </a:r>
            <a:r>
              <a:rPr lang="en-US" dirty="0">
                <a:latin typeface="Franklin Gothic Book" panose="020B0503020102020204" pitchFamily="34" charset="0"/>
              </a:rPr>
              <a:t>→</a:t>
            </a:r>
            <a:r>
              <a:rPr lang="en-US" dirty="0"/>
              <a:t>3, 34</a:t>
            </a:r>
            <a:r>
              <a:rPr lang="en-US" dirty="0">
                <a:latin typeface="Franklin Gothic Book" panose="020B0503020102020204" pitchFamily="34" charset="0"/>
              </a:rPr>
              <a:t>→</a:t>
            </a:r>
            <a:r>
              <a:rPr lang="en-US" dirty="0"/>
              <a:t>1</a:t>
            </a:r>
          </a:p>
          <a:p>
            <a:r>
              <a:rPr lang="en-US" dirty="0"/>
              <a:t>Find the rules which are supporting the minimum confidence level to identify strong rules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26DB8B-1E48-43B6-B4A3-A60732C2F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766534"/>
              </p:ext>
            </p:extLst>
          </p:nvPr>
        </p:nvGraphicFramePr>
        <p:xfrm>
          <a:off x="9135819" y="2112998"/>
          <a:ext cx="2474989" cy="1906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674">
                  <a:extLst>
                    <a:ext uri="{9D8B030D-6E8A-4147-A177-3AD203B41FA5}">
                      <a16:colId xmlns:a16="http://schemas.microsoft.com/office/drawing/2014/main" val="2595438362"/>
                    </a:ext>
                  </a:extLst>
                </a:gridCol>
                <a:gridCol w="1335315">
                  <a:extLst>
                    <a:ext uri="{9D8B030D-6E8A-4147-A177-3AD203B41FA5}">
                      <a16:colId xmlns:a16="http://schemas.microsoft.com/office/drawing/2014/main" val="1019647185"/>
                    </a:ext>
                  </a:extLst>
                </a:gridCol>
              </a:tblGrid>
              <a:tr h="423289">
                <a:tc>
                  <a:txBody>
                    <a:bodyPr/>
                    <a:lstStyle/>
                    <a:p>
                      <a:r>
                        <a:rPr lang="en-US" dirty="0"/>
                        <a:t>Itemset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27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{1, 3}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75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{1, 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12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{2, 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46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{3, 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12217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A68F17-C8EB-4684-A636-9FF2617C9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731084"/>
              </p:ext>
            </p:extLst>
          </p:nvPr>
        </p:nvGraphicFramePr>
        <p:xfrm>
          <a:off x="9135819" y="4416689"/>
          <a:ext cx="216231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694">
                  <a:extLst>
                    <a:ext uri="{9D8B030D-6E8A-4147-A177-3AD203B41FA5}">
                      <a16:colId xmlns:a16="http://schemas.microsoft.com/office/drawing/2014/main" val="4131032162"/>
                    </a:ext>
                  </a:extLst>
                </a:gridCol>
                <a:gridCol w="1081619">
                  <a:extLst>
                    <a:ext uri="{9D8B030D-6E8A-4147-A177-3AD203B41FA5}">
                      <a16:colId xmlns:a16="http://schemas.microsoft.com/office/drawing/2014/main" val="2043655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298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{1,3 ,4}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95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93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7083632" cy="3678303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Find all the possible association rules in the dataset.</a:t>
            </a:r>
          </a:p>
          <a:p>
            <a:r>
              <a:rPr lang="en-US" dirty="0"/>
              <a:t>Find association rules with two items which are having minimum confidence of 80%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825" y="2536048"/>
            <a:ext cx="3644545" cy="238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32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729D-E365-4E4D-9088-15517442D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</a:t>
            </a:r>
            <a:r>
              <a:rPr lang="en-US" dirty="0" err="1"/>
              <a:t>apriori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A7E69-466A-493F-9236-F249881AE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fontAlgn="auto">
              <a:spcAft>
                <a:spcPts val="0"/>
              </a:spcAft>
              <a:defRPr/>
            </a:pPr>
            <a:r>
              <a:rPr lang="en-US" dirty="0"/>
              <a:t>Generation of candidate </a:t>
            </a:r>
            <a:r>
              <a:rPr lang="en-US" dirty="0" err="1"/>
              <a:t>itemsets</a:t>
            </a:r>
            <a:r>
              <a:rPr lang="en-US" dirty="0"/>
              <a:t> is expensive(in both space and time)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/>
              <a:t> Support counting is expensive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/>
              <a:t> Subset checking (computationally expensive)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/>
              <a:t> Multiple Database scans (I/O)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17652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BC12AA-1C15-4500-BC9C-8EE83A441DE9}">
  <ds:schemaRefs>
    <ds:schemaRef ds:uri="16c05727-aa75-4e4a-9b5f-8a80a1165891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www.w3.org/XML/1998/namespace"/>
    <ds:schemaRef ds:uri="71af3243-3dd4-4a8d-8c0d-dd76da1f02a5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Dividend design</Template>
  <TotalTime>0</TotalTime>
  <Words>1414</Words>
  <Application>Microsoft Office PowerPoint</Application>
  <PresentationFormat>Widescreen</PresentationFormat>
  <Paragraphs>235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Cambria Math</vt:lpstr>
      <vt:lpstr>Franklin Gothic Book</vt:lpstr>
      <vt:lpstr>Gill Sans MT</vt:lpstr>
      <vt:lpstr>Symbol</vt:lpstr>
      <vt:lpstr>Wingdings</vt:lpstr>
      <vt:lpstr>Wingdings 2</vt:lpstr>
      <vt:lpstr>Dividend</vt:lpstr>
      <vt:lpstr>Document</vt:lpstr>
      <vt:lpstr>VISIO</vt:lpstr>
      <vt:lpstr>Visio</vt:lpstr>
      <vt:lpstr>3.  Association rule mining</vt:lpstr>
      <vt:lpstr>Introduction </vt:lpstr>
      <vt:lpstr>Introduction (contd.)</vt:lpstr>
      <vt:lpstr>Association rule mining</vt:lpstr>
      <vt:lpstr>Item set</vt:lpstr>
      <vt:lpstr>support</vt:lpstr>
      <vt:lpstr>Confidence</vt:lpstr>
      <vt:lpstr>Computing support and confidence</vt:lpstr>
      <vt:lpstr>Frequent item sets</vt:lpstr>
      <vt:lpstr>Association rules</vt:lpstr>
      <vt:lpstr>Frequent item sets</vt:lpstr>
      <vt:lpstr>Exercise 1</vt:lpstr>
      <vt:lpstr>Association rule mining</vt:lpstr>
      <vt:lpstr>Possible item sets for five items </vt:lpstr>
      <vt:lpstr>A Priori property</vt:lpstr>
      <vt:lpstr>A priori property (Contd.)</vt:lpstr>
      <vt:lpstr>An Example</vt:lpstr>
      <vt:lpstr>Apriori algorithm</vt:lpstr>
      <vt:lpstr>An example</vt:lpstr>
      <vt:lpstr>Exercise 2</vt:lpstr>
      <vt:lpstr>Generating association rules</vt:lpstr>
      <vt:lpstr>Example</vt:lpstr>
      <vt:lpstr>Exercise 2</vt:lpstr>
      <vt:lpstr>Disadvantages of apriori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2019-02-27T03:17:00Z</dcterms:created>
  <dcterms:modified xsi:type="dcterms:W3CDTF">2025-07-30T03:44:55Z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