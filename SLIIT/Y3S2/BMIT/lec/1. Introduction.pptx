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923" r:id="rId2"/>
    <p:sldId id="949" r:id="rId3"/>
    <p:sldId id="933" r:id="rId4"/>
    <p:sldId id="934" r:id="rId5"/>
    <p:sldId id="935" r:id="rId6"/>
    <p:sldId id="954" r:id="rId7"/>
    <p:sldId id="955" r:id="rId8"/>
    <p:sldId id="956" r:id="rId9"/>
    <p:sldId id="936" r:id="rId10"/>
    <p:sldId id="937" r:id="rId11"/>
    <p:sldId id="946" r:id="rId12"/>
    <p:sldId id="939" r:id="rId13"/>
    <p:sldId id="941" r:id="rId14"/>
    <p:sldId id="957" r:id="rId15"/>
    <p:sldId id="958" r:id="rId16"/>
    <p:sldId id="959" r:id="rId17"/>
    <p:sldId id="952" r:id="rId18"/>
    <p:sldId id="302" r:id="rId19"/>
    <p:sldId id="312" r:id="rId20"/>
    <p:sldId id="303" r:id="rId21"/>
    <p:sldId id="315" r:id="rId22"/>
    <p:sldId id="314" r:id="rId23"/>
    <p:sldId id="329" r:id="rId24"/>
    <p:sldId id="317" r:id="rId25"/>
    <p:sldId id="318" r:id="rId26"/>
    <p:sldId id="319" r:id="rId27"/>
    <p:sldId id="320" r:id="rId28"/>
    <p:sldId id="32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94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80" autoAdjust="0"/>
    <p:restoredTop sz="94660"/>
  </p:normalViewPr>
  <p:slideViewPr>
    <p:cSldViewPr snapToGrid="0">
      <p:cViewPr varScale="1">
        <p:scale>
          <a:sx n="82" d="100"/>
          <a:sy n="82" d="100"/>
        </p:scale>
        <p:origin x="83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873DB2-D9E4-4447-962F-96BBD01F28BC}"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US"/>
        </a:p>
      </dgm:t>
    </dgm:pt>
    <dgm:pt modelId="{70980538-E1E1-4645-9383-E3DDF73D9C77}">
      <dgm:prSet phldrT="[Text]"/>
      <dgm:spPr>
        <a:solidFill>
          <a:schemeClr val="tx1"/>
        </a:solidFill>
      </dgm:spPr>
      <dgm:t>
        <a:bodyPr/>
        <a:lstStyle/>
        <a:p>
          <a:r>
            <a:rPr lang="en-US" dirty="0">
              <a:latin typeface="Helvetica LT Std" panose="020B0504020202020204" pitchFamily="34" charset="0"/>
            </a:rPr>
            <a:t>Operating cost </a:t>
          </a:r>
        </a:p>
      </dgm:t>
    </dgm:pt>
    <dgm:pt modelId="{F8BC224F-37A2-432E-8B05-1C8224BCF50B}" type="parTrans" cxnId="{746E7237-D37C-45AA-AEF8-98049088A6C1}">
      <dgm:prSet/>
      <dgm:spPr/>
      <dgm:t>
        <a:bodyPr/>
        <a:lstStyle/>
        <a:p>
          <a:endParaRPr lang="en-US"/>
        </a:p>
      </dgm:t>
    </dgm:pt>
    <dgm:pt modelId="{75A2001F-AA3C-483F-BD77-D2234C1D90A2}" type="sibTrans" cxnId="{746E7237-D37C-45AA-AEF8-98049088A6C1}">
      <dgm:prSet/>
      <dgm:spPr/>
      <dgm:t>
        <a:bodyPr/>
        <a:lstStyle/>
        <a:p>
          <a:endParaRPr lang="en-US"/>
        </a:p>
      </dgm:t>
    </dgm:pt>
    <dgm:pt modelId="{46ED7568-51B6-4058-9663-329A21163F63}">
      <dgm:prSet phldrT="[Text]"/>
      <dgm:spPr>
        <a:solidFill>
          <a:schemeClr val="accent6">
            <a:lumMod val="75000"/>
          </a:schemeClr>
        </a:solidFill>
      </dgm:spPr>
      <dgm:t>
        <a:bodyPr/>
        <a:lstStyle/>
        <a:p>
          <a:r>
            <a:rPr lang="en-US" dirty="0">
              <a:latin typeface="Helvetica LT Std" panose="020B0504020202020204" pitchFamily="34" charset="0"/>
            </a:rPr>
            <a:t>Land </a:t>
          </a:r>
        </a:p>
      </dgm:t>
    </dgm:pt>
    <dgm:pt modelId="{137D9058-AE3B-4602-A103-71C77520FFAD}" type="parTrans" cxnId="{B1D9B47C-93DF-43A5-BCCC-4D5A161BF1A6}">
      <dgm:prSet/>
      <dgm:spPr/>
      <dgm:t>
        <a:bodyPr/>
        <a:lstStyle/>
        <a:p>
          <a:endParaRPr lang="en-US" dirty="0"/>
        </a:p>
      </dgm:t>
    </dgm:pt>
    <dgm:pt modelId="{21F6ACB7-F37D-439D-B328-3CEF57A671EA}" type="sibTrans" cxnId="{B1D9B47C-93DF-43A5-BCCC-4D5A161BF1A6}">
      <dgm:prSet/>
      <dgm:spPr/>
      <dgm:t>
        <a:bodyPr/>
        <a:lstStyle/>
        <a:p>
          <a:endParaRPr lang="en-US"/>
        </a:p>
      </dgm:t>
    </dgm:pt>
    <dgm:pt modelId="{9C826D04-4AC6-48C9-B57D-D02F25CDFEF3}">
      <dgm:prSet phldrT="[Text]" custT="1"/>
      <dgm:spPr>
        <a:solidFill>
          <a:schemeClr val="accent6">
            <a:lumMod val="75000"/>
          </a:schemeClr>
        </a:solidFill>
      </dgm:spPr>
      <dgm:t>
        <a:bodyPr/>
        <a:lstStyle/>
        <a:p>
          <a:r>
            <a:rPr lang="en-US" sz="2400" b="0" dirty="0">
              <a:latin typeface="Helvetica LT Std" panose="020B0504020202020204" pitchFamily="34" charset="0"/>
            </a:rPr>
            <a:t>Entrepreneurship</a:t>
          </a:r>
        </a:p>
      </dgm:t>
    </dgm:pt>
    <dgm:pt modelId="{38B747FF-1038-4A77-81A2-520061951AD3}" type="parTrans" cxnId="{8823AD03-2697-4A3B-947C-D554916BC013}">
      <dgm:prSet/>
      <dgm:spPr/>
      <dgm:t>
        <a:bodyPr/>
        <a:lstStyle/>
        <a:p>
          <a:endParaRPr lang="en-US" dirty="0"/>
        </a:p>
      </dgm:t>
    </dgm:pt>
    <dgm:pt modelId="{48629C7A-00E3-4BD9-AFE8-50649EAC3F93}" type="sibTrans" cxnId="{8823AD03-2697-4A3B-947C-D554916BC013}">
      <dgm:prSet/>
      <dgm:spPr/>
      <dgm:t>
        <a:bodyPr/>
        <a:lstStyle/>
        <a:p>
          <a:endParaRPr lang="en-US"/>
        </a:p>
      </dgm:t>
    </dgm:pt>
    <dgm:pt modelId="{B16EB0BD-1D98-41F0-A79A-599C8E403D7F}">
      <dgm:prSet phldrT="[Text]"/>
      <dgm:spPr>
        <a:solidFill>
          <a:schemeClr val="accent6">
            <a:lumMod val="75000"/>
          </a:schemeClr>
        </a:solidFill>
      </dgm:spPr>
      <dgm:t>
        <a:bodyPr/>
        <a:lstStyle/>
        <a:p>
          <a:r>
            <a:rPr lang="en-US" dirty="0">
              <a:latin typeface="Helvetica LT Std" panose="020B0504020202020204" pitchFamily="34" charset="0"/>
            </a:rPr>
            <a:t>Labor </a:t>
          </a:r>
        </a:p>
      </dgm:t>
    </dgm:pt>
    <dgm:pt modelId="{44ACAA71-3FF8-425A-821F-E9FE6DAED50E}" type="parTrans" cxnId="{E4C7E3AE-CA79-4D92-989D-7F731AC5DE7B}">
      <dgm:prSet/>
      <dgm:spPr/>
      <dgm:t>
        <a:bodyPr/>
        <a:lstStyle/>
        <a:p>
          <a:endParaRPr lang="en-US" dirty="0"/>
        </a:p>
      </dgm:t>
    </dgm:pt>
    <dgm:pt modelId="{85617FB7-C316-411B-A2E2-A3F58F3FED3F}" type="sibTrans" cxnId="{E4C7E3AE-CA79-4D92-989D-7F731AC5DE7B}">
      <dgm:prSet/>
      <dgm:spPr/>
      <dgm:t>
        <a:bodyPr/>
        <a:lstStyle/>
        <a:p>
          <a:endParaRPr lang="en-US"/>
        </a:p>
      </dgm:t>
    </dgm:pt>
    <dgm:pt modelId="{4DA84858-A927-412D-AB5F-7859099059D5}">
      <dgm:prSet phldrT="[Text]"/>
      <dgm:spPr>
        <a:solidFill>
          <a:schemeClr val="accent6">
            <a:lumMod val="75000"/>
          </a:schemeClr>
        </a:solidFill>
      </dgm:spPr>
      <dgm:t>
        <a:bodyPr/>
        <a:lstStyle/>
        <a:p>
          <a:r>
            <a:rPr lang="en-US" dirty="0">
              <a:latin typeface="Helvetica LT Std" panose="020B0504020202020204" pitchFamily="34" charset="0"/>
            </a:rPr>
            <a:t>Capital</a:t>
          </a:r>
          <a:r>
            <a:rPr lang="en-US" dirty="0"/>
            <a:t> </a:t>
          </a:r>
        </a:p>
      </dgm:t>
    </dgm:pt>
    <dgm:pt modelId="{4248D3D5-6B97-4E80-BF64-410B8AD0D27E}" type="parTrans" cxnId="{5F686613-FE4F-4435-9328-291D906FB8AC}">
      <dgm:prSet/>
      <dgm:spPr/>
      <dgm:t>
        <a:bodyPr/>
        <a:lstStyle/>
        <a:p>
          <a:endParaRPr lang="en-US" dirty="0"/>
        </a:p>
      </dgm:t>
    </dgm:pt>
    <dgm:pt modelId="{1EFF7D66-1A7B-4685-90CD-B4F16A81BD38}" type="sibTrans" cxnId="{5F686613-FE4F-4435-9328-291D906FB8AC}">
      <dgm:prSet/>
      <dgm:spPr/>
      <dgm:t>
        <a:bodyPr/>
        <a:lstStyle/>
        <a:p>
          <a:endParaRPr lang="en-US"/>
        </a:p>
      </dgm:t>
    </dgm:pt>
    <dgm:pt modelId="{79D36222-F5BA-47F0-A96F-49FD7AA36E2E}" type="pres">
      <dgm:prSet presAssocID="{33873DB2-D9E4-4447-962F-96BBD01F28BC}" presName="cycle" presStyleCnt="0">
        <dgm:presLayoutVars>
          <dgm:chMax val="1"/>
          <dgm:dir/>
          <dgm:animLvl val="ctr"/>
          <dgm:resizeHandles val="exact"/>
        </dgm:presLayoutVars>
      </dgm:prSet>
      <dgm:spPr/>
    </dgm:pt>
    <dgm:pt modelId="{1A2266CD-D22E-49AF-8687-9933F9B86E3F}" type="pres">
      <dgm:prSet presAssocID="{70980538-E1E1-4645-9383-E3DDF73D9C77}" presName="centerShape" presStyleLbl="node0" presStyleIdx="0" presStyleCnt="1"/>
      <dgm:spPr/>
    </dgm:pt>
    <dgm:pt modelId="{984B286F-B12B-434A-A7B0-BE77208EAE5B}" type="pres">
      <dgm:prSet presAssocID="{137D9058-AE3B-4602-A103-71C77520FFAD}" presName="Name9" presStyleLbl="parChTrans1D2" presStyleIdx="0" presStyleCnt="4"/>
      <dgm:spPr/>
    </dgm:pt>
    <dgm:pt modelId="{736133A1-A6D3-4F63-8837-DD6F85D43D36}" type="pres">
      <dgm:prSet presAssocID="{137D9058-AE3B-4602-A103-71C77520FFAD}" presName="connTx" presStyleLbl="parChTrans1D2" presStyleIdx="0" presStyleCnt="4"/>
      <dgm:spPr/>
    </dgm:pt>
    <dgm:pt modelId="{C45A38BE-579F-4E25-9DFE-71620AE7455B}" type="pres">
      <dgm:prSet presAssocID="{46ED7568-51B6-4058-9663-329A21163F63}" presName="node" presStyleLbl="node1" presStyleIdx="0" presStyleCnt="4">
        <dgm:presLayoutVars>
          <dgm:bulletEnabled val="1"/>
        </dgm:presLayoutVars>
      </dgm:prSet>
      <dgm:spPr/>
    </dgm:pt>
    <dgm:pt modelId="{E3DF7868-D9A4-4BD9-B58A-8E8E476A97E4}" type="pres">
      <dgm:prSet presAssocID="{38B747FF-1038-4A77-81A2-520061951AD3}" presName="Name9" presStyleLbl="parChTrans1D2" presStyleIdx="1" presStyleCnt="4"/>
      <dgm:spPr/>
    </dgm:pt>
    <dgm:pt modelId="{859DBB62-AF68-4519-BC2B-608E24BCA3FF}" type="pres">
      <dgm:prSet presAssocID="{38B747FF-1038-4A77-81A2-520061951AD3}" presName="connTx" presStyleLbl="parChTrans1D2" presStyleIdx="1" presStyleCnt="4"/>
      <dgm:spPr/>
    </dgm:pt>
    <dgm:pt modelId="{538B2F95-DD9F-4D31-B0BB-D06743CC715B}" type="pres">
      <dgm:prSet presAssocID="{9C826D04-4AC6-48C9-B57D-D02F25CDFEF3}" presName="node" presStyleLbl="node1" presStyleIdx="1" presStyleCnt="4" custScaleX="143630" custScaleY="103738">
        <dgm:presLayoutVars>
          <dgm:bulletEnabled val="1"/>
        </dgm:presLayoutVars>
      </dgm:prSet>
      <dgm:spPr/>
    </dgm:pt>
    <dgm:pt modelId="{9B4E1ECA-4D20-4172-9406-883EECA3C1DA}" type="pres">
      <dgm:prSet presAssocID="{44ACAA71-3FF8-425A-821F-E9FE6DAED50E}" presName="Name9" presStyleLbl="parChTrans1D2" presStyleIdx="2" presStyleCnt="4"/>
      <dgm:spPr/>
    </dgm:pt>
    <dgm:pt modelId="{A2DF08AA-612C-453C-8546-64E608EB3B79}" type="pres">
      <dgm:prSet presAssocID="{44ACAA71-3FF8-425A-821F-E9FE6DAED50E}" presName="connTx" presStyleLbl="parChTrans1D2" presStyleIdx="2" presStyleCnt="4"/>
      <dgm:spPr/>
    </dgm:pt>
    <dgm:pt modelId="{0B7EF340-62E9-4DDD-B2AC-2AD007A2F5FD}" type="pres">
      <dgm:prSet presAssocID="{B16EB0BD-1D98-41F0-A79A-599C8E403D7F}" presName="node" presStyleLbl="node1" presStyleIdx="2" presStyleCnt="4">
        <dgm:presLayoutVars>
          <dgm:bulletEnabled val="1"/>
        </dgm:presLayoutVars>
      </dgm:prSet>
      <dgm:spPr/>
    </dgm:pt>
    <dgm:pt modelId="{30895363-7472-42E8-98C7-D133B556DA26}" type="pres">
      <dgm:prSet presAssocID="{4248D3D5-6B97-4E80-BF64-410B8AD0D27E}" presName="Name9" presStyleLbl="parChTrans1D2" presStyleIdx="3" presStyleCnt="4"/>
      <dgm:spPr/>
    </dgm:pt>
    <dgm:pt modelId="{3008D070-CBFC-4968-8824-AB65BEDAABBD}" type="pres">
      <dgm:prSet presAssocID="{4248D3D5-6B97-4E80-BF64-410B8AD0D27E}" presName="connTx" presStyleLbl="parChTrans1D2" presStyleIdx="3" presStyleCnt="4"/>
      <dgm:spPr/>
    </dgm:pt>
    <dgm:pt modelId="{3B905BB4-AA7E-45C1-BC9E-70A51586A003}" type="pres">
      <dgm:prSet presAssocID="{4DA84858-A927-412D-AB5F-7859099059D5}" presName="node" presStyleLbl="node1" presStyleIdx="3" presStyleCnt="4">
        <dgm:presLayoutVars>
          <dgm:bulletEnabled val="1"/>
        </dgm:presLayoutVars>
      </dgm:prSet>
      <dgm:spPr/>
    </dgm:pt>
  </dgm:ptLst>
  <dgm:cxnLst>
    <dgm:cxn modelId="{8823AD03-2697-4A3B-947C-D554916BC013}" srcId="{70980538-E1E1-4645-9383-E3DDF73D9C77}" destId="{9C826D04-4AC6-48C9-B57D-D02F25CDFEF3}" srcOrd="1" destOrd="0" parTransId="{38B747FF-1038-4A77-81A2-520061951AD3}" sibTransId="{48629C7A-00E3-4BD9-AFE8-50649EAC3F93}"/>
    <dgm:cxn modelId="{5F686613-FE4F-4435-9328-291D906FB8AC}" srcId="{70980538-E1E1-4645-9383-E3DDF73D9C77}" destId="{4DA84858-A927-412D-AB5F-7859099059D5}" srcOrd="3" destOrd="0" parTransId="{4248D3D5-6B97-4E80-BF64-410B8AD0D27E}" sibTransId="{1EFF7D66-1A7B-4685-90CD-B4F16A81BD38}"/>
    <dgm:cxn modelId="{3414E313-4655-4DAF-8CDF-8A282F99858C}" type="presOf" srcId="{B16EB0BD-1D98-41F0-A79A-599C8E403D7F}" destId="{0B7EF340-62E9-4DDD-B2AC-2AD007A2F5FD}" srcOrd="0" destOrd="0" presId="urn:microsoft.com/office/officeart/2005/8/layout/radial1"/>
    <dgm:cxn modelId="{C38B1F1D-5C51-4594-A532-B19BB0EA1C78}" type="presOf" srcId="{46ED7568-51B6-4058-9663-329A21163F63}" destId="{C45A38BE-579F-4E25-9DFE-71620AE7455B}" srcOrd="0" destOrd="0" presId="urn:microsoft.com/office/officeart/2005/8/layout/radial1"/>
    <dgm:cxn modelId="{6A9C2F21-DE44-49F4-96E9-FC14128CBADB}" type="presOf" srcId="{4248D3D5-6B97-4E80-BF64-410B8AD0D27E}" destId="{3008D070-CBFC-4968-8824-AB65BEDAABBD}" srcOrd="1" destOrd="0" presId="urn:microsoft.com/office/officeart/2005/8/layout/radial1"/>
    <dgm:cxn modelId="{3C6F0922-EC16-44E4-A7E0-FC9DC64DC1DD}" type="presOf" srcId="{9C826D04-4AC6-48C9-B57D-D02F25CDFEF3}" destId="{538B2F95-DD9F-4D31-B0BB-D06743CC715B}" srcOrd="0" destOrd="0" presId="urn:microsoft.com/office/officeart/2005/8/layout/radial1"/>
    <dgm:cxn modelId="{746E7237-D37C-45AA-AEF8-98049088A6C1}" srcId="{33873DB2-D9E4-4447-962F-96BBD01F28BC}" destId="{70980538-E1E1-4645-9383-E3DDF73D9C77}" srcOrd="0" destOrd="0" parTransId="{F8BC224F-37A2-432E-8B05-1C8224BCF50B}" sibTransId="{75A2001F-AA3C-483F-BD77-D2234C1D90A2}"/>
    <dgm:cxn modelId="{EAACB43B-5F51-40F5-911E-B1E2AEF07BD9}" type="presOf" srcId="{44ACAA71-3FF8-425A-821F-E9FE6DAED50E}" destId="{9B4E1ECA-4D20-4172-9406-883EECA3C1DA}" srcOrd="0" destOrd="0" presId="urn:microsoft.com/office/officeart/2005/8/layout/radial1"/>
    <dgm:cxn modelId="{3847E95B-797C-4634-91E3-F6ADF07CA0F6}" type="presOf" srcId="{4DA84858-A927-412D-AB5F-7859099059D5}" destId="{3B905BB4-AA7E-45C1-BC9E-70A51586A003}" srcOrd="0" destOrd="0" presId="urn:microsoft.com/office/officeart/2005/8/layout/radial1"/>
    <dgm:cxn modelId="{B1D9B47C-93DF-43A5-BCCC-4D5A161BF1A6}" srcId="{70980538-E1E1-4645-9383-E3DDF73D9C77}" destId="{46ED7568-51B6-4058-9663-329A21163F63}" srcOrd="0" destOrd="0" parTransId="{137D9058-AE3B-4602-A103-71C77520FFAD}" sibTransId="{21F6ACB7-F37D-439D-B328-3CEF57A671EA}"/>
    <dgm:cxn modelId="{DC5B677F-7D1B-4383-9267-D986BAEEF813}" type="presOf" srcId="{38B747FF-1038-4A77-81A2-520061951AD3}" destId="{E3DF7868-D9A4-4BD9-B58A-8E8E476A97E4}" srcOrd="0" destOrd="0" presId="urn:microsoft.com/office/officeart/2005/8/layout/radial1"/>
    <dgm:cxn modelId="{6345199A-E8AE-4CD7-B521-213862E8EC22}" type="presOf" srcId="{33873DB2-D9E4-4447-962F-96BBD01F28BC}" destId="{79D36222-F5BA-47F0-A96F-49FD7AA36E2E}" srcOrd="0" destOrd="0" presId="urn:microsoft.com/office/officeart/2005/8/layout/radial1"/>
    <dgm:cxn modelId="{3AE3369D-082D-47F5-9D0D-81479CB76D47}" type="presOf" srcId="{4248D3D5-6B97-4E80-BF64-410B8AD0D27E}" destId="{30895363-7472-42E8-98C7-D133B556DA26}" srcOrd="0" destOrd="0" presId="urn:microsoft.com/office/officeart/2005/8/layout/radial1"/>
    <dgm:cxn modelId="{E4C7E3AE-CA79-4D92-989D-7F731AC5DE7B}" srcId="{70980538-E1E1-4645-9383-E3DDF73D9C77}" destId="{B16EB0BD-1D98-41F0-A79A-599C8E403D7F}" srcOrd="2" destOrd="0" parTransId="{44ACAA71-3FF8-425A-821F-E9FE6DAED50E}" sibTransId="{85617FB7-C316-411B-A2E2-A3F58F3FED3F}"/>
    <dgm:cxn modelId="{904361DD-C87A-4892-BCE9-5A36B61FED1B}" type="presOf" srcId="{38B747FF-1038-4A77-81A2-520061951AD3}" destId="{859DBB62-AF68-4519-BC2B-608E24BCA3FF}" srcOrd="1" destOrd="0" presId="urn:microsoft.com/office/officeart/2005/8/layout/radial1"/>
    <dgm:cxn modelId="{0FA753E2-DAD9-4720-BDC1-2E5DD1A051D8}" type="presOf" srcId="{137D9058-AE3B-4602-A103-71C77520FFAD}" destId="{984B286F-B12B-434A-A7B0-BE77208EAE5B}" srcOrd="0" destOrd="0" presId="urn:microsoft.com/office/officeart/2005/8/layout/radial1"/>
    <dgm:cxn modelId="{7B6FBAEE-8896-4A61-88AA-53C27FDB3901}" type="presOf" srcId="{137D9058-AE3B-4602-A103-71C77520FFAD}" destId="{736133A1-A6D3-4F63-8837-DD6F85D43D36}" srcOrd="1" destOrd="0" presId="urn:microsoft.com/office/officeart/2005/8/layout/radial1"/>
    <dgm:cxn modelId="{10C768F3-A235-4061-894A-33F0B97EE68F}" type="presOf" srcId="{44ACAA71-3FF8-425A-821F-E9FE6DAED50E}" destId="{A2DF08AA-612C-453C-8546-64E608EB3B79}" srcOrd="1" destOrd="0" presId="urn:microsoft.com/office/officeart/2005/8/layout/radial1"/>
    <dgm:cxn modelId="{75D3CFF5-02BE-4531-88EE-2F4E9B1469D6}" type="presOf" srcId="{70980538-E1E1-4645-9383-E3DDF73D9C77}" destId="{1A2266CD-D22E-49AF-8687-9933F9B86E3F}" srcOrd="0" destOrd="0" presId="urn:microsoft.com/office/officeart/2005/8/layout/radial1"/>
    <dgm:cxn modelId="{6F1BA1F7-EC68-4562-9E47-50D357D407D0}" type="presParOf" srcId="{79D36222-F5BA-47F0-A96F-49FD7AA36E2E}" destId="{1A2266CD-D22E-49AF-8687-9933F9B86E3F}" srcOrd="0" destOrd="0" presId="urn:microsoft.com/office/officeart/2005/8/layout/radial1"/>
    <dgm:cxn modelId="{4907C5E2-123E-4FB7-B2EB-845501AB7ADE}" type="presParOf" srcId="{79D36222-F5BA-47F0-A96F-49FD7AA36E2E}" destId="{984B286F-B12B-434A-A7B0-BE77208EAE5B}" srcOrd="1" destOrd="0" presId="urn:microsoft.com/office/officeart/2005/8/layout/radial1"/>
    <dgm:cxn modelId="{BD758904-0EFE-497D-A7F9-D63A1417E303}" type="presParOf" srcId="{984B286F-B12B-434A-A7B0-BE77208EAE5B}" destId="{736133A1-A6D3-4F63-8837-DD6F85D43D36}" srcOrd="0" destOrd="0" presId="urn:microsoft.com/office/officeart/2005/8/layout/radial1"/>
    <dgm:cxn modelId="{58840B59-EE90-435B-9D45-07468C7D00FD}" type="presParOf" srcId="{79D36222-F5BA-47F0-A96F-49FD7AA36E2E}" destId="{C45A38BE-579F-4E25-9DFE-71620AE7455B}" srcOrd="2" destOrd="0" presId="urn:microsoft.com/office/officeart/2005/8/layout/radial1"/>
    <dgm:cxn modelId="{13F1BBDB-4747-47E9-A6B6-765F36832D4B}" type="presParOf" srcId="{79D36222-F5BA-47F0-A96F-49FD7AA36E2E}" destId="{E3DF7868-D9A4-4BD9-B58A-8E8E476A97E4}" srcOrd="3" destOrd="0" presId="urn:microsoft.com/office/officeart/2005/8/layout/radial1"/>
    <dgm:cxn modelId="{005C2FB7-6FEC-4D5B-81D7-E4C094A11FC6}" type="presParOf" srcId="{E3DF7868-D9A4-4BD9-B58A-8E8E476A97E4}" destId="{859DBB62-AF68-4519-BC2B-608E24BCA3FF}" srcOrd="0" destOrd="0" presId="urn:microsoft.com/office/officeart/2005/8/layout/radial1"/>
    <dgm:cxn modelId="{BE54E7B5-DB05-4A51-B219-ED01CC7FFA3B}" type="presParOf" srcId="{79D36222-F5BA-47F0-A96F-49FD7AA36E2E}" destId="{538B2F95-DD9F-4D31-B0BB-D06743CC715B}" srcOrd="4" destOrd="0" presId="urn:microsoft.com/office/officeart/2005/8/layout/radial1"/>
    <dgm:cxn modelId="{E93B2C02-7FF3-41FB-A4E9-A4DCE7511ABC}" type="presParOf" srcId="{79D36222-F5BA-47F0-A96F-49FD7AA36E2E}" destId="{9B4E1ECA-4D20-4172-9406-883EECA3C1DA}" srcOrd="5" destOrd="0" presId="urn:microsoft.com/office/officeart/2005/8/layout/radial1"/>
    <dgm:cxn modelId="{9660D1E2-B5C3-45D5-BE65-F96F8F9D81C0}" type="presParOf" srcId="{9B4E1ECA-4D20-4172-9406-883EECA3C1DA}" destId="{A2DF08AA-612C-453C-8546-64E608EB3B79}" srcOrd="0" destOrd="0" presId="urn:microsoft.com/office/officeart/2005/8/layout/radial1"/>
    <dgm:cxn modelId="{BF0ABA71-DC2F-44D7-863F-D3649CF393B8}" type="presParOf" srcId="{79D36222-F5BA-47F0-A96F-49FD7AA36E2E}" destId="{0B7EF340-62E9-4DDD-B2AC-2AD007A2F5FD}" srcOrd="6" destOrd="0" presId="urn:microsoft.com/office/officeart/2005/8/layout/radial1"/>
    <dgm:cxn modelId="{1263C8A4-079C-4AC5-ADB0-0FF81A8E82AA}" type="presParOf" srcId="{79D36222-F5BA-47F0-A96F-49FD7AA36E2E}" destId="{30895363-7472-42E8-98C7-D133B556DA26}" srcOrd="7" destOrd="0" presId="urn:microsoft.com/office/officeart/2005/8/layout/radial1"/>
    <dgm:cxn modelId="{CF4C708A-50ED-4D89-B767-6F41EE7DF2F7}" type="presParOf" srcId="{30895363-7472-42E8-98C7-D133B556DA26}" destId="{3008D070-CBFC-4968-8824-AB65BEDAABBD}" srcOrd="0" destOrd="0" presId="urn:microsoft.com/office/officeart/2005/8/layout/radial1"/>
    <dgm:cxn modelId="{4C497269-8623-4C23-9171-517596C119C7}" type="presParOf" srcId="{79D36222-F5BA-47F0-A96F-49FD7AA36E2E}" destId="{3B905BB4-AA7E-45C1-BC9E-70A51586A003}" srcOrd="8" destOrd="0" presId="urn:microsoft.com/office/officeart/2005/8/layout/radial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69D975-116B-4450-B8AB-8BC26D620E4F}" type="doc">
      <dgm:prSet loTypeId="urn:microsoft.com/office/officeart/2005/8/layout/chevron1" loCatId="process" qsTypeId="urn:microsoft.com/office/officeart/2005/8/quickstyle/simple1" qsCatId="simple" csTypeId="urn:microsoft.com/office/officeart/2005/8/colors/accent1_2" csCatId="accent1" phldr="1"/>
      <dgm:spPr/>
    </dgm:pt>
    <dgm:pt modelId="{D8EC5190-A110-4FBB-9E93-4914D9E62393}">
      <dgm:prSet phldrT="[Text]" custT="1"/>
      <dgm:spPr/>
      <dgm:t>
        <a:bodyPr/>
        <a:lstStyle/>
        <a:p>
          <a:r>
            <a:rPr lang="en-US" sz="2000" b="1" dirty="0">
              <a:solidFill>
                <a:schemeClr val="bg1"/>
              </a:solidFill>
              <a:latin typeface="Helvetica LT Std" panose="020B0504020202020204" pitchFamily="34" charset="0"/>
            </a:rPr>
            <a:t>Buy/acquire</a:t>
          </a:r>
          <a:r>
            <a:rPr lang="en-US" sz="1900" b="1" dirty="0">
              <a:solidFill>
                <a:srgbClr val="C00000"/>
              </a:solidFill>
            </a:rPr>
            <a:t> </a:t>
          </a:r>
        </a:p>
      </dgm:t>
    </dgm:pt>
    <dgm:pt modelId="{225181C8-EDE3-4AE1-A648-35C965BD8418}" type="parTrans" cxnId="{5F08D5A8-2D3D-4138-A05F-350B609ADC40}">
      <dgm:prSet/>
      <dgm:spPr/>
      <dgm:t>
        <a:bodyPr/>
        <a:lstStyle/>
        <a:p>
          <a:endParaRPr lang="en-US"/>
        </a:p>
      </dgm:t>
    </dgm:pt>
    <dgm:pt modelId="{A0907DC1-216F-4D67-86AA-F3967E8A84DF}" type="sibTrans" cxnId="{5F08D5A8-2D3D-4138-A05F-350B609ADC40}">
      <dgm:prSet/>
      <dgm:spPr/>
      <dgm:t>
        <a:bodyPr/>
        <a:lstStyle/>
        <a:p>
          <a:endParaRPr lang="en-US"/>
        </a:p>
      </dgm:t>
    </dgm:pt>
    <dgm:pt modelId="{FA309730-E52D-4A06-945E-45F3C3968689}">
      <dgm:prSet phldrT="[Text]" custT="1"/>
      <dgm:spPr/>
      <dgm:t>
        <a:bodyPr/>
        <a:lstStyle/>
        <a:p>
          <a:r>
            <a:rPr lang="en-US" sz="2000" b="1" dirty="0">
              <a:solidFill>
                <a:srgbClr val="FFFF00"/>
              </a:solidFill>
              <a:latin typeface="Helvetica LT Std" panose="020B0504020202020204" pitchFamily="34" charset="0"/>
            </a:rPr>
            <a:t>Make/Process</a:t>
          </a:r>
          <a:r>
            <a:rPr lang="en-US" sz="1900" b="1" dirty="0">
              <a:solidFill>
                <a:srgbClr val="C00000"/>
              </a:solidFill>
            </a:rPr>
            <a:t> </a:t>
          </a:r>
        </a:p>
      </dgm:t>
    </dgm:pt>
    <dgm:pt modelId="{9B11E29E-7C57-4605-BE3D-B2D0F46C9EDE}" type="parTrans" cxnId="{268C55D2-D4A4-4AF5-B5C1-BFEF173C7B97}">
      <dgm:prSet/>
      <dgm:spPr/>
      <dgm:t>
        <a:bodyPr/>
        <a:lstStyle/>
        <a:p>
          <a:endParaRPr lang="en-US"/>
        </a:p>
      </dgm:t>
    </dgm:pt>
    <dgm:pt modelId="{1E6EF4DC-0A18-4214-9ABC-CEE2B8340E4D}" type="sibTrans" cxnId="{268C55D2-D4A4-4AF5-B5C1-BFEF173C7B97}">
      <dgm:prSet/>
      <dgm:spPr/>
      <dgm:t>
        <a:bodyPr/>
        <a:lstStyle/>
        <a:p>
          <a:endParaRPr lang="en-US"/>
        </a:p>
      </dgm:t>
    </dgm:pt>
    <dgm:pt modelId="{7A25C439-7E2F-4793-AC05-F1D720DB4998}">
      <dgm:prSet phldrT="[Text]" custT="1"/>
      <dgm:spPr/>
      <dgm:t>
        <a:bodyPr/>
        <a:lstStyle/>
        <a:p>
          <a:r>
            <a:rPr lang="en-US" sz="2000" b="1" dirty="0">
              <a:solidFill>
                <a:srgbClr val="FFC000"/>
              </a:solidFill>
              <a:latin typeface="Helvetica LT Std" panose="020B0504020202020204" pitchFamily="34" charset="0"/>
            </a:rPr>
            <a:t>Sell or Trade</a:t>
          </a:r>
        </a:p>
      </dgm:t>
    </dgm:pt>
    <dgm:pt modelId="{14C56A6F-32B6-4EF4-88CD-2840BF2A43DB}" type="parTrans" cxnId="{AD9B46EE-0455-4DBD-A7B6-BE652CA1267F}">
      <dgm:prSet/>
      <dgm:spPr/>
      <dgm:t>
        <a:bodyPr/>
        <a:lstStyle/>
        <a:p>
          <a:endParaRPr lang="en-US"/>
        </a:p>
      </dgm:t>
    </dgm:pt>
    <dgm:pt modelId="{FC8BF5D2-8548-4D09-9758-F01EC1FD73B5}" type="sibTrans" cxnId="{AD9B46EE-0455-4DBD-A7B6-BE652CA1267F}">
      <dgm:prSet/>
      <dgm:spPr/>
      <dgm:t>
        <a:bodyPr/>
        <a:lstStyle/>
        <a:p>
          <a:endParaRPr lang="en-US"/>
        </a:p>
      </dgm:t>
    </dgm:pt>
    <dgm:pt modelId="{6E5E8F72-A87F-418F-9E70-558F55D17F79}" type="pres">
      <dgm:prSet presAssocID="{BB69D975-116B-4450-B8AB-8BC26D620E4F}" presName="Name0" presStyleCnt="0">
        <dgm:presLayoutVars>
          <dgm:dir/>
          <dgm:animLvl val="lvl"/>
          <dgm:resizeHandles val="exact"/>
        </dgm:presLayoutVars>
      </dgm:prSet>
      <dgm:spPr/>
    </dgm:pt>
    <dgm:pt modelId="{2EBF74E6-3BD7-45B2-BE9E-CE88C75D27D5}" type="pres">
      <dgm:prSet presAssocID="{D8EC5190-A110-4FBB-9E93-4914D9E62393}" presName="parTxOnly" presStyleLbl="node1" presStyleIdx="0" presStyleCnt="3" custLinFactY="-11272" custLinFactNeighborX="-54589" custLinFactNeighborY="-100000">
        <dgm:presLayoutVars>
          <dgm:chMax val="0"/>
          <dgm:chPref val="0"/>
          <dgm:bulletEnabled val="1"/>
        </dgm:presLayoutVars>
      </dgm:prSet>
      <dgm:spPr/>
    </dgm:pt>
    <dgm:pt modelId="{8E4251D1-CC81-4433-A1A0-488D2192A127}" type="pres">
      <dgm:prSet presAssocID="{A0907DC1-216F-4D67-86AA-F3967E8A84DF}" presName="parTxOnlySpace" presStyleCnt="0"/>
      <dgm:spPr/>
    </dgm:pt>
    <dgm:pt modelId="{C2E8DE0F-5889-4036-80BC-2B91960E5B4C}" type="pres">
      <dgm:prSet presAssocID="{FA309730-E52D-4A06-945E-45F3C3968689}" presName="parTxOnly" presStyleLbl="node1" presStyleIdx="1" presStyleCnt="3" custScaleX="111270" custLinFactY="-11429" custLinFactNeighborY="-100000">
        <dgm:presLayoutVars>
          <dgm:chMax val="0"/>
          <dgm:chPref val="0"/>
          <dgm:bulletEnabled val="1"/>
        </dgm:presLayoutVars>
      </dgm:prSet>
      <dgm:spPr/>
    </dgm:pt>
    <dgm:pt modelId="{780D3BE9-5B92-40AD-A0B9-953BB61E1D7A}" type="pres">
      <dgm:prSet presAssocID="{1E6EF4DC-0A18-4214-9ABC-CEE2B8340E4D}" presName="parTxOnlySpace" presStyleCnt="0"/>
      <dgm:spPr/>
    </dgm:pt>
    <dgm:pt modelId="{D9076049-FF6C-4979-B293-02C09232553E}" type="pres">
      <dgm:prSet presAssocID="{7A25C439-7E2F-4793-AC05-F1D720DB4998}" presName="parTxOnly" presStyleLbl="node1" presStyleIdx="2" presStyleCnt="3" custLinFactY="-11429" custLinFactNeighborX="-2678" custLinFactNeighborY="-100000">
        <dgm:presLayoutVars>
          <dgm:chMax val="0"/>
          <dgm:chPref val="0"/>
          <dgm:bulletEnabled val="1"/>
        </dgm:presLayoutVars>
      </dgm:prSet>
      <dgm:spPr/>
    </dgm:pt>
  </dgm:ptLst>
  <dgm:cxnLst>
    <dgm:cxn modelId="{91D5AF5B-4912-403A-815A-955947E99437}" type="presOf" srcId="{7A25C439-7E2F-4793-AC05-F1D720DB4998}" destId="{D9076049-FF6C-4979-B293-02C09232553E}" srcOrd="0" destOrd="0" presId="urn:microsoft.com/office/officeart/2005/8/layout/chevron1"/>
    <dgm:cxn modelId="{37503F61-09CF-41E9-AFC4-7E425669422A}" type="presOf" srcId="{BB69D975-116B-4450-B8AB-8BC26D620E4F}" destId="{6E5E8F72-A87F-418F-9E70-558F55D17F79}" srcOrd="0" destOrd="0" presId="urn:microsoft.com/office/officeart/2005/8/layout/chevron1"/>
    <dgm:cxn modelId="{5A6DEC80-4733-4395-A266-CA91F86E0C4F}" type="presOf" srcId="{D8EC5190-A110-4FBB-9E93-4914D9E62393}" destId="{2EBF74E6-3BD7-45B2-BE9E-CE88C75D27D5}" srcOrd="0" destOrd="0" presId="urn:microsoft.com/office/officeart/2005/8/layout/chevron1"/>
    <dgm:cxn modelId="{5F08D5A8-2D3D-4138-A05F-350B609ADC40}" srcId="{BB69D975-116B-4450-B8AB-8BC26D620E4F}" destId="{D8EC5190-A110-4FBB-9E93-4914D9E62393}" srcOrd="0" destOrd="0" parTransId="{225181C8-EDE3-4AE1-A648-35C965BD8418}" sibTransId="{A0907DC1-216F-4D67-86AA-F3967E8A84DF}"/>
    <dgm:cxn modelId="{4ADC17B2-62EC-4EBD-8052-A24E52167B04}" type="presOf" srcId="{FA309730-E52D-4A06-945E-45F3C3968689}" destId="{C2E8DE0F-5889-4036-80BC-2B91960E5B4C}" srcOrd="0" destOrd="0" presId="urn:microsoft.com/office/officeart/2005/8/layout/chevron1"/>
    <dgm:cxn modelId="{268C55D2-D4A4-4AF5-B5C1-BFEF173C7B97}" srcId="{BB69D975-116B-4450-B8AB-8BC26D620E4F}" destId="{FA309730-E52D-4A06-945E-45F3C3968689}" srcOrd="1" destOrd="0" parTransId="{9B11E29E-7C57-4605-BE3D-B2D0F46C9EDE}" sibTransId="{1E6EF4DC-0A18-4214-9ABC-CEE2B8340E4D}"/>
    <dgm:cxn modelId="{AD9B46EE-0455-4DBD-A7B6-BE652CA1267F}" srcId="{BB69D975-116B-4450-B8AB-8BC26D620E4F}" destId="{7A25C439-7E2F-4793-AC05-F1D720DB4998}" srcOrd="2" destOrd="0" parTransId="{14C56A6F-32B6-4EF4-88CD-2840BF2A43DB}" sibTransId="{FC8BF5D2-8548-4D09-9758-F01EC1FD73B5}"/>
    <dgm:cxn modelId="{E4B53ED5-6436-4FC7-AF31-D2395CA58408}" type="presParOf" srcId="{6E5E8F72-A87F-418F-9E70-558F55D17F79}" destId="{2EBF74E6-3BD7-45B2-BE9E-CE88C75D27D5}" srcOrd="0" destOrd="0" presId="urn:microsoft.com/office/officeart/2005/8/layout/chevron1"/>
    <dgm:cxn modelId="{32689211-07EA-40FA-BA12-9189D8551E64}" type="presParOf" srcId="{6E5E8F72-A87F-418F-9E70-558F55D17F79}" destId="{8E4251D1-CC81-4433-A1A0-488D2192A127}" srcOrd="1" destOrd="0" presId="urn:microsoft.com/office/officeart/2005/8/layout/chevron1"/>
    <dgm:cxn modelId="{3C939D91-A891-4BAE-9075-E6FD8BD4412F}" type="presParOf" srcId="{6E5E8F72-A87F-418F-9E70-558F55D17F79}" destId="{C2E8DE0F-5889-4036-80BC-2B91960E5B4C}" srcOrd="2" destOrd="0" presId="urn:microsoft.com/office/officeart/2005/8/layout/chevron1"/>
    <dgm:cxn modelId="{D93D6D83-18AA-4564-AA44-9C66F101869D}" type="presParOf" srcId="{6E5E8F72-A87F-418F-9E70-558F55D17F79}" destId="{780D3BE9-5B92-40AD-A0B9-953BB61E1D7A}" srcOrd="3" destOrd="0" presId="urn:microsoft.com/office/officeart/2005/8/layout/chevron1"/>
    <dgm:cxn modelId="{10F43E83-0C1A-4CE5-B562-55BC17808E53}" type="presParOf" srcId="{6E5E8F72-A87F-418F-9E70-558F55D17F79}" destId="{D9076049-FF6C-4979-B293-02C09232553E}"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266CD-D22E-49AF-8687-9933F9B86E3F}">
      <dsp:nvSpPr>
        <dsp:cNvPr id="0" name=""/>
        <dsp:cNvSpPr/>
      </dsp:nvSpPr>
      <dsp:spPr>
        <a:xfrm>
          <a:off x="2908041" y="1796609"/>
          <a:ext cx="1366244" cy="1366244"/>
        </a:xfrm>
        <a:prstGeom prst="ellipse">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Helvetica LT Std" panose="020B0504020202020204" pitchFamily="34" charset="0"/>
            </a:rPr>
            <a:t>Operating cost </a:t>
          </a:r>
        </a:p>
      </dsp:txBody>
      <dsp:txXfrm>
        <a:off x="3108123" y="1996691"/>
        <a:ext cx="966080" cy="966080"/>
      </dsp:txXfrm>
    </dsp:sp>
    <dsp:sp modelId="{984B286F-B12B-434A-A7B0-BE77208EAE5B}">
      <dsp:nvSpPr>
        <dsp:cNvPr id="0" name=""/>
        <dsp:cNvSpPr/>
      </dsp:nvSpPr>
      <dsp:spPr>
        <a:xfrm rot="16200000">
          <a:off x="3385170" y="1574178"/>
          <a:ext cx="411986" cy="32875"/>
        </a:xfrm>
        <a:custGeom>
          <a:avLst/>
          <a:gdLst/>
          <a:ahLst/>
          <a:cxnLst/>
          <a:rect l="0" t="0" r="0" b="0"/>
          <a:pathLst>
            <a:path>
              <a:moveTo>
                <a:pt x="0" y="16437"/>
              </a:moveTo>
              <a:lnTo>
                <a:pt x="411986" y="164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580864" y="1580316"/>
        <a:ext cx="20599" cy="20599"/>
      </dsp:txXfrm>
    </dsp:sp>
    <dsp:sp modelId="{C45A38BE-579F-4E25-9DFE-71620AE7455B}">
      <dsp:nvSpPr>
        <dsp:cNvPr id="0" name=""/>
        <dsp:cNvSpPr/>
      </dsp:nvSpPr>
      <dsp:spPr>
        <a:xfrm>
          <a:off x="2908041" y="18378"/>
          <a:ext cx="1366244" cy="1366244"/>
        </a:xfrm>
        <a:prstGeom prst="ellipse">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Helvetica LT Std" panose="020B0504020202020204" pitchFamily="34" charset="0"/>
            </a:rPr>
            <a:t>Land </a:t>
          </a:r>
        </a:p>
      </dsp:txBody>
      <dsp:txXfrm>
        <a:off x="3108123" y="218460"/>
        <a:ext cx="966080" cy="966080"/>
      </dsp:txXfrm>
    </dsp:sp>
    <dsp:sp modelId="{E3DF7868-D9A4-4BD9-B58A-8E8E476A97E4}">
      <dsp:nvSpPr>
        <dsp:cNvPr id="0" name=""/>
        <dsp:cNvSpPr/>
      </dsp:nvSpPr>
      <dsp:spPr>
        <a:xfrm>
          <a:off x="4274286" y="2463293"/>
          <a:ext cx="113939" cy="32875"/>
        </a:xfrm>
        <a:custGeom>
          <a:avLst/>
          <a:gdLst/>
          <a:ahLst/>
          <a:cxnLst/>
          <a:rect l="0" t="0" r="0" b="0"/>
          <a:pathLst>
            <a:path>
              <a:moveTo>
                <a:pt x="0" y="16437"/>
              </a:moveTo>
              <a:lnTo>
                <a:pt x="113939" y="164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328407" y="2476883"/>
        <a:ext cx="5696" cy="5696"/>
      </dsp:txXfrm>
    </dsp:sp>
    <dsp:sp modelId="{538B2F95-DD9F-4D31-B0BB-D06743CC715B}">
      <dsp:nvSpPr>
        <dsp:cNvPr id="0" name=""/>
        <dsp:cNvSpPr/>
      </dsp:nvSpPr>
      <dsp:spPr>
        <a:xfrm>
          <a:off x="4388226" y="1771074"/>
          <a:ext cx="1962337" cy="1417314"/>
        </a:xfrm>
        <a:prstGeom prst="ellipse">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latin typeface="Helvetica LT Std" panose="020B0504020202020204" pitchFamily="34" charset="0"/>
            </a:rPr>
            <a:t>Entrepreneurship</a:t>
          </a:r>
        </a:p>
      </dsp:txBody>
      <dsp:txXfrm>
        <a:off x="4675604" y="1978635"/>
        <a:ext cx="1387581" cy="1002192"/>
      </dsp:txXfrm>
    </dsp:sp>
    <dsp:sp modelId="{9B4E1ECA-4D20-4172-9406-883EECA3C1DA}">
      <dsp:nvSpPr>
        <dsp:cNvPr id="0" name=""/>
        <dsp:cNvSpPr/>
      </dsp:nvSpPr>
      <dsp:spPr>
        <a:xfrm rot="5400000">
          <a:off x="3385170" y="3352408"/>
          <a:ext cx="411986" cy="32875"/>
        </a:xfrm>
        <a:custGeom>
          <a:avLst/>
          <a:gdLst/>
          <a:ahLst/>
          <a:cxnLst/>
          <a:rect l="0" t="0" r="0" b="0"/>
          <a:pathLst>
            <a:path>
              <a:moveTo>
                <a:pt x="0" y="16437"/>
              </a:moveTo>
              <a:lnTo>
                <a:pt x="411986" y="164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580864" y="3358547"/>
        <a:ext cx="20599" cy="20599"/>
      </dsp:txXfrm>
    </dsp:sp>
    <dsp:sp modelId="{0B7EF340-62E9-4DDD-B2AC-2AD007A2F5FD}">
      <dsp:nvSpPr>
        <dsp:cNvPr id="0" name=""/>
        <dsp:cNvSpPr/>
      </dsp:nvSpPr>
      <dsp:spPr>
        <a:xfrm>
          <a:off x="2908041" y="3574839"/>
          <a:ext cx="1366244" cy="1366244"/>
        </a:xfrm>
        <a:prstGeom prst="ellipse">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Helvetica LT Std" panose="020B0504020202020204" pitchFamily="34" charset="0"/>
            </a:rPr>
            <a:t>Labor </a:t>
          </a:r>
        </a:p>
      </dsp:txBody>
      <dsp:txXfrm>
        <a:off x="3108123" y="3774921"/>
        <a:ext cx="966080" cy="966080"/>
      </dsp:txXfrm>
    </dsp:sp>
    <dsp:sp modelId="{30895363-7472-42E8-98C7-D133B556DA26}">
      <dsp:nvSpPr>
        <dsp:cNvPr id="0" name=""/>
        <dsp:cNvSpPr/>
      </dsp:nvSpPr>
      <dsp:spPr>
        <a:xfrm rot="10800000">
          <a:off x="2496055" y="2463293"/>
          <a:ext cx="411986" cy="32875"/>
        </a:xfrm>
        <a:custGeom>
          <a:avLst/>
          <a:gdLst/>
          <a:ahLst/>
          <a:cxnLst/>
          <a:rect l="0" t="0" r="0" b="0"/>
          <a:pathLst>
            <a:path>
              <a:moveTo>
                <a:pt x="0" y="16437"/>
              </a:moveTo>
              <a:lnTo>
                <a:pt x="411986" y="164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rot="10800000">
        <a:off x="2691748" y="2469431"/>
        <a:ext cx="20599" cy="20599"/>
      </dsp:txXfrm>
    </dsp:sp>
    <dsp:sp modelId="{3B905BB4-AA7E-45C1-BC9E-70A51586A003}">
      <dsp:nvSpPr>
        <dsp:cNvPr id="0" name=""/>
        <dsp:cNvSpPr/>
      </dsp:nvSpPr>
      <dsp:spPr>
        <a:xfrm>
          <a:off x="1129810" y="1796609"/>
          <a:ext cx="1366244" cy="1366244"/>
        </a:xfrm>
        <a:prstGeom prst="ellipse">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Helvetica LT Std" panose="020B0504020202020204" pitchFamily="34" charset="0"/>
            </a:rPr>
            <a:t>Capital</a:t>
          </a:r>
          <a:r>
            <a:rPr lang="en-US" sz="2300" kern="1200" dirty="0"/>
            <a:t> </a:t>
          </a:r>
        </a:p>
      </dsp:txBody>
      <dsp:txXfrm>
        <a:off x="1329892" y="1996691"/>
        <a:ext cx="966080" cy="966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BF74E6-3BD7-45B2-BE9E-CE88C75D27D5}">
      <dsp:nvSpPr>
        <dsp:cNvPr id="0" name=""/>
        <dsp:cNvSpPr/>
      </dsp:nvSpPr>
      <dsp:spPr>
        <a:xfrm>
          <a:off x="0" y="440667"/>
          <a:ext cx="2824906" cy="112996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solidFill>
              <a:latin typeface="Helvetica LT Std" panose="020B0504020202020204" pitchFamily="34" charset="0"/>
            </a:rPr>
            <a:t>Buy/acquire</a:t>
          </a:r>
          <a:r>
            <a:rPr lang="en-US" sz="1900" b="1" kern="1200" dirty="0">
              <a:solidFill>
                <a:srgbClr val="C00000"/>
              </a:solidFill>
            </a:rPr>
            <a:t> </a:t>
          </a:r>
        </a:p>
      </dsp:txBody>
      <dsp:txXfrm>
        <a:off x="564981" y="440667"/>
        <a:ext cx="1694944" cy="1129962"/>
      </dsp:txXfrm>
    </dsp:sp>
    <dsp:sp modelId="{C2E8DE0F-5889-4036-80BC-2B91960E5B4C}">
      <dsp:nvSpPr>
        <dsp:cNvPr id="0" name=""/>
        <dsp:cNvSpPr/>
      </dsp:nvSpPr>
      <dsp:spPr>
        <a:xfrm>
          <a:off x="2543163" y="438893"/>
          <a:ext cx="3143273" cy="112996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FF00"/>
              </a:solidFill>
              <a:latin typeface="Helvetica LT Std" panose="020B0504020202020204" pitchFamily="34" charset="0"/>
            </a:rPr>
            <a:t>Make/Process</a:t>
          </a:r>
          <a:r>
            <a:rPr lang="en-US" sz="1900" b="1" kern="1200" dirty="0">
              <a:solidFill>
                <a:srgbClr val="C00000"/>
              </a:solidFill>
            </a:rPr>
            <a:t> </a:t>
          </a:r>
        </a:p>
      </dsp:txBody>
      <dsp:txXfrm>
        <a:off x="3108144" y="438893"/>
        <a:ext cx="2013311" cy="1129962"/>
      </dsp:txXfrm>
    </dsp:sp>
    <dsp:sp modelId="{D9076049-FF6C-4979-B293-02C09232553E}">
      <dsp:nvSpPr>
        <dsp:cNvPr id="0" name=""/>
        <dsp:cNvSpPr/>
      </dsp:nvSpPr>
      <dsp:spPr>
        <a:xfrm>
          <a:off x="5396381" y="438893"/>
          <a:ext cx="2824906" cy="112996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C000"/>
              </a:solidFill>
              <a:latin typeface="Helvetica LT Std" panose="020B0504020202020204" pitchFamily="34" charset="0"/>
            </a:rPr>
            <a:t>Sell or Trade</a:t>
          </a:r>
        </a:p>
      </dsp:txBody>
      <dsp:txXfrm>
        <a:off x="5961362" y="438893"/>
        <a:ext cx="1694944" cy="1129962"/>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8B40D9-B4C6-4342-8C41-AA76C4801730}" type="datetimeFigureOut">
              <a:rPr lang="en-US" smtClean="0"/>
              <a:t>7/30/2025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FE531-FD1F-45D7-94A8-15DECA40F292}" type="slidenum">
              <a:rPr lang="en-US" smtClean="0"/>
              <a:t>‹#›</a:t>
            </a:fld>
            <a:endParaRPr lang="en-US"/>
          </a:p>
        </p:txBody>
      </p:sp>
    </p:spTree>
    <p:extLst>
      <p:ext uri="{BB962C8B-B14F-4D97-AF65-F5344CB8AC3E}">
        <p14:creationId xmlns:p14="http://schemas.microsoft.com/office/powerpoint/2010/main" val="41877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E51C1DC-5FE7-44BB-8B43-48A20D2054A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ACA20C2-4505-4D24-9C91-922B18EE0E41}"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6627" name="Rectangle 2">
            <a:extLst>
              <a:ext uri="{FF2B5EF4-FFF2-40B4-BE49-F238E27FC236}">
                <a16:creationId xmlns:a16="http://schemas.microsoft.com/office/drawing/2014/main" id="{6040D405-B188-45D5-9410-B3396F6268F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8" name="Rectangle 3">
            <a:extLst>
              <a:ext uri="{FF2B5EF4-FFF2-40B4-BE49-F238E27FC236}">
                <a16:creationId xmlns:a16="http://schemas.microsoft.com/office/drawing/2014/main" id="{A1CC43BA-B56E-4D34-AE8E-40FA522374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496227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443BB-1D77-4D0D-9C4D-384F5C38C0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DCEA0F-931A-4AC9-96A5-71EB4B5AC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75D823-FA3C-4BB5-9C05-6F2FF55ABE57}"/>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5" name="Footer Placeholder 4">
            <a:extLst>
              <a:ext uri="{FF2B5EF4-FFF2-40B4-BE49-F238E27FC236}">
                <a16:creationId xmlns:a16="http://schemas.microsoft.com/office/drawing/2014/main" id="{50AAF4B2-35F7-4AC5-A1A9-CF9578578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1CE220-8134-4E20-8FEF-7F0FE6DD833D}"/>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1555729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57FF4-6EA0-4D84-B632-C8397B6332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9EB62B-F417-4107-8981-732A1F7493D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8468A2-7C03-4569-A01C-1CD0B7E70FC5}"/>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5" name="Footer Placeholder 4">
            <a:extLst>
              <a:ext uri="{FF2B5EF4-FFF2-40B4-BE49-F238E27FC236}">
                <a16:creationId xmlns:a16="http://schemas.microsoft.com/office/drawing/2014/main" id="{305A70D8-3C69-40F8-AE82-0253A84E3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EB9598-C445-4385-AA02-32C20D9A1E5B}"/>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771686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242D0-7F17-412A-8022-DB075F7885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F56D53-9F28-4C33-A588-6245CA0882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17766C5-6F75-4532-9106-9274A003C478}"/>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5" name="Footer Placeholder 4">
            <a:extLst>
              <a:ext uri="{FF2B5EF4-FFF2-40B4-BE49-F238E27FC236}">
                <a16:creationId xmlns:a16="http://schemas.microsoft.com/office/drawing/2014/main" id="{1991A01A-8A27-4BC1-B8FA-3AF8DB74BD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8284F-B485-447D-A23B-713DBF7FDE95}"/>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286945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0C3F2-CBFF-4C3C-BCD1-D77240CDD6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871FA8-7BC5-4DAE-AE5B-93A2655A088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38930B-7052-4BC9-86A2-14F28F1F902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6B8617-5EE3-457C-87C8-F8806170C06C}"/>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6" name="Footer Placeholder 5">
            <a:extLst>
              <a:ext uri="{FF2B5EF4-FFF2-40B4-BE49-F238E27FC236}">
                <a16:creationId xmlns:a16="http://schemas.microsoft.com/office/drawing/2014/main" id="{10B53087-9151-45F0-ABE7-87E4E534E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4ED566-3F0B-4529-BF9B-CE31432234DA}"/>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1813464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22F6F-52EF-4364-AA19-98D1B083C6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760D81-29E9-4BC0-95EA-0323675F41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5BE1AD2-4AA2-48FD-8247-38AC9B020CC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70F49E-274F-49B3-A35C-5097628CFF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7C55D81-8ED2-4908-A2F7-B0F2E2FBB7F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84FAE5-F295-48C1-ABED-CC6AEC5CE378}"/>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8" name="Footer Placeholder 7">
            <a:extLst>
              <a:ext uri="{FF2B5EF4-FFF2-40B4-BE49-F238E27FC236}">
                <a16:creationId xmlns:a16="http://schemas.microsoft.com/office/drawing/2014/main" id="{BB23B167-E656-4014-B163-575758F201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8FD37E-8140-4560-B914-66710A0069A7}"/>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3894125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90A19-4725-455A-B0C4-A533DEF2A2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97FE41-A5DC-46E5-81E1-D9E6502F9B03}"/>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4" name="Footer Placeholder 3">
            <a:extLst>
              <a:ext uri="{FF2B5EF4-FFF2-40B4-BE49-F238E27FC236}">
                <a16:creationId xmlns:a16="http://schemas.microsoft.com/office/drawing/2014/main" id="{8C9A82CA-56A2-4539-82D7-063578A938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F567A9-3E63-4EFA-AC24-354782EE0EA3}"/>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3444822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4CFFB-06BF-4B19-A00B-8A72785F0C34}"/>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3" name="Footer Placeholder 2">
            <a:extLst>
              <a:ext uri="{FF2B5EF4-FFF2-40B4-BE49-F238E27FC236}">
                <a16:creationId xmlns:a16="http://schemas.microsoft.com/office/drawing/2014/main" id="{971AD270-F5A7-407F-874F-EC7E4ABF0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1709F6-DC12-4D74-B74A-8319048CEFB4}"/>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2604539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7FF11-2B45-4B8B-9D06-D51DC46C9C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9D8114-8074-4034-993F-FE2F725A1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DD0981-B71E-4CD2-9147-A8A0334253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1FB894-814B-4D7D-AF53-472A1D3A65AA}"/>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6" name="Footer Placeholder 5">
            <a:extLst>
              <a:ext uri="{FF2B5EF4-FFF2-40B4-BE49-F238E27FC236}">
                <a16:creationId xmlns:a16="http://schemas.microsoft.com/office/drawing/2014/main" id="{5BC1CDBC-E00A-4885-AC1B-8E76F0A7F2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A253A9-B2D7-4FFC-B3C1-11F104248C67}"/>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3567035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83319-5202-47DC-9550-FC31EC9B8B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0A46C9-D85A-43AE-8DB4-B3337A3E71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861069-3FFA-499E-B6F4-D01A57AE42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E03057F-8EE5-48C2-A2FF-9947BCBDA3DE}"/>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6" name="Footer Placeholder 5">
            <a:extLst>
              <a:ext uri="{FF2B5EF4-FFF2-40B4-BE49-F238E27FC236}">
                <a16:creationId xmlns:a16="http://schemas.microsoft.com/office/drawing/2014/main" id="{0CCA7D14-44AF-459A-89D6-E2A32EFD21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DF905B-6434-4F38-9DB5-47D4FAF0D9C3}"/>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4029513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2B650-813F-4EF0-9BFF-D4E742B700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6E4AFE-4C60-4E76-A822-4DBE294F51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3197AB-2865-43AC-A556-BBF4BFB61EF4}"/>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5" name="Footer Placeholder 4">
            <a:extLst>
              <a:ext uri="{FF2B5EF4-FFF2-40B4-BE49-F238E27FC236}">
                <a16:creationId xmlns:a16="http://schemas.microsoft.com/office/drawing/2014/main" id="{EF1D5565-BAC0-453F-806E-0BA877064D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9CCDCB-1760-41E3-A3CB-2A38BFC95488}"/>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3122641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09C6BE-B4C1-455C-91B5-95CE4A3EC0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F441B2-7066-4287-86E4-55725FF3051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ACB84-1FE5-4450-870C-D005A99E117B}"/>
              </a:ext>
            </a:extLst>
          </p:cNvPr>
          <p:cNvSpPr>
            <a:spLocks noGrp="1"/>
          </p:cNvSpPr>
          <p:nvPr>
            <p:ph type="dt" sz="half" idx="10"/>
          </p:nvPr>
        </p:nvSpPr>
        <p:spPr/>
        <p:txBody>
          <a:bodyPr/>
          <a:lstStyle/>
          <a:p>
            <a:fld id="{4CFEAA15-09C2-4EAA-93EC-B2FC098A3285}" type="datetimeFigureOut">
              <a:rPr lang="en-US" smtClean="0"/>
              <a:t>7/30/2025</a:t>
            </a:fld>
            <a:endParaRPr lang="en-US"/>
          </a:p>
        </p:txBody>
      </p:sp>
      <p:sp>
        <p:nvSpPr>
          <p:cNvPr id="5" name="Footer Placeholder 4">
            <a:extLst>
              <a:ext uri="{FF2B5EF4-FFF2-40B4-BE49-F238E27FC236}">
                <a16:creationId xmlns:a16="http://schemas.microsoft.com/office/drawing/2014/main" id="{FF546233-B287-4028-B75E-CECE2A16D2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7C0057-3EA6-4C23-AF57-35D4EDDAE4A8}"/>
              </a:ext>
            </a:extLst>
          </p:cNvPr>
          <p:cNvSpPr>
            <a:spLocks noGrp="1"/>
          </p:cNvSpPr>
          <p:nvPr>
            <p:ph type="sldNum" sz="quarter" idx="12"/>
          </p:nvPr>
        </p:nvSpPr>
        <p:spPr/>
        <p:txBody>
          <a:bodyPr/>
          <a:lstStyle/>
          <a:p>
            <a:fld id="{803FDFD1-2BDB-4C9E-9A33-CECF6F3A6B72}" type="slidenum">
              <a:rPr lang="en-US" smtClean="0"/>
              <a:t>‹#›</a:t>
            </a:fld>
            <a:endParaRPr lang="en-US"/>
          </a:p>
        </p:txBody>
      </p:sp>
    </p:spTree>
    <p:extLst>
      <p:ext uri="{BB962C8B-B14F-4D97-AF65-F5344CB8AC3E}">
        <p14:creationId xmlns:p14="http://schemas.microsoft.com/office/powerpoint/2010/main" val="188775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EE760A-9566-4073-8907-678DDC1C95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3A0DA8-E28C-44EB-AA67-706CA5B043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258B9-66CD-4FEF-BFFB-853C823F96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FEAA15-09C2-4EAA-93EC-B2FC098A3285}" type="datetimeFigureOut">
              <a:rPr lang="en-US" smtClean="0"/>
              <a:t>7/30/2025</a:t>
            </a:fld>
            <a:endParaRPr lang="en-US"/>
          </a:p>
        </p:txBody>
      </p:sp>
      <p:sp>
        <p:nvSpPr>
          <p:cNvPr id="5" name="Footer Placeholder 4">
            <a:extLst>
              <a:ext uri="{FF2B5EF4-FFF2-40B4-BE49-F238E27FC236}">
                <a16:creationId xmlns:a16="http://schemas.microsoft.com/office/drawing/2014/main" id="{C7660EA8-84A8-4C2E-9C6C-4678E28876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5EC2C54-3B4A-473F-BEEE-28610661DE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3FDFD1-2BDB-4C9E-9A33-CECF6F3A6B72}" type="slidenum">
              <a:rPr lang="en-US" smtClean="0"/>
              <a:t>‹#›</a:t>
            </a:fld>
            <a:endParaRPr lang="en-US"/>
          </a:p>
        </p:txBody>
      </p:sp>
    </p:spTree>
    <p:extLst>
      <p:ext uri="{BB962C8B-B14F-4D97-AF65-F5344CB8AC3E}">
        <p14:creationId xmlns:p14="http://schemas.microsoft.com/office/powerpoint/2010/main" val="347164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jpeg"/><Relationship Id="rId7" Type="http://schemas.openxmlformats.org/officeDocument/2006/relationships/diagramQuickStyle" Target="../diagrams/quickStyle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jpe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file:///C:\Program%20Files\TurningPoint\2003\Questions.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f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a:extLst>
              <a:ext uri="{FF2B5EF4-FFF2-40B4-BE49-F238E27FC236}">
                <a16:creationId xmlns:a16="http://schemas.microsoft.com/office/drawing/2014/main" id="{B358D58F-D9A0-4FD0-8743-C491E75C548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D05702F-D288-44B2-812F-DF447FD6AB65}" type="slidenum">
              <a:rPr lang="en-GB" altLang="en-US" sz="1200">
                <a:solidFill>
                  <a:srgbClr val="898989"/>
                </a:solidFill>
              </a:rPr>
              <a:pPr>
                <a:spcBef>
                  <a:spcPct val="0"/>
                </a:spcBef>
                <a:buFontTx/>
                <a:buNone/>
              </a:pPr>
              <a:t>1</a:t>
            </a:fld>
            <a:endParaRPr lang="en-GB" altLang="en-US" sz="1200">
              <a:solidFill>
                <a:srgbClr val="898989"/>
              </a:solidFill>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5393" b="8726"/>
          <a:stretch/>
        </p:blipFill>
        <p:spPr>
          <a:xfrm>
            <a:off x="2003368" y="1297276"/>
            <a:ext cx="8262852" cy="3526736"/>
          </a:xfrm>
          <a:prstGeom prst="rect">
            <a:avLst/>
          </a:prstGeom>
        </p:spPr>
      </p:pic>
      <p:sp>
        <p:nvSpPr>
          <p:cNvPr id="5" name="TextBox 4"/>
          <p:cNvSpPr txBox="1"/>
          <p:nvPr/>
        </p:nvSpPr>
        <p:spPr>
          <a:xfrm>
            <a:off x="786247" y="376332"/>
            <a:ext cx="10697094" cy="5632311"/>
          </a:xfrm>
          <a:prstGeom prst="rect">
            <a:avLst/>
          </a:prstGeom>
          <a:noFill/>
        </p:spPr>
        <p:txBody>
          <a:bodyPr wrap="square" rtlCol="0">
            <a:spAutoFit/>
          </a:bodyPr>
          <a:lstStyle/>
          <a:p>
            <a:r>
              <a:rPr lang="en-US" sz="4400" b="1" dirty="0">
                <a:solidFill>
                  <a:schemeClr val="tx1">
                    <a:lumMod val="85000"/>
                    <a:lumOff val="15000"/>
                  </a:schemeClr>
                </a:solidFill>
                <a:latin typeface="Helvetica LT Std" panose="020B0504020202020204" pitchFamily="34" charset="0"/>
              </a:rPr>
              <a:t>Introduction to Management – 1 &amp; 2</a:t>
            </a:r>
          </a:p>
          <a:p>
            <a:endParaRPr lang="en-US" sz="4400" b="1" dirty="0">
              <a:solidFill>
                <a:schemeClr val="tx1">
                  <a:lumMod val="85000"/>
                  <a:lumOff val="15000"/>
                </a:schemeClr>
              </a:solidFill>
              <a:latin typeface="Helvetica LT Std" panose="020B0504020202020204" pitchFamily="34" charset="0"/>
            </a:endParaRPr>
          </a:p>
          <a:p>
            <a:endParaRPr lang="en-US" b="1" dirty="0">
              <a:solidFill>
                <a:schemeClr val="tx1">
                  <a:lumMod val="85000"/>
                  <a:lumOff val="15000"/>
                </a:schemeClr>
              </a:solidFill>
              <a:latin typeface="Rockwell" panose="02060603020205020403" pitchFamily="18" charset="0"/>
            </a:endParaRPr>
          </a:p>
          <a:p>
            <a:br>
              <a:rPr lang="en-US" b="1" dirty="0">
                <a:solidFill>
                  <a:schemeClr val="tx1">
                    <a:lumMod val="85000"/>
                    <a:lumOff val="15000"/>
                  </a:schemeClr>
                </a:solidFill>
                <a:latin typeface="Rockwell" panose="02060603020205020403" pitchFamily="18" charset="0"/>
              </a:rPr>
            </a:br>
            <a:endParaRPr lang="en-US" b="1" dirty="0">
              <a:solidFill>
                <a:schemeClr val="tx1">
                  <a:lumMod val="85000"/>
                  <a:lumOff val="15000"/>
                </a:schemeClr>
              </a:solidFill>
              <a:latin typeface="Rockwell" panose="02060603020205020403" pitchFamily="18" charset="0"/>
            </a:endParaRPr>
          </a:p>
          <a:p>
            <a:endParaRPr lang="en-US" b="1" dirty="0">
              <a:solidFill>
                <a:schemeClr val="tx1">
                  <a:lumMod val="85000"/>
                  <a:lumOff val="15000"/>
                </a:schemeClr>
              </a:solidFill>
              <a:latin typeface="Rockwell" panose="02060603020205020403" pitchFamily="18" charset="0"/>
            </a:endParaRPr>
          </a:p>
          <a:p>
            <a:endParaRPr lang="en-US" b="1" dirty="0">
              <a:solidFill>
                <a:schemeClr val="tx1">
                  <a:lumMod val="85000"/>
                  <a:lumOff val="15000"/>
                </a:schemeClr>
              </a:solidFill>
              <a:latin typeface="Rockwell" panose="02060603020205020403" pitchFamily="18" charset="0"/>
            </a:endParaRPr>
          </a:p>
          <a:p>
            <a:endParaRPr lang="en-US" b="1" dirty="0">
              <a:solidFill>
                <a:schemeClr val="tx1">
                  <a:lumMod val="85000"/>
                  <a:lumOff val="15000"/>
                </a:schemeClr>
              </a:solidFill>
              <a:latin typeface="Rockwell" panose="02060603020205020403" pitchFamily="18" charset="0"/>
            </a:endParaRPr>
          </a:p>
          <a:p>
            <a:endParaRPr lang="en-US" b="1" dirty="0">
              <a:solidFill>
                <a:schemeClr val="tx1">
                  <a:lumMod val="85000"/>
                  <a:lumOff val="15000"/>
                </a:schemeClr>
              </a:solidFill>
              <a:latin typeface="Rockwell" panose="02060603020205020403" pitchFamily="18" charset="0"/>
            </a:endParaRPr>
          </a:p>
          <a:p>
            <a:endParaRPr lang="en-US" sz="3200" b="1" dirty="0">
              <a:solidFill>
                <a:schemeClr val="tx1">
                  <a:lumMod val="85000"/>
                  <a:lumOff val="15000"/>
                </a:schemeClr>
              </a:solidFill>
              <a:latin typeface="Rockwell" panose="02060603020205020403" pitchFamily="18" charset="0"/>
            </a:endParaRPr>
          </a:p>
          <a:p>
            <a:endParaRPr lang="en-US" sz="3200" b="1" dirty="0">
              <a:solidFill>
                <a:schemeClr val="tx1">
                  <a:lumMod val="85000"/>
                  <a:lumOff val="15000"/>
                </a:schemeClr>
              </a:solidFill>
              <a:latin typeface="Rockwell" panose="02060603020205020403" pitchFamily="18" charset="0"/>
            </a:endParaRPr>
          </a:p>
          <a:p>
            <a:endParaRPr lang="en-US" sz="3200" b="1" dirty="0">
              <a:solidFill>
                <a:schemeClr val="tx1">
                  <a:lumMod val="85000"/>
                  <a:lumOff val="15000"/>
                </a:schemeClr>
              </a:solidFill>
              <a:latin typeface="Rockwell" panose="02060603020205020403" pitchFamily="18" charset="0"/>
            </a:endParaRPr>
          </a:p>
          <a:p>
            <a:endParaRPr lang="en-US" sz="3200" b="1" dirty="0">
              <a:solidFill>
                <a:schemeClr val="tx1">
                  <a:lumMod val="85000"/>
                  <a:lumOff val="15000"/>
                </a:schemeClr>
              </a:solidFill>
              <a:latin typeface="Rockwell" panose="02060603020205020403" pitchFamily="18" charset="0"/>
            </a:endParaRPr>
          </a:p>
          <a:p>
            <a:endParaRPr lang="en-US" dirty="0">
              <a:solidFill>
                <a:schemeClr val="tx1">
                  <a:lumMod val="85000"/>
                  <a:lumOff val="15000"/>
                </a:schemeClr>
              </a:solidFill>
              <a:latin typeface="Rockwell" panose="020606030202050204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60A5335-90B0-4721-9DF2-DAC6E50A9D6B}"/>
              </a:ext>
            </a:extLst>
          </p:cNvPr>
          <p:cNvSpPr>
            <a:spLocks noGrp="1"/>
          </p:cNvSpPr>
          <p:nvPr>
            <p:ph type="title"/>
          </p:nvPr>
        </p:nvSpPr>
        <p:spPr>
          <a:xfrm>
            <a:off x="0" y="0"/>
            <a:ext cx="12192000" cy="1353845"/>
          </a:xfrm>
          <a:solidFill>
            <a:srgbClr val="FF0000"/>
          </a:solidFill>
        </p:spPr>
        <p:txBody>
          <a:bodyPr/>
          <a:lstStyle/>
          <a:p>
            <a:r>
              <a:rPr lang="en-US" altLang="en-US" b="1" dirty="0">
                <a:solidFill>
                  <a:schemeClr val="bg1"/>
                </a:solidFill>
                <a:latin typeface="Helvetica LT Std" panose="020B0504020202020204" pitchFamily="34" charset="0"/>
              </a:rPr>
              <a:t>               Business Organization</a:t>
            </a:r>
            <a:endParaRPr lang="en-GB" altLang="en-US" b="1" dirty="0">
              <a:solidFill>
                <a:schemeClr val="bg1"/>
              </a:solidFill>
              <a:latin typeface="Helvetica LT Std" panose="020B0504020202020204" pitchFamily="34" charset="0"/>
            </a:endParaRPr>
          </a:p>
        </p:txBody>
      </p:sp>
      <p:sp>
        <p:nvSpPr>
          <p:cNvPr id="12291" name="Content Placeholder 2">
            <a:extLst>
              <a:ext uri="{FF2B5EF4-FFF2-40B4-BE49-F238E27FC236}">
                <a16:creationId xmlns:a16="http://schemas.microsoft.com/office/drawing/2014/main" id="{479A4D99-075B-46C2-A361-1B295BECF3D1}"/>
              </a:ext>
            </a:extLst>
          </p:cNvPr>
          <p:cNvSpPr>
            <a:spLocks noGrp="1"/>
          </p:cNvSpPr>
          <p:nvPr>
            <p:ph idx="1"/>
          </p:nvPr>
        </p:nvSpPr>
        <p:spPr>
          <a:xfrm>
            <a:off x="1004264" y="1724591"/>
            <a:ext cx="9881826" cy="1640844"/>
          </a:xfrm>
        </p:spPr>
        <p:txBody>
          <a:bodyPr/>
          <a:lstStyle/>
          <a:p>
            <a:pPr>
              <a:buFont typeface="Wingdings" panose="05000000000000000000" pitchFamily="2" charset="2"/>
              <a:buChar char="§"/>
            </a:pPr>
            <a:r>
              <a:rPr lang="en-US" altLang="en-US" dirty="0">
                <a:latin typeface="Helvetica LT Std" panose="020B0504020202020204" pitchFamily="34" charset="0"/>
              </a:rPr>
              <a:t>A business organization is a, </a:t>
            </a:r>
            <a:r>
              <a:rPr lang="en-US" altLang="en-US" b="1" dirty="0">
                <a:latin typeface="Helvetica LT Std" panose="020B0504020202020204" pitchFamily="34" charset="0"/>
              </a:rPr>
              <a:t>group of people </a:t>
            </a:r>
            <a:r>
              <a:rPr lang="en-US" altLang="en-US" dirty="0">
                <a:latin typeface="Helvetica LT Std" panose="020B0504020202020204" pitchFamily="34" charset="0"/>
              </a:rPr>
              <a:t>working together to satisfy </a:t>
            </a:r>
            <a:r>
              <a:rPr lang="en-US" altLang="en-US" b="1" dirty="0">
                <a:latin typeface="Helvetica LT Std" panose="020B0504020202020204" pitchFamily="34" charset="0"/>
              </a:rPr>
              <a:t>human needs </a:t>
            </a:r>
            <a:r>
              <a:rPr lang="en-US" altLang="en-US" dirty="0">
                <a:latin typeface="Helvetica LT Std" panose="020B0504020202020204" pitchFamily="34" charset="0"/>
              </a:rPr>
              <a:t>and </a:t>
            </a:r>
            <a:r>
              <a:rPr lang="en-US" altLang="en-US" b="1" dirty="0">
                <a:latin typeface="Helvetica LT Std" panose="020B0504020202020204" pitchFamily="34" charset="0"/>
              </a:rPr>
              <a:t>wants</a:t>
            </a:r>
            <a:r>
              <a:rPr lang="en-US" altLang="en-US" dirty="0">
                <a:latin typeface="Helvetica LT Std" panose="020B0504020202020204" pitchFamily="34" charset="0"/>
              </a:rPr>
              <a:t> by producing </a:t>
            </a:r>
            <a:r>
              <a:rPr lang="en-US" altLang="en-US" b="1" dirty="0">
                <a:latin typeface="Helvetica LT Std" panose="020B0504020202020204" pitchFamily="34" charset="0"/>
              </a:rPr>
              <a:t>goods</a:t>
            </a:r>
            <a:r>
              <a:rPr lang="en-US" altLang="en-US" dirty="0">
                <a:latin typeface="Helvetica LT Std" panose="020B0504020202020204" pitchFamily="34" charset="0"/>
              </a:rPr>
              <a:t> and </a:t>
            </a:r>
            <a:r>
              <a:rPr lang="en-US" altLang="en-US" b="1" dirty="0">
                <a:latin typeface="Helvetica LT Std" panose="020B0504020202020204" pitchFamily="34" charset="0"/>
              </a:rPr>
              <a:t>services</a:t>
            </a:r>
            <a:r>
              <a:rPr lang="en-US" altLang="en-US" dirty="0">
                <a:latin typeface="Helvetica LT Std" panose="020B0504020202020204" pitchFamily="34" charset="0"/>
              </a:rPr>
              <a:t> with a common objective of </a:t>
            </a:r>
            <a:r>
              <a:rPr lang="en-US" altLang="en-US" b="1" dirty="0">
                <a:latin typeface="Helvetica LT Std" panose="020B0504020202020204" pitchFamily="34" charset="0"/>
              </a:rPr>
              <a:t>profit maximization</a:t>
            </a:r>
            <a:r>
              <a:rPr lang="en-US" altLang="en-US" dirty="0">
                <a:latin typeface="Helvetica LT Std" panose="020B0504020202020204" pitchFamily="34" charset="0"/>
              </a:rPr>
              <a:t>.</a:t>
            </a:r>
          </a:p>
          <a:p>
            <a:pPr marL="0" indent="0">
              <a:buNone/>
            </a:pPr>
            <a:endParaRPr lang="en-GB" altLang="en-US" dirty="0"/>
          </a:p>
        </p:txBody>
      </p:sp>
      <p:sp>
        <p:nvSpPr>
          <p:cNvPr id="12292" name="TextBox 8">
            <a:extLst>
              <a:ext uri="{FF2B5EF4-FFF2-40B4-BE49-F238E27FC236}">
                <a16:creationId xmlns:a16="http://schemas.microsoft.com/office/drawing/2014/main" id="{35C70211-63A2-4AB1-BA42-3EF03689E530}"/>
              </a:ext>
            </a:extLst>
          </p:cNvPr>
          <p:cNvSpPr txBox="1">
            <a:spLocks noChangeArrowheads="1"/>
          </p:cNvSpPr>
          <p:nvPr/>
        </p:nvSpPr>
        <p:spPr bwMode="auto">
          <a:xfrm>
            <a:off x="0" y="6313487"/>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dirty="0">
              <a:solidFill>
                <a:schemeClr val="bg1"/>
              </a:solidFill>
              <a:latin typeface="Arial" panose="020B0604020202020204" pitchFamily="34" charset="0"/>
            </a:endParaRPr>
          </a:p>
        </p:txBody>
      </p:sp>
      <p:sp>
        <p:nvSpPr>
          <p:cNvPr id="2" name="Content Placeholder 2">
            <a:extLst>
              <a:ext uri="{FF2B5EF4-FFF2-40B4-BE49-F238E27FC236}">
                <a16:creationId xmlns:a16="http://schemas.microsoft.com/office/drawing/2014/main" id="{A2A2AA6C-2E9D-3099-D592-0E52638900CD}"/>
              </a:ext>
            </a:extLst>
          </p:cNvPr>
          <p:cNvSpPr txBox="1">
            <a:spLocks/>
          </p:cNvSpPr>
          <p:nvPr/>
        </p:nvSpPr>
        <p:spPr>
          <a:xfrm>
            <a:off x="3532860" y="3575162"/>
            <a:ext cx="5312560" cy="273832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tLang="en-US" b="1" dirty="0"/>
              <a:t>List goals of a business organization. </a:t>
            </a:r>
          </a:p>
          <a:p>
            <a:pPr>
              <a:buNone/>
            </a:pPr>
            <a:r>
              <a:rPr lang="en-US" altLang="en-US" dirty="0"/>
              <a:t>1. Financial goals</a:t>
            </a:r>
          </a:p>
          <a:p>
            <a:pPr>
              <a:buNone/>
            </a:pPr>
            <a:r>
              <a:rPr lang="en-US" altLang="en-US" dirty="0"/>
              <a:t>2. Growth goals</a:t>
            </a:r>
          </a:p>
          <a:p>
            <a:pPr>
              <a:buNone/>
            </a:pPr>
            <a:r>
              <a:rPr lang="en-US" altLang="en-US" dirty="0"/>
              <a:t>3. Customer goals</a:t>
            </a:r>
          </a:p>
          <a:p>
            <a:pPr>
              <a:buNone/>
            </a:pPr>
            <a:r>
              <a:rPr lang="en-US" altLang="en-US" dirty="0"/>
              <a:t>4. Employee development goals</a:t>
            </a:r>
          </a:p>
          <a:p>
            <a:pPr>
              <a:buNone/>
            </a:pPr>
            <a:r>
              <a:rPr lang="en-US" altLang="en-US" dirty="0"/>
              <a:t>5. Social goals</a:t>
            </a:r>
          </a:p>
          <a:p>
            <a:pPr marL="0" indent="0">
              <a:buFont typeface="Arial" panose="020B0604020202020204" pitchFamily="34" charset="0"/>
              <a:buNone/>
            </a:pPr>
            <a:endParaRPr lang="en-GB"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3" descr="money_tree5">
            <a:extLst>
              <a:ext uri="{FF2B5EF4-FFF2-40B4-BE49-F238E27FC236}">
                <a16:creationId xmlns:a16="http://schemas.microsoft.com/office/drawing/2014/main" id="{A184616A-DC0E-49A9-BFCA-870AC3CAE5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18322"/>
            <a:ext cx="2765071" cy="2497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11" descr="labor-charge">
            <a:extLst>
              <a:ext uri="{FF2B5EF4-FFF2-40B4-BE49-F238E27FC236}">
                <a16:creationId xmlns:a16="http://schemas.microsoft.com/office/drawing/2014/main" id="{DC7FE852-3EA8-4752-98BC-2407926CAD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11600"/>
            <a:ext cx="2946400"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7" descr="life-and-land_r2_c2">
            <a:extLst>
              <a:ext uri="{FF2B5EF4-FFF2-40B4-BE49-F238E27FC236}">
                <a16:creationId xmlns:a16="http://schemas.microsoft.com/office/drawing/2014/main" id="{6D768B12-26F6-4ADF-A60A-9B9BD752EA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2062" y="875635"/>
            <a:ext cx="22320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itle 1">
            <a:extLst>
              <a:ext uri="{FF2B5EF4-FFF2-40B4-BE49-F238E27FC236}">
                <a16:creationId xmlns:a16="http://schemas.microsoft.com/office/drawing/2014/main" id="{0F6B279F-AAF8-467F-9FD9-A6C9F6605E5D}"/>
              </a:ext>
            </a:extLst>
          </p:cNvPr>
          <p:cNvSpPr>
            <a:spLocks noGrp="1"/>
          </p:cNvSpPr>
          <p:nvPr>
            <p:ph type="title"/>
          </p:nvPr>
        </p:nvSpPr>
        <p:spPr>
          <a:xfrm>
            <a:off x="2488474" y="147267"/>
            <a:ext cx="6174678" cy="868362"/>
          </a:xfrm>
        </p:spPr>
        <p:txBody>
          <a:bodyPr/>
          <a:lstStyle/>
          <a:p>
            <a:r>
              <a:rPr lang="en-US" altLang="en-US" b="1" dirty="0">
                <a:latin typeface="Helvetica LT Std" panose="020B0504020202020204" pitchFamily="34" charset="0"/>
              </a:rPr>
              <a:t>Productive Resources </a:t>
            </a:r>
          </a:p>
        </p:txBody>
      </p:sp>
      <p:graphicFrame>
        <p:nvGraphicFramePr>
          <p:cNvPr id="4" name="Diagram 3">
            <a:extLst>
              <a:ext uri="{FF2B5EF4-FFF2-40B4-BE49-F238E27FC236}">
                <a16:creationId xmlns:a16="http://schemas.microsoft.com/office/drawing/2014/main" id="{BEDBBF5E-4283-4A89-BCF5-256541EC935A}"/>
              </a:ext>
            </a:extLst>
          </p:cNvPr>
          <p:cNvGraphicFramePr/>
          <p:nvPr>
            <p:extLst>
              <p:ext uri="{D42A27DB-BD31-4B8C-83A1-F6EECF244321}">
                <p14:modId xmlns:p14="http://schemas.microsoft.com/office/powerpoint/2010/main" val="2938471511"/>
              </p:ext>
            </p:extLst>
          </p:nvPr>
        </p:nvGraphicFramePr>
        <p:xfrm>
          <a:off x="2351088" y="1022902"/>
          <a:ext cx="7480374" cy="49594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6391" name="TextBox 4">
            <a:extLst>
              <a:ext uri="{FF2B5EF4-FFF2-40B4-BE49-F238E27FC236}">
                <a16:creationId xmlns:a16="http://schemas.microsoft.com/office/drawing/2014/main" id="{C176613B-FCEE-4D6A-84AB-F2AE6F68A5BF}"/>
              </a:ext>
            </a:extLst>
          </p:cNvPr>
          <p:cNvSpPr txBox="1">
            <a:spLocks noChangeArrowheads="1"/>
          </p:cNvSpPr>
          <p:nvPr/>
        </p:nvSpPr>
        <p:spPr bwMode="auto">
          <a:xfrm>
            <a:off x="3074276" y="6189341"/>
            <a:ext cx="87598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latin typeface="Helvetica LT Std" panose="020B0504020202020204" pitchFamily="34" charset="0"/>
              </a:rPr>
              <a:t>OC: Cost of acquiring and using the four productive resources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6743F96F-AA80-4841-BD59-4C9E511F4711}"/>
              </a:ext>
            </a:extLst>
          </p:cNvPr>
          <p:cNvGraphicFramePr>
            <a:graphicFrameLocks noGrp="1"/>
          </p:cNvGraphicFramePr>
          <p:nvPr>
            <p:ph idx="1"/>
            <p:extLst>
              <p:ext uri="{D42A27DB-BD31-4B8C-83A1-F6EECF244321}">
                <p14:modId xmlns:p14="http://schemas.microsoft.com/office/powerpoint/2010/main" val="2944890206"/>
              </p:ext>
            </p:extLst>
          </p:nvPr>
        </p:nvGraphicFramePr>
        <p:xfrm>
          <a:off x="1981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411" name="Title 1">
            <a:extLst>
              <a:ext uri="{FF2B5EF4-FFF2-40B4-BE49-F238E27FC236}">
                <a16:creationId xmlns:a16="http://schemas.microsoft.com/office/drawing/2014/main" id="{508796D3-4EB3-41B1-823B-CBD083B15A23}"/>
              </a:ext>
            </a:extLst>
          </p:cNvPr>
          <p:cNvSpPr>
            <a:spLocks noGrp="1"/>
          </p:cNvSpPr>
          <p:nvPr>
            <p:ph type="title"/>
          </p:nvPr>
        </p:nvSpPr>
        <p:spPr/>
        <p:txBody>
          <a:bodyPr>
            <a:normAutofit/>
          </a:bodyPr>
          <a:lstStyle/>
          <a:p>
            <a:r>
              <a:rPr lang="en-US" altLang="en-US" sz="4000" b="1" dirty="0">
                <a:latin typeface="Helvetica LT Std" panose="020B0504020202020204" pitchFamily="34" charset="0"/>
              </a:rPr>
              <a:t>Business Functions; buy, make, sell, trade</a:t>
            </a:r>
          </a:p>
        </p:txBody>
      </p:sp>
      <p:sp>
        <p:nvSpPr>
          <p:cNvPr id="8" name="TextBox 7">
            <a:extLst>
              <a:ext uri="{FF2B5EF4-FFF2-40B4-BE49-F238E27FC236}">
                <a16:creationId xmlns:a16="http://schemas.microsoft.com/office/drawing/2014/main" id="{704A254A-EF3D-466D-B0D6-3542846C1BAD}"/>
              </a:ext>
            </a:extLst>
          </p:cNvPr>
          <p:cNvSpPr txBox="1"/>
          <p:nvPr/>
        </p:nvSpPr>
        <p:spPr>
          <a:xfrm>
            <a:off x="1952596" y="3279346"/>
            <a:ext cx="1857388" cy="2585323"/>
          </a:xfrm>
          <a:prstGeom prst="rect">
            <a:avLst/>
          </a:prstGeom>
        </p:spPr>
        <p:style>
          <a:lnRef idx="0">
            <a:scrgbClr r="0" g="0" b="0"/>
          </a:lnRef>
          <a:fillRef idx="1003">
            <a:schemeClr val="lt2"/>
          </a:fillRef>
          <a:effectRef idx="0">
            <a:scrgbClr r="0" g="0" b="0"/>
          </a:effectRef>
          <a:fontRef idx="major"/>
        </p:style>
        <p:txBody>
          <a:bodyPr>
            <a:spAutoFit/>
          </a:bodyPr>
          <a:lstStyle/>
          <a:p>
            <a:pPr eaLnBrk="1" hangingPunct="1">
              <a:defRPr/>
            </a:pPr>
            <a:r>
              <a:rPr lang="en-US" dirty="0">
                <a:latin typeface="Helvetica LT Std" panose="020B0504020202020204" pitchFamily="34" charset="0"/>
              </a:rPr>
              <a:t>Labor </a:t>
            </a:r>
          </a:p>
          <a:p>
            <a:pPr eaLnBrk="1" hangingPunct="1">
              <a:defRPr/>
            </a:pPr>
            <a:r>
              <a:rPr lang="en-US" dirty="0">
                <a:latin typeface="Helvetica LT Std" panose="020B0504020202020204" pitchFamily="34" charset="0"/>
              </a:rPr>
              <a:t>Material </a:t>
            </a:r>
          </a:p>
          <a:p>
            <a:pPr eaLnBrk="1" hangingPunct="1">
              <a:defRPr/>
            </a:pPr>
            <a:r>
              <a:rPr lang="en-US" dirty="0">
                <a:latin typeface="Helvetica LT Std" panose="020B0504020202020204" pitchFamily="34" charset="0"/>
              </a:rPr>
              <a:t>Capital</a:t>
            </a:r>
          </a:p>
          <a:p>
            <a:pPr eaLnBrk="1" hangingPunct="1">
              <a:defRPr/>
            </a:pPr>
            <a:r>
              <a:rPr lang="en-US" dirty="0">
                <a:latin typeface="Helvetica LT Std" panose="020B0504020202020204" pitchFamily="34" charset="0"/>
              </a:rPr>
              <a:t>Technology </a:t>
            </a:r>
          </a:p>
          <a:p>
            <a:pPr eaLnBrk="1" hangingPunct="1">
              <a:defRPr/>
            </a:pPr>
            <a:r>
              <a:rPr lang="en-US" dirty="0">
                <a:latin typeface="Helvetica LT Std" panose="020B0504020202020204" pitchFamily="34" charset="0"/>
              </a:rPr>
              <a:t>Equipment and machineries </a:t>
            </a:r>
          </a:p>
          <a:p>
            <a:pPr eaLnBrk="1" hangingPunct="1">
              <a:defRPr/>
            </a:pPr>
            <a:r>
              <a:rPr lang="en-US" dirty="0">
                <a:latin typeface="Helvetica LT Std" panose="020B0504020202020204" pitchFamily="34" charset="0"/>
              </a:rPr>
              <a:t>Knowledge and information etc </a:t>
            </a:r>
          </a:p>
          <a:p>
            <a:pPr eaLnBrk="1" hangingPunct="1">
              <a:defRPr/>
            </a:pPr>
            <a:endParaRPr lang="en-US" dirty="0"/>
          </a:p>
        </p:txBody>
      </p:sp>
      <p:sp>
        <p:nvSpPr>
          <p:cNvPr id="9" name="TextBox 8">
            <a:extLst>
              <a:ext uri="{FF2B5EF4-FFF2-40B4-BE49-F238E27FC236}">
                <a16:creationId xmlns:a16="http://schemas.microsoft.com/office/drawing/2014/main" id="{412600DD-177A-43D2-AD14-0456DB55C093}"/>
              </a:ext>
            </a:extLst>
          </p:cNvPr>
          <p:cNvSpPr txBox="1"/>
          <p:nvPr/>
        </p:nvSpPr>
        <p:spPr>
          <a:xfrm>
            <a:off x="4787280" y="3355161"/>
            <a:ext cx="2428892" cy="2862322"/>
          </a:xfrm>
          <a:prstGeom prst="rect">
            <a:avLst/>
          </a:prstGeom>
        </p:spPr>
        <p:style>
          <a:lnRef idx="0">
            <a:scrgbClr r="0" g="0" b="0"/>
          </a:lnRef>
          <a:fillRef idx="1003">
            <a:schemeClr val="lt2"/>
          </a:fillRef>
          <a:effectRef idx="0">
            <a:scrgbClr r="0" g="0" b="0"/>
          </a:effectRef>
          <a:fontRef idx="major"/>
        </p:style>
        <p:txBody>
          <a:bodyPr>
            <a:spAutoFit/>
          </a:bodyPr>
          <a:lstStyle/>
          <a:p>
            <a:pPr eaLnBrk="1" hangingPunct="1">
              <a:defRPr/>
            </a:pPr>
            <a:r>
              <a:rPr lang="en-US" dirty="0">
                <a:latin typeface="Helvetica LT Std" panose="020B0504020202020204" pitchFamily="34" charset="0"/>
              </a:rPr>
              <a:t>Warehouse </a:t>
            </a:r>
          </a:p>
          <a:p>
            <a:pPr eaLnBrk="1" hangingPunct="1">
              <a:defRPr/>
            </a:pPr>
            <a:r>
              <a:rPr lang="en-US" dirty="0">
                <a:latin typeface="Helvetica LT Std" panose="020B0504020202020204" pitchFamily="34" charset="0"/>
              </a:rPr>
              <a:t>Production and operations </a:t>
            </a:r>
          </a:p>
          <a:p>
            <a:pPr eaLnBrk="1" hangingPunct="1">
              <a:defRPr/>
            </a:pPr>
            <a:r>
              <a:rPr lang="en-US" dirty="0">
                <a:latin typeface="Helvetica LT Std" panose="020B0504020202020204" pitchFamily="34" charset="0"/>
              </a:rPr>
              <a:t>Marketing </a:t>
            </a:r>
          </a:p>
          <a:p>
            <a:pPr eaLnBrk="1" hangingPunct="1">
              <a:defRPr/>
            </a:pPr>
            <a:r>
              <a:rPr lang="en-US" dirty="0">
                <a:latin typeface="Helvetica LT Std" panose="020B0504020202020204" pitchFamily="34" charset="0"/>
              </a:rPr>
              <a:t>Financing and accounting </a:t>
            </a:r>
          </a:p>
          <a:p>
            <a:pPr eaLnBrk="1" hangingPunct="1">
              <a:defRPr/>
            </a:pPr>
            <a:r>
              <a:rPr lang="en-US" dirty="0">
                <a:latin typeface="Helvetica LT Std" panose="020B0504020202020204" pitchFamily="34" charset="0"/>
              </a:rPr>
              <a:t>Human resource management etc</a:t>
            </a:r>
          </a:p>
          <a:p>
            <a:pPr eaLnBrk="1" hangingPunct="1">
              <a:defRPr/>
            </a:pPr>
            <a:r>
              <a:rPr lang="en-US" dirty="0">
                <a:latin typeface="Helvetica LT Std" panose="020B0504020202020204" pitchFamily="34" charset="0"/>
              </a:rPr>
              <a:t>Research and development (R&amp;D)</a:t>
            </a:r>
          </a:p>
        </p:txBody>
      </p:sp>
      <p:sp>
        <p:nvSpPr>
          <p:cNvPr id="10" name="TextBox 9">
            <a:extLst>
              <a:ext uri="{FF2B5EF4-FFF2-40B4-BE49-F238E27FC236}">
                <a16:creationId xmlns:a16="http://schemas.microsoft.com/office/drawing/2014/main" id="{E433E7A3-299E-4659-8E8B-6A54EE7BA615}"/>
              </a:ext>
            </a:extLst>
          </p:cNvPr>
          <p:cNvSpPr txBox="1"/>
          <p:nvPr/>
        </p:nvSpPr>
        <p:spPr>
          <a:xfrm>
            <a:off x="8034825" y="3904782"/>
            <a:ext cx="2428892" cy="1477328"/>
          </a:xfrm>
          <a:prstGeom prst="rect">
            <a:avLst/>
          </a:prstGeom>
        </p:spPr>
        <p:style>
          <a:lnRef idx="0">
            <a:scrgbClr r="0" g="0" b="0"/>
          </a:lnRef>
          <a:fillRef idx="1002">
            <a:schemeClr val="dk1"/>
          </a:fillRef>
          <a:effectRef idx="0">
            <a:scrgbClr r="0" g="0" b="0"/>
          </a:effectRef>
          <a:fontRef idx="major"/>
        </p:style>
        <p:txBody>
          <a:bodyPr>
            <a:spAutoFit/>
          </a:bodyPr>
          <a:lstStyle/>
          <a:p>
            <a:pPr eaLnBrk="1" hangingPunct="1">
              <a:defRPr/>
            </a:pPr>
            <a:r>
              <a:rPr lang="en-US" dirty="0">
                <a:solidFill>
                  <a:schemeClr val="bg1"/>
                </a:solidFill>
                <a:latin typeface="Helvetica LT Std" panose="020B0504020202020204" pitchFamily="34" charset="0"/>
              </a:rPr>
              <a:t>Selling and distribution </a:t>
            </a:r>
          </a:p>
          <a:p>
            <a:pPr eaLnBrk="1" hangingPunct="1">
              <a:defRPr/>
            </a:pPr>
            <a:r>
              <a:rPr lang="en-US" dirty="0">
                <a:solidFill>
                  <a:schemeClr val="bg1"/>
                </a:solidFill>
                <a:latin typeface="Helvetica LT Std" panose="020B0504020202020204" pitchFamily="34" charset="0"/>
              </a:rPr>
              <a:t>Exchange, trade of goods and services  </a:t>
            </a:r>
          </a:p>
          <a:p>
            <a:pPr eaLnBrk="1" hangingPunct="1">
              <a:defRPr/>
            </a:pPr>
            <a:r>
              <a:rPr lang="en-US" dirty="0">
                <a:solidFill>
                  <a:schemeClr val="bg1"/>
                </a:solidFill>
                <a:latin typeface="Helvetica LT Std" panose="020B0504020202020204" pitchFamily="34" charset="0"/>
              </a:rPr>
              <a:t>  </a:t>
            </a:r>
          </a:p>
        </p:txBody>
      </p:sp>
      <p:sp>
        <p:nvSpPr>
          <p:cNvPr id="12" name="Right Arrow 11">
            <a:extLst>
              <a:ext uri="{FF2B5EF4-FFF2-40B4-BE49-F238E27FC236}">
                <a16:creationId xmlns:a16="http://schemas.microsoft.com/office/drawing/2014/main" id="{5962F6F7-00A0-441B-B823-56460E043157}"/>
              </a:ext>
            </a:extLst>
          </p:cNvPr>
          <p:cNvSpPr/>
          <p:nvPr/>
        </p:nvSpPr>
        <p:spPr>
          <a:xfrm>
            <a:off x="7216159" y="4357694"/>
            <a:ext cx="724379" cy="428628"/>
          </a:xfrm>
          <a:prstGeom prst="rightArrow">
            <a:avLst/>
          </a:prstGeom>
        </p:spPr>
        <p:style>
          <a:lnRef idx="2">
            <a:schemeClr val="accent1">
              <a:shade val="50000"/>
            </a:schemeClr>
          </a:lnRef>
          <a:fillRef idx="1002">
            <a:schemeClr val="dk2"/>
          </a:fillRef>
          <a:effectRef idx="0">
            <a:schemeClr val="accent1"/>
          </a:effectRef>
          <a:fontRef idx="minor">
            <a:schemeClr val="lt1"/>
          </a:fontRef>
        </p:style>
        <p:txBody>
          <a:bodyPr anchor="ctr"/>
          <a:lstStyle/>
          <a:p>
            <a:pPr algn="ctr" eaLnBrk="1" hangingPunct="1">
              <a:defRPr/>
            </a:pPr>
            <a:endParaRPr lang="en-US" dirty="0"/>
          </a:p>
        </p:txBody>
      </p:sp>
      <p:sp>
        <p:nvSpPr>
          <p:cNvPr id="13" name="Right Arrow 12">
            <a:extLst>
              <a:ext uri="{FF2B5EF4-FFF2-40B4-BE49-F238E27FC236}">
                <a16:creationId xmlns:a16="http://schemas.microsoft.com/office/drawing/2014/main" id="{2A4B658B-C6A9-4E28-A47E-4C8C01121CC2}"/>
              </a:ext>
            </a:extLst>
          </p:cNvPr>
          <p:cNvSpPr/>
          <p:nvPr/>
        </p:nvSpPr>
        <p:spPr>
          <a:xfrm>
            <a:off x="3809984" y="4357694"/>
            <a:ext cx="818653" cy="428628"/>
          </a:xfrm>
          <a:prstGeom prst="rightArrow">
            <a:avLst/>
          </a:prstGeom>
        </p:spPr>
        <p:style>
          <a:lnRef idx="2">
            <a:schemeClr val="accent1">
              <a:shade val="50000"/>
            </a:schemeClr>
          </a:lnRef>
          <a:fillRef idx="1002">
            <a:schemeClr val="dk2"/>
          </a:fillRef>
          <a:effectRef idx="0">
            <a:schemeClr val="accent1"/>
          </a:effectRef>
          <a:fontRef idx="minor">
            <a:schemeClr val="lt1"/>
          </a:fontRef>
        </p:style>
        <p:txBody>
          <a:bodyPr anchor="ctr"/>
          <a:lstStyle/>
          <a:p>
            <a:pPr algn="ctr" eaLnBrk="1" hangingPunct="1">
              <a:defRPr/>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E48F57F-DB44-4F58-8808-C19C2BEBA190}"/>
              </a:ext>
            </a:extLst>
          </p:cNvPr>
          <p:cNvSpPr>
            <a:spLocks noGrp="1"/>
          </p:cNvSpPr>
          <p:nvPr>
            <p:ph type="title"/>
          </p:nvPr>
        </p:nvSpPr>
        <p:spPr>
          <a:xfrm>
            <a:off x="0" y="0"/>
            <a:ext cx="12192000" cy="1143000"/>
          </a:xfrm>
          <a:solidFill>
            <a:srgbClr val="BD4FA0"/>
          </a:solidFill>
        </p:spPr>
        <p:txBody>
          <a:bodyPr/>
          <a:lstStyle/>
          <a:p>
            <a:r>
              <a:rPr lang="en-US" altLang="en-US" b="1" dirty="0">
                <a:solidFill>
                  <a:schemeClr val="bg1"/>
                </a:solidFill>
                <a:latin typeface="Helvetica LT Std" panose="020B0504020202020204" pitchFamily="34" charset="0"/>
              </a:rPr>
              <a:t>     What is the basic economic problem ?</a:t>
            </a:r>
            <a:endParaRPr lang="en-GB" altLang="en-US" b="1" dirty="0">
              <a:solidFill>
                <a:schemeClr val="bg1"/>
              </a:solidFill>
              <a:latin typeface="Helvetica LT Std" panose="020B0504020202020204" pitchFamily="34" charset="0"/>
            </a:endParaRPr>
          </a:p>
        </p:txBody>
      </p:sp>
      <p:sp>
        <p:nvSpPr>
          <p:cNvPr id="18435" name="TextBox 8">
            <a:extLst>
              <a:ext uri="{FF2B5EF4-FFF2-40B4-BE49-F238E27FC236}">
                <a16:creationId xmlns:a16="http://schemas.microsoft.com/office/drawing/2014/main" id="{900E70F5-62EF-4286-9A8C-B499FE3F8581}"/>
              </a:ext>
            </a:extLst>
          </p:cNvPr>
          <p:cNvSpPr txBox="1">
            <a:spLocks noChangeArrowheads="1"/>
          </p:cNvSpPr>
          <p:nvPr/>
        </p:nvSpPr>
        <p:spPr bwMode="auto">
          <a:xfrm>
            <a:off x="0" y="6475967"/>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pic>
        <p:nvPicPr>
          <p:cNvPr id="18436" name="Picture 2">
            <a:extLst>
              <a:ext uri="{FF2B5EF4-FFF2-40B4-BE49-F238E27FC236}">
                <a16:creationId xmlns:a16="http://schemas.microsoft.com/office/drawing/2014/main" id="{AFC2FF0E-A8C9-4E76-8D9D-B6EA1420D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8438" y="1578121"/>
            <a:ext cx="6429375"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E48F57F-DB44-4F58-8808-C19C2BEBA190}"/>
              </a:ext>
            </a:extLst>
          </p:cNvPr>
          <p:cNvSpPr>
            <a:spLocks noGrp="1"/>
          </p:cNvSpPr>
          <p:nvPr>
            <p:ph type="title"/>
          </p:nvPr>
        </p:nvSpPr>
        <p:spPr>
          <a:xfrm>
            <a:off x="0" y="0"/>
            <a:ext cx="12192000" cy="1143000"/>
          </a:xfrm>
          <a:solidFill>
            <a:srgbClr val="D7941B"/>
          </a:solidFill>
        </p:spPr>
        <p:txBody>
          <a:bodyPr/>
          <a:lstStyle/>
          <a:p>
            <a:pPr algn="ctr"/>
            <a:r>
              <a:rPr lang="en-US" altLang="en-US" b="1" dirty="0">
                <a:solidFill>
                  <a:schemeClr val="bg1"/>
                </a:solidFill>
                <a:latin typeface="Helvetica LT Std" panose="020B0504020202020204" pitchFamily="34" charset="0"/>
              </a:rPr>
              <a:t>Scarcity</a:t>
            </a:r>
            <a:endParaRPr lang="en-GB" altLang="en-US" b="1" dirty="0">
              <a:solidFill>
                <a:schemeClr val="bg1"/>
              </a:solidFill>
              <a:latin typeface="Helvetica LT Std" panose="020B0504020202020204" pitchFamily="34" charset="0"/>
            </a:endParaRPr>
          </a:p>
        </p:txBody>
      </p:sp>
      <p:sp>
        <p:nvSpPr>
          <p:cNvPr id="18435" name="TextBox 8">
            <a:extLst>
              <a:ext uri="{FF2B5EF4-FFF2-40B4-BE49-F238E27FC236}">
                <a16:creationId xmlns:a16="http://schemas.microsoft.com/office/drawing/2014/main" id="{900E70F5-62EF-4286-9A8C-B499FE3F8581}"/>
              </a:ext>
            </a:extLst>
          </p:cNvPr>
          <p:cNvSpPr txBox="1">
            <a:spLocks noChangeArrowheads="1"/>
          </p:cNvSpPr>
          <p:nvPr/>
        </p:nvSpPr>
        <p:spPr bwMode="auto">
          <a:xfrm>
            <a:off x="0" y="6475967"/>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sp>
        <p:nvSpPr>
          <p:cNvPr id="3" name="TextBox 2"/>
          <p:cNvSpPr txBox="1"/>
          <p:nvPr/>
        </p:nvSpPr>
        <p:spPr>
          <a:xfrm>
            <a:off x="1278774" y="1440186"/>
            <a:ext cx="9501447" cy="1754326"/>
          </a:xfrm>
          <a:prstGeom prst="rect">
            <a:avLst/>
          </a:prstGeom>
          <a:noFill/>
        </p:spPr>
        <p:txBody>
          <a:bodyPr wrap="square" rtlCol="0">
            <a:spAutoFit/>
          </a:bodyPr>
          <a:lstStyle/>
          <a:p>
            <a:pPr algn="ctr"/>
            <a:r>
              <a:rPr lang="en-US" sz="3600" dirty="0">
                <a:latin typeface="Helvetica LT Std" panose="020B0504020202020204" pitchFamily="34" charset="0"/>
              </a:rPr>
              <a:t>A limited amount of resources to meet an unlimited amount of wants and needs.</a:t>
            </a:r>
          </a:p>
          <a:p>
            <a:pPr algn="ctr"/>
            <a:r>
              <a:rPr lang="en-US" sz="3600" b="1" dirty="0">
                <a:latin typeface="Helvetica LT Std" panose="020B0504020202020204" pitchFamily="34" charset="0"/>
              </a:rPr>
              <a:t>Everything is scarce..!</a:t>
            </a:r>
          </a:p>
        </p:txBody>
      </p:sp>
      <p:pic>
        <p:nvPicPr>
          <p:cNvPr id="1026"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6162" y="3873731"/>
            <a:ext cx="4580311" cy="2602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685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E48F57F-DB44-4F58-8808-C19C2BEBA190}"/>
              </a:ext>
            </a:extLst>
          </p:cNvPr>
          <p:cNvSpPr>
            <a:spLocks noGrp="1"/>
          </p:cNvSpPr>
          <p:nvPr>
            <p:ph type="title"/>
          </p:nvPr>
        </p:nvSpPr>
        <p:spPr>
          <a:xfrm>
            <a:off x="0" y="0"/>
            <a:ext cx="12192000" cy="1143000"/>
          </a:xfrm>
          <a:solidFill>
            <a:srgbClr val="C00000"/>
          </a:solidFill>
        </p:spPr>
        <p:txBody>
          <a:bodyPr/>
          <a:lstStyle/>
          <a:p>
            <a:pPr algn="ctr"/>
            <a:r>
              <a:rPr lang="en-US" altLang="en-US" b="1" dirty="0">
                <a:solidFill>
                  <a:schemeClr val="bg1"/>
                </a:solidFill>
                <a:latin typeface="Helvetica LT Std" panose="020B0504020202020204" pitchFamily="34" charset="0"/>
              </a:rPr>
              <a:t>Why do we have scarcity?</a:t>
            </a:r>
            <a:endParaRPr lang="en-GB" altLang="en-US" b="1" dirty="0">
              <a:solidFill>
                <a:schemeClr val="bg1"/>
              </a:solidFill>
              <a:latin typeface="Helvetica LT Std" panose="020B0504020202020204" pitchFamily="34" charset="0"/>
            </a:endParaRPr>
          </a:p>
        </p:txBody>
      </p:sp>
      <p:sp>
        <p:nvSpPr>
          <p:cNvPr id="18435" name="TextBox 8">
            <a:extLst>
              <a:ext uri="{FF2B5EF4-FFF2-40B4-BE49-F238E27FC236}">
                <a16:creationId xmlns:a16="http://schemas.microsoft.com/office/drawing/2014/main" id="{900E70F5-62EF-4286-9A8C-B499FE3F8581}"/>
              </a:ext>
            </a:extLst>
          </p:cNvPr>
          <p:cNvSpPr txBox="1">
            <a:spLocks noChangeArrowheads="1"/>
          </p:cNvSpPr>
          <p:nvPr/>
        </p:nvSpPr>
        <p:spPr bwMode="auto">
          <a:xfrm>
            <a:off x="0" y="6475967"/>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sp>
        <p:nvSpPr>
          <p:cNvPr id="3" name="TextBox 2"/>
          <p:cNvSpPr txBox="1"/>
          <p:nvPr/>
        </p:nvSpPr>
        <p:spPr>
          <a:xfrm>
            <a:off x="1262148" y="1606441"/>
            <a:ext cx="9501447" cy="3970318"/>
          </a:xfrm>
          <a:prstGeom prst="rect">
            <a:avLst/>
          </a:prstGeom>
          <a:noFill/>
        </p:spPr>
        <p:txBody>
          <a:bodyPr wrap="square" rtlCol="0">
            <a:spAutoFit/>
          </a:bodyPr>
          <a:lstStyle/>
          <a:p>
            <a:pPr algn="ctr"/>
            <a:r>
              <a:rPr lang="en-US" sz="3600" dirty="0">
                <a:latin typeface="Helvetica LT Std" panose="020B0504020202020204" pitchFamily="34" charset="0"/>
              </a:rPr>
              <a:t>We have unlimited wants and needs but limited resources create scarcity.</a:t>
            </a:r>
          </a:p>
          <a:p>
            <a:pPr algn="ctr"/>
            <a:endParaRPr lang="en-US" sz="3600" dirty="0">
              <a:latin typeface="Helvetica LT Std" panose="020B0504020202020204" pitchFamily="34" charset="0"/>
            </a:endParaRPr>
          </a:p>
          <a:p>
            <a:pPr algn="ctr"/>
            <a:r>
              <a:rPr lang="en-US" sz="3600" dirty="0">
                <a:latin typeface="Helvetica LT Std" panose="020B0504020202020204" pitchFamily="34" charset="0"/>
              </a:rPr>
              <a:t>So we need to make choices </a:t>
            </a:r>
          </a:p>
          <a:p>
            <a:pPr algn="ctr"/>
            <a:r>
              <a:rPr lang="en-US" sz="3600" b="1" dirty="0">
                <a:latin typeface="Helvetica LT Std" panose="020B0504020202020204" pitchFamily="34" charset="0"/>
              </a:rPr>
              <a:t>What</a:t>
            </a:r>
            <a:r>
              <a:rPr lang="en-US" sz="3600" dirty="0">
                <a:latin typeface="Helvetica LT Std" panose="020B0504020202020204" pitchFamily="34" charset="0"/>
              </a:rPr>
              <a:t> to produce</a:t>
            </a:r>
          </a:p>
          <a:p>
            <a:pPr algn="ctr"/>
            <a:r>
              <a:rPr lang="en-US" sz="3600" b="1" dirty="0">
                <a:latin typeface="Helvetica LT Std" panose="020B0504020202020204" pitchFamily="34" charset="0"/>
              </a:rPr>
              <a:t>How</a:t>
            </a:r>
            <a:r>
              <a:rPr lang="en-US" sz="3600" dirty="0">
                <a:latin typeface="Helvetica LT Std" panose="020B0504020202020204" pitchFamily="34" charset="0"/>
              </a:rPr>
              <a:t> to produce</a:t>
            </a:r>
          </a:p>
          <a:p>
            <a:pPr algn="ctr"/>
            <a:r>
              <a:rPr lang="en-US" sz="3600" dirty="0">
                <a:latin typeface="Helvetica LT Std" panose="020B0504020202020204" pitchFamily="34" charset="0"/>
              </a:rPr>
              <a:t>For </a:t>
            </a:r>
            <a:r>
              <a:rPr lang="en-US" sz="3600" b="1" dirty="0">
                <a:latin typeface="Helvetica LT Std" panose="020B0504020202020204" pitchFamily="34" charset="0"/>
              </a:rPr>
              <a:t>whom</a:t>
            </a:r>
            <a:r>
              <a:rPr lang="en-US" sz="3600" dirty="0">
                <a:latin typeface="Helvetica LT Std" panose="020B0504020202020204" pitchFamily="34" charset="0"/>
              </a:rPr>
              <a:t> to produce.</a:t>
            </a:r>
          </a:p>
        </p:txBody>
      </p:sp>
    </p:spTree>
    <p:extLst>
      <p:ext uri="{BB962C8B-B14F-4D97-AF65-F5344CB8AC3E}">
        <p14:creationId xmlns:p14="http://schemas.microsoft.com/office/powerpoint/2010/main" val="3444559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E48F57F-DB44-4F58-8808-C19C2BEBA190}"/>
              </a:ext>
            </a:extLst>
          </p:cNvPr>
          <p:cNvSpPr>
            <a:spLocks noGrp="1"/>
          </p:cNvSpPr>
          <p:nvPr>
            <p:ph type="title"/>
          </p:nvPr>
        </p:nvSpPr>
        <p:spPr>
          <a:xfrm>
            <a:off x="0" y="0"/>
            <a:ext cx="12192000" cy="1143000"/>
          </a:xfrm>
          <a:solidFill>
            <a:srgbClr val="0070C0"/>
          </a:solidFill>
        </p:spPr>
        <p:txBody>
          <a:bodyPr/>
          <a:lstStyle/>
          <a:p>
            <a:pPr algn="ctr"/>
            <a:r>
              <a:rPr lang="en-US" altLang="en-US" b="1" dirty="0">
                <a:solidFill>
                  <a:schemeClr val="bg1"/>
                </a:solidFill>
                <a:latin typeface="Helvetica LT Std" panose="020B0504020202020204" pitchFamily="34" charset="0"/>
              </a:rPr>
              <a:t>Opportunity Cost</a:t>
            </a:r>
            <a:endParaRPr lang="en-GB" altLang="en-US" b="1" dirty="0">
              <a:solidFill>
                <a:schemeClr val="bg1"/>
              </a:solidFill>
              <a:latin typeface="Helvetica LT Std" panose="020B0504020202020204" pitchFamily="34" charset="0"/>
            </a:endParaRPr>
          </a:p>
        </p:txBody>
      </p:sp>
      <p:sp>
        <p:nvSpPr>
          <p:cNvPr id="18435" name="TextBox 8">
            <a:extLst>
              <a:ext uri="{FF2B5EF4-FFF2-40B4-BE49-F238E27FC236}">
                <a16:creationId xmlns:a16="http://schemas.microsoft.com/office/drawing/2014/main" id="{900E70F5-62EF-4286-9A8C-B499FE3F8581}"/>
              </a:ext>
            </a:extLst>
          </p:cNvPr>
          <p:cNvSpPr txBox="1">
            <a:spLocks noChangeArrowheads="1"/>
          </p:cNvSpPr>
          <p:nvPr/>
        </p:nvSpPr>
        <p:spPr bwMode="auto">
          <a:xfrm>
            <a:off x="0" y="6475967"/>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sp>
        <p:nvSpPr>
          <p:cNvPr id="3" name="TextBox 2"/>
          <p:cNvSpPr txBox="1"/>
          <p:nvPr/>
        </p:nvSpPr>
        <p:spPr>
          <a:xfrm>
            <a:off x="1129144" y="1591715"/>
            <a:ext cx="9501447" cy="1200329"/>
          </a:xfrm>
          <a:prstGeom prst="rect">
            <a:avLst/>
          </a:prstGeom>
          <a:noFill/>
        </p:spPr>
        <p:txBody>
          <a:bodyPr wrap="square" rtlCol="0">
            <a:spAutoFit/>
          </a:bodyPr>
          <a:lstStyle/>
          <a:p>
            <a:pPr algn="ctr"/>
            <a:r>
              <a:rPr lang="en-US" sz="3600" dirty="0">
                <a:latin typeface="Helvetica LT Std" panose="020B0504020202020204" pitchFamily="34" charset="0"/>
              </a:rPr>
              <a:t>The </a:t>
            </a:r>
            <a:r>
              <a:rPr lang="en-US" sz="3600" b="1" dirty="0">
                <a:latin typeface="Helvetica LT Std" panose="020B0504020202020204" pitchFamily="34" charset="0"/>
              </a:rPr>
              <a:t>best alternative </a:t>
            </a:r>
          </a:p>
          <a:p>
            <a:pPr algn="ctr"/>
            <a:r>
              <a:rPr lang="en-US" sz="3600" dirty="0">
                <a:latin typeface="Helvetica LT Std" panose="020B0504020202020204" pitchFamily="34" charset="0"/>
              </a:rPr>
              <a:t>sacrificed to a </a:t>
            </a:r>
            <a:r>
              <a:rPr lang="en-US" sz="3600" b="1" dirty="0">
                <a:latin typeface="Helvetica LT Std" panose="020B0504020202020204" pitchFamily="34" charset="0"/>
              </a:rPr>
              <a:t>chosen alternative</a:t>
            </a:r>
          </a:p>
        </p:txBody>
      </p:sp>
      <p:pic>
        <p:nvPicPr>
          <p:cNvPr id="2050" name="Picture 2" descr="Pin p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989" y="3067142"/>
            <a:ext cx="7010400" cy="3133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757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72D501C9-C729-423E-86E8-288D1C0EA7DC}"/>
              </a:ext>
            </a:extLst>
          </p:cNvPr>
          <p:cNvSpPr>
            <a:spLocks noGrp="1"/>
          </p:cNvSpPr>
          <p:nvPr>
            <p:ph type="title"/>
          </p:nvPr>
        </p:nvSpPr>
        <p:spPr>
          <a:xfrm>
            <a:off x="0" y="0"/>
            <a:ext cx="12192000" cy="1143000"/>
          </a:xfrm>
          <a:solidFill>
            <a:srgbClr val="00B0F0"/>
          </a:solidFill>
        </p:spPr>
        <p:txBody>
          <a:bodyPr/>
          <a:lstStyle/>
          <a:p>
            <a:r>
              <a:rPr lang="en-US" altLang="en-US" b="1" dirty="0">
                <a:solidFill>
                  <a:schemeClr val="bg1"/>
                </a:solidFill>
                <a:latin typeface="Helvetica LT Std" panose="020B0504020202020204" pitchFamily="34" charset="0"/>
              </a:rPr>
              <a:t>               Why study management? </a:t>
            </a:r>
            <a:endParaRPr lang="en-GB" altLang="en-US" b="1" dirty="0">
              <a:solidFill>
                <a:schemeClr val="bg1"/>
              </a:solidFill>
              <a:latin typeface="Helvetica LT Std" panose="020B0504020202020204" pitchFamily="34" charset="0"/>
            </a:endParaRPr>
          </a:p>
        </p:txBody>
      </p:sp>
      <p:sp>
        <p:nvSpPr>
          <p:cNvPr id="19459" name="Content Placeholder 2">
            <a:extLst>
              <a:ext uri="{FF2B5EF4-FFF2-40B4-BE49-F238E27FC236}">
                <a16:creationId xmlns:a16="http://schemas.microsoft.com/office/drawing/2014/main" id="{B245175E-C625-4542-A361-48FF994C178E}"/>
              </a:ext>
            </a:extLst>
          </p:cNvPr>
          <p:cNvSpPr>
            <a:spLocks noGrp="1"/>
          </p:cNvSpPr>
          <p:nvPr>
            <p:ph idx="1"/>
          </p:nvPr>
        </p:nvSpPr>
        <p:spPr>
          <a:xfrm>
            <a:off x="1752600" y="1371600"/>
            <a:ext cx="8610600" cy="5029200"/>
          </a:xfrm>
        </p:spPr>
        <p:txBody>
          <a:bodyPr/>
          <a:lstStyle/>
          <a:p>
            <a:r>
              <a:rPr lang="en-US" altLang="en-US" dirty="0">
                <a:latin typeface="Helvetica LT Std" panose="020B0504020202020204" pitchFamily="34" charset="0"/>
              </a:rPr>
              <a:t>Universality of management</a:t>
            </a:r>
          </a:p>
          <a:p>
            <a:r>
              <a:rPr lang="en-US" altLang="en-US" dirty="0">
                <a:latin typeface="Helvetica LT Std" panose="020B0504020202020204" pitchFamily="34" charset="0"/>
              </a:rPr>
              <a:t>The reality of work</a:t>
            </a:r>
          </a:p>
          <a:p>
            <a:r>
              <a:rPr lang="en-US" altLang="en-US" dirty="0">
                <a:latin typeface="Helvetica LT Std" panose="020B0504020202020204" pitchFamily="34" charset="0"/>
              </a:rPr>
              <a:t>The rewards and challenges of being a manager</a:t>
            </a:r>
          </a:p>
          <a:p>
            <a:endParaRPr lang="en-GB" altLang="en-US" dirty="0"/>
          </a:p>
        </p:txBody>
      </p:sp>
      <p:sp>
        <p:nvSpPr>
          <p:cNvPr id="19460" name="TextBox 8">
            <a:extLst>
              <a:ext uri="{FF2B5EF4-FFF2-40B4-BE49-F238E27FC236}">
                <a16:creationId xmlns:a16="http://schemas.microsoft.com/office/drawing/2014/main" id="{F0F801B0-8482-44BD-ACFF-0855B1EC1302}"/>
              </a:ext>
            </a:extLst>
          </p:cNvPr>
          <p:cNvSpPr txBox="1">
            <a:spLocks noChangeArrowheads="1"/>
          </p:cNvSpPr>
          <p:nvPr/>
        </p:nvSpPr>
        <p:spPr bwMode="auto">
          <a:xfrm>
            <a:off x="0" y="6553200"/>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pic>
        <p:nvPicPr>
          <p:cNvPr id="19461" name="Picture 4" descr="PE01561_[1]">
            <a:extLst>
              <a:ext uri="{FF2B5EF4-FFF2-40B4-BE49-F238E27FC236}">
                <a16:creationId xmlns:a16="http://schemas.microsoft.com/office/drawing/2014/main" id="{DF763676-F2D8-42CB-AD17-EB16395CB5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2510" y="3073635"/>
            <a:ext cx="5013961" cy="3327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3B27C146-B555-4BCD-9704-9CBED38F6976}"/>
              </a:ext>
            </a:extLst>
          </p:cNvPr>
          <p:cNvSpPr>
            <a:spLocks noGrp="1"/>
          </p:cNvSpPr>
          <p:nvPr>
            <p:ph type="title"/>
          </p:nvPr>
        </p:nvSpPr>
        <p:spPr>
          <a:xfrm>
            <a:off x="0" y="0"/>
            <a:ext cx="12192000" cy="1299853"/>
          </a:xfrm>
          <a:solidFill>
            <a:schemeClr val="bg2">
              <a:lumMod val="25000"/>
            </a:schemeClr>
          </a:solidFill>
        </p:spPr>
        <p:txBody>
          <a:bodyPr/>
          <a:lstStyle/>
          <a:p>
            <a:pPr algn="ctr">
              <a:defRPr/>
            </a:pPr>
            <a:r>
              <a:rPr lang="en-US" b="1" dirty="0">
                <a:solidFill>
                  <a:schemeClr val="bg1"/>
                </a:solidFill>
                <a:latin typeface="Helvetica LT Std" panose="020B0504020202020204" pitchFamily="34" charset="0"/>
              </a:rPr>
              <a:t>What Is Management?</a:t>
            </a:r>
            <a:endParaRPr lang="en-GB" b="1" dirty="0">
              <a:solidFill>
                <a:schemeClr val="bg1"/>
              </a:solidFill>
              <a:latin typeface="Helvetica LT Std" panose="020B0504020202020204" pitchFamily="34" charset="0"/>
            </a:endParaRPr>
          </a:p>
        </p:txBody>
      </p:sp>
      <p:sp>
        <p:nvSpPr>
          <p:cNvPr id="20483" name="Content Placeholder 2">
            <a:extLst>
              <a:ext uri="{FF2B5EF4-FFF2-40B4-BE49-F238E27FC236}">
                <a16:creationId xmlns:a16="http://schemas.microsoft.com/office/drawing/2014/main" id="{40340AE9-7981-4BD5-9736-1E0A5E0C12B5}"/>
              </a:ext>
            </a:extLst>
          </p:cNvPr>
          <p:cNvSpPr>
            <a:spLocks noGrp="1"/>
          </p:cNvSpPr>
          <p:nvPr>
            <p:ph idx="1"/>
          </p:nvPr>
        </p:nvSpPr>
        <p:spPr>
          <a:xfrm>
            <a:off x="1363289" y="1458912"/>
            <a:ext cx="9335192" cy="5029200"/>
          </a:xfrm>
        </p:spPr>
        <p:txBody>
          <a:bodyPr/>
          <a:lstStyle/>
          <a:p>
            <a:pPr marL="366713" lvl="1" indent="0" algn="just">
              <a:buClr>
                <a:schemeClr val="accent1"/>
              </a:buClr>
              <a:buSzPct val="80000"/>
              <a:buNone/>
            </a:pPr>
            <a:r>
              <a:rPr lang="en-US" altLang="en-US" b="1" dirty="0">
                <a:latin typeface="Helvetica LT Std" panose="020B0504020202020204" pitchFamily="34" charset="0"/>
              </a:rPr>
              <a:t>The art of getting things done through people.</a:t>
            </a:r>
          </a:p>
          <a:p>
            <a:pPr marL="366713" lvl="1" indent="0" algn="just">
              <a:buClr>
                <a:schemeClr val="accent1"/>
              </a:buClr>
              <a:buSzPct val="80000"/>
              <a:buNone/>
            </a:pPr>
            <a:endParaRPr lang="en-US" altLang="en-US" dirty="0">
              <a:latin typeface="Helvetica LT Std" panose="020B0504020202020204" pitchFamily="34" charset="0"/>
            </a:endParaRPr>
          </a:p>
          <a:p>
            <a:pPr marL="366713" lvl="1" indent="0" algn="just">
              <a:buClr>
                <a:schemeClr val="accent1"/>
              </a:buClr>
              <a:buSzPct val="80000"/>
              <a:buNone/>
            </a:pPr>
            <a:r>
              <a:rPr lang="en-US" altLang="en-US" dirty="0">
                <a:latin typeface="Helvetica LT Std" panose="020B0504020202020204" pitchFamily="34" charset="0"/>
              </a:rPr>
              <a:t>The process of,</a:t>
            </a:r>
            <a:endParaRPr lang="en-US" altLang="en-US" dirty="0">
              <a:solidFill>
                <a:srgbClr val="FF0000"/>
              </a:solidFill>
              <a:latin typeface="Helvetica LT Std" panose="020B0504020202020204" pitchFamily="34" charset="0"/>
            </a:endParaRPr>
          </a:p>
          <a:p>
            <a:pPr marL="366713" lvl="1" indent="0" algn="just">
              <a:buClr>
                <a:schemeClr val="accent1"/>
              </a:buClr>
              <a:buSzPct val="80000"/>
              <a:buNone/>
            </a:pPr>
            <a:r>
              <a:rPr lang="en-US" altLang="en-US" b="1" dirty="0">
                <a:solidFill>
                  <a:srgbClr val="FF0000"/>
                </a:solidFill>
                <a:latin typeface="Helvetica LT Std" panose="020B0504020202020204" pitchFamily="34" charset="0"/>
              </a:rPr>
              <a:t>Planning, Organizing, Leading and Controlling </a:t>
            </a:r>
            <a:r>
              <a:rPr lang="en-US" altLang="en-US" dirty="0">
                <a:latin typeface="Helvetica LT Std" panose="020B0504020202020204" pitchFamily="34" charset="0"/>
              </a:rPr>
              <a:t>the work of the organization members and using all </a:t>
            </a:r>
            <a:r>
              <a:rPr lang="en-US" altLang="en-US" b="1" dirty="0">
                <a:solidFill>
                  <a:srgbClr val="FF0000"/>
                </a:solidFill>
                <a:latin typeface="Helvetica LT Std" panose="020B0504020202020204" pitchFamily="34" charset="0"/>
              </a:rPr>
              <a:t>available organizational resources to</a:t>
            </a:r>
            <a:r>
              <a:rPr lang="en-US" altLang="en-US" dirty="0">
                <a:solidFill>
                  <a:srgbClr val="FF0000"/>
                </a:solidFill>
                <a:latin typeface="Helvetica LT Std" panose="020B0504020202020204" pitchFamily="34" charset="0"/>
              </a:rPr>
              <a:t> </a:t>
            </a:r>
            <a:r>
              <a:rPr lang="en-US" altLang="en-US" dirty="0">
                <a:latin typeface="Helvetica LT Std" panose="020B0504020202020204" pitchFamily="34" charset="0"/>
              </a:rPr>
              <a:t>reach </a:t>
            </a:r>
            <a:r>
              <a:rPr lang="en-US" altLang="en-US" b="1" dirty="0">
                <a:solidFill>
                  <a:srgbClr val="FF0000"/>
                </a:solidFill>
                <a:latin typeface="Helvetica LT Std" panose="020B0504020202020204" pitchFamily="34" charset="0"/>
              </a:rPr>
              <a:t>stated organizational  goals, efficiently and effectively</a:t>
            </a:r>
            <a:r>
              <a:rPr lang="en-US" altLang="en-US" dirty="0">
                <a:solidFill>
                  <a:srgbClr val="FF0000"/>
                </a:solidFill>
                <a:latin typeface="Helvetica LT Std" panose="020B0504020202020204" pitchFamily="34" charset="0"/>
              </a:rPr>
              <a:t> </a:t>
            </a:r>
            <a:r>
              <a:rPr lang="en-US" altLang="en-US" dirty="0">
                <a:latin typeface="Helvetica LT Std" panose="020B0504020202020204" pitchFamily="34" charset="0"/>
              </a:rPr>
              <a:t>in an ever changing business environment.</a:t>
            </a:r>
          </a:p>
          <a:p>
            <a:pPr marL="366713" lvl="1" indent="0" algn="just">
              <a:buClr>
                <a:schemeClr val="accent1"/>
              </a:buClr>
              <a:buSzPct val="80000"/>
              <a:buNone/>
            </a:pPr>
            <a:endParaRPr lang="en-US" altLang="en-US" dirty="0">
              <a:latin typeface="Helvetica LT Std" panose="020B0504020202020204" pitchFamily="34" charset="0"/>
            </a:endParaRPr>
          </a:p>
          <a:p>
            <a:pPr marL="366713" lvl="1" indent="0" algn="just">
              <a:buClr>
                <a:schemeClr val="accent1"/>
              </a:buClr>
              <a:buSzPct val="80000"/>
              <a:buNone/>
            </a:pPr>
            <a:r>
              <a:rPr lang="en-US" altLang="en-US" dirty="0">
                <a:latin typeface="Helvetica LT Std" panose="020B0504020202020204" pitchFamily="34" charset="0"/>
              </a:rPr>
              <a:t>Coordinating work activities so that they are completed efficiently and effectively with and through other people (Robbins &amp; Coulter, 2005).  </a:t>
            </a:r>
          </a:p>
          <a:p>
            <a:pPr marL="366713" lvl="1" indent="0">
              <a:buClr>
                <a:schemeClr val="accent1"/>
              </a:buClr>
              <a:buSzPct val="80000"/>
              <a:buNone/>
            </a:pPr>
            <a:endParaRPr lang="en-GB" altLang="en-US" dirty="0"/>
          </a:p>
        </p:txBody>
      </p:sp>
      <p:sp>
        <p:nvSpPr>
          <p:cNvPr id="20484" name="TextBox 8">
            <a:extLst>
              <a:ext uri="{FF2B5EF4-FFF2-40B4-BE49-F238E27FC236}">
                <a16:creationId xmlns:a16="http://schemas.microsoft.com/office/drawing/2014/main" id="{6D3143EB-7887-434E-B1D1-2E83DB3FD61E}"/>
              </a:ext>
            </a:extLst>
          </p:cNvPr>
          <p:cNvSpPr txBox="1">
            <a:spLocks noChangeArrowheads="1"/>
          </p:cNvSpPr>
          <p:nvPr/>
        </p:nvSpPr>
        <p:spPr bwMode="auto">
          <a:xfrm>
            <a:off x="0" y="6488112"/>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pic>
        <p:nvPicPr>
          <p:cNvPr id="3" name="Picture 2">
            <a:extLst>
              <a:ext uri="{FF2B5EF4-FFF2-40B4-BE49-F238E27FC236}">
                <a16:creationId xmlns:a16="http://schemas.microsoft.com/office/drawing/2014/main" id="{E041A256-7A8C-447D-B9C7-256673025F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025" y="5399088"/>
            <a:ext cx="3225823" cy="12055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CF45978-D785-4642-AAF9-0169D5DC53D6}"/>
              </a:ext>
            </a:extLst>
          </p:cNvPr>
          <p:cNvSpPr>
            <a:spLocks noGrp="1" noChangeArrowheads="1"/>
          </p:cNvSpPr>
          <p:nvPr>
            <p:ph type="title"/>
          </p:nvPr>
        </p:nvSpPr>
        <p:spPr>
          <a:xfrm>
            <a:off x="0" y="11113"/>
            <a:ext cx="12192000" cy="1143000"/>
          </a:xfrm>
          <a:solidFill>
            <a:schemeClr val="accent2"/>
          </a:solidFill>
        </p:spPr>
        <p:txBody>
          <a:bodyPr/>
          <a:lstStyle/>
          <a:p>
            <a:pPr algn="ctr" eaLnBrk="1" hangingPunct="1"/>
            <a:r>
              <a:rPr lang="en-US" altLang="en-US" b="1" dirty="0">
                <a:solidFill>
                  <a:schemeClr val="bg1"/>
                </a:solidFill>
                <a:latin typeface="Helvetica LT Std" panose="020B0504020202020204" pitchFamily="34" charset="0"/>
              </a:rPr>
              <a:t>The Process of Management</a:t>
            </a:r>
          </a:p>
        </p:txBody>
      </p:sp>
      <p:grpSp>
        <p:nvGrpSpPr>
          <p:cNvPr id="25603" name="Group 3">
            <a:extLst>
              <a:ext uri="{FF2B5EF4-FFF2-40B4-BE49-F238E27FC236}">
                <a16:creationId xmlns:a16="http://schemas.microsoft.com/office/drawing/2014/main" id="{F6892F2D-F195-4BCD-9723-6A2C9D495E73}"/>
              </a:ext>
            </a:extLst>
          </p:cNvPr>
          <p:cNvGrpSpPr>
            <a:grpSpLocks/>
          </p:cNvGrpSpPr>
          <p:nvPr/>
        </p:nvGrpSpPr>
        <p:grpSpPr bwMode="auto">
          <a:xfrm>
            <a:off x="1001031" y="1905001"/>
            <a:ext cx="10128262" cy="3997325"/>
            <a:chOff x="-353" y="1284"/>
            <a:chExt cx="6414" cy="2208"/>
          </a:xfrm>
        </p:grpSpPr>
        <p:sp>
          <p:nvSpPr>
            <p:cNvPr id="25606" name="Line 4">
              <a:extLst>
                <a:ext uri="{FF2B5EF4-FFF2-40B4-BE49-F238E27FC236}">
                  <a16:creationId xmlns:a16="http://schemas.microsoft.com/office/drawing/2014/main" id="{424CD7A4-6201-4E08-94A7-7C35C6D9345B}"/>
                </a:ext>
              </a:extLst>
            </p:cNvPr>
            <p:cNvSpPr>
              <a:spLocks noChangeShapeType="1"/>
            </p:cNvSpPr>
            <p:nvPr/>
          </p:nvSpPr>
          <p:spPr bwMode="auto">
            <a:xfrm flipV="1">
              <a:off x="3961" y="2688"/>
              <a:ext cx="0" cy="4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7" name="Oval 5">
              <a:extLst>
                <a:ext uri="{FF2B5EF4-FFF2-40B4-BE49-F238E27FC236}">
                  <a16:creationId xmlns:a16="http://schemas.microsoft.com/office/drawing/2014/main" id="{F5C52E11-F355-472D-8DDA-A03226CB8FD6}"/>
                </a:ext>
              </a:extLst>
            </p:cNvPr>
            <p:cNvSpPr>
              <a:spLocks noChangeArrowheads="1"/>
            </p:cNvSpPr>
            <p:nvPr/>
          </p:nvSpPr>
          <p:spPr bwMode="auto">
            <a:xfrm>
              <a:off x="-353" y="1640"/>
              <a:ext cx="914" cy="1324"/>
            </a:xfrm>
            <a:prstGeom prst="ellipse">
              <a:avLst/>
            </a:prstGeom>
            <a:solidFill>
              <a:schemeClr val="hlink"/>
            </a:solidFill>
            <a:ln w="9525">
              <a:solidFill>
                <a:schemeClr val="tx1"/>
              </a:solidFill>
              <a:round/>
              <a:headEnd/>
              <a:tailEnd/>
            </a:ln>
            <a:effectLst>
              <a:outerShdw dist="35921" dir="2700000" algn="ctr" rotWithShape="0">
                <a:schemeClr val="tx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800">
                <a:latin typeface="Arial" panose="020B0604020202020204" pitchFamily="34" charset="0"/>
              </a:endParaRPr>
            </a:p>
          </p:txBody>
        </p:sp>
        <p:sp>
          <p:nvSpPr>
            <p:cNvPr id="25608" name="Oval 6">
              <a:extLst>
                <a:ext uri="{FF2B5EF4-FFF2-40B4-BE49-F238E27FC236}">
                  <a16:creationId xmlns:a16="http://schemas.microsoft.com/office/drawing/2014/main" id="{F37610AF-B328-4298-88E8-4A4F064983E5}"/>
                </a:ext>
              </a:extLst>
            </p:cNvPr>
            <p:cNvSpPr>
              <a:spLocks noChangeArrowheads="1"/>
            </p:cNvSpPr>
            <p:nvPr/>
          </p:nvSpPr>
          <p:spPr bwMode="auto">
            <a:xfrm>
              <a:off x="5169" y="1656"/>
              <a:ext cx="892" cy="1324"/>
            </a:xfrm>
            <a:prstGeom prst="ellipse">
              <a:avLst/>
            </a:prstGeom>
            <a:solidFill>
              <a:schemeClr val="hlink"/>
            </a:solidFill>
            <a:ln w="9525">
              <a:solidFill>
                <a:schemeClr val="tx1"/>
              </a:solidFill>
              <a:round/>
              <a:headEnd/>
              <a:tailEnd/>
            </a:ln>
            <a:effectLst>
              <a:outerShdw dist="35921" dir="2700000" algn="ctr" rotWithShape="0">
                <a:schemeClr val="tx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800">
                <a:latin typeface="Arial" panose="020B0604020202020204" pitchFamily="34" charset="0"/>
              </a:endParaRPr>
            </a:p>
          </p:txBody>
        </p:sp>
        <p:sp>
          <p:nvSpPr>
            <p:cNvPr id="25609" name="Oval 7">
              <a:extLst>
                <a:ext uri="{FF2B5EF4-FFF2-40B4-BE49-F238E27FC236}">
                  <a16:creationId xmlns:a16="http://schemas.microsoft.com/office/drawing/2014/main" id="{2A250E50-CB79-48E7-8798-0F7C0F420AA3}"/>
                </a:ext>
              </a:extLst>
            </p:cNvPr>
            <p:cNvSpPr>
              <a:spLocks noChangeArrowheads="1"/>
            </p:cNvSpPr>
            <p:nvPr/>
          </p:nvSpPr>
          <p:spPr bwMode="auto">
            <a:xfrm>
              <a:off x="1167" y="2041"/>
              <a:ext cx="1087" cy="694"/>
            </a:xfrm>
            <a:prstGeom prst="ellipse">
              <a:avLst/>
            </a:prstGeom>
            <a:solidFill>
              <a:srgbClr val="008080"/>
            </a:solidFill>
            <a:ln w="9525">
              <a:solidFill>
                <a:schemeClr val="tx1"/>
              </a:solidFill>
              <a:round/>
              <a:headEnd/>
              <a:tailEnd/>
            </a:ln>
            <a:effectLst>
              <a:outerShdw dist="35921" dir="2700000" algn="ctr" rotWithShape="0">
                <a:schemeClr val="tx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800">
                <a:latin typeface="Arial" panose="020B0604020202020204" pitchFamily="34" charset="0"/>
              </a:endParaRPr>
            </a:p>
          </p:txBody>
        </p:sp>
        <p:sp>
          <p:nvSpPr>
            <p:cNvPr id="25610" name="Oval 8">
              <a:extLst>
                <a:ext uri="{FF2B5EF4-FFF2-40B4-BE49-F238E27FC236}">
                  <a16:creationId xmlns:a16="http://schemas.microsoft.com/office/drawing/2014/main" id="{51316F6D-D962-4B22-ACA0-CDBC18BEECB2}"/>
                </a:ext>
              </a:extLst>
            </p:cNvPr>
            <p:cNvSpPr>
              <a:spLocks noChangeArrowheads="1"/>
            </p:cNvSpPr>
            <p:nvPr/>
          </p:nvSpPr>
          <p:spPr bwMode="auto">
            <a:xfrm>
              <a:off x="2254" y="1284"/>
              <a:ext cx="1086" cy="694"/>
            </a:xfrm>
            <a:prstGeom prst="ellipse">
              <a:avLst/>
            </a:prstGeom>
            <a:solidFill>
              <a:srgbClr val="008080"/>
            </a:solidFill>
            <a:ln w="9525">
              <a:solidFill>
                <a:schemeClr val="tx1"/>
              </a:solidFill>
              <a:round/>
              <a:headEnd/>
              <a:tailEnd/>
            </a:ln>
            <a:effectLst>
              <a:outerShdw dist="35921" dir="2700000" algn="ctr" rotWithShape="0">
                <a:schemeClr val="tx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800">
                <a:latin typeface="Arial" panose="020B0604020202020204" pitchFamily="34" charset="0"/>
              </a:endParaRPr>
            </a:p>
          </p:txBody>
        </p:sp>
        <p:sp>
          <p:nvSpPr>
            <p:cNvPr id="25611" name="Oval 9">
              <a:extLst>
                <a:ext uri="{FF2B5EF4-FFF2-40B4-BE49-F238E27FC236}">
                  <a16:creationId xmlns:a16="http://schemas.microsoft.com/office/drawing/2014/main" id="{59D0B575-FA1B-480B-B7D5-3407FDEC5B09}"/>
                </a:ext>
              </a:extLst>
            </p:cNvPr>
            <p:cNvSpPr>
              <a:spLocks noChangeArrowheads="1"/>
            </p:cNvSpPr>
            <p:nvPr/>
          </p:nvSpPr>
          <p:spPr bwMode="auto">
            <a:xfrm>
              <a:off x="3392" y="2041"/>
              <a:ext cx="1087" cy="694"/>
            </a:xfrm>
            <a:prstGeom prst="ellipse">
              <a:avLst/>
            </a:prstGeom>
            <a:solidFill>
              <a:srgbClr val="008080"/>
            </a:solidFill>
            <a:ln w="9525">
              <a:solidFill>
                <a:schemeClr val="tx1"/>
              </a:solidFill>
              <a:round/>
              <a:headEnd/>
              <a:tailEnd/>
            </a:ln>
            <a:effectLst>
              <a:outerShdw dist="35921" dir="2700000" algn="ctr" rotWithShape="0">
                <a:schemeClr val="tx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800">
                <a:latin typeface="Arial" panose="020B0604020202020204" pitchFamily="34" charset="0"/>
              </a:endParaRPr>
            </a:p>
          </p:txBody>
        </p:sp>
        <p:sp>
          <p:nvSpPr>
            <p:cNvPr id="25612" name="Oval 10">
              <a:extLst>
                <a:ext uri="{FF2B5EF4-FFF2-40B4-BE49-F238E27FC236}">
                  <a16:creationId xmlns:a16="http://schemas.microsoft.com/office/drawing/2014/main" id="{DC79D4DA-2539-4A9A-8B75-923E98E3F403}"/>
                </a:ext>
              </a:extLst>
            </p:cNvPr>
            <p:cNvSpPr>
              <a:spLocks noChangeArrowheads="1"/>
            </p:cNvSpPr>
            <p:nvPr/>
          </p:nvSpPr>
          <p:spPr bwMode="auto">
            <a:xfrm>
              <a:off x="2254" y="2798"/>
              <a:ext cx="1086" cy="694"/>
            </a:xfrm>
            <a:prstGeom prst="ellipse">
              <a:avLst/>
            </a:prstGeom>
            <a:solidFill>
              <a:srgbClr val="008080"/>
            </a:solidFill>
            <a:ln w="9525">
              <a:solidFill>
                <a:schemeClr val="tx1"/>
              </a:solidFill>
              <a:round/>
              <a:headEnd/>
              <a:tailEnd/>
            </a:ln>
            <a:effectLst>
              <a:outerShdw dist="35921" dir="2700000" algn="ctr" rotWithShape="0">
                <a:schemeClr val="tx2"/>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800">
                <a:latin typeface="Arial" panose="020B0604020202020204" pitchFamily="34" charset="0"/>
              </a:endParaRPr>
            </a:p>
          </p:txBody>
        </p:sp>
        <p:sp>
          <p:nvSpPr>
            <p:cNvPr id="25613" name="Line 11">
              <a:extLst>
                <a:ext uri="{FF2B5EF4-FFF2-40B4-BE49-F238E27FC236}">
                  <a16:creationId xmlns:a16="http://schemas.microsoft.com/office/drawing/2014/main" id="{0EC637ED-FDD0-49FC-8D3A-C1B31D93DAB1}"/>
                </a:ext>
              </a:extLst>
            </p:cNvPr>
            <p:cNvSpPr>
              <a:spLocks noChangeShapeType="1"/>
            </p:cNvSpPr>
            <p:nvPr/>
          </p:nvSpPr>
          <p:spPr bwMode="auto">
            <a:xfrm flipV="1">
              <a:off x="1649" y="2735"/>
              <a:ext cx="0" cy="37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4" name="Line 12">
              <a:extLst>
                <a:ext uri="{FF2B5EF4-FFF2-40B4-BE49-F238E27FC236}">
                  <a16:creationId xmlns:a16="http://schemas.microsoft.com/office/drawing/2014/main" id="{62D9816A-8D12-4E74-AD88-3B592B1C4126}"/>
                </a:ext>
              </a:extLst>
            </p:cNvPr>
            <p:cNvSpPr>
              <a:spLocks noChangeShapeType="1"/>
            </p:cNvSpPr>
            <p:nvPr/>
          </p:nvSpPr>
          <p:spPr bwMode="auto">
            <a:xfrm>
              <a:off x="1643" y="3113"/>
              <a:ext cx="62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5" name="Line 13">
              <a:extLst>
                <a:ext uri="{FF2B5EF4-FFF2-40B4-BE49-F238E27FC236}">
                  <a16:creationId xmlns:a16="http://schemas.microsoft.com/office/drawing/2014/main" id="{F973AD44-E08E-4478-82FE-8AD39098A167}"/>
                </a:ext>
              </a:extLst>
            </p:cNvPr>
            <p:cNvSpPr>
              <a:spLocks noChangeShapeType="1"/>
            </p:cNvSpPr>
            <p:nvPr/>
          </p:nvSpPr>
          <p:spPr bwMode="auto">
            <a:xfrm>
              <a:off x="3340" y="1670"/>
              <a:ext cx="62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6" name="Line 14">
              <a:extLst>
                <a:ext uri="{FF2B5EF4-FFF2-40B4-BE49-F238E27FC236}">
                  <a16:creationId xmlns:a16="http://schemas.microsoft.com/office/drawing/2014/main" id="{66FBDE62-E88F-4DD5-94CA-519C2DFEA3DB}"/>
                </a:ext>
              </a:extLst>
            </p:cNvPr>
            <p:cNvSpPr>
              <a:spLocks noChangeShapeType="1"/>
            </p:cNvSpPr>
            <p:nvPr/>
          </p:nvSpPr>
          <p:spPr bwMode="auto">
            <a:xfrm>
              <a:off x="3340" y="3113"/>
              <a:ext cx="621"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7" name="Line 15">
              <a:extLst>
                <a:ext uri="{FF2B5EF4-FFF2-40B4-BE49-F238E27FC236}">
                  <a16:creationId xmlns:a16="http://schemas.microsoft.com/office/drawing/2014/main" id="{3FBFE7C2-6DFB-4210-A4C2-D99853D2F408}"/>
                </a:ext>
              </a:extLst>
            </p:cNvPr>
            <p:cNvSpPr>
              <a:spLocks noChangeShapeType="1"/>
            </p:cNvSpPr>
            <p:nvPr/>
          </p:nvSpPr>
          <p:spPr bwMode="auto">
            <a:xfrm>
              <a:off x="1684" y="1677"/>
              <a:ext cx="57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8" name="Line 16">
              <a:extLst>
                <a:ext uri="{FF2B5EF4-FFF2-40B4-BE49-F238E27FC236}">
                  <a16:creationId xmlns:a16="http://schemas.microsoft.com/office/drawing/2014/main" id="{54E297C7-A4F1-45CF-8A46-2D1B1F43B6A5}"/>
                </a:ext>
              </a:extLst>
            </p:cNvPr>
            <p:cNvSpPr>
              <a:spLocks noChangeShapeType="1"/>
            </p:cNvSpPr>
            <p:nvPr/>
          </p:nvSpPr>
          <p:spPr bwMode="auto">
            <a:xfrm>
              <a:off x="1684" y="1670"/>
              <a:ext cx="0" cy="37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19" name="Line 17">
              <a:extLst>
                <a:ext uri="{FF2B5EF4-FFF2-40B4-BE49-F238E27FC236}">
                  <a16:creationId xmlns:a16="http://schemas.microsoft.com/office/drawing/2014/main" id="{561083AA-ECDC-488F-B305-D8A6AAF90466}"/>
                </a:ext>
              </a:extLst>
            </p:cNvPr>
            <p:cNvSpPr>
              <a:spLocks noChangeShapeType="1"/>
            </p:cNvSpPr>
            <p:nvPr/>
          </p:nvSpPr>
          <p:spPr bwMode="auto">
            <a:xfrm>
              <a:off x="2254" y="2364"/>
              <a:ext cx="1138"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20" name="Line 18">
              <a:extLst>
                <a:ext uri="{FF2B5EF4-FFF2-40B4-BE49-F238E27FC236}">
                  <a16:creationId xmlns:a16="http://schemas.microsoft.com/office/drawing/2014/main" id="{C4EAE488-72A6-4A7E-9AF9-BE191F530AF6}"/>
                </a:ext>
              </a:extLst>
            </p:cNvPr>
            <p:cNvSpPr>
              <a:spLocks noChangeShapeType="1"/>
            </p:cNvSpPr>
            <p:nvPr/>
          </p:nvSpPr>
          <p:spPr bwMode="auto">
            <a:xfrm>
              <a:off x="2784" y="1978"/>
              <a:ext cx="0" cy="82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23" name="Text Box 21">
              <a:extLst>
                <a:ext uri="{FF2B5EF4-FFF2-40B4-BE49-F238E27FC236}">
                  <a16:creationId xmlns:a16="http://schemas.microsoft.com/office/drawing/2014/main" id="{F386C6A6-13E3-41C0-B796-B606D722F98C}"/>
                </a:ext>
              </a:extLst>
            </p:cNvPr>
            <p:cNvSpPr txBox="1">
              <a:spLocks noChangeArrowheads="1"/>
            </p:cNvSpPr>
            <p:nvPr/>
          </p:nvSpPr>
          <p:spPr bwMode="auto">
            <a:xfrm>
              <a:off x="2462" y="1362"/>
              <a:ext cx="643" cy="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400" b="1" dirty="0">
                  <a:solidFill>
                    <a:schemeClr val="bg1"/>
                  </a:solidFill>
                  <a:latin typeface="Arial" panose="020B0604020202020204" pitchFamily="34" charset="0"/>
                </a:rPr>
                <a:t>Planning</a:t>
              </a:r>
            </a:p>
          </p:txBody>
        </p:sp>
        <p:sp>
          <p:nvSpPr>
            <p:cNvPr id="25624" name="Text Box 22">
              <a:extLst>
                <a:ext uri="{FF2B5EF4-FFF2-40B4-BE49-F238E27FC236}">
                  <a16:creationId xmlns:a16="http://schemas.microsoft.com/office/drawing/2014/main" id="{45355900-A185-47E3-B81F-CE4238A32558}"/>
                </a:ext>
              </a:extLst>
            </p:cNvPr>
            <p:cNvSpPr txBox="1">
              <a:spLocks noChangeArrowheads="1"/>
            </p:cNvSpPr>
            <p:nvPr/>
          </p:nvSpPr>
          <p:spPr bwMode="auto">
            <a:xfrm>
              <a:off x="2525" y="2895"/>
              <a:ext cx="580" cy="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400" b="1" dirty="0">
                  <a:solidFill>
                    <a:schemeClr val="bg1"/>
                  </a:solidFill>
                  <a:latin typeface="Arial" panose="020B0604020202020204" pitchFamily="34" charset="0"/>
                </a:rPr>
                <a:t>Leading</a:t>
              </a:r>
            </a:p>
          </p:txBody>
        </p:sp>
        <p:sp>
          <p:nvSpPr>
            <p:cNvPr id="25625" name="Text Box 23">
              <a:extLst>
                <a:ext uri="{FF2B5EF4-FFF2-40B4-BE49-F238E27FC236}">
                  <a16:creationId xmlns:a16="http://schemas.microsoft.com/office/drawing/2014/main" id="{59309740-9CEA-4D5F-A493-1E12BE6519DE}"/>
                </a:ext>
              </a:extLst>
            </p:cNvPr>
            <p:cNvSpPr txBox="1">
              <a:spLocks noChangeArrowheads="1"/>
            </p:cNvSpPr>
            <p:nvPr/>
          </p:nvSpPr>
          <p:spPr bwMode="auto">
            <a:xfrm>
              <a:off x="-202" y="1761"/>
              <a:ext cx="621"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200" b="1" dirty="0">
                  <a:solidFill>
                    <a:schemeClr val="bg1"/>
                  </a:solidFill>
                  <a:latin typeface="Helvetica LT Std" panose="020B0504020202020204" pitchFamily="34" charset="0"/>
                </a:rPr>
                <a:t>Resources</a:t>
              </a:r>
            </a:p>
          </p:txBody>
        </p:sp>
        <p:sp>
          <p:nvSpPr>
            <p:cNvPr id="25626" name="Text Box 24">
              <a:extLst>
                <a:ext uri="{FF2B5EF4-FFF2-40B4-BE49-F238E27FC236}">
                  <a16:creationId xmlns:a16="http://schemas.microsoft.com/office/drawing/2014/main" id="{4E44BADB-CE1F-41AE-84AB-43732935BA2A}"/>
                </a:ext>
              </a:extLst>
            </p:cNvPr>
            <p:cNvSpPr txBox="1">
              <a:spLocks noChangeArrowheads="1"/>
            </p:cNvSpPr>
            <p:nvPr/>
          </p:nvSpPr>
          <p:spPr bwMode="auto">
            <a:xfrm>
              <a:off x="1342" y="2123"/>
              <a:ext cx="737" cy="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400" b="1" dirty="0">
                  <a:solidFill>
                    <a:schemeClr val="bg1"/>
                  </a:solidFill>
                  <a:latin typeface="Arial" panose="020B0604020202020204" pitchFamily="34" charset="0"/>
                </a:rPr>
                <a:t>Controlling</a:t>
              </a:r>
            </a:p>
          </p:txBody>
        </p:sp>
        <p:sp>
          <p:nvSpPr>
            <p:cNvPr id="25627" name="Text Box 25">
              <a:extLst>
                <a:ext uri="{FF2B5EF4-FFF2-40B4-BE49-F238E27FC236}">
                  <a16:creationId xmlns:a16="http://schemas.microsoft.com/office/drawing/2014/main" id="{C2A7B353-A242-40EC-B87D-E5E74582B037}"/>
                </a:ext>
              </a:extLst>
            </p:cNvPr>
            <p:cNvSpPr txBox="1">
              <a:spLocks noChangeArrowheads="1"/>
            </p:cNvSpPr>
            <p:nvPr/>
          </p:nvSpPr>
          <p:spPr bwMode="auto">
            <a:xfrm>
              <a:off x="3580" y="2113"/>
              <a:ext cx="713" cy="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400" b="1" dirty="0">
                  <a:solidFill>
                    <a:schemeClr val="bg1"/>
                  </a:solidFill>
                  <a:latin typeface="Arial" panose="020B0604020202020204" pitchFamily="34" charset="0"/>
                </a:rPr>
                <a:t>Organizing</a:t>
              </a:r>
            </a:p>
          </p:txBody>
        </p:sp>
        <p:sp>
          <p:nvSpPr>
            <p:cNvPr id="25628" name="Text Box 26">
              <a:extLst>
                <a:ext uri="{FF2B5EF4-FFF2-40B4-BE49-F238E27FC236}">
                  <a16:creationId xmlns:a16="http://schemas.microsoft.com/office/drawing/2014/main" id="{8E5E3C33-BD23-4ECF-857F-10A90EDAA3DA}"/>
                </a:ext>
              </a:extLst>
            </p:cNvPr>
            <p:cNvSpPr txBox="1">
              <a:spLocks noChangeArrowheads="1"/>
            </p:cNvSpPr>
            <p:nvPr/>
          </p:nvSpPr>
          <p:spPr bwMode="auto">
            <a:xfrm>
              <a:off x="5222" y="1817"/>
              <a:ext cx="786"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200" b="1" dirty="0">
                  <a:solidFill>
                    <a:schemeClr val="bg1"/>
                  </a:solidFill>
                  <a:latin typeface="Helvetica LT Std" panose="020B0504020202020204" pitchFamily="34" charset="0"/>
                </a:rPr>
                <a:t>Performance</a:t>
              </a:r>
            </a:p>
          </p:txBody>
        </p:sp>
        <p:sp>
          <p:nvSpPr>
            <p:cNvPr id="25629" name="Text Box 27">
              <a:extLst>
                <a:ext uri="{FF2B5EF4-FFF2-40B4-BE49-F238E27FC236}">
                  <a16:creationId xmlns:a16="http://schemas.microsoft.com/office/drawing/2014/main" id="{D2BE2AE3-22BF-4D3D-B8F3-378D67C11962}"/>
                </a:ext>
              </a:extLst>
            </p:cNvPr>
            <p:cNvSpPr txBox="1">
              <a:spLocks noChangeArrowheads="1"/>
            </p:cNvSpPr>
            <p:nvPr/>
          </p:nvSpPr>
          <p:spPr bwMode="auto">
            <a:xfrm>
              <a:off x="-267" y="1985"/>
              <a:ext cx="869" cy="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Char char="•"/>
              </a:pPr>
              <a:r>
                <a:rPr lang="en-US" altLang="en-US" sz="1200" b="1" dirty="0">
                  <a:solidFill>
                    <a:schemeClr val="bg1"/>
                  </a:solidFill>
                  <a:latin typeface="Helvetica LT Std" panose="020B0504020202020204" pitchFamily="34" charset="0"/>
                </a:rPr>
                <a:t> Human</a:t>
              </a:r>
            </a:p>
            <a:p>
              <a:pPr>
                <a:spcBef>
                  <a:spcPct val="50000"/>
                </a:spcBef>
                <a:buFontTx/>
                <a:buChar char="•"/>
              </a:pPr>
              <a:r>
                <a:rPr lang="en-US" altLang="en-US" sz="1200" b="1" dirty="0">
                  <a:solidFill>
                    <a:schemeClr val="bg1"/>
                  </a:solidFill>
                  <a:latin typeface="Helvetica LT Std" panose="020B0504020202020204" pitchFamily="34" charset="0"/>
                </a:rPr>
                <a:t> Financial</a:t>
              </a:r>
            </a:p>
            <a:p>
              <a:pPr>
                <a:spcBef>
                  <a:spcPct val="50000"/>
                </a:spcBef>
                <a:buFontTx/>
                <a:buChar char="•"/>
              </a:pPr>
              <a:r>
                <a:rPr lang="en-US" altLang="en-US" sz="1200" b="1" dirty="0">
                  <a:solidFill>
                    <a:schemeClr val="bg1"/>
                  </a:solidFill>
                  <a:latin typeface="Helvetica LT Std" panose="020B0504020202020204" pitchFamily="34" charset="0"/>
                </a:rPr>
                <a:t> Raw Materials</a:t>
              </a:r>
            </a:p>
            <a:p>
              <a:pPr>
                <a:spcBef>
                  <a:spcPct val="50000"/>
                </a:spcBef>
                <a:buFontTx/>
                <a:buChar char="•"/>
              </a:pPr>
              <a:r>
                <a:rPr lang="en-US" altLang="en-US" sz="1200" b="1" dirty="0">
                  <a:solidFill>
                    <a:schemeClr val="bg1"/>
                  </a:solidFill>
                  <a:latin typeface="Helvetica LT Std" panose="020B0504020202020204" pitchFamily="34" charset="0"/>
                </a:rPr>
                <a:t> Technological</a:t>
              </a:r>
            </a:p>
            <a:p>
              <a:pPr>
                <a:spcBef>
                  <a:spcPct val="50000"/>
                </a:spcBef>
                <a:buFontTx/>
                <a:buChar char="•"/>
              </a:pPr>
              <a:r>
                <a:rPr lang="en-US" altLang="en-US" sz="1200" b="1" dirty="0">
                  <a:solidFill>
                    <a:schemeClr val="bg1"/>
                  </a:solidFill>
                  <a:latin typeface="Helvetica LT Std" panose="020B0504020202020204" pitchFamily="34" charset="0"/>
                </a:rPr>
                <a:t> Information</a:t>
              </a:r>
            </a:p>
          </p:txBody>
        </p:sp>
        <p:sp>
          <p:nvSpPr>
            <p:cNvPr id="25630" name="Text Box 28">
              <a:extLst>
                <a:ext uri="{FF2B5EF4-FFF2-40B4-BE49-F238E27FC236}">
                  <a16:creationId xmlns:a16="http://schemas.microsoft.com/office/drawing/2014/main" id="{EABCFF39-8F9F-48C2-87D0-31B398A2339F}"/>
                </a:ext>
              </a:extLst>
            </p:cNvPr>
            <p:cNvSpPr txBox="1">
              <a:spLocks noChangeArrowheads="1"/>
            </p:cNvSpPr>
            <p:nvPr/>
          </p:nvSpPr>
          <p:spPr bwMode="auto">
            <a:xfrm>
              <a:off x="5222" y="1985"/>
              <a:ext cx="820" cy="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Char char="•"/>
              </a:pPr>
              <a:r>
                <a:rPr lang="en-US" altLang="en-US" sz="1200" b="1" dirty="0">
                  <a:solidFill>
                    <a:schemeClr val="bg1"/>
                  </a:solidFill>
                  <a:latin typeface="Helvetica LT Std" panose="020B0504020202020204" pitchFamily="34" charset="0"/>
                </a:rPr>
                <a:t> Attain goals</a:t>
              </a:r>
            </a:p>
            <a:p>
              <a:pPr>
                <a:spcBef>
                  <a:spcPct val="50000"/>
                </a:spcBef>
                <a:buFontTx/>
                <a:buChar char="•"/>
              </a:pPr>
              <a:r>
                <a:rPr lang="en-US" altLang="en-US" sz="1200" b="1" dirty="0">
                  <a:solidFill>
                    <a:schemeClr val="bg1"/>
                  </a:solidFill>
                  <a:latin typeface="Helvetica LT Std" panose="020B0504020202020204" pitchFamily="34" charset="0"/>
                </a:rPr>
                <a:t> Products</a:t>
              </a:r>
            </a:p>
            <a:p>
              <a:pPr>
                <a:spcBef>
                  <a:spcPct val="50000"/>
                </a:spcBef>
                <a:buFontTx/>
                <a:buChar char="•"/>
              </a:pPr>
              <a:r>
                <a:rPr lang="en-US" altLang="en-US" sz="1200" b="1" dirty="0">
                  <a:solidFill>
                    <a:schemeClr val="bg1"/>
                  </a:solidFill>
                  <a:latin typeface="Helvetica LT Std" panose="020B0504020202020204" pitchFamily="34" charset="0"/>
                </a:rPr>
                <a:t> Services</a:t>
              </a:r>
            </a:p>
            <a:p>
              <a:pPr>
                <a:spcBef>
                  <a:spcPct val="50000"/>
                </a:spcBef>
                <a:buFontTx/>
                <a:buChar char="•"/>
              </a:pPr>
              <a:r>
                <a:rPr lang="en-US" altLang="en-US" sz="1200" b="1" dirty="0">
                  <a:solidFill>
                    <a:schemeClr val="bg1"/>
                  </a:solidFill>
                  <a:latin typeface="Helvetica LT Std" panose="020B0504020202020204" pitchFamily="34" charset="0"/>
                </a:rPr>
                <a:t> Efficiency</a:t>
              </a:r>
            </a:p>
            <a:p>
              <a:pPr>
                <a:spcBef>
                  <a:spcPct val="50000"/>
                </a:spcBef>
                <a:buFontTx/>
                <a:buChar char="•"/>
              </a:pPr>
              <a:r>
                <a:rPr lang="en-US" altLang="en-US" sz="1200" b="1" dirty="0">
                  <a:solidFill>
                    <a:schemeClr val="bg1"/>
                  </a:solidFill>
                  <a:latin typeface="Helvetica LT Std" panose="020B0504020202020204" pitchFamily="34" charset="0"/>
                </a:rPr>
                <a:t> Effectiveness</a:t>
              </a:r>
            </a:p>
          </p:txBody>
        </p:sp>
        <p:sp>
          <p:nvSpPr>
            <p:cNvPr id="25631" name="Text Box 29">
              <a:extLst>
                <a:ext uri="{FF2B5EF4-FFF2-40B4-BE49-F238E27FC236}">
                  <a16:creationId xmlns:a16="http://schemas.microsoft.com/office/drawing/2014/main" id="{C9B3D91D-2BBD-4231-BF16-94AF395B007C}"/>
                </a:ext>
              </a:extLst>
            </p:cNvPr>
            <p:cNvSpPr txBox="1">
              <a:spLocks noChangeArrowheads="1"/>
            </p:cNvSpPr>
            <p:nvPr/>
          </p:nvSpPr>
          <p:spPr bwMode="auto">
            <a:xfrm>
              <a:off x="2248" y="3093"/>
              <a:ext cx="1104"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200" b="1" dirty="0">
                  <a:solidFill>
                    <a:schemeClr val="bg1"/>
                  </a:solidFill>
                  <a:latin typeface="Arial" panose="020B0604020202020204" pitchFamily="34" charset="0"/>
                </a:rPr>
                <a:t>Use influence to motivate employees</a:t>
              </a:r>
            </a:p>
          </p:txBody>
        </p:sp>
        <p:sp>
          <p:nvSpPr>
            <p:cNvPr id="25632" name="Text Box 30">
              <a:extLst>
                <a:ext uri="{FF2B5EF4-FFF2-40B4-BE49-F238E27FC236}">
                  <a16:creationId xmlns:a16="http://schemas.microsoft.com/office/drawing/2014/main" id="{136D37C3-43B8-4EC9-84E1-38445633BDC0}"/>
                </a:ext>
              </a:extLst>
            </p:cNvPr>
            <p:cNvSpPr txBox="1">
              <a:spLocks noChangeArrowheads="1"/>
            </p:cNvSpPr>
            <p:nvPr/>
          </p:nvSpPr>
          <p:spPr bwMode="auto">
            <a:xfrm>
              <a:off x="2357" y="1536"/>
              <a:ext cx="88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200" b="1">
                  <a:solidFill>
                    <a:schemeClr val="bg1"/>
                  </a:solidFill>
                  <a:latin typeface="Arial" panose="020B0604020202020204" pitchFamily="34" charset="0"/>
                </a:rPr>
                <a:t>Select goals and ways to attain them</a:t>
              </a:r>
            </a:p>
          </p:txBody>
        </p:sp>
        <p:sp>
          <p:nvSpPr>
            <p:cNvPr id="25633" name="Text Box 31">
              <a:extLst>
                <a:ext uri="{FF2B5EF4-FFF2-40B4-BE49-F238E27FC236}">
                  <a16:creationId xmlns:a16="http://schemas.microsoft.com/office/drawing/2014/main" id="{89F2A2D6-D69C-4448-B59E-E3F6EE0C9EF3}"/>
                </a:ext>
              </a:extLst>
            </p:cNvPr>
            <p:cNvSpPr txBox="1">
              <a:spLocks noChangeArrowheads="1"/>
            </p:cNvSpPr>
            <p:nvPr/>
          </p:nvSpPr>
          <p:spPr bwMode="auto">
            <a:xfrm>
              <a:off x="3373" y="2280"/>
              <a:ext cx="1136"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200" b="1" dirty="0">
                  <a:solidFill>
                    <a:schemeClr val="bg1"/>
                  </a:solidFill>
                  <a:latin typeface="Arial" panose="020B0604020202020204" pitchFamily="34" charset="0"/>
                </a:rPr>
                <a:t>Assign responsibility for task accomplishment</a:t>
              </a:r>
            </a:p>
          </p:txBody>
        </p:sp>
        <p:sp>
          <p:nvSpPr>
            <p:cNvPr id="25634" name="Text Box 32">
              <a:extLst>
                <a:ext uri="{FF2B5EF4-FFF2-40B4-BE49-F238E27FC236}">
                  <a16:creationId xmlns:a16="http://schemas.microsoft.com/office/drawing/2014/main" id="{7CA0213C-09C8-4C0F-B57A-214D16AFA9BE}"/>
                </a:ext>
              </a:extLst>
            </p:cNvPr>
            <p:cNvSpPr txBox="1">
              <a:spLocks noChangeArrowheads="1"/>
            </p:cNvSpPr>
            <p:nvPr/>
          </p:nvSpPr>
          <p:spPr bwMode="auto">
            <a:xfrm>
              <a:off x="1198" y="2302"/>
              <a:ext cx="1025"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50000"/>
                </a:spcBef>
                <a:buFontTx/>
                <a:buNone/>
              </a:pPr>
              <a:r>
                <a:rPr lang="en-US" altLang="en-US" sz="1200" b="1" dirty="0">
                  <a:solidFill>
                    <a:schemeClr val="bg1"/>
                  </a:solidFill>
                  <a:latin typeface="Arial" panose="020B0604020202020204" pitchFamily="34" charset="0"/>
                </a:rPr>
                <a:t>Monitor activities and make corrections</a:t>
              </a:r>
            </a:p>
          </p:txBody>
        </p:sp>
        <p:sp>
          <p:nvSpPr>
            <p:cNvPr id="25635" name="Line 33">
              <a:extLst>
                <a:ext uri="{FF2B5EF4-FFF2-40B4-BE49-F238E27FC236}">
                  <a16:creationId xmlns:a16="http://schemas.microsoft.com/office/drawing/2014/main" id="{7EF6AE68-6D60-41D2-83C4-5BCA7CD0BC6A}"/>
                </a:ext>
              </a:extLst>
            </p:cNvPr>
            <p:cNvSpPr>
              <a:spLocks noChangeShapeType="1"/>
            </p:cNvSpPr>
            <p:nvPr/>
          </p:nvSpPr>
          <p:spPr bwMode="auto">
            <a:xfrm>
              <a:off x="3961" y="1666"/>
              <a:ext cx="0" cy="37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5604" name="FlagCount" hidden="1">
            <a:hlinkClick r:id="rId3" action="ppaction://hlinkfile"/>
            <a:extLst>
              <a:ext uri="{FF2B5EF4-FFF2-40B4-BE49-F238E27FC236}">
                <a16:creationId xmlns:a16="http://schemas.microsoft.com/office/drawing/2014/main" id="{DFE14BF3-FF2A-4D89-81C2-31CD20A9ECFF}"/>
              </a:ext>
            </a:extLst>
          </p:cNvPr>
          <p:cNvSpPr>
            <a:spLocks noChangeArrowheads="1"/>
          </p:cNvSpPr>
          <p:nvPr/>
        </p:nvSpPr>
        <p:spPr bwMode="auto">
          <a:xfrm>
            <a:off x="9779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b="1">
                <a:latin typeface="Tahoma" panose="020B0604030504040204" pitchFamily="34" charset="0"/>
              </a:rPr>
              <a:t>0</a:t>
            </a:r>
          </a:p>
        </p:txBody>
      </p:sp>
      <p:sp>
        <p:nvSpPr>
          <p:cNvPr id="25605" name="TextBox 8">
            <a:extLst>
              <a:ext uri="{FF2B5EF4-FFF2-40B4-BE49-F238E27FC236}">
                <a16:creationId xmlns:a16="http://schemas.microsoft.com/office/drawing/2014/main" id="{43C92EC3-C0AF-46E3-93AB-1692637CA2A2}"/>
              </a:ext>
            </a:extLst>
          </p:cNvPr>
          <p:cNvSpPr txBox="1">
            <a:spLocks noChangeArrowheads="1"/>
          </p:cNvSpPr>
          <p:nvPr/>
        </p:nvSpPr>
        <p:spPr bwMode="auto">
          <a:xfrm>
            <a:off x="1514475" y="6343639"/>
            <a:ext cx="9144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sp>
        <p:nvSpPr>
          <p:cNvPr id="2" name="Rectangle 1"/>
          <p:cNvSpPr/>
          <p:nvPr/>
        </p:nvSpPr>
        <p:spPr>
          <a:xfrm>
            <a:off x="3203113" y="1603120"/>
            <a:ext cx="5503026" cy="45225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Arrow 2"/>
          <p:cNvSpPr/>
          <p:nvPr/>
        </p:nvSpPr>
        <p:spPr>
          <a:xfrm>
            <a:off x="2575650" y="3449453"/>
            <a:ext cx="540327" cy="6783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Arrow 37"/>
          <p:cNvSpPr/>
          <p:nvPr/>
        </p:nvSpPr>
        <p:spPr>
          <a:xfrm>
            <a:off x="9045419" y="3450448"/>
            <a:ext cx="540327" cy="6783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10D991D0-5817-4160-BF13-4E4992B48395}"/>
              </a:ext>
            </a:extLst>
          </p:cNvPr>
          <p:cNvSpPr>
            <a:spLocks noGrp="1"/>
          </p:cNvSpPr>
          <p:nvPr>
            <p:ph type="title"/>
          </p:nvPr>
        </p:nvSpPr>
        <p:spPr>
          <a:xfrm>
            <a:off x="0" y="0"/>
            <a:ext cx="12192000" cy="1143000"/>
          </a:xfrm>
          <a:solidFill>
            <a:schemeClr val="accent2">
              <a:lumMod val="60000"/>
              <a:lumOff val="40000"/>
            </a:schemeClr>
          </a:solidFill>
        </p:spPr>
        <p:txBody>
          <a:bodyPr/>
          <a:lstStyle/>
          <a:p>
            <a:pPr algn="ctr">
              <a:defRPr/>
            </a:pPr>
            <a:r>
              <a:rPr lang="en-US" b="1" dirty="0">
                <a:solidFill>
                  <a:schemeClr val="bg1"/>
                </a:solidFill>
                <a:latin typeface="Helvetica LT Std" panose="020B0504020202020204" pitchFamily="34" charset="0"/>
              </a:rPr>
              <a:t>Who Are Managers?</a:t>
            </a:r>
            <a:endParaRPr lang="en-GB" b="1" dirty="0">
              <a:solidFill>
                <a:schemeClr val="bg1"/>
              </a:solidFill>
              <a:latin typeface="Helvetica LT Std" panose="020B0504020202020204" pitchFamily="34" charset="0"/>
            </a:endParaRPr>
          </a:p>
        </p:txBody>
      </p:sp>
      <p:sp>
        <p:nvSpPr>
          <p:cNvPr id="27651" name="TextBox 8">
            <a:extLst>
              <a:ext uri="{FF2B5EF4-FFF2-40B4-BE49-F238E27FC236}">
                <a16:creationId xmlns:a16="http://schemas.microsoft.com/office/drawing/2014/main" id="{507B6A4A-9ECA-481A-950F-F34E857BF695}"/>
              </a:ext>
            </a:extLst>
          </p:cNvPr>
          <p:cNvSpPr txBox="1">
            <a:spLocks noChangeArrowheads="1"/>
          </p:cNvSpPr>
          <p:nvPr/>
        </p:nvSpPr>
        <p:spPr bwMode="auto">
          <a:xfrm>
            <a:off x="0" y="6553200"/>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sp>
        <p:nvSpPr>
          <p:cNvPr id="27652" name="Rectangle 3">
            <a:extLst>
              <a:ext uri="{FF2B5EF4-FFF2-40B4-BE49-F238E27FC236}">
                <a16:creationId xmlns:a16="http://schemas.microsoft.com/office/drawing/2014/main" id="{ECFB400B-880F-4A3E-98E1-704A323E29BF}"/>
              </a:ext>
            </a:extLst>
          </p:cNvPr>
          <p:cNvSpPr>
            <a:spLocks noGrp="1" noChangeArrowheads="1"/>
          </p:cNvSpPr>
          <p:nvPr>
            <p:ph idx="1"/>
          </p:nvPr>
        </p:nvSpPr>
        <p:spPr>
          <a:xfrm>
            <a:off x="1790700" y="1485900"/>
            <a:ext cx="8610600" cy="5029200"/>
          </a:xfrm>
        </p:spPr>
        <p:txBody>
          <a:bodyPr/>
          <a:lstStyle/>
          <a:p>
            <a:pPr marL="342900" lvl="2" indent="-342900">
              <a:buClr>
                <a:schemeClr val="tx2"/>
              </a:buClr>
              <a:buSzPct val="90000"/>
              <a:buNone/>
            </a:pPr>
            <a:r>
              <a:rPr lang="en-US" altLang="en-US" sz="3200" dirty="0">
                <a:latin typeface="Helvetica LT Std" panose="020B0504020202020204" pitchFamily="34" charset="0"/>
              </a:rPr>
              <a:t>Someone who </a:t>
            </a:r>
            <a:r>
              <a:rPr lang="en-US" altLang="en-US" sz="3200" b="1" dirty="0">
                <a:solidFill>
                  <a:srgbClr val="C00000"/>
                </a:solidFill>
                <a:latin typeface="Helvetica LT Std" panose="020B0504020202020204" pitchFamily="34" charset="0"/>
              </a:rPr>
              <a:t>coordinates</a:t>
            </a:r>
            <a:r>
              <a:rPr lang="en-US" altLang="en-US" sz="3200" dirty="0">
                <a:latin typeface="Helvetica LT Std" panose="020B0504020202020204" pitchFamily="34" charset="0"/>
              </a:rPr>
              <a:t> and </a:t>
            </a:r>
            <a:r>
              <a:rPr lang="en-US" altLang="en-US" sz="3200" b="1" dirty="0">
                <a:solidFill>
                  <a:srgbClr val="C00000"/>
                </a:solidFill>
                <a:latin typeface="Helvetica LT Std" panose="020B0504020202020204" pitchFamily="34" charset="0"/>
              </a:rPr>
              <a:t>oversees the</a:t>
            </a:r>
          </a:p>
          <a:p>
            <a:pPr marL="342900" lvl="2" indent="-342900">
              <a:buClr>
                <a:schemeClr val="tx2"/>
              </a:buClr>
              <a:buSzPct val="90000"/>
              <a:buNone/>
            </a:pPr>
            <a:r>
              <a:rPr lang="en-US" altLang="en-US" sz="3200" dirty="0">
                <a:latin typeface="Helvetica LT Std" panose="020B0504020202020204" pitchFamily="34" charset="0"/>
              </a:rPr>
              <a:t>work of other people so that organizational </a:t>
            </a:r>
          </a:p>
          <a:p>
            <a:pPr marL="342900" lvl="2" indent="-342900">
              <a:buClr>
                <a:schemeClr val="tx2"/>
              </a:buClr>
              <a:buSzPct val="90000"/>
              <a:buNone/>
            </a:pPr>
            <a:r>
              <a:rPr lang="en-US" altLang="en-US" sz="3200" dirty="0">
                <a:latin typeface="Helvetica LT Std" panose="020B0504020202020204" pitchFamily="34" charset="0"/>
              </a:rPr>
              <a:t>goals can be accomplished. </a:t>
            </a:r>
          </a:p>
          <a:p>
            <a:pPr>
              <a:lnSpc>
                <a:spcPct val="90000"/>
              </a:lnSpc>
              <a:buClr>
                <a:schemeClr val="tx2"/>
              </a:buClr>
              <a:buSzPct val="90000"/>
            </a:pPr>
            <a:endParaRPr lang="en-US" altLang="en-US" dirty="0"/>
          </a:p>
        </p:txBody>
      </p:sp>
      <p:pic>
        <p:nvPicPr>
          <p:cNvPr id="27653" name="Picture 5" descr="interpersonal-communication-and-business-communication-6.jpg">
            <a:extLst>
              <a:ext uri="{FF2B5EF4-FFF2-40B4-BE49-F238E27FC236}">
                <a16:creationId xmlns:a16="http://schemas.microsoft.com/office/drawing/2014/main" id="{18E8ADF9-7FE4-41F1-9062-7550586AFDE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26575" y="3599545"/>
            <a:ext cx="6251170" cy="272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F8F92CC4-E1D6-48D4-B5E4-5EBFF947DCD4}"/>
              </a:ext>
            </a:extLst>
          </p:cNvPr>
          <p:cNvSpPr>
            <a:spLocks noGrp="1"/>
          </p:cNvSpPr>
          <p:nvPr>
            <p:ph type="title"/>
          </p:nvPr>
        </p:nvSpPr>
        <p:spPr>
          <a:xfrm>
            <a:off x="0" y="0"/>
            <a:ext cx="12192000" cy="1143000"/>
          </a:xfrm>
          <a:solidFill>
            <a:srgbClr val="BD4FA0"/>
          </a:solidFill>
        </p:spPr>
        <p:txBody>
          <a:bodyPr>
            <a:normAutofit/>
          </a:bodyPr>
          <a:lstStyle/>
          <a:p>
            <a:pPr algn="ctr"/>
            <a:r>
              <a:rPr lang="en-US" altLang="zh-TW" sz="2800" b="1" dirty="0">
                <a:solidFill>
                  <a:schemeClr val="bg1"/>
                </a:solidFill>
                <a:latin typeface="Helvetica" pitchFamily="2" charset="0"/>
              </a:rPr>
              <a:t>Types of Managers/ Levels of Management</a:t>
            </a:r>
            <a:endParaRPr lang="en-GB" altLang="zh-TW" sz="2800" b="1" dirty="0">
              <a:solidFill>
                <a:schemeClr val="bg1"/>
              </a:solidFill>
              <a:latin typeface="Helvetica" pitchFamily="2" charset="0"/>
            </a:endParaRPr>
          </a:p>
        </p:txBody>
      </p:sp>
      <p:sp>
        <p:nvSpPr>
          <p:cNvPr id="29699" name="TextBox 8">
            <a:extLst>
              <a:ext uri="{FF2B5EF4-FFF2-40B4-BE49-F238E27FC236}">
                <a16:creationId xmlns:a16="http://schemas.microsoft.com/office/drawing/2014/main" id="{1E2C6498-79E2-4EF9-A49E-750025DF0DB4}"/>
              </a:ext>
            </a:extLst>
          </p:cNvPr>
          <p:cNvSpPr txBox="1">
            <a:spLocks noChangeArrowheads="1"/>
          </p:cNvSpPr>
          <p:nvPr/>
        </p:nvSpPr>
        <p:spPr bwMode="auto">
          <a:xfrm>
            <a:off x="0" y="6488112"/>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pic>
        <p:nvPicPr>
          <p:cNvPr id="29700" name="Picture 28" descr="jon69447_0103">
            <a:extLst>
              <a:ext uri="{FF2B5EF4-FFF2-40B4-BE49-F238E27FC236}">
                <a16:creationId xmlns:a16="http://schemas.microsoft.com/office/drawing/2014/main" id="{7705F7C3-80B4-4709-99B0-CCB766219FAA}"/>
              </a:ext>
            </a:extLst>
          </p:cNvPr>
          <p:cNvPicPr>
            <a:picLocks noChangeAspect="1" noChangeArrowheads="1"/>
          </p:cNvPicPr>
          <p:nvPr/>
        </p:nvPicPr>
        <p:blipFill>
          <a:blip r:embed="rId2">
            <a:lum bright="-12000" contrast="34000"/>
            <a:extLst>
              <a:ext uri="{28A0092B-C50C-407E-A947-70E740481C1C}">
                <a14:useLocalDpi xmlns:a14="http://schemas.microsoft.com/office/drawing/2010/main" val="0"/>
              </a:ext>
            </a:extLst>
          </a:blip>
          <a:srcRect/>
          <a:stretch>
            <a:fillRect/>
          </a:stretch>
        </p:blipFill>
        <p:spPr bwMode="auto">
          <a:xfrm>
            <a:off x="2286000" y="1606858"/>
            <a:ext cx="7924800" cy="4630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F8F92CC4-E1D6-48D4-B5E4-5EBFF947DCD4}"/>
              </a:ext>
            </a:extLst>
          </p:cNvPr>
          <p:cNvSpPr>
            <a:spLocks noGrp="1"/>
          </p:cNvSpPr>
          <p:nvPr>
            <p:ph type="title"/>
          </p:nvPr>
        </p:nvSpPr>
        <p:spPr>
          <a:xfrm>
            <a:off x="0" y="0"/>
            <a:ext cx="12192000" cy="1014153"/>
          </a:xfrm>
          <a:solidFill>
            <a:schemeClr val="accent1">
              <a:lumMod val="50000"/>
            </a:schemeClr>
          </a:solidFill>
        </p:spPr>
        <p:txBody>
          <a:bodyPr>
            <a:normAutofit/>
          </a:bodyPr>
          <a:lstStyle/>
          <a:p>
            <a:pPr algn="ctr"/>
            <a:r>
              <a:rPr lang="en-US" altLang="zh-TW" sz="2800" b="1" dirty="0">
                <a:solidFill>
                  <a:schemeClr val="bg1"/>
                </a:solidFill>
                <a:latin typeface="Helvetica" pitchFamily="2" charset="0"/>
              </a:rPr>
              <a:t>TOP MANAGEMENT LEVEL</a:t>
            </a:r>
            <a:endParaRPr lang="en-GB" altLang="zh-TW" sz="2800" b="1" dirty="0">
              <a:solidFill>
                <a:schemeClr val="bg1"/>
              </a:solidFill>
              <a:latin typeface="Helvetica" pitchFamily="2" charset="0"/>
            </a:endParaRPr>
          </a:p>
        </p:txBody>
      </p:sp>
      <p:sp>
        <p:nvSpPr>
          <p:cNvPr id="29699" name="TextBox 8">
            <a:extLst>
              <a:ext uri="{FF2B5EF4-FFF2-40B4-BE49-F238E27FC236}">
                <a16:creationId xmlns:a16="http://schemas.microsoft.com/office/drawing/2014/main" id="{1E2C6498-79E2-4EF9-A49E-750025DF0DB4}"/>
              </a:ext>
            </a:extLst>
          </p:cNvPr>
          <p:cNvSpPr txBox="1">
            <a:spLocks noChangeArrowheads="1"/>
          </p:cNvSpPr>
          <p:nvPr/>
        </p:nvSpPr>
        <p:spPr bwMode="auto">
          <a:xfrm>
            <a:off x="0" y="6488112"/>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sp>
        <p:nvSpPr>
          <p:cNvPr id="2" name="Rectangle 1"/>
          <p:cNvSpPr/>
          <p:nvPr/>
        </p:nvSpPr>
        <p:spPr>
          <a:xfrm>
            <a:off x="595745" y="1308435"/>
            <a:ext cx="10767752" cy="4555093"/>
          </a:xfrm>
          <a:prstGeom prst="rect">
            <a:avLst/>
          </a:prstGeom>
        </p:spPr>
        <p:txBody>
          <a:bodyPr wrap="square">
            <a:spAutoFit/>
          </a:bodyPr>
          <a:lstStyle/>
          <a:p>
            <a:r>
              <a:rPr lang="en-US" sz="2000" dirty="0">
                <a:latin typeface="Helvetica LT Std Cond" panose="020B0506020202030204" pitchFamily="34" charset="0"/>
              </a:rPr>
              <a:t>It consists of board of directors, chief executive or managing director. The top management is the ultimate source of authority and it manages goals and policies for an enterprise. It devotes more time on planning and coordinating functions.</a:t>
            </a:r>
          </a:p>
          <a:p>
            <a:endParaRPr lang="en-US" sz="2000" dirty="0">
              <a:latin typeface="Helvetica LT Std Cond" panose="020B0506020202030204" pitchFamily="34" charset="0"/>
            </a:endParaRPr>
          </a:p>
          <a:p>
            <a:pPr marL="285750" indent="-285750">
              <a:lnSpc>
                <a:spcPct val="150000"/>
              </a:lnSpc>
              <a:buFont typeface="Arial" panose="020B0604020202020204" pitchFamily="34" charset="0"/>
              <a:buChar char="•"/>
            </a:pPr>
            <a:r>
              <a:rPr lang="en-US" sz="2000" dirty="0">
                <a:latin typeface="Helvetica LT Std Cond" panose="020B0506020202030204" pitchFamily="34" charset="0"/>
              </a:rPr>
              <a:t>Top management lays down the objectives and broad policies of the enterprise.</a:t>
            </a:r>
          </a:p>
          <a:p>
            <a:pPr marL="285750" indent="-285750">
              <a:lnSpc>
                <a:spcPct val="150000"/>
              </a:lnSpc>
              <a:buFont typeface="Arial" panose="020B0604020202020204" pitchFamily="34" charset="0"/>
              <a:buChar char="•"/>
            </a:pPr>
            <a:r>
              <a:rPr lang="en-US" sz="2000" dirty="0">
                <a:latin typeface="Helvetica LT Std Cond" panose="020B0506020202030204" pitchFamily="34" charset="0"/>
              </a:rPr>
              <a:t>It issues necessary instructions for the preparation of department budgets, procedures, schedules etc.</a:t>
            </a:r>
          </a:p>
          <a:p>
            <a:pPr marL="285750" indent="-285750">
              <a:lnSpc>
                <a:spcPct val="150000"/>
              </a:lnSpc>
              <a:buFont typeface="Arial" panose="020B0604020202020204" pitchFamily="34" charset="0"/>
              <a:buChar char="•"/>
            </a:pPr>
            <a:r>
              <a:rPr lang="en-US" sz="2000" dirty="0">
                <a:latin typeface="Helvetica LT Std Cond" panose="020B0506020202030204" pitchFamily="34" charset="0"/>
              </a:rPr>
              <a:t>It prepares strategic plans &amp; policies for the enterprise.</a:t>
            </a:r>
          </a:p>
          <a:p>
            <a:pPr marL="285750" indent="-285750">
              <a:lnSpc>
                <a:spcPct val="150000"/>
              </a:lnSpc>
              <a:buFont typeface="Arial" panose="020B0604020202020204" pitchFamily="34" charset="0"/>
              <a:buChar char="•"/>
            </a:pPr>
            <a:r>
              <a:rPr lang="en-US" sz="2000" dirty="0">
                <a:latin typeface="Helvetica LT Std Cond" panose="020B0506020202030204" pitchFamily="34" charset="0"/>
              </a:rPr>
              <a:t>It appoints the executive for the middle level i.e. departmental managers.</a:t>
            </a:r>
          </a:p>
          <a:p>
            <a:pPr marL="285750" indent="-285750">
              <a:lnSpc>
                <a:spcPct val="150000"/>
              </a:lnSpc>
              <a:buFont typeface="Arial" panose="020B0604020202020204" pitchFamily="34" charset="0"/>
              <a:buChar char="•"/>
            </a:pPr>
            <a:r>
              <a:rPr lang="en-US" sz="2000" dirty="0">
                <a:latin typeface="Helvetica LT Std Cond" panose="020B0506020202030204" pitchFamily="34" charset="0"/>
              </a:rPr>
              <a:t>It controls &amp; coordinates the activities of all the departments.</a:t>
            </a:r>
          </a:p>
          <a:p>
            <a:pPr marL="285750" indent="-285750">
              <a:lnSpc>
                <a:spcPct val="150000"/>
              </a:lnSpc>
              <a:buFont typeface="Arial" panose="020B0604020202020204" pitchFamily="34" charset="0"/>
              <a:buChar char="•"/>
            </a:pPr>
            <a:r>
              <a:rPr lang="en-US" sz="2000" dirty="0">
                <a:latin typeface="Helvetica LT Std Cond" panose="020B0506020202030204" pitchFamily="34" charset="0"/>
              </a:rPr>
              <a:t>It is also responsible for maintaining contact with the outside world.</a:t>
            </a:r>
          </a:p>
          <a:p>
            <a:pPr marL="285750" indent="-285750">
              <a:lnSpc>
                <a:spcPct val="150000"/>
              </a:lnSpc>
              <a:buFont typeface="Arial" panose="020B0604020202020204" pitchFamily="34" charset="0"/>
              <a:buChar char="•"/>
            </a:pPr>
            <a:r>
              <a:rPr lang="en-US" sz="2000" dirty="0">
                <a:latin typeface="Helvetica LT Std Cond" panose="020B0506020202030204" pitchFamily="34" charset="0"/>
              </a:rPr>
              <a:t>It provides guidance and direction.</a:t>
            </a:r>
          </a:p>
        </p:txBody>
      </p:sp>
    </p:spTree>
    <p:extLst>
      <p:ext uri="{BB962C8B-B14F-4D97-AF65-F5344CB8AC3E}">
        <p14:creationId xmlns:p14="http://schemas.microsoft.com/office/powerpoint/2010/main" val="2959807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F8F92CC4-E1D6-48D4-B5E4-5EBFF947DCD4}"/>
              </a:ext>
            </a:extLst>
          </p:cNvPr>
          <p:cNvSpPr>
            <a:spLocks noGrp="1"/>
          </p:cNvSpPr>
          <p:nvPr>
            <p:ph type="title"/>
          </p:nvPr>
        </p:nvSpPr>
        <p:spPr>
          <a:xfrm>
            <a:off x="0" y="0"/>
            <a:ext cx="12192000" cy="1014153"/>
          </a:xfrm>
          <a:solidFill>
            <a:schemeClr val="accent1">
              <a:lumMod val="75000"/>
            </a:schemeClr>
          </a:solidFill>
        </p:spPr>
        <p:txBody>
          <a:bodyPr>
            <a:normAutofit/>
          </a:bodyPr>
          <a:lstStyle/>
          <a:p>
            <a:pPr algn="ctr"/>
            <a:r>
              <a:rPr lang="en-US" altLang="zh-TW" sz="2800" b="1" dirty="0">
                <a:solidFill>
                  <a:schemeClr val="bg1"/>
                </a:solidFill>
                <a:latin typeface="Helvetica" pitchFamily="2" charset="0"/>
              </a:rPr>
              <a:t>MIDDLE MANAGEMENT LEVEL</a:t>
            </a:r>
            <a:endParaRPr lang="en-GB" altLang="zh-TW" sz="2800" b="1" dirty="0">
              <a:solidFill>
                <a:schemeClr val="bg1"/>
              </a:solidFill>
              <a:latin typeface="Helvetica" pitchFamily="2" charset="0"/>
            </a:endParaRPr>
          </a:p>
        </p:txBody>
      </p:sp>
      <p:sp>
        <p:nvSpPr>
          <p:cNvPr id="29699" name="TextBox 8">
            <a:extLst>
              <a:ext uri="{FF2B5EF4-FFF2-40B4-BE49-F238E27FC236}">
                <a16:creationId xmlns:a16="http://schemas.microsoft.com/office/drawing/2014/main" id="{1E2C6498-79E2-4EF9-A49E-750025DF0DB4}"/>
              </a:ext>
            </a:extLst>
          </p:cNvPr>
          <p:cNvSpPr txBox="1">
            <a:spLocks noChangeArrowheads="1"/>
          </p:cNvSpPr>
          <p:nvPr/>
        </p:nvSpPr>
        <p:spPr bwMode="auto">
          <a:xfrm>
            <a:off x="0" y="6488112"/>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sp>
        <p:nvSpPr>
          <p:cNvPr id="2" name="Rectangle 1"/>
          <p:cNvSpPr/>
          <p:nvPr/>
        </p:nvSpPr>
        <p:spPr>
          <a:xfrm>
            <a:off x="712124" y="1211990"/>
            <a:ext cx="10767752" cy="4862870"/>
          </a:xfrm>
          <a:prstGeom prst="rect">
            <a:avLst/>
          </a:prstGeom>
        </p:spPr>
        <p:txBody>
          <a:bodyPr wrap="square">
            <a:spAutoFit/>
          </a:bodyPr>
          <a:lstStyle/>
          <a:p>
            <a:r>
              <a:rPr lang="en-US" sz="2000" dirty="0">
                <a:latin typeface="Helvetica LT Std Cond" panose="020B0506020202030204" pitchFamily="34" charset="0"/>
              </a:rPr>
              <a:t>The branch managers and departmental managers constitute middle level. They are responsible to the top management for the functioning of their department. </a:t>
            </a:r>
          </a:p>
          <a:p>
            <a:endParaRPr lang="en-US" sz="2000" dirty="0">
              <a:latin typeface="Helvetica LT Std Cond" panose="020B0506020202030204" pitchFamily="34" charset="0"/>
            </a:endParaRPr>
          </a:p>
          <a:p>
            <a:pPr marL="342900" indent="-342900">
              <a:buFont typeface="Arial" panose="020B0604020202020204" pitchFamily="34" charset="0"/>
              <a:buChar char="•"/>
            </a:pPr>
            <a:r>
              <a:rPr lang="en-US" sz="2000" dirty="0">
                <a:latin typeface="Helvetica LT Std Cond" panose="020B0506020202030204" pitchFamily="34" charset="0"/>
              </a:rPr>
              <a:t>They execute the plans of the organization in accordance with the policies and directives of the top management.</a:t>
            </a:r>
          </a:p>
          <a:p>
            <a:pPr marL="342900" indent="-342900">
              <a:lnSpc>
                <a:spcPct val="150000"/>
              </a:lnSpc>
              <a:buFont typeface="Arial" panose="020B0604020202020204" pitchFamily="34" charset="0"/>
              <a:buChar char="•"/>
            </a:pPr>
            <a:r>
              <a:rPr lang="en-US" sz="2000" dirty="0">
                <a:latin typeface="Helvetica LT Std Cond" panose="020B0506020202030204" pitchFamily="34" charset="0"/>
              </a:rPr>
              <a:t>They make plans for the sub-units of the organization</a:t>
            </a:r>
          </a:p>
          <a:p>
            <a:pPr marL="342900" indent="-342900">
              <a:lnSpc>
                <a:spcPct val="150000"/>
              </a:lnSpc>
              <a:buFont typeface="Arial" panose="020B0604020202020204" pitchFamily="34" charset="0"/>
              <a:buChar char="•"/>
            </a:pPr>
            <a:r>
              <a:rPr lang="en-US" sz="2000" dirty="0">
                <a:latin typeface="Helvetica LT Std Cond" panose="020B0506020202030204" pitchFamily="34" charset="0"/>
              </a:rPr>
              <a:t>They participate in employment &amp; training of lower level management</a:t>
            </a:r>
          </a:p>
          <a:p>
            <a:pPr marL="342900" indent="-342900">
              <a:lnSpc>
                <a:spcPct val="150000"/>
              </a:lnSpc>
              <a:buFont typeface="Arial" panose="020B0604020202020204" pitchFamily="34" charset="0"/>
              <a:buChar char="•"/>
            </a:pPr>
            <a:r>
              <a:rPr lang="en-US" sz="2000" dirty="0">
                <a:latin typeface="Helvetica LT Std Cond" panose="020B0506020202030204" pitchFamily="34" charset="0"/>
              </a:rPr>
              <a:t>They interpret and explain policies from top level management to lower level</a:t>
            </a:r>
          </a:p>
          <a:p>
            <a:pPr marL="342900" indent="-342900">
              <a:lnSpc>
                <a:spcPct val="150000"/>
              </a:lnSpc>
              <a:buFont typeface="Arial" panose="020B0604020202020204" pitchFamily="34" charset="0"/>
              <a:buChar char="•"/>
            </a:pPr>
            <a:r>
              <a:rPr lang="en-US" sz="2000" dirty="0">
                <a:latin typeface="Helvetica LT Std Cond" panose="020B0506020202030204" pitchFamily="34" charset="0"/>
              </a:rPr>
              <a:t>They are responsible for coordinating the activities within the division or department</a:t>
            </a:r>
          </a:p>
          <a:p>
            <a:pPr marL="342900" indent="-342900">
              <a:lnSpc>
                <a:spcPct val="150000"/>
              </a:lnSpc>
              <a:buFont typeface="Arial" panose="020B0604020202020204" pitchFamily="34" charset="0"/>
              <a:buChar char="•"/>
            </a:pPr>
            <a:r>
              <a:rPr lang="en-US" sz="2000" dirty="0">
                <a:latin typeface="Helvetica LT Std Cond" panose="020B0506020202030204" pitchFamily="34" charset="0"/>
              </a:rPr>
              <a:t>It also sends important reports and other important data to top level management</a:t>
            </a:r>
          </a:p>
          <a:p>
            <a:pPr marL="342900" indent="-342900">
              <a:lnSpc>
                <a:spcPct val="150000"/>
              </a:lnSpc>
              <a:buFont typeface="Arial" panose="020B0604020202020204" pitchFamily="34" charset="0"/>
              <a:buChar char="•"/>
            </a:pPr>
            <a:r>
              <a:rPr lang="en-US" sz="2000" dirty="0">
                <a:latin typeface="Helvetica LT Std Cond" panose="020B0506020202030204" pitchFamily="34" charset="0"/>
              </a:rPr>
              <a:t>They evaluate performance of junior managers</a:t>
            </a:r>
          </a:p>
          <a:p>
            <a:pPr marL="342900" indent="-342900">
              <a:lnSpc>
                <a:spcPct val="150000"/>
              </a:lnSpc>
              <a:buFont typeface="Arial" panose="020B0604020202020204" pitchFamily="34" charset="0"/>
              <a:buChar char="•"/>
            </a:pPr>
            <a:r>
              <a:rPr lang="en-US" sz="2000" dirty="0">
                <a:latin typeface="Helvetica LT Std Cond" panose="020B0506020202030204" pitchFamily="34" charset="0"/>
              </a:rPr>
              <a:t>They are also responsible for inspiring lower level managers towards better performance.</a:t>
            </a:r>
          </a:p>
        </p:txBody>
      </p:sp>
    </p:spTree>
    <p:extLst>
      <p:ext uri="{BB962C8B-B14F-4D97-AF65-F5344CB8AC3E}">
        <p14:creationId xmlns:p14="http://schemas.microsoft.com/office/powerpoint/2010/main" val="484052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F8F92CC4-E1D6-48D4-B5E4-5EBFF947DCD4}"/>
              </a:ext>
            </a:extLst>
          </p:cNvPr>
          <p:cNvSpPr>
            <a:spLocks noGrp="1"/>
          </p:cNvSpPr>
          <p:nvPr>
            <p:ph type="title"/>
          </p:nvPr>
        </p:nvSpPr>
        <p:spPr>
          <a:xfrm>
            <a:off x="0" y="0"/>
            <a:ext cx="12192000" cy="1014153"/>
          </a:xfrm>
          <a:solidFill>
            <a:schemeClr val="accent1">
              <a:lumMod val="60000"/>
              <a:lumOff val="40000"/>
            </a:schemeClr>
          </a:solidFill>
        </p:spPr>
        <p:txBody>
          <a:bodyPr>
            <a:normAutofit/>
          </a:bodyPr>
          <a:lstStyle/>
          <a:p>
            <a:pPr algn="ctr"/>
            <a:r>
              <a:rPr lang="en-US" altLang="zh-TW" sz="2800" b="1" dirty="0">
                <a:solidFill>
                  <a:schemeClr val="bg1"/>
                </a:solidFill>
                <a:latin typeface="Helvetica" pitchFamily="2" charset="0"/>
              </a:rPr>
              <a:t>FIRST-LINE MANAGEMENT LEVEL</a:t>
            </a:r>
            <a:endParaRPr lang="en-GB" altLang="zh-TW" sz="2800" b="1" dirty="0">
              <a:solidFill>
                <a:schemeClr val="bg1"/>
              </a:solidFill>
              <a:latin typeface="Helvetica" pitchFamily="2" charset="0"/>
            </a:endParaRPr>
          </a:p>
        </p:txBody>
      </p:sp>
      <p:sp>
        <p:nvSpPr>
          <p:cNvPr id="29699" name="TextBox 8">
            <a:extLst>
              <a:ext uri="{FF2B5EF4-FFF2-40B4-BE49-F238E27FC236}">
                <a16:creationId xmlns:a16="http://schemas.microsoft.com/office/drawing/2014/main" id="{1E2C6498-79E2-4EF9-A49E-750025DF0DB4}"/>
              </a:ext>
            </a:extLst>
          </p:cNvPr>
          <p:cNvSpPr txBox="1">
            <a:spLocks noChangeArrowheads="1"/>
          </p:cNvSpPr>
          <p:nvPr/>
        </p:nvSpPr>
        <p:spPr bwMode="auto">
          <a:xfrm>
            <a:off x="0" y="6488112"/>
            <a:ext cx="12192000" cy="369888"/>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endParaRPr lang="en-GB" altLang="en-US" sz="1800">
              <a:solidFill>
                <a:schemeClr val="bg1"/>
              </a:solidFill>
              <a:latin typeface="Arial" panose="020B0604020202020204" pitchFamily="34" charset="0"/>
            </a:endParaRPr>
          </a:p>
        </p:txBody>
      </p:sp>
      <p:sp>
        <p:nvSpPr>
          <p:cNvPr id="2" name="Rectangle 1"/>
          <p:cNvSpPr/>
          <p:nvPr/>
        </p:nvSpPr>
        <p:spPr>
          <a:xfrm>
            <a:off x="712124" y="1165809"/>
            <a:ext cx="10767752" cy="4622676"/>
          </a:xfrm>
          <a:prstGeom prst="rect">
            <a:avLst/>
          </a:prstGeom>
        </p:spPr>
        <p:txBody>
          <a:bodyPr wrap="square">
            <a:spAutoFit/>
          </a:bodyPr>
          <a:lstStyle/>
          <a:p>
            <a:r>
              <a:rPr lang="en-US" dirty="0">
                <a:latin typeface="Helvetica LT Std Cond" panose="020B0506020202030204" pitchFamily="34" charset="0"/>
              </a:rPr>
              <a:t>Lower level is also known as supervisory / operative level of management. It consists of supervisors, foreman, section officers, superintendent etc. They are concerned with direction and controlling function of management. Their activities include -</a:t>
            </a:r>
          </a:p>
          <a:p>
            <a:endParaRPr lang="en-US" dirty="0">
              <a:latin typeface="Helvetica LT Std Cond" panose="020B0506020202030204" pitchFamily="34" charset="0"/>
            </a:endParaRPr>
          </a:p>
          <a:p>
            <a:pPr marL="342900" indent="-342900">
              <a:lnSpc>
                <a:spcPct val="150000"/>
              </a:lnSpc>
              <a:buFont typeface="Arial" panose="020B0604020202020204" pitchFamily="34" charset="0"/>
              <a:buChar char="•"/>
            </a:pPr>
            <a:r>
              <a:rPr lang="en-US" dirty="0">
                <a:latin typeface="Helvetica LT Std Cond" panose="020B0506020202030204" pitchFamily="34" charset="0"/>
              </a:rPr>
              <a:t>They assign jobs and tasks to various workers guide and instruct them for day-to-day activities.</a:t>
            </a:r>
          </a:p>
          <a:p>
            <a:pPr marL="342900" indent="-342900">
              <a:lnSpc>
                <a:spcPct val="150000"/>
              </a:lnSpc>
              <a:buFont typeface="Arial" panose="020B0604020202020204" pitchFamily="34" charset="0"/>
              <a:buChar char="•"/>
            </a:pPr>
            <a:r>
              <a:rPr lang="en-US" dirty="0">
                <a:latin typeface="Helvetica LT Std Cond" panose="020B0506020202030204" pitchFamily="34" charset="0"/>
              </a:rPr>
              <a:t>They are responsible for the quality as well as quantity of production.</a:t>
            </a:r>
          </a:p>
          <a:p>
            <a:pPr marL="342900" indent="-342900">
              <a:buFont typeface="Arial" panose="020B0604020202020204" pitchFamily="34" charset="0"/>
              <a:buChar char="•"/>
            </a:pPr>
            <a:r>
              <a:rPr lang="en-US" dirty="0">
                <a:latin typeface="Helvetica LT Std Cond" panose="020B0506020202030204" pitchFamily="34" charset="0"/>
              </a:rPr>
              <a:t>They communicate workers problems, suggestions, and recommendatory appeals </a:t>
            </a:r>
            <a:r>
              <a:rPr lang="en-US" dirty="0" err="1">
                <a:latin typeface="Helvetica LT Std Cond" panose="020B0506020202030204" pitchFamily="34" charset="0"/>
              </a:rPr>
              <a:t>etc</a:t>
            </a:r>
            <a:r>
              <a:rPr lang="en-US" dirty="0">
                <a:latin typeface="Helvetica LT Std Cond" panose="020B0506020202030204" pitchFamily="34" charset="0"/>
              </a:rPr>
              <a:t> to the higher level and higher level goals and objectives to the workers</a:t>
            </a:r>
          </a:p>
          <a:p>
            <a:pPr marL="342900" indent="-342900">
              <a:lnSpc>
                <a:spcPct val="150000"/>
              </a:lnSpc>
              <a:buFont typeface="Arial" panose="020B0604020202020204" pitchFamily="34" charset="0"/>
              <a:buChar char="•"/>
            </a:pPr>
            <a:r>
              <a:rPr lang="en-US" dirty="0">
                <a:latin typeface="Helvetica LT Std Cond" panose="020B0506020202030204" pitchFamily="34" charset="0"/>
              </a:rPr>
              <a:t>They help to solve the grievances of the workers</a:t>
            </a:r>
          </a:p>
          <a:p>
            <a:pPr marL="342900" indent="-342900">
              <a:lnSpc>
                <a:spcPct val="150000"/>
              </a:lnSpc>
              <a:buFont typeface="Arial" panose="020B0604020202020204" pitchFamily="34" charset="0"/>
              <a:buChar char="•"/>
            </a:pPr>
            <a:r>
              <a:rPr lang="en-US" dirty="0">
                <a:latin typeface="Helvetica LT Std Cond" panose="020B0506020202030204" pitchFamily="34" charset="0"/>
              </a:rPr>
              <a:t>They supervise &amp; guide the sub-ordinates</a:t>
            </a:r>
          </a:p>
          <a:p>
            <a:pPr marL="342900" indent="-342900">
              <a:lnSpc>
                <a:spcPct val="150000"/>
              </a:lnSpc>
              <a:buFont typeface="Arial" panose="020B0604020202020204" pitchFamily="34" charset="0"/>
              <a:buChar char="•"/>
            </a:pPr>
            <a:r>
              <a:rPr lang="en-US" dirty="0">
                <a:latin typeface="Helvetica LT Std Cond" panose="020B0506020202030204" pitchFamily="34" charset="0"/>
              </a:rPr>
              <a:t>They prepare periodical reports about the performance of the workers</a:t>
            </a:r>
          </a:p>
          <a:p>
            <a:pPr marL="342900" indent="-342900">
              <a:lnSpc>
                <a:spcPct val="150000"/>
              </a:lnSpc>
              <a:buFont typeface="Arial" panose="020B0604020202020204" pitchFamily="34" charset="0"/>
              <a:buChar char="•"/>
            </a:pPr>
            <a:r>
              <a:rPr lang="en-US" dirty="0">
                <a:latin typeface="Helvetica LT Std Cond" panose="020B0506020202030204" pitchFamily="34" charset="0"/>
              </a:rPr>
              <a:t>They ensure discipline in the enterprise</a:t>
            </a:r>
          </a:p>
          <a:p>
            <a:pPr marL="342900" indent="-342900">
              <a:lnSpc>
                <a:spcPct val="150000"/>
              </a:lnSpc>
              <a:buFont typeface="Arial" panose="020B0604020202020204" pitchFamily="34" charset="0"/>
              <a:buChar char="•"/>
            </a:pPr>
            <a:r>
              <a:rPr lang="en-US" dirty="0">
                <a:latin typeface="Helvetica LT Std Cond" panose="020B0506020202030204" pitchFamily="34" charset="0"/>
              </a:rPr>
              <a:t>They are the image builders of the enterprise because they are in direct contact with the workers.</a:t>
            </a:r>
          </a:p>
        </p:txBody>
      </p:sp>
    </p:spTree>
    <p:extLst>
      <p:ext uri="{BB962C8B-B14F-4D97-AF65-F5344CB8AC3E}">
        <p14:creationId xmlns:p14="http://schemas.microsoft.com/office/powerpoint/2010/main" val="1171371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8EA0A5E-AFDE-4664-AC4A-F94A4C7D6816}"/>
              </a:ext>
            </a:extLst>
          </p:cNvPr>
          <p:cNvSpPr>
            <a:spLocks noGrp="1"/>
          </p:cNvSpPr>
          <p:nvPr>
            <p:ph type="title"/>
          </p:nvPr>
        </p:nvSpPr>
        <p:spPr>
          <a:xfrm>
            <a:off x="0" y="0"/>
            <a:ext cx="12192000" cy="1031216"/>
          </a:xfrm>
          <a:solidFill>
            <a:schemeClr val="accent2"/>
          </a:solidFill>
        </p:spPr>
        <p:txBody>
          <a:bodyPr anchor="b">
            <a:normAutofit/>
          </a:bodyPr>
          <a:lstStyle/>
          <a:p>
            <a:pPr algn="ctr">
              <a:defRPr/>
            </a:pPr>
            <a:r>
              <a:rPr lang="en-US" altLang="zh-TW" sz="3600" b="1" dirty="0">
                <a:solidFill>
                  <a:schemeClr val="accent4">
                    <a:lumMod val="40000"/>
                    <a:lumOff val="60000"/>
                  </a:schemeClr>
                </a:solidFill>
                <a:latin typeface="Helvetica" pitchFamily="2" charset="0"/>
              </a:rPr>
              <a:t>Types</a:t>
            </a:r>
            <a:r>
              <a:rPr lang="en-US" altLang="zh-TW" sz="3600" b="1" dirty="0">
                <a:latin typeface="Helvetica" pitchFamily="2" charset="0"/>
              </a:rPr>
              <a:t> Business Organizations</a:t>
            </a:r>
            <a:endParaRPr lang="en-GB" sz="3600" b="1" dirty="0">
              <a:latin typeface="Helvetica" pitchFamily="2" charset="0"/>
            </a:endParaRPr>
          </a:p>
        </p:txBody>
      </p:sp>
      <p:pic>
        <p:nvPicPr>
          <p:cNvPr id="11" name="Picture 10">
            <a:extLst>
              <a:ext uri="{FF2B5EF4-FFF2-40B4-BE49-F238E27FC236}">
                <a16:creationId xmlns:a16="http://schemas.microsoft.com/office/drawing/2014/main" id="{00859741-4416-482F-96BD-B37409AA3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4293" y="2695482"/>
            <a:ext cx="5069382" cy="2542686"/>
          </a:xfrm>
          <a:prstGeom prst="rect">
            <a:avLst/>
          </a:prstGeom>
        </p:spPr>
      </p:pic>
      <p:sp>
        <p:nvSpPr>
          <p:cNvPr id="16" name="Freeform: Shape 15">
            <a:extLst>
              <a:ext uri="{FF2B5EF4-FFF2-40B4-BE49-F238E27FC236}">
                <a16:creationId xmlns:a16="http://schemas.microsoft.com/office/drawing/2014/main" id="{C607803A-4E99-444E-94F7-8785CDDF5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80154" y="1884045"/>
            <a:ext cx="3275668" cy="2853308"/>
          </a:xfrm>
          <a:custGeom>
            <a:avLst/>
            <a:gdLst>
              <a:gd name="connsiteX0" fmla="*/ 3275668 w 3275668"/>
              <a:gd name="connsiteY0" fmla="*/ 2853308 h 2853308"/>
              <a:gd name="connsiteX1" fmla="*/ 655 w 3275668"/>
              <a:gd name="connsiteY1" fmla="*/ 2853308 h 2853308"/>
              <a:gd name="connsiteX2" fmla="*/ 0 w 3275668"/>
              <a:gd name="connsiteY2" fmla="*/ 2467565 h 2853308"/>
              <a:gd name="connsiteX3" fmla="*/ 2869894 w 3275668"/>
              <a:gd name="connsiteY3" fmla="*/ 2468888 h 2853308"/>
              <a:gd name="connsiteX4" fmla="*/ 2869894 w 3275668"/>
              <a:gd name="connsiteY4" fmla="*/ 0 h 2853308"/>
              <a:gd name="connsiteX5" fmla="*/ 3275668 w 3275668"/>
              <a:gd name="connsiteY5" fmla="*/ 0 h 285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5668" h="2853308">
                <a:moveTo>
                  <a:pt x="3275668" y="2853308"/>
                </a:moveTo>
                <a:lnTo>
                  <a:pt x="655" y="2853308"/>
                </a:lnTo>
                <a:cubicBezTo>
                  <a:pt x="-655" y="2720171"/>
                  <a:pt x="1310" y="2600702"/>
                  <a:pt x="0" y="2467565"/>
                </a:cubicBezTo>
                <a:lnTo>
                  <a:pt x="2869894" y="2468888"/>
                </a:lnTo>
                <a:lnTo>
                  <a:pt x="2869894" y="0"/>
                </a:lnTo>
                <a:lnTo>
                  <a:pt x="3275668" y="0"/>
                </a:lnTo>
                <a:close/>
              </a:path>
            </a:pathLst>
          </a:custGeom>
          <a:solidFill>
            <a:srgbClr val="4C4C4C"/>
          </a:solidFill>
          <a:ln w="0">
            <a:noFill/>
            <a:prstDash val="solid"/>
            <a:round/>
            <a:headEnd/>
            <a:tailEnd/>
          </a:ln>
        </p:spPr>
      </p:sp>
      <p:sp>
        <p:nvSpPr>
          <p:cNvPr id="18" name="Freeform: Shape 17">
            <a:extLst>
              <a:ext uri="{FF2B5EF4-FFF2-40B4-BE49-F238E27FC236}">
                <a16:creationId xmlns:a16="http://schemas.microsoft.com/office/drawing/2014/main" id="{2989BE6A-C309-418E-8ADD-1616A9805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55822" y="3222529"/>
            <a:ext cx="3242952" cy="2828156"/>
          </a:xfrm>
          <a:custGeom>
            <a:avLst/>
            <a:gdLst>
              <a:gd name="connsiteX0" fmla="*/ 2837178 w 3242952"/>
              <a:gd name="connsiteY0" fmla="*/ 0 h 2828156"/>
              <a:gd name="connsiteX1" fmla="*/ 3242952 w 3242952"/>
              <a:gd name="connsiteY1" fmla="*/ 0 h 2828156"/>
              <a:gd name="connsiteX2" fmla="*/ 3242952 w 3242952"/>
              <a:gd name="connsiteY2" fmla="*/ 2828156 h 2828156"/>
              <a:gd name="connsiteX3" fmla="*/ 0 w 3242952"/>
              <a:gd name="connsiteY3" fmla="*/ 2828156 h 2828156"/>
              <a:gd name="connsiteX4" fmla="*/ 0 w 3242952"/>
              <a:gd name="connsiteY4" fmla="*/ 2442859 h 2828156"/>
              <a:gd name="connsiteX5" fmla="*/ 2837178 w 3242952"/>
              <a:gd name="connsiteY5" fmla="*/ 2443295 h 282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2952" h="2828156">
                <a:moveTo>
                  <a:pt x="2837178" y="0"/>
                </a:moveTo>
                <a:lnTo>
                  <a:pt x="3242952" y="0"/>
                </a:lnTo>
                <a:lnTo>
                  <a:pt x="3242952" y="2828156"/>
                </a:lnTo>
                <a:lnTo>
                  <a:pt x="0" y="2828156"/>
                </a:lnTo>
                <a:lnTo>
                  <a:pt x="0" y="2442859"/>
                </a:lnTo>
                <a:lnTo>
                  <a:pt x="2837178" y="2443295"/>
                </a:lnTo>
                <a:close/>
              </a:path>
            </a:pathLst>
          </a:custGeom>
          <a:solidFill>
            <a:srgbClr val="4C4C4C"/>
          </a:solidFill>
          <a:ln w="0">
            <a:noFill/>
            <a:prstDash val="solid"/>
            <a:round/>
            <a:headEnd/>
            <a:tailEnd/>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7556929" y="2121209"/>
            <a:ext cx="4122452" cy="3387145"/>
          </a:xfrm>
        </p:spPr>
        <p:txBody>
          <a:bodyPr anchor="ctr">
            <a:normAutofit/>
          </a:bodyPr>
          <a:lstStyle/>
          <a:p>
            <a:pPr marL="457200" indent="-457200">
              <a:buFont typeface="+mj-lt"/>
              <a:buAutoNum type="arabicPeriod"/>
            </a:pPr>
            <a:r>
              <a:rPr lang="en-US" sz="2400" dirty="0">
                <a:latin typeface="Helvetica" pitchFamily="2" charset="0"/>
              </a:rPr>
              <a:t>Service providing business organizations</a:t>
            </a:r>
          </a:p>
          <a:p>
            <a:pPr marL="457200" indent="-457200">
              <a:buFont typeface="+mj-lt"/>
              <a:buAutoNum type="arabicPeriod"/>
            </a:pPr>
            <a:r>
              <a:rPr lang="en-US" sz="2400" dirty="0">
                <a:latin typeface="Helvetica" pitchFamily="2" charset="0"/>
              </a:rPr>
              <a:t>Manufacturing organizations</a:t>
            </a:r>
          </a:p>
          <a:p>
            <a:pPr marL="457200" indent="-457200">
              <a:buFont typeface="+mj-lt"/>
              <a:buAutoNum type="arabicPeriod"/>
            </a:pPr>
            <a:r>
              <a:rPr lang="en-US" sz="2400" dirty="0">
                <a:latin typeface="Helvetica" pitchFamily="2" charset="0"/>
              </a:rPr>
              <a:t>Trading organizations</a:t>
            </a:r>
          </a:p>
        </p:txBody>
      </p:sp>
    </p:spTree>
    <p:extLst>
      <p:ext uri="{BB962C8B-B14F-4D97-AF65-F5344CB8AC3E}">
        <p14:creationId xmlns:p14="http://schemas.microsoft.com/office/powerpoint/2010/main" val="3312181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a:xfrm>
            <a:off x="1828800" y="2133600"/>
            <a:ext cx="8001000" cy="4267200"/>
          </a:xfrm>
        </p:spPr>
        <p:txBody>
          <a:bodyPr/>
          <a:lstStyle/>
          <a:p>
            <a:pPr>
              <a:lnSpc>
                <a:spcPct val="150000"/>
              </a:lnSpc>
            </a:pPr>
            <a:r>
              <a:rPr lang="en-US" dirty="0">
                <a:solidFill>
                  <a:srgbClr val="040E08"/>
                </a:solidFill>
                <a:latin typeface="Helvetica" pitchFamily="2" charset="0"/>
              </a:rPr>
              <a:t>Sole proprietorship (Sole trader)</a:t>
            </a:r>
          </a:p>
          <a:p>
            <a:pPr>
              <a:lnSpc>
                <a:spcPct val="150000"/>
              </a:lnSpc>
            </a:pPr>
            <a:r>
              <a:rPr lang="en-US" dirty="0">
                <a:solidFill>
                  <a:srgbClr val="040E08"/>
                </a:solidFill>
                <a:latin typeface="Helvetica" pitchFamily="2" charset="0"/>
              </a:rPr>
              <a:t>Partnerships</a:t>
            </a:r>
          </a:p>
          <a:p>
            <a:pPr>
              <a:lnSpc>
                <a:spcPct val="150000"/>
              </a:lnSpc>
            </a:pPr>
            <a:r>
              <a:rPr lang="en-US" dirty="0">
                <a:solidFill>
                  <a:srgbClr val="040E08"/>
                </a:solidFill>
                <a:latin typeface="Helvetica" pitchFamily="2" charset="0"/>
              </a:rPr>
              <a:t>Companies</a:t>
            </a:r>
          </a:p>
          <a:p>
            <a:pPr>
              <a:lnSpc>
                <a:spcPct val="150000"/>
              </a:lnSpc>
            </a:pPr>
            <a:r>
              <a:rPr lang="en-US" dirty="0">
                <a:solidFill>
                  <a:srgbClr val="040E08"/>
                </a:solidFill>
                <a:latin typeface="Helvetica" pitchFamily="2" charset="0"/>
              </a:rPr>
              <a:t>Non-profit making organizations</a:t>
            </a:r>
          </a:p>
        </p:txBody>
      </p:sp>
      <p:sp>
        <p:nvSpPr>
          <p:cNvPr id="6" name="Title 1">
            <a:extLst>
              <a:ext uri="{FF2B5EF4-FFF2-40B4-BE49-F238E27FC236}">
                <a16:creationId xmlns:a16="http://schemas.microsoft.com/office/drawing/2014/main" id="{7A196063-902D-48F0-93B4-62BA61DC1026}"/>
              </a:ext>
            </a:extLst>
          </p:cNvPr>
          <p:cNvSpPr txBox="1">
            <a:spLocks noGrp="1"/>
          </p:cNvSpPr>
          <p:nvPr>
            <p:ph type="title"/>
          </p:nvPr>
        </p:nvSpPr>
        <p:spPr bwMode="auto">
          <a:xfrm>
            <a:off x="0" y="0"/>
            <a:ext cx="12192000" cy="1325563"/>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3600" b="1" dirty="0">
                <a:solidFill>
                  <a:schemeClr val="bg1"/>
                </a:solidFill>
                <a:latin typeface="Helvetica" pitchFamily="2" charset="0"/>
              </a:rPr>
              <a:t>Principal </a:t>
            </a:r>
            <a:r>
              <a:rPr lang="en-US" altLang="en-US" sz="3600" b="1" dirty="0">
                <a:solidFill>
                  <a:schemeClr val="accent4">
                    <a:lumMod val="40000"/>
                    <a:lumOff val="60000"/>
                  </a:schemeClr>
                </a:solidFill>
                <a:latin typeface="Helvetica" pitchFamily="2" charset="0"/>
              </a:rPr>
              <a:t>forms</a:t>
            </a:r>
            <a:r>
              <a:rPr lang="en-US" altLang="en-US" sz="3600" b="1" dirty="0">
                <a:solidFill>
                  <a:schemeClr val="bg1"/>
                </a:solidFill>
                <a:latin typeface="Helvetica" pitchFamily="2" charset="0"/>
              </a:rPr>
              <a:t> of business organizations</a:t>
            </a:r>
            <a:endParaRPr lang="en-GB" altLang="en-US" sz="3600" b="1" dirty="0">
              <a:solidFill>
                <a:schemeClr val="bg1"/>
              </a:solidFill>
              <a:latin typeface="Helvetica" pitchFamily="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0" y="0"/>
            <a:ext cx="3081336" cy="6858000"/>
          </a:xfrm>
          <a:solidFill>
            <a:schemeClr val="accent4"/>
          </a:solidFill>
        </p:spPr>
        <p:txBody>
          <a:bodyPr anchor="ctr">
            <a:normAutofit/>
          </a:bodyPr>
          <a:lstStyle/>
          <a:p>
            <a:pPr>
              <a:defRPr/>
            </a:pPr>
            <a:r>
              <a:rPr lang="en-US" sz="2800" b="1" dirty="0">
                <a:latin typeface="Helvetica" pitchFamily="2" charset="0"/>
              </a:rPr>
              <a:t>Sole Proprietorships</a:t>
            </a:r>
          </a:p>
        </p:txBody>
      </p:sp>
      <p:sp>
        <p:nvSpPr>
          <p:cNvPr id="3" name="Content Placeholder 2"/>
          <p:cNvSpPr>
            <a:spLocks noGrp="1"/>
          </p:cNvSpPr>
          <p:nvPr>
            <p:ph idx="1"/>
          </p:nvPr>
        </p:nvSpPr>
        <p:spPr>
          <a:xfrm>
            <a:off x="3328883" y="443345"/>
            <a:ext cx="7434252" cy="3549160"/>
          </a:xfrm>
        </p:spPr>
        <p:txBody>
          <a:bodyPr anchor="ctr">
            <a:normAutofit/>
          </a:bodyPr>
          <a:lstStyle/>
          <a:p>
            <a:pPr>
              <a:buClr>
                <a:schemeClr val="tx2"/>
              </a:buClr>
            </a:pPr>
            <a:r>
              <a:rPr lang="en-US" sz="2400" dirty="0">
                <a:latin typeface="Helvetica" pitchFamily="2" charset="0"/>
              </a:rPr>
              <a:t>The most simple and common form of business</a:t>
            </a:r>
          </a:p>
          <a:p>
            <a:pPr>
              <a:buClr>
                <a:schemeClr val="tx2"/>
              </a:buClr>
            </a:pPr>
            <a:r>
              <a:rPr lang="en-US" sz="2400" dirty="0">
                <a:latin typeface="Helvetica" pitchFamily="2" charset="0"/>
              </a:rPr>
              <a:t>Owned and controlled by an individual</a:t>
            </a:r>
          </a:p>
          <a:p>
            <a:pPr>
              <a:buClr>
                <a:schemeClr val="tx2"/>
              </a:buClr>
            </a:pPr>
            <a:r>
              <a:rPr lang="en-US" sz="2400" dirty="0">
                <a:latin typeface="Helvetica" pitchFamily="2" charset="0"/>
              </a:rPr>
              <a:t>The law basically treats the business and the owner as one and the same ( no legal personality)</a:t>
            </a:r>
          </a:p>
          <a:p>
            <a:pPr>
              <a:buClr>
                <a:schemeClr val="tx2"/>
              </a:buClr>
            </a:pPr>
            <a:r>
              <a:rPr lang="en-US" sz="2400" dirty="0">
                <a:latin typeface="Helvetica" pitchFamily="2" charset="0"/>
              </a:rPr>
              <a:t>Personally liable for all debts or losses (unlimited liability)</a:t>
            </a:r>
          </a:p>
          <a:p>
            <a:pPr>
              <a:buClr>
                <a:schemeClr val="tx2"/>
              </a:buClr>
            </a:pPr>
            <a:r>
              <a:rPr lang="en-US" sz="2400" dirty="0">
                <a:latin typeface="Helvetica" pitchFamily="2" charset="0"/>
              </a:rPr>
              <a:t>The business carried on its’ own name</a:t>
            </a:r>
          </a:p>
          <a:p>
            <a:pPr>
              <a:buClr>
                <a:schemeClr val="tx2"/>
              </a:buClr>
              <a:buNone/>
            </a:pPr>
            <a:endParaRPr lang="en-US" sz="1800" dirty="0">
              <a:latin typeface="Cambria" pitchFamily="18" charset="0"/>
            </a:endParaRPr>
          </a:p>
        </p:txBody>
      </p:sp>
      <p:pic>
        <p:nvPicPr>
          <p:cNvPr id="6" name="Picture 2" descr="C:\Documents and Settings\chalani.k\My Documents\My Pictures\sole_prop_open_sign3.jpg">
            <a:extLst>
              <a:ext uri="{FF2B5EF4-FFF2-40B4-BE49-F238E27FC236}">
                <a16:creationId xmlns:a16="http://schemas.microsoft.com/office/drawing/2014/main" id="{CDD9A789-64A7-4B17-9E07-2000F71977E4}"/>
              </a:ext>
            </a:extLst>
          </p:cNvPr>
          <p:cNvPicPr>
            <a:picLocks noChangeAspect="1" noChangeArrowheads="1"/>
          </p:cNvPicPr>
          <p:nvPr/>
        </p:nvPicPr>
        <p:blipFill rotWithShape="1">
          <a:blip r:embed="rId2"/>
          <a:srcRect r="1696" b="1"/>
          <a:stretch/>
        </p:blipFill>
        <p:spPr bwMode="auto">
          <a:xfrm>
            <a:off x="9504218" y="2635424"/>
            <a:ext cx="2687781" cy="4222575"/>
          </a:xfrm>
          <a:custGeom>
            <a:avLst/>
            <a:gdLst>
              <a:gd name="connsiteX0" fmla="*/ 0 w 4760702"/>
              <a:gd name="connsiteY0" fmla="*/ 0 h 6856413"/>
              <a:gd name="connsiteX1" fmla="*/ 4760702 w 4760702"/>
              <a:gd name="connsiteY1" fmla="*/ 0 h 6856413"/>
              <a:gd name="connsiteX2" fmla="*/ 4760702 w 4760702"/>
              <a:gd name="connsiteY2" fmla="*/ 6856413 h 6856413"/>
              <a:gd name="connsiteX3" fmla="*/ 168269 w 4760702"/>
              <a:gd name="connsiteY3" fmla="*/ 6856413 h 6856413"/>
              <a:gd name="connsiteX4" fmla="*/ 228520 w 4760702"/>
              <a:gd name="connsiteY4" fmla="*/ 6494592 h 6856413"/>
              <a:gd name="connsiteX5" fmla="*/ 14408 w 4760702"/>
              <a:gd name="connsiteY5" fmla="*/ 358842 h 685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0702" h="6856413">
                <a:moveTo>
                  <a:pt x="0" y="0"/>
                </a:moveTo>
                <a:lnTo>
                  <a:pt x="4760702" y="0"/>
                </a:lnTo>
                <a:lnTo>
                  <a:pt x="4760702" y="6856413"/>
                </a:lnTo>
                <a:lnTo>
                  <a:pt x="168269" y="6856413"/>
                </a:lnTo>
                <a:lnTo>
                  <a:pt x="228520" y="6494592"/>
                </a:lnTo>
                <a:cubicBezTo>
                  <a:pt x="521784" y="4449343"/>
                  <a:pt x="126947" y="2404092"/>
                  <a:pt x="14408" y="358842"/>
                </a:cubicBezTo>
                <a:close/>
              </a:path>
            </a:pathLst>
          </a:cu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98140"/>
          </a:xfrm>
          <a:solidFill>
            <a:schemeClr val="accent4"/>
          </a:solidFill>
        </p:spPr>
        <p:txBody>
          <a:bodyPr>
            <a:normAutofit/>
          </a:bodyPr>
          <a:lstStyle/>
          <a:p>
            <a:pPr algn="ctr">
              <a:defRPr/>
            </a:pPr>
            <a:r>
              <a:rPr lang="en-US" sz="3600" b="1" dirty="0">
                <a:solidFill>
                  <a:srgbClr val="040E08"/>
                </a:solidFill>
                <a:latin typeface="Helvetica" pitchFamily="2" charset="0"/>
              </a:rPr>
              <a:t>Sole proprietorships</a:t>
            </a:r>
          </a:p>
        </p:txBody>
      </p:sp>
      <p:sp>
        <p:nvSpPr>
          <p:cNvPr id="29698" name="Content Placeholder 2"/>
          <p:cNvSpPr>
            <a:spLocks noGrp="1"/>
          </p:cNvSpPr>
          <p:nvPr>
            <p:ph idx="1"/>
          </p:nvPr>
        </p:nvSpPr>
        <p:spPr>
          <a:xfrm>
            <a:off x="1425677" y="1501878"/>
            <a:ext cx="8763000" cy="4525963"/>
          </a:xfrm>
        </p:spPr>
        <p:txBody>
          <a:bodyPr>
            <a:normAutofit/>
          </a:bodyPr>
          <a:lstStyle/>
          <a:p>
            <a:pPr>
              <a:lnSpc>
                <a:spcPct val="150000"/>
              </a:lnSpc>
              <a:buNone/>
            </a:pPr>
            <a:r>
              <a:rPr lang="en-US" b="1" dirty="0">
                <a:latin typeface="Helvetica" pitchFamily="2" charset="0"/>
              </a:rPr>
              <a:t>Advantages ???</a:t>
            </a:r>
          </a:p>
          <a:p>
            <a:pPr marL="342900" indent="-342900">
              <a:lnSpc>
                <a:spcPct val="150000"/>
              </a:lnSpc>
              <a:buFont typeface="+mj-lt"/>
              <a:buAutoNum type="arabicPeriod"/>
            </a:pPr>
            <a:r>
              <a:rPr lang="en-US" sz="1600" b="1" dirty="0">
                <a:latin typeface="Helvetica" pitchFamily="2" charset="0"/>
              </a:rPr>
              <a:t>No profit sharing</a:t>
            </a:r>
          </a:p>
          <a:p>
            <a:pPr marL="342900" indent="-342900">
              <a:lnSpc>
                <a:spcPct val="150000"/>
              </a:lnSpc>
              <a:buFont typeface="+mj-lt"/>
              <a:buAutoNum type="arabicPeriod"/>
            </a:pPr>
            <a:r>
              <a:rPr lang="en-US" sz="1600" b="1" dirty="0">
                <a:latin typeface="Helvetica" pitchFamily="2" charset="0"/>
              </a:rPr>
              <a:t>Easy to form and operate</a:t>
            </a:r>
          </a:p>
          <a:p>
            <a:pPr marL="342900" indent="-342900">
              <a:lnSpc>
                <a:spcPct val="150000"/>
              </a:lnSpc>
              <a:buFont typeface="+mj-lt"/>
              <a:buAutoNum type="arabicPeriod"/>
            </a:pPr>
            <a:r>
              <a:rPr lang="en-US" sz="1600" b="1" dirty="0">
                <a:latin typeface="Helvetica" pitchFamily="2" charset="0"/>
              </a:rPr>
              <a:t>Full control</a:t>
            </a:r>
          </a:p>
          <a:p>
            <a:pPr>
              <a:lnSpc>
                <a:spcPct val="150000"/>
              </a:lnSpc>
              <a:buNone/>
            </a:pPr>
            <a:r>
              <a:rPr lang="en-US" b="1" dirty="0">
                <a:latin typeface="Helvetica" pitchFamily="2" charset="0"/>
              </a:rPr>
              <a:t>Disadvantages???</a:t>
            </a:r>
          </a:p>
          <a:p>
            <a:pPr marL="342900" indent="-342900">
              <a:lnSpc>
                <a:spcPct val="150000"/>
              </a:lnSpc>
              <a:buFont typeface="+mj-lt"/>
              <a:buAutoNum type="arabicPeriod"/>
            </a:pPr>
            <a:r>
              <a:rPr lang="en-US" sz="1700" b="1" dirty="0">
                <a:latin typeface="Helvetica" pitchFamily="2" charset="0"/>
              </a:rPr>
              <a:t>Limited capital</a:t>
            </a:r>
          </a:p>
          <a:p>
            <a:pPr marL="342900" indent="-342900">
              <a:lnSpc>
                <a:spcPct val="150000"/>
              </a:lnSpc>
              <a:buFont typeface="+mj-lt"/>
              <a:buAutoNum type="arabicPeriod"/>
            </a:pPr>
            <a:r>
              <a:rPr lang="en-US" sz="1700" b="1" dirty="0">
                <a:latin typeface="Helvetica" pitchFamily="2" charset="0"/>
              </a:rPr>
              <a:t>Unlimited liability</a:t>
            </a:r>
          </a:p>
          <a:p>
            <a:pPr marL="342900" indent="-342900">
              <a:lnSpc>
                <a:spcPct val="150000"/>
              </a:lnSpc>
              <a:buFont typeface="+mj-lt"/>
              <a:buAutoNum type="arabicPeriod"/>
            </a:pPr>
            <a:r>
              <a:rPr lang="en-US" sz="1700" b="1" dirty="0">
                <a:latin typeface="Helvetica" pitchFamily="2" charset="0"/>
              </a:rPr>
              <a:t>Bear all the losses</a:t>
            </a:r>
          </a:p>
        </p:txBody>
      </p:sp>
      <p:pic>
        <p:nvPicPr>
          <p:cNvPr id="6" name="Picture 4"/>
          <p:cNvPicPr>
            <a:picLocks noChangeAspect="1" noChangeArrowheads="1"/>
          </p:cNvPicPr>
          <p:nvPr/>
        </p:nvPicPr>
        <p:blipFill>
          <a:blip r:embed="rId2" cstate="print"/>
          <a:stretch>
            <a:fillRect/>
          </a:stretch>
        </p:blipFill>
        <p:spPr bwMode="auto">
          <a:xfrm>
            <a:off x="7683910" y="3291840"/>
            <a:ext cx="4508090" cy="3581641"/>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5494713" y="0"/>
            <a:ext cx="6697288" cy="821659"/>
          </a:xfrm>
          <a:solidFill>
            <a:schemeClr val="accent6"/>
          </a:solidFill>
        </p:spPr>
        <p:txBody>
          <a:bodyPr>
            <a:normAutofit/>
          </a:bodyPr>
          <a:lstStyle/>
          <a:p>
            <a:r>
              <a:rPr lang="en-US" b="1" dirty="0">
                <a:solidFill>
                  <a:srgbClr val="000000"/>
                </a:solidFill>
                <a:latin typeface="Helvetica" pitchFamily="2" charset="0"/>
              </a:rPr>
              <a:t>Partnerships</a:t>
            </a:r>
            <a:endParaRPr lang="en-US" dirty="0">
              <a:solidFill>
                <a:srgbClr val="000000"/>
              </a:solidFill>
              <a:latin typeface="Helvetica" pitchFamily="2" charset="0"/>
            </a:endParaRPr>
          </a:p>
        </p:txBody>
      </p:sp>
      <p:sp>
        <p:nvSpPr>
          <p:cNvPr id="14"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C:\Documents and Settings\chalani.k\My Documents\My Pictures\imagesCAD7F0W0.jpg">
            <a:extLst>
              <a:ext uri="{FF2B5EF4-FFF2-40B4-BE49-F238E27FC236}">
                <a16:creationId xmlns:a16="http://schemas.microsoft.com/office/drawing/2014/main" id="{0FB2B1F0-610F-4472-B8D4-147875614339}"/>
              </a:ext>
            </a:extLst>
          </p:cNvPr>
          <p:cNvPicPr>
            <a:picLocks noChangeAspect="1" noChangeArrowheads="1"/>
          </p:cNvPicPr>
          <p:nvPr/>
        </p:nvPicPr>
        <p:blipFill rotWithShape="1">
          <a:blip r:embed="rId3">
            <a:alphaModFix/>
          </a:blip>
          <a:srcRect l="18300" r="17539" b="-1"/>
          <a:stretch/>
        </p:blipFill>
        <p:spPr bwMode="auto">
          <a:xfrm>
            <a:off x="20" y="907231"/>
            <a:ext cx="4838021" cy="5063738"/>
          </a:xfrm>
          <a:custGeom>
            <a:avLst/>
            <a:gdLst>
              <a:gd name="connsiteX0" fmla="*/ 2306172 w 4838041"/>
              <a:gd name="connsiteY0" fmla="*/ 0 h 5063738"/>
              <a:gd name="connsiteX1" fmla="*/ 4838041 w 4838041"/>
              <a:gd name="connsiteY1" fmla="*/ 2531869 h 5063738"/>
              <a:gd name="connsiteX2" fmla="*/ 2306172 w 4838041"/>
              <a:gd name="connsiteY2" fmla="*/ 5063738 h 5063738"/>
              <a:gd name="connsiteX3" fmla="*/ 79886 w 4838041"/>
              <a:gd name="connsiteY3" fmla="*/ 3738709 h 5063738"/>
              <a:gd name="connsiteX4" fmla="*/ 0 w 4838041"/>
              <a:gd name="connsiteY4" fmla="*/ 3572876 h 5063738"/>
              <a:gd name="connsiteX5" fmla="*/ 0 w 4838041"/>
              <a:gd name="connsiteY5" fmla="*/ 1490863 h 5063738"/>
              <a:gd name="connsiteX6" fmla="*/ 79886 w 4838041"/>
              <a:gd name="connsiteY6" fmla="*/ 1325030 h 5063738"/>
              <a:gd name="connsiteX7" fmla="*/ 2306172 w 4838041"/>
              <a:gd name="connsiteY7" fmla="*/ 0 h 50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p:spPr>
      </p:pic>
      <p:sp>
        <p:nvSpPr>
          <p:cNvPr id="3" name="Content Placeholder 2"/>
          <p:cNvSpPr>
            <a:spLocks noGrp="1"/>
          </p:cNvSpPr>
          <p:nvPr>
            <p:ph idx="1"/>
          </p:nvPr>
        </p:nvSpPr>
        <p:spPr>
          <a:xfrm>
            <a:off x="5494713" y="1435843"/>
            <a:ext cx="6339362" cy="4807973"/>
          </a:xfrm>
        </p:spPr>
        <p:txBody>
          <a:bodyPr anchor="ctr">
            <a:normAutofit/>
          </a:bodyPr>
          <a:lstStyle/>
          <a:p>
            <a:pPr>
              <a:buClr>
                <a:schemeClr val="tx2"/>
              </a:buClr>
            </a:pPr>
            <a:r>
              <a:rPr lang="en-US" sz="2400" dirty="0">
                <a:solidFill>
                  <a:srgbClr val="000000"/>
                </a:solidFill>
                <a:latin typeface="Helvetica" pitchFamily="2" charset="0"/>
              </a:rPr>
              <a:t>A partnership is an agreement between two or more persons  to operate a business </a:t>
            </a:r>
            <a:r>
              <a:rPr lang="en-US" sz="2000" b="1" dirty="0">
                <a:solidFill>
                  <a:srgbClr val="000000"/>
                </a:solidFill>
                <a:latin typeface="Helvetica" pitchFamily="2" charset="0"/>
              </a:rPr>
              <a:t>(2-20)</a:t>
            </a:r>
          </a:p>
          <a:p>
            <a:pPr>
              <a:lnSpc>
                <a:spcPct val="100000"/>
              </a:lnSpc>
              <a:buClr>
                <a:schemeClr val="tx2"/>
              </a:buClr>
            </a:pPr>
            <a:r>
              <a:rPr lang="en-US" sz="2400" dirty="0">
                <a:solidFill>
                  <a:srgbClr val="000000"/>
                </a:solidFill>
                <a:latin typeface="Helvetica" pitchFamily="2" charset="0"/>
              </a:rPr>
              <a:t>Partners should formulate an agreement to make decisions on: </a:t>
            </a:r>
          </a:p>
          <a:p>
            <a:pPr>
              <a:buClr>
                <a:schemeClr val="tx2"/>
              </a:buClr>
              <a:buNone/>
            </a:pPr>
            <a:r>
              <a:rPr lang="en-US" sz="2400" dirty="0">
                <a:solidFill>
                  <a:srgbClr val="000000"/>
                </a:solidFill>
                <a:latin typeface="Helvetica" pitchFamily="2" charset="0"/>
              </a:rPr>
              <a:t>  - How profits and losses are to be shared  among the partners.</a:t>
            </a:r>
          </a:p>
          <a:p>
            <a:pPr>
              <a:buClr>
                <a:schemeClr val="tx2"/>
              </a:buClr>
              <a:buNone/>
            </a:pPr>
            <a:r>
              <a:rPr lang="en-US" sz="2400" dirty="0">
                <a:solidFill>
                  <a:srgbClr val="000000"/>
                </a:solidFill>
                <a:latin typeface="Helvetica" pitchFamily="2" charset="0"/>
              </a:rPr>
              <a:t>  - How much money they should invest to the business </a:t>
            </a:r>
          </a:p>
          <a:p>
            <a:pPr>
              <a:buClr>
                <a:schemeClr val="tx2"/>
              </a:buClr>
              <a:buNone/>
            </a:pPr>
            <a:r>
              <a:rPr lang="en-US" sz="2400" dirty="0">
                <a:solidFill>
                  <a:srgbClr val="000000"/>
                </a:solidFill>
                <a:latin typeface="Helvetica" pitchFamily="2" charset="0"/>
              </a:rPr>
              <a:t>  - Their responsibilities in the management</a:t>
            </a:r>
          </a:p>
          <a:p>
            <a:pPr>
              <a:lnSpc>
                <a:spcPct val="150000"/>
              </a:lnSpc>
              <a:buClr>
                <a:schemeClr val="tx2"/>
              </a:buClr>
              <a:buFont typeface="Arial" pitchFamily="34" charset="0"/>
              <a:buChar char="•"/>
            </a:pPr>
            <a:r>
              <a:rPr lang="en-US" sz="2400" dirty="0">
                <a:solidFill>
                  <a:srgbClr val="000000"/>
                </a:solidFill>
                <a:latin typeface="Helvetica" pitchFamily="2" charset="0"/>
              </a:rPr>
              <a:t>No legal personality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0676" y="294968"/>
            <a:ext cx="10499324" cy="6258232"/>
          </a:xfrm>
        </p:spPr>
        <p:txBody>
          <a:bodyPr>
            <a:normAutofit fontScale="92500" lnSpcReduction="20000"/>
          </a:bodyPr>
          <a:lstStyle/>
          <a:p>
            <a:pPr marL="365760" lvl="1" indent="-283464">
              <a:spcBef>
                <a:spcPts val="600"/>
              </a:spcBef>
              <a:buClr>
                <a:schemeClr val="tx2"/>
              </a:buClr>
              <a:buSzPct val="80000"/>
              <a:buNone/>
            </a:pPr>
            <a:r>
              <a:rPr lang="en-US" sz="2600" dirty="0">
                <a:latin typeface="Helvetica" pitchFamily="2" charset="0"/>
              </a:rPr>
              <a:t>Partners are personally liable for business debts (unlimited liability)</a:t>
            </a:r>
          </a:p>
          <a:p>
            <a:pPr>
              <a:buClr>
                <a:schemeClr val="tx2"/>
              </a:buClr>
              <a:buNone/>
            </a:pPr>
            <a:endParaRPr lang="en-US" sz="2600" dirty="0">
              <a:latin typeface="Helvetica" pitchFamily="2" charset="0"/>
            </a:endParaRPr>
          </a:p>
          <a:p>
            <a:pPr marL="342900" lvl="1" indent="-342900">
              <a:buClr>
                <a:schemeClr val="tx2"/>
              </a:buClr>
              <a:buFontTx/>
              <a:buChar char="•"/>
            </a:pPr>
            <a:r>
              <a:rPr lang="en-US" sz="2600" dirty="0">
                <a:solidFill>
                  <a:srgbClr val="040E08"/>
                </a:solidFill>
                <a:latin typeface="Helvetica" pitchFamily="2" charset="0"/>
              </a:rPr>
              <a:t>Partnership dissolves when a partner dies or the expiration of the specified time period</a:t>
            </a:r>
          </a:p>
          <a:p>
            <a:pPr marL="342900" lvl="1" indent="-342900">
              <a:buClr>
                <a:schemeClr val="tx2"/>
              </a:buClr>
              <a:buNone/>
            </a:pPr>
            <a:endParaRPr lang="en-US" sz="2600" dirty="0">
              <a:solidFill>
                <a:srgbClr val="040E08"/>
              </a:solidFill>
              <a:latin typeface="Helvetica" pitchFamily="2" charset="0"/>
            </a:endParaRPr>
          </a:p>
          <a:p>
            <a:pPr>
              <a:buClr>
                <a:schemeClr val="tx2"/>
              </a:buClr>
            </a:pPr>
            <a:r>
              <a:rPr lang="en-US" sz="2600" dirty="0">
                <a:solidFill>
                  <a:srgbClr val="040E08"/>
                </a:solidFill>
                <a:latin typeface="Helvetica" pitchFamily="2" charset="0"/>
              </a:rPr>
              <a:t> </a:t>
            </a:r>
            <a:r>
              <a:rPr lang="en-US" sz="2600" dirty="0">
                <a:latin typeface="Helvetica" pitchFamily="2" charset="0"/>
              </a:rPr>
              <a:t>Widely used for small businesses and professional practices</a:t>
            </a:r>
          </a:p>
          <a:p>
            <a:pPr>
              <a:buClr>
                <a:schemeClr val="tx2"/>
              </a:buClr>
            </a:pPr>
            <a:endParaRPr lang="en-US" sz="2600" dirty="0">
              <a:solidFill>
                <a:srgbClr val="040E08"/>
              </a:solidFill>
            </a:endParaRPr>
          </a:p>
          <a:p>
            <a:pPr>
              <a:buClr>
                <a:schemeClr val="tx2"/>
              </a:buClr>
              <a:buNone/>
            </a:pPr>
            <a:r>
              <a:rPr lang="en-US" sz="2600" b="1" dirty="0">
                <a:solidFill>
                  <a:srgbClr val="040E08"/>
                </a:solidFill>
                <a:latin typeface="Helvetica" pitchFamily="2" charset="0"/>
              </a:rPr>
              <a:t>Advantages???</a:t>
            </a:r>
          </a:p>
          <a:p>
            <a:pPr>
              <a:buClr>
                <a:schemeClr val="tx2"/>
              </a:buClr>
            </a:pPr>
            <a:r>
              <a:rPr lang="en-US" sz="1700" b="1" dirty="0">
                <a:solidFill>
                  <a:srgbClr val="040E08"/>
                </a:solidFill>
                <a:latin typeface="Helvetica" pitchFamily="2" charset="0"/>
              </a:rPr>
              <a:t>Easy to form</a:t>
            </a:r>
          </a:p>
          <a:p>
            <a:pPr>
              <a:buClr>
                <a:schemeClr val="tx2"/>
              </a:buClr>
            </a:pPr>
            <a:r>
              <a:rPr lang="en-US" sz="1700" b="1" dirty="0">
                <a:solidFill>
                  <a:srgbClr val="040E08"/>
                </a:solidFill>
                <a:latin typeface="Helvetica" pitchFamily="2" charset="0"/>
              </a:rPr>
              <a:t>Partners can combine expertise</a:t>
            </a:r>
          </a:p>
          <a:p>
            <a:pPr>
              <a:buClr>
                <a:schemeClr val="tx2"/>
              </a:buClr>
            </a:pPr>
            <a:r>
              <a:rPr lang="en-US" sz="1700" b="1" dirty="0">
                <a:solidFill>
                  <a:srgbClr val="040E08"/>
                </a:solidFill>
                <a:latin typeface="Helvetica" pitchFamily="2" charset="0"/>
              </a:rPr>
              <a:t>Combine capital</a:t>
            </a:r>
          </a:p>
          <a:p>
            <a:pPr>
              <a:buClr>
                <a:schemeClr val="tx2"/>
              </a:buClr>
            </a:pPr>
            <a:r>
              <a:rPr lang="en-US" sz="1700" b="1" dirty="0">
                <a:solidFill>
                  <a:srgbClr val="040E08"/>
                </a:solidFill>
                <a:latin typeface="Helvetica" pitchFamily="2" charset="0"/>
              </a:rPr>
              <a:t>Risk is shared</a:t>
            </a:r>
          </a:p>
          <a:p>
            <a:pPr>
              <a:buClr>
                <a:schemeClr val="tx2"/>
              </a:buClr>
              <a:buNone/>
            </a:pPr>
            <a:endParaRPr lang="en-US" sz="2600" b="1" dirty="0">
              <a:solidFill>
                <a:srgbClr val="040E08"/>
              </a:solidFill>
              <a:latin typeface="Helvetica" pitchFamily="2" charset="0"/>
            </a:endParaRPr>
          </a:p>
          <a:p>
            <a:pPr>
              <a:buClr>
                <a:schemeClr val="tx2"/>
              </a:buClr>
              <a:buNone/>
            </a:pPr>
            <a:r>
              <a:rPr lang="en-US" sz="2600" b="1" dirty="0">
                <a:solidFill>
                  <a:srgbClr val="040E08"/>
                </a:solidFill>
                <a:latin typeface="Helvetica" pitchFamily="2" charset="0"/>
              </a:rPr>
              <a:t>Disadvantages???</a:t>
            </a:r>
          </a:p>
          <a:p>
            <a:pPr>
              <a:buClr>
                <a:schemeClr val="tx2"/>
              </a:buClr>
            </a:pPr>
            <a:r>
              <a:rPr lang="en-US" sz="1700" b="1" dirty="0">
                <a:solidFill>
                  <a:srgbClr val="040E08"/>
                </a:solidFill>
                <a:latin typeface="Helvetica" pitchFamily="2" charset="0"/>
              </a:rPr>
              <a:t>Unlimited liability</a:t>
            </a:r>
          </a:p>
          <a:p>
            <a:pPr>
              <a:buClr>
                <a:schemeClr val="tx2"/>
              </a:buClr>
            </a:pPr>
            <a:r>
              <a:rPr lang="en-US" sz="1700" b="1" dirty="0">
                <a:solidFill>
                  <a:srgbClr val="040E08"/>
                </a:solidFill>
                <a:latin typeface="Helvetica" pitchFamily="2" charset="0"/>
              </a:rPr>
              <a:t>Profit is shared</a:t>
            </a:r>
          </a:p>
          <a:p>
            <a:pPr>
              <a:buClr>
                <a:schemeClr val="tx2"/>
              </a:buClr>
            </a:pPr>
            <a:r>
              <a:rPr lang="en-US" sz="1700" b="1" dirty="0">
                <a:solidFill>
                  <a:srgbClr val="040E08"/>
                </a:solidFill>
                <a:latin typeface="Helvetica" pitchFamily="2" charset="0"/>
              </a:rPr>
              <a:t>Disagreements</a:t>
            </a:r>
          </a:p>
          <a:p>
            <a:pPr>
              <a:buClr>
                <a:schemeClr val="tx2"/>
              </a:buClr>
            </a:pPr>
            <a:r>
              <a:rPr lang="en-US" sz="1700" b="1" dirty="0">
                <a:solidFill>
                  <a:srgbClr val="040E08"/>
                </a:solidFill>
                <a:latin typeface="Helvetica" pitchFamily="2" charset="0"/>
              </a:rPr>
              <a:t>Delay in decision making</a:t>
            </a:r>
          </a:p>
          <a:p>
            <a:pPr>
              <a:buClr>
                <a:schemeClr val="tx2"/>
              </a:buClr>
              <a:buNone/>
            </a:pPr>
            <a:endParaRPr lang="en-US" sz="2600"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127031" cy="1217289"/>
          </a:xfrm>
          <a:solidFill>
            <a:schemeClr val="accent2"/>
          </a:solidFill>
        </p:spPr>
        <p:txBody>
          <a:bodyPr>
            <a:normAutofit/>
          </a:bodyPr>
          <a:lstStyle/>
          <a:p>
            <a:pPr algn="ctr"/>
            <a:r>
              <a:rPr lang="en-US" b="1" dirty="0">
                <a:latin typeface="Helvetica" pitchFamily="2" charset="0"/>
              </a:rPr>
              <a:t>Companies</a:t>
            </a:r>
            <a:r>
              <a:rPr lang="en-US" b="1" dirty="0">
                <a:latin typeface="+mn-lt"/>
              </a:rPr>
              <a:t> </a:t>
            </a:r>
          </a:p>
        </p:txBody>
      </p:sp>
      <p:sp>
        <p:nvSpPr>
          <p:cNvPr id="3" name="Content Placeholder 2"/>
          <p:cNvSpPr>
            <a:spLocks noGrp="1"/>
          </p:cNvSpPr>
          <p:nvPr>
            <p:ph idx="1"/>
          </p:nvPr>
        </p:nvSpPr>
        <p:spPr>
          <a:xfrm>
            <a:off x="436575" y="2585884"/>
            <a:ext cx="5884605" cy="2391295"/>
          </a:xfrm>
        </p:spPr>
        <p:txBody>
          <a:bodyPr>
            <a:normAutofit/>
          </a:bodyPr>
          <a:lstStyle/>
          <a:p>
            <a:r>
              <a:rPr lang="en-US" dirty="0">
                <a:latin typeface="Helvetica" pitchFamily="2" charset="0"/>
              </a:rPr>
              <a:t>Companies limited by shares </a:t>
            </a:r>
          </a:p>
          <a:p>
            <a:r>
              <a:rPr lang="en-US" dirty="0">
                <a:latin typeface="Helvetica" pitchFamily="2" charset="0"/>
              </a:rPr>
              <a:t>Companies limited by guarantee</a:t>
            </a:r>
          </a:p>
          <a:p>
            <a:r>
              <a:rPr lang="en-US" dirty="0">
                <a:latin typeface="Helvetica" pitchFamily="2" charset="0"/>
              </a:rPr>
              <a:t>Companies with unlimited liability</a:t>
            </a:r>
          </a:p>
        </p:txBody>
      </p:sp>
      <p:pic>
        <p:nvPicPr>
          <p:cNvPr id="4" name="Picture 3">
            <a:extLst>
              <a:ext uri="{FF2B5EF4-FFF2-40B4-BE49-F238E27FC236}">
                <a16:creationId xmlns:a16="http://schemas.microsoft.com/office/drawing/2014/main" id="{17BCCAD8-D28A-488E-B754-C2128F3A00D1}"/>
              </a:ext>
            </a:extLst>
          </p:cNvPr>
          <p:cNvPicPr>
            <a:picLocks noChangeAspect="1" noChangeArrowheads="1"/>
          </p:cNvPicPr>
          <p:nvPr/>
        </p:nvPicPr>
        <p:blipFill rotWithShape="1">
          <a:blip r:embed="rId2" cstate="print"/>
          <a:srcRect l="904" r="6472" b="2"/>
          <a:stretch/>
        </p:blipFill>
        <p:spPr bwMode="auto">
          <a:xfrm>
            <a:off x="6730276" y="758069"/>
            <a:ext cx="5461724" cy="5577837"/>
          </a:xfrm>
          <a:prstGeom prst="rect">
            <a:avLst/>
          </a:prstGeom>
          <a:noFill/>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9448" y="1392381"/>
            <a:ext cx="10733104" cy="4742412"/>
          </a:xfrm>
        </p:spPr>
        <p:txBody>
          <a:bodyPr>
            <a:noAutofit/>
          </a:bodyPr>
          <a:lstStyle/>
          <a:p>
            <a:pPr>
              <a:buClr>
                <a:schemeClr val="tx2"/>
              </a:buClr>
              <a:buFont typeface="Arial" pitchFamily="34" charset="0"/>
              <a:buChar char="•"/>
            </a:pPr>
            <a:r>
              <a:rPr lang="en-US" sz="2000" dirty="0">
                <a:latin typeface="Helvetica" pitchFamily="2" charset="0"/>
              </a:rPr>
              <a:t>These organizations should incorporate under the </a:t>
            </a:r>
            <a:r>
              <a:rPr lang="en-US" sz="2000" i="1" dirty="0">
                <a:latin typeface="Helvetica" pitchFamily="2" charset="0"/>
              </a:rPr>
              <a:t>‘Companies Act no 07 of 2007’</a:t>
            </a:r>
            <a:r>
              <a:rPr lang="en-US" sz="2000" b="1" i="1" dirty="0">
                <a:latin typeface="Helvetica" pitchFamily="2" charset="0"/>
              </a:rPr>
              <a:t>.</a:t>
            </a:r>
          </a:p>
          <a:p>
            <a:pPr marL="0" indent="0">
              <a:buClr>
                <a:schemeClr val="tx2"/>
              </a:buClr>
              <a:buNone/>
            </a:pPr>
            <a:endParaRPr lang="en-US" sz="2000" dirty="0">
              <a:latin typeface="Helvetica" pitchFamily="2" charset="0"/>
            </a:endParaRPr>
          </a:p>
          <a:p>
            <a:pPr>
              <a:buClr>
                <a:schemeClr val="tx2"/>
              </a:buClr>
              <a:buFont typeface="Arial" pitchFamily="34" charset="0"/>
              <a:buChar char="•"/>
            </a:pPr>
            <a:r>
              <a:rPr lang="en-US" sz="2000" dirty="0">
                <a:latin typeface="Helvetica" pitchFamily="2" charset="0"/>
              </a:rPr>
              <a:t>The liability of the shareholders of a corporation is limited to the amount of their capital contribution</a:t>
            </a:r>
          </a:p>
          <a:p>
            <a:pPr>
              <a:buClr>
                <a:schemeClr val="tx2"/>
              </a:buClr>
              <a:buFont typeface="Arial" pitchFamily="34" charset="0"/>
              <a:buChar char="•"/>
            </a:pPr>
            <a:endParaRPr lang="en-US" sz="2000" dirty="0">
              <a:latin typeface="Helvetica" pitchFamily="2" charset="0"/>
            </a:endParaRPr>
          </a:p>
          <a:p>
            <a:pPr>
              <a:buClr>
                <a:schemeClr val="tx2"/>
              </a:buClr>
              <a:buFont typeface="Arial" pitchFamily="34" charset="0"/>
              <a:buChar char="•"/>
            </a:pPr>
            <a:r>
              <a:rPr lang="en-US" sz="2000" dirty="0">
                <a:latin typeface="Helvetica" pitchFamily="2" charset="0"/>
              </a:rPr>
              <a:t>The Company has a separate legal personality </a:t>
            </a:r>
          </a:p>
          <a:p>
            <a:pPr>
              <a:buClr>
                <a:schemeClr val="tx2"/>
              </a:buClr>
              <a:buFont typeface="Arial" pitchFamily="34" charset="0"/>
              <a:buChar char="•"/>
            </a:pPr>
            <a:endParaRPr lang="en-US" sz="2000" dirty="0">
              <a:latin typeface="Helvetica" pitchFamily="2" charset="0"/>
            </a:endParaRPr>
          </a:p>
          <a:p>
            <a:pPr>
              <a:buClr>
                <a:schemeClr val="tx2"/>
              </a:buClr>
              <a:buFont typeface="Arial" pitchFamily="34" charset="0"/>
              <a:buChar char="•"/>
            </a:pPr>
            <a:r>
              <a:rPr lang="en-US" sz="2000" dirty="0">
                <a:latin typeface="Helvetica" pitchFamily="2" charset="0"/>
              </a:rPr>
              <a:t>The Companies can raise more funds</a:t>
            </a:r>
          </a:p>
          <a:p>
            <a:pPr>
              <a:buClr>
                <a:schemeClr val="tx2"/>
              </a:buClr>
              <a:buFont typeface="Arial" pitchFamily="34" charset="0"/>
              <a:buChar char="•"/>
            </a:pPr>
            <a:endParaRPr lang="en-US" sz="2000" dirty="0">
              <a:latin typeface="Helvetica" pitchFamily="2" charset="0"/>
            </a:endParaRPr>
          </a:p>
          <a:p>
            <a:pPr>
              <a:buClr>
                <a:schemeClr val="tx2"/>
              </a:buClr>
              <a:buFont typeface="Arial" pitchFamily="34" charset="0"/>
              <a:buChar char="•"/>
            </a:pPr>
            <a:r>
              <a:rPr lang="en-US" sz="2000" dirty="0">
                <a:latin typeface="Helvetica" pitchFamily="2" charset="0"/>
              </a:rPr>
              <a:t>Separation of ownership and management</a:t>
            </a:r>
          </a:p>
          <a:p>
            <a:pPr>
              <a:buClr>
                <a:schemeClr val="tx2"/>
              </a:buClr>
              <a:buFont typeface="Arial" pitchFamily="34" charset="0"/>
              <a:buChar char="•"/>
            </a:pPr>
            <a:endParaRPr lang="en-US" sz="2000" dirty="0">
              <a:latin typeface="Helvetica" pitchFamily="2" charset="0"/>
            </a:endParaRPr>
          </a:p>
          <a:p>
            <a:pPr>
              <a:buClr>
                <a:schemeClr val="tx2"/>
              </a:buClr>
              <a:buFont typeface="Arial" pitchFamily="34" charset="0"/>
              <a:buChar char="•"/>
            </a:pPr>
            <a:r>
              <a:rPr lang="en-US" sz="2000" dirty="0">
                <a:latin typeface="Helvetica" pitchFamily="2" charset="0"/>
              </a:rPr>
              <a:t> Perpetual life</a:t>
            </a:r>
            <a:endParaRPr lang="en-US" sz="2000" b="1" i="1" dirty="0"/>
          </a:p>
        </p:txBody>
      </p:sp>
      <p:sp>
        <p:nvSpPr>
          <p:cNvPr id="5" name="Title 1"/>
          <p:cNvSpPr>
            <a:spLocks noGrp="1"/>
          </p:cNvSpPr>
          <p:nvPr>
            <p:ph type="title"/>
          </p:nvPr>
        </p:nvSpPr>
        <p:spPr>
          <a:xfrm>
            <a:off x="0" y="0"/>
            <a:ext cx="12192000" cy="989215"/>
          </a:xfrm>
          <a:solidFill>
            <a:schemeClr val="accent5">
              <a:lumMod val="40000"/>
              <a:lumOff val="60000"/>
            </a:schemeClr>
          </a:solidFill>
        </p:spPr>
        <p:txBody>
          <a:bodyPr>
            <a:normAutofit/>
          </a:bodyPr>
          <a:lstStyle/>
          <a:p>
            <a:pPr algn="ctr"/>
            <a:r>
              <a:rPr lang="en-US" sz="3600" b="1" dirty="0">
                <a:latin typeface="Helvetica" pitchFamily="2" charset="0"/>
              </a:rPr>
              <a:t>Limited Companies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88"/>
            <a:ext cx="12192000" cy="1066800"/>
          </a:xfrm>
          <a:solidFill>
            <a:schemeClr val="accent6">
              <a:lumMod val="20000"/>
              <a:lumOff val="80000"/>
            </a:schemeClr>
          </a:solidFill>
        </p:spPr>
        <p:txBody>
          <a:bodyPr>
            <a:noAutofit/>
          </a:bodyPr>
          <a:lstStyle/>
          <a:p>
            <a:pPr algn="ctr"/>
            <a:r>
              <a:rPr lang="en-US" sz="3600" b="1" dirty="0">
                <a:latin typeface="Helvetica" pitchFamily="2" charset="0"/>
              </a:rPr>
              <a:t>Types of Limited Companies</a:t>
            </a:r>
          </a:p>
        </p:txBody>
      </p:sp>
      <p:sp>
        <p:nvSpPr>
          <p:cNvPr id="4" name="Rectangle 3"/>
          <p:cNvSpPr/>
          <p:nvPr/>
        </p:nvSpPr>
        <p:spPr>
          <a:xfrm>
            <a:off x="3124200" y="3886200"/>
            <a:ext cx="26670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Private Limited Companies</a:t>
            </a:r>
          </a:p>
        </p:txBody>
      </p:sp>
      <p:sp>
        <p:nvSpPr>
          <p:cNvPr id="5" name="Rectangle 4"/>
          <p:cNvSpPr/>
          <p:nvPr/>
        </p:nvSpPr>
        <p:spPr>
          <a:xfrm>
            <a:off x="7467600" y="3886200"/>
            <a:ext cx="25146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Public  Limited Companies</a:t>
            </a:r>
          </a:p>
        </p:txBody>
      </p:sp>
      <p:sp>
        <p:nvSpPr>
          <p:cNvPr id="6" name="Rectangle 5"/>
          <p:cNvSpPr/>
          <p:nvPr/>
        </p:nvSpPr>
        <p:spPr>
          <a:xfrm>
            <a:off x="4953000" y="1676400"/>
            <a:ext cx="2819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Limited Companies</a:t>
            </a:r>
          </a:p>
        </p:txBody>
      </p:sp>
      <p:cxnSp>
        <p:nvCxnSpPr>
          <p:cNvPr id="8" name="Straight Connector 7"/>
          <p:cNvCxnSpPr/>
          <p:nvPr/>
        </p:nvCxnSpPr>
        <p:spPr>
          <a:xfrm rot="5400000">
            <a:off x="6134100" y="3086100"/>
            <a:ext cx="38100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029200" y="3276600"/>
            <a:ext cx="289560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4762500" y="3543300"/>
            <a:ext cx="53340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a:off x="7620000" y="3581400"/>
            <a:ext cx="60960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0" y="-1"/>
            <a:ext cx="12192000" cy="1253613"/>
          </a:xfrm>
          <a:solidFill>
            <a:schemeClr val="accent4">
              <a:lumMod val="20000"/>
              <a:lumOff val="80000"/>
            </a:schemeClr>
          </a:solidFill>
        </p:spPr>
        <p:txBody>
          <a:bodyPr anchor="t">
            <a:normAutofit/>
          </a:bodyPr>
          <a:lstStyle/>
          <a:p>
            <a:pPr algn="ctr"/>
            <a:br>
              <a:rPr lang="en-US" sz="3600" b="1" dirty="0">
                <a:solidFill>
                  <a:schemeClr val="tx2">
                    <a:lumMod val="75000"/>
                  </a:schemeClr>
                </a:solidFill>
                <a:latin typeface="Helvetica" pitchFamily="2" charset="0"/>
              </a:rPr>
            </a:br>
            <a:r>
              <a:rPr lang="en-US" sz="3600" b="1" dirty="0">
                <a:solidFill>
                  <a:schemeClr val="tx2">
                    <a:lumMod val="75000"/>
                  </a:schemeClr>
                </a:solidFill>
                <a:latin typeface="Helvetica" pitchFamily="2" charset="0"/>
              </a:rPr>
              <a:t>Private Limited Companies</a:t>
            </a:r>
          </a:p>
        </p:txBody>
      </p:sp>
      <p:sp>
        <p:nvSpPr>
          <p:cNvPr id="26627" name="Rectangle 3"/>
          <p:cNvSpPr>
            <a:spLocks noGrp="1" noChangeArrowheads="1"/>
          </p:cNvSpPr>
          <p:nvPr>
            <p:ph type="body" idx="4294967295"/>
          </p:nvPr>
        </p:nvSpPr>
        <p:spPr>
          <a:xfrm>
            <a:off x="1196339" y="1379912"/>
            <a:ext cx="9799321" cy="4405746"/>
          </a:xfrm>
        </p:spPr>
        <p:txBody>
          <a:bodyPr>
            <a:normAutofit lnSpcReduction="10000"/>
          </a:bodyPr>
          <a:lstStyle/>
          <a:p>
            <a:pPr>
              <a:lnSpc>
                <a:spcPct val="150000"/>
              </a:lnSpc>
            </a:pPr>
            <a:r>
              <a:rPr lang="en-US" sz="2400" dirty="0">
                <a:latin typeface="Helvetica" pitchFamily="2" charset="0"/>
              </a:rPr>
              <a:t>Maximum 50 shareholders and should consist at least one director</a:t>
            </a:r>
          </a:p>
          <a:p>
            <a:pPr>
              <a:lnSpc>
                <a:spcPct val="150000"/>
              </a:lnSpc>
            </a:pPr>
            <a:r>
              <a:rPr lang="en-US" sz="2400" dirty="0">
                <a:latin typeface="Helvetica" pitchFamily="2" charset="0"/>
              </a:rPr>
              <a:t>No shares can be offered for sale to the general public</a:t>
            </a:r>
          </a:p>
          <a:p>
            <a:pPr>
              <a:lnSpc>
                <a:spcPct val="150000"/>
              </a:lnSpc>
            </a:pPr>
            <a:r>
              <a:rPr lang="en-US" sz="2400" dirty="0">
                <a:latin typeface="Helvetica" pitchFamily="2" charset="0"/>
              </a:rPr>
              <a:t>Consent of all shareholders is required to transfer shares to a new shareholder</a:t>
            </a:r>
          </a:p>
          <a:p>
            <a:pPr>
              <a:lnSpc>
                <a:spcPct val="150000"/>
              </a:lnSpc>
            </a:pPr>
            <a:r>
              <a:rPr lang="en-US" sz="2400" dirty="0">
                <a:latin typeface="Helvetica" pitchFamily="2" charset="0"/>
              </a:rPr>
              <a:t>Not allowed to raise funds by issuing debentures</a:t>
            </a:r>
          </a:p>
          <a:p>
            <a:pPr>
              <a:lnSpc>
                <a:spcPct val="150000"/>
              </a:lnSpc>
            </a:pPr>
            <a:r>
              <a:rPr lang="en-US" sz="2400" dirty="0">
                <a:latin typeface="Helvetica" pitchFamily="2" charset="0"/>
              </a:rPr>
              <a:t>The last two words of the name should be read as either “(Private) Limited” or “(</a:t>
            </a:r>
            <a:r>
              <a:rPr lang="en-US" sz="2400" dirty="0" err="1">
                <a:latin typeface="Helvetica" pitchFamily="2" charset="0"/>
              </a:rPr>
              <a:t>Pvt</a:t>
            </a:r>
            <a:r>
              <a:rPr lang="en-US" sz="2400" dirty="0">
                <a:latin typeface="Helvetica" pitchFamily="2" charset="0"/>
              </a:rPr>
              <a:t>) Ltd”</a:t>
            </a:r>
          </a:p>
          <a:p>
            <a:pPr>
              <a:lnSpc>
                <a:spcPct val="150000"/>
              </a:lnSpc>
            </a:pPr>
            <a:endParaRPr lang="en-US" sz="2200" i="1" dirty="0"/>
          </a:p>
          <a:p>
            <a:pPr>
              <a:lnSpc>
                <a:spcPct val="150000"/>
              </a:lnSpc>
            </a:pPr>
            <a:endParaRPr lang="en-US" sz="2200" i="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0" y="-1"/>
            <a:ext cx="12192000" cy="1283691"/>
          </a:xfrm>
          <a:solidFill>
            <a:schemeClr val="accent2">
              <a:lumMod val="60000"/>
              <a:lumOff val="40000"/>
            </a:schemeClr>
          </a:solidFill>
        </p:spPr>
        <p:txBody>
          <a:bodyPr anchor="t">
            <a:normAutofit/>
          </a:bodyPr>
          <a:lstStyle/>
          <a:p>
            <a:pPr algn="ctr"/>
            <a:br>
              <a:rPr lang="en-US" sz="3600" b="1" dirty="0">
                <a:solidFill>
                  <a:schemeClr val="tx2">
                    <a:lumMod val="75000"/>
                  </a:schemeClr>
                </a:solidFill>
                <a:latin typeface="Helvetica" pitchFamily="2" charset="0"/>
              </a:rPr>
            </a:br>
            <a:r>
              <a:rPr lang="en-US" sz="3600" b="1" dirty="0">
                <a:solidFill>
                  <a:schemeClr val="tx2">
                    <a:lumMod val="75000"/>
                  </a:schemeClr>
                </a:solidFill>
                <a:latin typeface="Helvetica" pitchFamily="2" charset="0"/>
              </a:rPr>
              <a:t>Public Limited Companies</a:t>
            </a:r>
          </a:p>
        </p:txBody>
      </p:sp>
      <p:sp>
        <p:nvSpPr>
          <p:cNvPr id="27651" name="Rectangle 3"/>
          <p:cNvSpPr>
            <a:spLocks noGrp="1" noChangeArrowheads="1"/>
          </p:cNvSpPr>
          <p:nvPr>
            <p:ph type="body" idx="4294967295"/>
          </p:nvPr>
        </p:nvSpPr>
        <p:spPr>
          <a:xfrm>
            <a:off x="1004544" y="1283691"/>
            <a:ext cx="10647218" cy="5410200"/>
          </a:xfrm>
        </p:spPr>
        <p:txBody>
          <a:bodyPr>
            <a:normAutofit/>
          </a:bodyPr>
          <a:lstStyle/>
          <a:p>
            <a:pPr>
              <a:lnSpc>
                <a:spcPct val="150000"/>
              </a:lnSpc>
            </a:pPr>
            <a:r>
              <a:rPr lang="en-US" sz="2400" dirty="0">
                <a:latin typeface="Helvetica" pitchFamily="2" charset="0"/>
              </a:rPr>
              <a:t>No limit to the maximum number of shareholders and should consist at least two directors.</a:t>
            </a:r>
          </a:p>
          <a:p>
            <a:pPr>
              <a:lnSpc>
                <a:spcPct val="150000"/>
              </a:lnSpc>
            </a:pPr>
            <a:r>
              <a:rPr lang="en-US" sz="2400" dirty="0">
                <a:latin typeface="Helvetica" pitchFamily="2" charset="0"/>
              </a:rPr>
              <a:t>Can offer shares for sale to the general public</a:t>
            </a:r>
          </a:p>
          <a:p>
            <a:pPr>
              <a:lnSpc>
                <a:spcPct val="150000"/>
              </a:lnSpc>
            </a:pPr>
            <a:r>
              <a:rPr lang="en-US" sz="2400" dirty="0">
                <a:latin typeface="Helvetica" pitchFamily="2" charset="0"/>
              </a:rPr>
              <a:t>No restriction on the transferability of shares, if listed in the CSE.</a:t>
            </a:r>
          </a:p>
          <a:p>
            <a:pPr>
              <a:lnSpc>
                <a:spcPct val="150000"/>
              </a:lnSpc>
            </a:pPr>
            <a:r>
              <a:rPr lang="en-US" sz="2400" dirty="0">
                <a:latin typeface="Helvetica" pitchFamily="2" charset="0"/>
              </a:rPr>
              <a:t>Allowed to raise funds by issuing debentures</a:t>
            </a:r>
          </a:p>
          <a:p>
            <a:pPr>
              <a:lnSpc>
                <a:spcPct val="150000"/>
              </a:lnSpc>
            </a:pPr>
            <a:r>
              <a:rPr lang="en-US" sz="2400" dirty="0">
                <a:latin typeface="Helvetica" pitchFamily="2" charset="0"/>
              </a:rPr>
              <a:t>The last word of the name should be read as either as “Public Limited Company” or “PLC” if the company is a listed company. If not the name should be as “Limited” or (‘LTD’)</a:t>
            </a:r>
          </a:p>
          <a:p>
            <a:pPr>
              <a:lnSpc>
                <a:spcPct val="150000"/>
              </a:lnSpc>
              <a:buNone/>
            </a:pP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5614" y="1692667"/>
            <a:ext cx="8806146" cy="3057698"/>
          </a:xfrm>
        </p:spPr>
        <p:txBody>
          <a:bodyPr>
            <a:normAutofit fontScale="77500" lnSpcReduction="20000"/>
          </a:bodyPr>
          <a:lstStyle/>
          <a:p>
            <a:pPr>
              <a:buNone/>
            </a:pPr>
            <a:r>
              <a:rPr lang="en-US" b="1" dirty="0">
                <a:solidFill>
                  <a:schemeClr val="tx2">
                    <a:lumMod val="75000"/>
                  </a:schemeClr>
                </a:solidFill>
                <a:latin typeface="Helvetica" pitchFamily="2" charset="0"/>
              </a:rPr>
              <a:t>Advantages ???</a:t>
            </a:r>
          </a:p>
          <a:p>
            <a:r>
              <a:rPr lang="en-US" sz="2100" b="1" dirty="0">
                <a:solidFill>
                  <a:schemeClr val="tx2">
                    <a:lumMod val="75000"/>
                  </a:schemeClr>
                </a:solidFill>
                <a:latin typeface="Helvetica" pitchFamily="2" charset="0"/>
              </a:rPr>
              <a:t>Limited liability</a:t>
            </a:r>
          </a:p>
          <a:p>
            <a:r>
              <a:rPr lang="en-US" sz="2100" b="1" dirty="0">
                <a:solidFill>
                  <a:schemeClr val="tx2">
                    <a:lumMod val="75000"/>
                  </a:schemeClr>
                </a:solidFill>
                <a:latin typeface="Helvetica" pitchFamily="2" charset="0"/>
              </a:rPr>
              <a:t>Less legal impact for shareholders</a:t>
            </a:r>
          </a:p>
          <a:p>
            <a:r>
              <a:rPr lang="en-US" sz="2100" b="1" dirty="0">
                <a:solidFill>
                  <a:schemeClr val="tx2">
                    <a:lumMod val="75000"/>
                  </a:schemeClr>
                </a:solidFill>
                <a:latin typeface="Helvetica" pitchFamily="2" charset="0"/>
              </a:rPr>
              <a:t>Expand the company</a:t>
            </a:r>
          </a:p>
          <a:p>
            <a:pPr>
              <a:buNone/>
            </a:pPr>
            <a:endParaRPr lang="en-US" b="1" dirty="0">
              <a:solidFill>
                <a:schemeClr val="tx2">
                  <a:lumMod val="75000"/>
                </a:schemeClr>
              </a:solidFill>
              <a:latin typeface="Helvetica" pitchFamily="2" charset="0"/>
            </a:endParaRPr>
          </a:p>
          <a:p>
            <a:pPr>
              <a:buNone/>
            </a:pPr>
            <a:r>
              <a:rPr lang="en-US" b="1" dirty="0">
                <a:solidFill>
                  <a:schemeClr val="tx2">
                    <a:lumMod val="75000"/>
                  </a:schemeClr>
                </a:solidFill>
                <a:latin typeface="Helvetica" pitchFamily="2" charset="0"/>
              </a:rPr>
              <a:t>Disadvantages ???</a:t>
            </a:r>
          </a:p>
          <a:p>
            <a:r>
              <a:rPr lang="en-US" sz="2100" b="1" dirty="0">
                <a:solidFill>
                  <a:schemeClr val="tx2">
                    <a:lumMod val="75000"/>
                  </a:schemeClr>
                </a:solidFill>
                <a:latin typeface="Helvetica" pitchFamily="2" charset="0"/>
              </a:rPr>
              <a:t>Taking time to make decisions</a:t>
            </a:r>
          </a:p>
          <a:p>
            <a:r>
              <a:rPr lang="en-US" sz="2100" b="1" dirty="0">
                <a:solidFill>
                  <a:schemeClr val="tx2">
                    <a:lumMod val="75000"/>
                  </a:schemeClr>
                </a:solidFill>
                <a:latin typeface="Helvetica" pitchFamily="2" charset="0"/>
              </a:rPr>
              <a:t>Tax</a:t>
            </a:r>
          </a:p>
          <a:p>
            <a:r>
              <a:rPr lang="en-US" sz="2100" b="1" dirty="0">
                <a:solidFill>
                  <a:schemeClr val="tx2">
                    <a:lumMod val="75000"/>
                  </a:schemeClr>
                </a:solidFill>
                <a:latin typeface="Helvetica" pitchFamily="2" charset="0"/>
              </a:rPr>
              <a:t>Someone else than the original owner may become the owner by getting more shares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681</TotalTime>
  <Words>1301</Words>
  <Application>Microsoft Office PowerPoint</Application>
  <PresentationFormat>Widescreen</PresentationFormat>
  <Paragraphs>220</Paragraphs>
  <Slides>28</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Arial</vt:lpstr>
      <vt:lpstr>Calibri</vt:lpstr>
      <vt:lpstr>Calibri Light</vt:lpstr>
      <vt:lpstr>Cambria</vt:lpstr>
      <vt:lpstr>Helvetica</vt:lpstr>
      <vt:lpstr>Helvetica LT Std</vt:lpstr>
      <vt:lpstr>Helvetica LT Std Cond</vt:lpstr>
      <vt:lpstr>Rockwell</vt:lpstr>
      <vt:lpstr>Tahoma</vt:lpstr>
      <vt:lpstr>Times New Roman</vt:lpstr>
      <vt:lpstr>Wingdings</vt:lpstr>
      <vt:lpstr>Office Theme</vt:lpstr>
      <vt:lpstr>PowerPoint Presentation</vt:lpstr>
      <vt:lpstr>               Business Organization</vt:lpstr>
      <vt:lpstr>Productive Resources </vt:lpstr>
      <vt:lpstr>Business Functions; buy, make, sell, trade</vt:lpstr>
      <vt:lpstr>     What is the basic economic problem ?</vt:lpstr>
      <vt:lpstr>Scarcity</vt:lpstr>
      <vt:lpstr>Why do we have scarcity?</vt:lpstr>
      <vt:lpstr>Opportunity Cost</vt:lpstr>
      <vt:lpstr>               Why study management? </vt:lpstr>
      <vt:lpstr>What Is Management?</vt:lpstr>
      <vt:lpstr>The Process of Management</vt:lpstr>
      <vt:lpstr>Who Are Managers?</vt:lpstr>
      <vt:lpstr>Types of Managers/ Levels of Management</vt:lpstr>
      <vt:lpstr>TOP MANAGEMENT LEVEL</vt:lpstr>
      <vt:lpstr>MIDDLE MANAGEMENT LEVEL</vt:lpstr>
      <vt:lpstr>FIRST-LINE MANAGEMENT LEVEL</vt:lpstr>
      <vt:lpstr>Types Business Organizations</vt:lpstr>
      <vt:lpstr>Principal forms of business organizations</vt:lpstr>
      <vt:lpstr>Sole Proprietorships</vt:lpstr>
      <vt:lpstr>Sole proprietorships</vt:lpstr>
      <vt:lpstr>Partnerships</vt:lpstr>
      <vt:lpstr>PowerPoint Presentation</vt:lpstr>
      <vt:lpstr>Companies </vt:lpstr>
      <vt:lpstr>Limited Companies</vt:lpstr>
      <vt:lpstr>Types of Limited Companies</vt:lpstr>
      <vt:lpstr> Private Limited Companies</vt:lpstr>
      <vt:lpstr> Public Limited Companies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Chalani Kuruppu</dc:creator>
  <cp:lastModifiedBy>Kavindya Mallawa</cp:lastModifiedBy>
  <cp:revision>62</cp:revision>
  <dcterms:created xsi:type="dcterms:W3CDTF">2019-06-30T06:24:52Z</dcterms:created>
  <dcterms:modified xsi:type="dcterms:W3CDTF">2025-07-30T03:16:08Z</dcterms:modified>
</cp:coreProperties>
</file>