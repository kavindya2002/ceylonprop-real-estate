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88" r:id="rId2"/>
    <p:sldId id="339" r:id="rId3"/>
    <p:sldId id="342" r:id="rId4"/>
    <p:sldId id="343" r:id="rId5"/>
    <p:sldId id="344" r:id="rId6"/>
    <p:sldId id="347" r:id="rId7"/>
    <p:sldId id="348" r:id="rId8"/>
    <p:sldId id="349" r:id="rId9"/>
    <p:sldId id="350" r:id="rId10"/>
    <p:sldId id="354" r:id="rId11"/>
    <p:sldId id="355" r:id="rId12"/>
    <p:sldId id="298" r:id="rId13"/>
    <p:sldId id="351" r:id="rId14"/>
    <p:sldId id="335" r:id="rId15"/>
    <p:sldId id="341" r:id="rId16"/>
    <p:sldId id="353" r:id="rId17"/>
  </p:sldIdLst>
  <p:sldSz cx="9144000" cy="6858000" type="screen4x3"/>
  <p:notesSz cx="6735763" cy="98663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BEC0"/>
    <a:srgbClr val="FFFF00"/>
    <a:srgbClr val="D3C3A7"/>
    <a:srgbClr val="C1B69B"/>
    <a:srgbClr val="040E08"/>
    <a:srgbClr val="B92D14"/>
    <a:srgbClr val="35759D"/>
    <a:srgbClr val="35B19D"/>
    <a:srgbClr val="000000"/>
    <a:srgbClr val="4914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BB2DAC-6BAA-4490-9998-7F00F65AEF6F}" v="1" dt="2024-07-18T16:22:01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8" autoAdjust="0"/>
    <p:restoredTop sz="95596" autoAdjust="0"/>
  </p:normalViewPr>
  <p:slideViewPr>
    <p:cSldViewPr>
      <p:cViewPr varScale="1">
        <p:scale>
          <a:sx n="78" d="100"/>
          <a:sy n="78" d="100"/>
        </p:scale>
        <p:origin x="118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41" cy="4936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14798" y="0"/>
            <a:ext cx="2919441" cy="4936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F47EA-D2A1-4FDC-954F-A93840EBC1C5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0976"/>
            <a:ext cx="2919441" cy="4936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14798" y="9370976"/>
            <a:ext cx="2919441" cy="4936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018142-BDC9-4CAF-BEF3-CF8B869EAA9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3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5374" y="0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819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1700" y="739775"/>
            <a:ext cx="4932363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577" y="4686499"/>
            <a:ext cx="5388610" cy="4439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19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285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819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374" y="9371285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BD68E66-648A-439E-88FC-1030C8B55C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881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D68E66-648A-439E-88FC-1030C8B55C4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5C1AD5E-F186-4F5C-A36D-7409CFBBF65F}" type="slidenum">
              <a:rPr lang="en-GB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GB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120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5181600"/>
            <a:ext cx="7543800" cy="70485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5791200"/>
            <a:ext cx="7543800" cy="6858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600" y="2133600"/>
            <a:ext cx="3581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2133600"/>
            <a:ext cx="3581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43650" y="381000"/>
            <a:ext cx="196215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573405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7315200" cy="71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2133600"/>
            <a:ext cx="73152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Microsoft Sans Serif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4 - Accounting and Finance</a:t>
            </a:r>
            <a:br>
              <a:rPr lang="en-US" sz="4000" b="1" dirty="0">
                <a:solidFill>
                  <a:srgbClr val="040E08"/>
                </a:solidFill>
                <a:latin typeface="Cambria" pitchFamily="18" charset="0"/>
              </a:rPr>
            </a:br>
            <a:br>
              <a:rPr lang="en-US" sz="4000" b="1" dirty="0">
                <a:solidFill>
                  <a:srgbClr val="040E08"/>
                </a:solidFill>
                <a:latin typeface="Cambria" pitchFamily="18" charset="0"/>
              </a:rPr>
            </a:br>
            <a:r>
              <a:rPr lang="en-US" sz="4000" b="1" dirty="0">
                <a:solidFill>
                  <a:srgbClr val="040E08"/>
                </a:solidFill>
                <a:latin typeface="Cambria" pitchFamily="18" charset="0"/>
              </a:rPr>
              <a:t>Definition of 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133600"/>
            <a:ext cx="8534400" cy="4267200"/>
          </a:xfrm>
        </p:spPr>
        <p:txBody>
          <a:bodyPr>
            <a:normAutofit lnSpcReduction="10000"/>
          </a:bodyPr>
          <a:lstStyle/>
          <a:p>
            <a:pPr marL="365760" indent="-10795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“</a:t>
            </a:r>
            <a:r>
              <a:rPr lang="en-US" sz="1800" dirty="0">
                <a:solidFill>
                  <a:srgbClr val="040E08"/>
                </a:solidFill>
                <a:latin typeface="Cambria" pitchFamily="18" charset="0"/>
              </a:rPr>
              <a:t>The process of </a:t>
            </a:r>
            <a:r>
              <a:rPr lang="en-US" sz="1800" b="1" dirty="0">
                <a:solidFill>
                  <a:srgbClr val="040E08"/>
                </a:solidFill>
                <a:latin typeface="Cambria" pitchFamily="18" charset="0"/>
              </a:rPr>
              <a:t>identifying</a:t>
            </a:r>
            <a:r>
              <a:rPr lang="en-US" sz="1800" dirty="0">
                <a:solidFill>
                  <a:srgbClr val="040E08"/>
                </a:solidFill>
                <a:latin typeface="Cambria" pitchFamily="18" charset="0"/>
              </a:rPr>
              <a:t>, </a:t>
            </a:r>
            <a:r>
              <a:rPr lang="en-US" sz="1800" b="1" dirty="0">
                <a:solidFill>
                  <a:srgbClr val="040E08"/>
                </a:solidFill>
                <a:latin typeface="Cambria" pitchFamily="18" charset="0"/>
              </a:rPr>
              <a:t>measuring</a:t>
            </a:r>
            <a:r>
              <a:rPr lang="en-US" sz="1800" dirty="0">
                <a:solidFill>
                  <a:srgbClr val="040E08"/>
                </a:solidFill>
                <a:latin typeface="Cambria" pitchFamily="18" charset="0"/>
              </a:rPr>
              <a:t> and </a:t>
            </a:r>
            <a:r>
              <a:rPr lang="en-US" sz="1800" b="1" dirty="0">
                <a:solidFill>
                  <a:srgbClr val="040E08"/>
                </a:solidFill>
                <a:latin typeface="Cambria" pitchFamily="18" charset="0"/>
              </a:rPr>
              <a:t>communicating</a:t>
            </a:r>
            <a:r>
              <a:rPr lang="en-US" sz="1800" dirty="0">
                <a:solidFill>
                  <a:srgbClr val="040E08"/>
                </a:solidFill>
                <a:latin typeface="Cambria" pitchFamily="18" charset="0"/>
              </a:rPr>
              <a:t> economic information to permit informed judgments and decisions by users of the information ” -  American Accounting  Association</a:t>
            </a:r>
            <a:br>
              <a:rPr lang="en-US" sz="1800" dirty="0">
                <a:solidFill>
                  <a:srgbClr val="040E08"/>
                </a:solidFill>
                <a:latin typeface="Cambria" pitchFamily="18" charset="0"/>
              </a:rPr>
            </a:br>
            <a:endParaRPr lang="en-US" sz="1800" dirty="0">
              <a:solidFill>
                <a:srgbClr val="040E08"/>
              </a:solidFill>
              <a:latin typeface="Cambria" pitchFamily="18" charset="0"/>
            </a:endParaRPr>
          </a:p>
          <a:p>
            <a:pPr marL="365760" indent="-10795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sz="2000" b="1" dirty="0">
                <a:solidFill>
                  <a:srgbClr val="040E08"/>
                </a:solidFill>
                <a:latin typeface="Cambria" pitchFamily="18" charset="0"/>
              </a:rPr>
              <a:t>Users of financial statements</a:t>
            </a:r>
            <a:br>
              <a:rPr lang="en-US" sz="2800" b="1" dirty="0">
                <a:solidFill>
                  <a:srgbClr val="040E08"/>
                </a:solidFill>
                <a:latin typeface="Cambria" pitchFamily="18" charset="0"/>
              </a:rPr>
            </a:br>
            <a:r>
              <a:rPr lang="en-US" sz="1200" dirty="0">
                <a:solidFill>
                  <a:srgbClr val="040E08"/>
                </a:solidFill>
                <a:latin typeface="Cambria" pitchFamily="18" charset="0"/>
              </a:rPr>
              <a:t>Owners/Shareholders  , Management  , Employees  , Suppliers , Customers  , Lenders  , Government  , Potential Investors</a:t>
            </a:r>
          </a:p>
          <a:p>
            <a:pPr marL="365760" indent="-10795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sz="1200" dirty="0">
                <a:solidFill>
                  <a:srgbClr val="040E08"/>
                </a:solidFill>
                <a:latin typeface="Cambria" pitchFamily="18" charset="0"/>
              </a:rPr>
              <a:t>   General Public</a:t>
            </a:r>
          </a:p>
          <a:p>
            <a:pPr marL="365760" indent="-10795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sz="2000" b="1" dirty="0">
                <a:solidFill>
                  <a:srgbClr val="040E08"/>
                </a:solidFill>
                <a:latin typeface="Cambria" pitchFamily="18" charset="0"/>
              </a:rPr>
              <a:t>Elements of Accounting</a:t>
            </a:r>
          </a:p>
          <a:p>
            <a:pPr marL="365760" indent="-10795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rgbClr val="040E08"/>
                </a:solidFill>
                <a:latin typeface="Cambria" pitchFamily="18" charset="0"/>
              </a:rPr>
              <a:t>Assets                               Capital                                      Income</a:t>
            </a:r>
            <a:endParaRPr lang="en-US" sz="1400" b="1" dirty="0">
              <a:solidFill>
                <a:srgbClr val="040E08"/>
              </a:solidFill>
              <a:latin typeface="Cambria" pitchFamily="18" charset="0"/>
            </a:endParaRPr>
          </a:p>
          <a:p>
            <a:pPr marL="365760" indent="-10795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rgbClr val="040E08"/>
                </a:solidFill>
                <a:latin typeface="Cambria" pitchFamily="18" charset="0"/>
              </a:rPr>
              <a:t>Liabilities                                                                           Expenditure      </a:t>
            </a:r>
          </a:p>
          <a:p>
            <a:pPr marL="365760" indent="-10795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endParaRPr lang="en-US" sz="1400" dirty="0">
              <a:solidFill>
                <a:srgbClr val="040E08"/>
              </a:solidFill>
              <a:latin typeface="Cambria" pitchFamily="18" charset="0"/>
            </a:endParaRPr>
          </a:p>
          <a:p>
            <a:pPr marL="365760" indent="-10795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endParaRPr lang="en-US" sz="1200" dirty="0">
              <a:solidFill>
                <a:srgbClr val="040E08"/>
              </a:solidFill>
              <a:latin typeface="Cambria" pitchFamily="18" charset="0"/>
            </a:endParaRPr>
          </a:p>
          <a:p>
            <a:pPr marL="365760" indent="-107950" fontAlgn="auto">
              <a:lnSpc>
                <a:spcPct val="150000"/>
              </a:lnSpc>
              <a:spcAft>
                <a:spcPts val="0"/>
              </a:spcAft>
              <a:buNone/>
              <a:defRPr/>
            </a:pPr>
            <a:endParaRPr lang="en-US" sz="2800" dirty="0">
              <a:solidFill>
                <a:srgbClr val="040E08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040E08"/>
                </a:solidFill>
                <a:latin typeface="Cambria" pitchFamily="18" charset="0"/>
              </a:rPr>
              <a:t>What is an Asset?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95400"/>
            <a:ext cx="8610600" cy="52578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dirty="0"/>
              <a:t>	</a:t>
            </a: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Asset is a resource controlled by the business from which </a:t>
            </a:r>
            <a:r>
              <a:rPr lang="en-US" sz="2800" b="1" dirty="0">
                <a:solidFill>
                  <a:srgbClr val="040E08"/>
                </a:solidFill>
                <a:latin typeface="Cambria" pitchFamily="18" charset="0"/>
              </a:rPr>
              <a:t>future economic benefits </a:t>
            </a: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are expected to flow, arising out of </a:t>
            </a:r>
            <a:r>
              <a:rPr lang="en-US" sz="2800" b="1" dirty="0">
                <a:solidFill>
                  <a:srgbClr val="040E08"/>
                </a:solidFill>
                <a:latin typeface="Cambria" pitchFamily="18" charset="0"/>
              </a:rPr>
              <a:t>past transaction or event.</a:t>
            </a:r>
          </a:p>
          <a:p>
            <a:pPr eaLnBrk="1" hangingPunct="1">
              <a:buFont typeface="Wingdings 2" pitchFamily="18" charset="2"/>
              <a:buNone/>
            </a:pPr>
            <a:endParaRPr lang="en-US" sz="2800" b="1" dirty="0">
              <a:solidFill>
                <a:srgbClr val="040E08"/>
              </a:solidFill>
              <a:latin typeface="Cambria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sz="2800" b="1" dirty="0">
                <a:solidFill>
                  <a:srgbClr val="040E08"/>
                </a:solidFill>
                <a:latin typeface="Cambria" pitchFamily="18" charset="0"/>
              </a:rPr>
              <a:t>	</a:t>
            </a: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The three essential  characteristics of assets are;</a:t>
            </a:r>
          </a:p>
          <a:p>
            <a:pPr eaLnBrk="1" hangingPunct="1">
              <a:buFont typeface="Wingdings 2" pitchFamily="18" charset="2"/>
              <a:buNone/>
            </a:pPr>
            <a:endParaRPr lang="en-US" sz="2800" dirty="0">
              <a:solidFill>
                <a:srgbClr val="040E08"/>
              </a:solidFill>
              <a:latin typeface="Cambria" pitchFamily="18" charset="0"/>
            </a:endParaRPr>
          </a:p>
          <a:p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Future economic benefits</a:t>
            </a:r>
          </a:p>
          <a:p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Owned or controlled by the business</a:t>
            </a:r>
          </a:p>
          <a:p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Arisen from past event or transaction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300" y="4819935"/>
            <a:ext cx="2362200" cy="19237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" y="304800"/>
            <a:ext cx="7772400" cy="792162"/>
          </a:xfrm>
        </p:spPr>
        <p:txBody>
          <a:bodyPr/>
          <a:lstStyle/>
          <a:p>
            <a:r>
              <a:rPr lang="en-US" b="1" dirty="0">
                <a:solidFill>
                  <a:srgbClr val="040E08"/>
                </a:solidFill>
                <a:latin typeface="Cambria" pitchFamily="18" charset="0"/>
              </a:rPr>
              <a:t>Categorization of Assets-I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0" y="1066800"/>
            <a:ext cx="9144000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040E08"/>
                </a:solidFill>
                <a:latin typeface="Cambria" pitchFamily="18" charset="0"/>
              </a:rPr>
              <a:t>		</a:t>
            </a:r>
            <a:r>
              <a:rPr lang="en-US" sz="2400" b="1" dirty="0">
                <a:solidFill>
                  <a:srgbClr val="040E08"/>
                </a:solidFill>
                <a:latin typeface="Cambria" pitchFamily="18" charset="0"/>
              </a:rPr>
              <a:t>Fixed Assets</a:t>
            </a:r>
            <a:endParaRPr lang="en-US" sz="2000" b="1" dirty="0">
              <a:solidFill>
                <a:srgbClr val="040E08"/>
              </a:solidFill>
              <a:latin typeface="Cambria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dirty="0">
                <a:solidFill>
                  <a:srgbClr val="040E08"/>
                </a:solidFill>
                <a:latin typeface="Cambria" pitchFamily="18" charset="0"/>
              </a:rPr>
              <a:t>Are not bought primarily to be sold</a:t>
            </a:r>
          </a:p>
          <a:p>
            <a:pPr lvl="1">
              <a:buFont typeface="Arial" pitchFamily="34" charset="0"/>
              <a:buChar char="•"/>
            </a:pPr>
            <a:r>
              <a:rPr lang="en-US" dirty="0">
                <a:solidFill>
                  <a:srgbClr val="040E08"/>
                </a:solidFill>
                <a:latin typeface="Cambria" pitchFamily="18" charset="0"/>
              </a:rPr>
              <a:t>Are bought to be used in the business</a:t>
            </a:r>
          </a:p>
          <a:p>
            <a:pPr lvl="1">
              <a:buFont typeface="Arial" pitchFamily="34" charset="0"/>
              <a:buChar char="•"/>
            </a:pPr>
            <a:r>
              <a:rPr lang="en-US" dirty="0">
                <a:solidFill>
                  <a:srgbClr val="040E08"/>
                </a:solidFill>
                <a:latin typeface="Cambria" pitchFamily="18" charset="0"/>
              </a:rPr>
              <a:t>Are expected to be of use to the business for a long   	time.</a:t>
            </a:r>
          </a:p>
          <a:p>
            <a:pPr lvl="1">
              <a:buNone/>
            </a:pPr>
            <a:r>
              <a:rPr lang="en-US" sz="2000" dirty="0">
                <a:solidFill>
                  <a:srgbClr val="040E08"/>
                </a:solidFill>
                <a:latin typeface="Cambria" pitchFamily="18" charset="0"/>
              </a:rPr>
              <a:t>			E.g. Land, buildings, machinery, vehicles</a:t>
            </a:r>
          </a:p>
          <a:p>
            <a:pPr lvl="1">
              <a:buNone/>
            </a:pPr>
            <a:endParaRPr lang="en-US" sz="2000" dirty="0">
              <a:solidFill>
                <a:srgbClr val="040E08"/>
              </a:solidFill>
              <a:latin typeface="Cambria" pitchFamily="18" charset="0"/>
            </a:endParaRPr>
          </a:p>
          <a:p>
            <a:pPr lvl="1">
              <a:buNone/>
            </a:pPr>
            <a:endParaRPr lang="en-US" sz="2000" dirty="0">
              <a:solidFill>
                <a:srgbClr val="040E08"/>
              </a:solidFill>
              <a:latin typeface="Cambria" pitchFamily="18" charset="0"/>
            </a:endParaRPr>
          </a:p>
          <a:p>
            <a:pPr lvl="1">
              <a:buNone/>
            </a:pPr>
            <a:r>
              <a:rPr lang="en-US" b="1" dirty="0">
                <a:solidFill>
                  <a:srgbClr val="040E08"/>
                </a:solidFill>
                <a:latin typeface="Cambria" pitchFamily="18" charset="0"/>
              </a:rPr>
              <a:t>	</a:t>
            </a:r>
            <a:r>
              <a:rPr lang="en-US" sz="2400" b="1" dirty="0">
                <a:solidFill>
                  <a:srgbClr val="040E08"/>
                </a:solidFill>
                <a:latin typeface="Cambria" pitchFamily="18" charset="0"/>
              </a:rPr>
              <a:t>Current  Assets</a:t>
            </a:r>
            <a:endParaRPr lang="en-US" b="1" dirty="0">
              <a:solidFill>
                <a:srgbClr val="040E08"/>
              </a:solidFill>
              <a:latin typeface="Cambria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dirty="0">
                <a:solidFill>
                  <a:srgbClr val="040E08"/>
                </a:solidFill>
                <a:latin typeface="Cambria" pitchFamily="18" charset="0"/>
              </a:rPr>
              <a:t>Are likely to change in the short term and certainly  within  twelve months of the balance sheet date.</a:t>
            </a:r>
          </a:p>
          <a:p>
            <a:pPr marL="406400" lvl="2" indent="-6350">
              <a:buNone/>
            </a:pPr>
            <a:endParaRPr lang="en-US" sz="2000" dirty="0">
              <a:solidFill>
                <a:srgbClr val="040E08"/>
              </a:solidFill>
              <a:latin typeface="Cambria" pitchFamily="18" charset="0"/>
            </a:endParaRPr>
          </a:p>
          <a:p>
            <a:pPr marL="406400" lvl="2" indent="-6350">
              <a:buNone/>
            </a:pPr>
            <a:r>
              <a:rPr lang="en-US" sz="2000" dirty="0">
                <a:solidFill>
                  <a:srgbClr val="040E08"/>
                </a:solidFill>
                <a:latin typeface="Cambria" pitchFamily="18" charset="0"/>
              </a:rPr>
              <a:t>		E.g. Stocks, debtors , cash in hand and bank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075" y="1006169"/>
            <a:ext cx="1533525" cy="153352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4114800"/>
            <a:ext cx="1114425" cy="11998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143000"/>
            <a:ext cx="8763000" cy="5257800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rgbClr val="040E08"/>
                </a:solidFill>
                <a:latin typeface="Cambria" pitchFamily="18" charset="0"/>
              </a:rPr>
              <a:t>Tangible Assets</a:t>
            </a:r>
          </a:p>
          <a:p>
            <a:pPr algn="just">
              <a:buNone/>
            </a:pPr>
            <a:r>
              <a:rPr lang="en-US" sz="2400" dirty="0">
                <a:solidFill>
                  <a:srgbClr val="040E08"/>
                </a:solidFill>
                <a:latin typeface="Cambria" pitchFamily="18" charset="0"/>
              </a:rPr>
              <a:t>	Are assets that have a physical existence (i.e. they can be touched).</a:t>
            </a:r>
          </a:p>
          <a:p>
            <a:pPr algn="just">
              <a:buNone/>
            </a:pPr>
            <a:r>
              <a:rPr lang="en-US" sz="2400" dirty="0">
                <a:solidFill>
                  <a:srgbClr val="040E08"/>
                </a:solidFill>
                <a:latin typeface="Cambria" pitchFamily="18" charset="0"/>
              </a:rPr>
              <a:t>			E.g. Buildings, machinery, land, vehicles</a:t>
            </a:r>
          </a:p>
          <a:p>
            <a:pPr algn="just">
              <a:buNone/>
            </a:pPr>
            <a:endParaRPr lang="en-US" sz="2400" dirty="0">
              <a:solidFill>
                <a:srgbClr val="040E08"/>
              </a:solidFill>
              <a:latin typeface="Cambria" pitchFamily="18" charset="0"/>
            </a:endParaRPr>
          </a:p>
          <a:p>
            <a:pPr algn="just"/>
            <a:r>
              <a:rPr lang="en-US" sz="2400" b="1" dirty="0">
                <a:solidFill>
                  <a:srgbClr val="040E08"/>
                </a:solidFill>
                <a:latin typeface="Cambria" pitchFamily="18" charset="0"/>
              </a:rPr>
              <a:t>Intangible Assets</a:t>
            </a:r>
          </a:p>
          <a:p>
            <a:pPr algn="just">
              <a:buNone/>
            </a:pPr>
            <a:r>
              <a:rPr lang="en-US" sz="2400" dirty="0">
                <a:solidFill>
                  <a:srgbClr val="040E08"/>
                </a:solidFill>
                <a:latin typeface="Cambria" pitchFamily="18" charset="0"/>
              </a:rPr>
              <a:t>	Are identifiable non-monetary assets that can not be seen, touched, or physically measured, which are created through time and/ or effort and that are identifiable as a separate asset.</a:t>
            </a:r>
          </a:p>
          <a:p>
            <a:pPr algn="just">
              <a:buNone/>
            </a:pPr>
            <a:r>
              <a:rPr lang="en-US" sz="2400" dirty="0">
                <a:solidFill>
                  <a:srgbClr val="040E08"/>
                </a:solidFill>
                <a:latin typeface="Cambria" pitchFamily="18" charset="0"/>
              </a:rPr>
              <a:t>	</a:t>
            </a:r>
          </a:p>
          <a:p>
            <a:pPr algn="just">
              <a:buNone/>
            </a:pPr>
            <a:r>
              <a:rPr lang="en-US" sz="2400" dirty="0">
                <a:solidFill>
                  <a:srgbClr val="040E08"/>
                </a:solidFill>
                <a:latin typeface="Cambria" pitchFamily="18" charset="0"/>
              </a:rPr>
              <a:t>	E.g. Goodwill, patents, copyrights, trade marks, brand names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40E08"/>
                </a:solidFill>
                <a:latin typeface="Cambria" pitchFamily="18" charset="0"/>
              </a:rPr>
              <a:t>Categorization of Assets - 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040E08"/>
                </a:solidFill>
                <a:latin typeface="Cambria" pitchFamily="18" charset="0"/>
              </a:rPr>
              <a:t>What is a Liability?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8610600" cy="5334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dirty="0"/>
              <a:t>	</a:t>
            </a: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Present </a:t>
            </a:r>
            <a:r>
              <a:rPr lang="en-US" sz="2800" b="1" dirty="0">
                <a:solidFill>
                  <a:srgbClr val="040E08"/>
                </a:solidFill>
                <a:latin typeface="Cambria" pitchFamily="18" charset="0"/>
              </a:rPr>
              <a:t>obligation</a:t>
            </a: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 of the entity </a:t>
            </a:r>
            <a:r>
              <a:rPr lang="en-US" sz="2800" b="1" dirty="0">
                <a:solidFill>
                  <a:srgbClr val="040E08"/>
                </a:solidFill>
                <a:latin typeface="Cambria" pitchFamily="18" charset="0"/>
              </a:rPr>
              <a:t>arisen from past events</a:t>
            </a: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, the settlement of which is expected to result in an </a:t>
            </a:r>
            <a:r>
              <a:rPr lang="en-US" sz="2800" b="1" dirty="0">
                <a:solidFill>
                  <a:srgbClr val="040E08"/>
                </a:solidFill>
                <a:latin typeface="Cambria" pitchFamily="18" charset="0"/>
              </a:rPr>
              <a:t>outflow</a:t>
            </a: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 from the entity’s resources embodying </a:t>
            </a:r>
            <a:r>
              <a:rPr lang="en-US" sz="2800" b="1" dirty="0">
                <a:solidFill>
                  <a:srgbClr val="040E08"/>
                </a:solidFill>
                <a:latin typeface="Cambria" pitchFamily="18" charset="0"/>
              </a:rPr>
              <a:t>economic benefits.</a:t>
            </a:r>
          </a:p>
          <a:p>
            <a:pPr eaLnBrk="1" hangingPunct="1">
              <a:buFont typeface="Wingdings 2" pitchFamily="18" charset="2"/>
              <a:buNone/>
            </a:pPr>
            <a:endParaRPr lang="en-US" sz="2800" b="1" dirty="0">
              <a:solidFill>
                <a:srgbClr val="040E08"/>
              </a:solidFill>
              <a:latin typeface="Cambria" pitchFamily="18" charset="0"/>
            </a:endParaRPr>
          </a:p>
          <a:p>
            <a:r>
              <a:rPr lang="en-US" sz="2800" b="1" dirty="0">
                <a:solidFill>
                  <a:srgbClr val="040E08"/>
                </a:solidFill>
                <a:latin typeface="Cambria" pitchFamily="18" charset="0"/>
              </a:rPr>
              <a:t>Current Liabilities </a:t>
            </a:r>
          </a:p>
          <a:p>
            <a:pPr>
              <a:buNone/>
            </a:pPr>
            <a:r>
              <a:rPr lang="en-US" sz="2800" b="1" dirty="0">
                <a:solidFill>
                  <a:srgbClr val="040E08"/>
                </a:solidFill>
                <a:latin typeface="Cambria" pitchFamily="18" charset="0"/>
              </a:rPr>
              <a:t>	</a:t>
            </a:r>
            <a:r>
              <a:rPr lang="en-US" sz="2400" dirty="0">
                <a:solidFill>
                  <a:srgbClr val="040E08"/>
                </a:solidFill>
                <a:latin typeface="Cambria" pitchFamily="18" charset="0"/>
              </a:rPr>
              <a:t>E.g. Bank ODs, trade creditors</a:t>
            </a:r>
            <a:endParaRPr lang="en-US" sz="2400" dirty="0">
              <a:solidFill>
                <a:srgbClr val="020202"/>
              </a:solidFill>
              <a:latin typeface="Cambria" pitchFamily="18" charset="0"/>
            </a:endParaRPr>
          </a:p>
          <a:p>
            <a:pPr>
              <a:buNone/>
            </a:pPr>
            <a:endParaRPr lang="en-US" sz="2800" dirty="0">
              <a:solidFill>
                <a:srgbClr val="040E08"/>
              </a:solidFill>
              <a:latin typeface="Cambria" pitchFamily="18" charset="0"/>
            </a:endParaRPr>
          </a:p>
          <a:p>
            <a:r>
              <a:rPr lang="en-US" sz="2800" b="1" dirty="0">
                <a:solidFill>
                  <a:srgbClr val="040E08"/>
                </a:solidFill>
                <a:latin typeface="Cambria" pitchFamily="18" charset="0"/>
              </a:rPr>
              <a:t>Long-term liabilities</a:t>
            </a:r>
          </a:p>
          <a:p>
            <a:pPr>
              <a:buNone/>
            </a:pP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	</a:t>
            </a:r>
            <a:r>
              <a:rPr lang="en-US" sz="2400" dirty="0">
                <a:solidFill>
                  <a:srgbClr val="040E08"/>
                </a:solidFill>
                <a:latin typeface="Cambria" pitchFamily="18" charset="0"/>
              </a:rPr>
              <a:t>E.g. Long-term bank loans, Debentures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3276600"/>
            <a:ext cx="23622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040E08"/>
                </a:solidFill>
                <a:latin typeface="Cambria" pitchFamily="18" charset="0"/>
              </a:rPr>
              <a:t>What is Capital?</a:t>
            </a:r>
          </a:p>
        </p:txBody>
      </p:sp>
      <p:sp>
        <p:nvSpPr>
          <p:cNvPr id="37891" name="Content Placeholder 4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610600" cy="4953000"/>
          </a:xfrm>
        </p:spPr>
        <p:txBody>
          <a:bodyPr/>
          <a:lstStyle/>
          <a:p>
            <a:pPr indent="19050" eaLnBrk="1" hangingPunct="1">
              <a:buFont typeface="Wingdings 2" pitchFamily="18" charset="2"/>
              <a:buNone/>
            </a:pP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Capital is an investment of money (funds) in  a business with the intention of earning a return.</a:t>
            </a:r>
          </a:p>
          <a:p>
            <a:pPr indent="19050">
              <a:buNone/>
            </a:pP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In other words, residual in the assets of the entity after deducting all it’s liabilities.</a:t>
            </a:r>
          </a:p>
          <a:p>
            <a:pPr indent="19050" eaLnBrk="1" hangingPunct="1">
              <a:buFont typeface="Wingdings 2" pitchFamily="18" charset="2"/>
              <a:buNone/>
            </a:pPr>
            <a:endParaRPr lang="en-US" sz="2800" dirty="0">
              <a:solidFill>
                <a:srgbClr val="040E08"/>
              </a:solidFill>
              <a:latin typeface="Cambria" pitchFamily="18" charset="0"/>
            </a:endParaRPr>
          </a:p>
          <a:p>
            <a:pPr indent="19050">
              <a:buNone/>
            </a:pP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E.g. 	Sole proprietor – personal funds</a:t>
            </a:r>
          </a:p>
          <a:p>
            <a:pPr indent="19050">
              <a:buNone/>
            </a:pP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		Company – share capital</a:t>
            </a:r>
          </a:p>
          <a:p>
            <a:pPr indent="19050" eaLnBrk="1" hangingPunct="1">
              <a:buFont typeface="Wingdings 2" pitchFamily="18" charset="2"/>
              <a:buNone/>
            </a:pP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		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5049261"/>
            <a:ext cx="3048000" cy="17160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040E08"/>
                </a:solidFill>
                <a:latin typeface="Cambria" pitchFamily="18" charset="0"/>
              </a:rPr>
              <a:t>What is an Income?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524000"/>
            <a:ext cx="8686800" cy="49530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dirty="0"/>
              <a:t>	</a:t>
            </a: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Increase in economic benefits during the accounting period in the form of inflows, which eventually results in receiving money. Revenue increases profits.</a:t>
            </a:r>
          </a:p>
          <a:p>
            <a:pPr eaLnBrk="1" hangingPunct="1">
              <a:buFont typeface="Wingdings 2" pitchFamily="18" charset="2"/>
              <a:buNone/>
            </a:pPr>
            <a:endParaRPr lang="en-US" sz="2800" dirty="0">
              <a:solidFill>
                <a:srgbClr val="040E08"/>
              </a:solidFill>
              <a:latin typeface="Cambria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	E.g. sales revenue, interest received</a:t>
            </a:r>
            <a:endParaRPr lang="en-US" sz="3600" dirty="0">
              <a:solidFill>
                <a:srgbClr val="040E08"/>
              </a:solidFill>
              <a:latin typeface="Cambria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650" y="4419600"/>
            <a:ext cx="31623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040E08"/>
                </a:solidFill>
                <a:latin typeface="Cambria" pitchFamily="18" charset="0"/>
              </a:rPr>
              <a:t>What is an expense?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95400"/>
            <a:ext cx="8839200" cy="51054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dirty="0"/>
              <a:t>	</a:t>
            </a: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Decrease in economic benefits during the accounting period in the </a:t>
            </a:r>
            <a:r>
              <a:rPr lang="en-US" sz="2800" b="1" dirty="0">
                <a:solidFill>
                  <a:srgbClr val="040E08"/>
                </a:solidFill>
                <a:latin typeface="Cambria" pitchFamily="18" charset="0"/>
              </a:rPr>
              <a:t>form of out flow</a:t>
            </a: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. Costs used up in the activities of the organization.</a:t>
            </a:r>
          </a:p>
          <a:p>
            <a:pPr eaLnBrk="1" hangingPunct="1">
              <a:buFont typeface="Wingdings 2" pitchFamily="18" charset="2"/>
              <a:buNone/>
            </a:pPr>
            <a:endParaRPr lang="en-US" sz="2800" dirty="0">
              <a:solidFill>
                <a:srgbClr val="040E08"/>
              </a:solidFill>
              <a:latin typeface="Cambria" pitchFamily="18" charset="0"/>
            </a:endParaRPr>
          </a:p>
          <a:p>
            <a:pPr marL="273050" indent="-273050" eaLnBrk="1" hangingPunct="1">
              <a:buFont typeface="Wingdings 2" pitchFamily="18" charset="2"/>
              <a:buNone/>
              <a:tabLst>
                <a:tab pos="914400" algn="l"/>
              </a:tabLst>
            </a:pP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	E.g.    inventories consumed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		  electricity consumed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		  advertising cos</a:t>
            </a:r>
            <a:r>
              <a:rPr lang="en-US" sz="2800" dirty="0">
                <a:latin typeface="Cambria" pitchFamily="18" charset="0"/>
              </a:rPr>
              <a:t>ts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3600450"/>
            <a:ext cx="2533650" cy="2800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40E08"/>
                </a:solidFill>
                <a:latin typeface="Cambria" pitchFamily="18" charset="0"/>
              </a:rPr>
              <a:t>The Accounting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066800"/>
            <a:ext cx="8305800" cy="5562600"/>
          </a:xfrm>
        </p:spPr>
        <p:txBody>
          <a:bodyPr>
            <a:normAutofit/>
          </a:bodyPr>
          <a:lstStyle/>
          <a:p>
            <a:pPr>
              <a:buNone/>
              <a:tabLst>
                <a:tab pos="803275" algn="l"/>
              </a:tabLst>
            </a:pPr>
            <a:endParaRPr lang="en-US" b="1" dirty="0">
              <a:solidFill>
                <a:srgbClr val="FF0000"/>
              </a:solidFill>
            </a:endParaRPr>
          </a:p>
          <a:p>
            <a:pPr>
              <a:buNone/>
              <a:tabLst>
                <a:tab pos="803275" algn="l"/>
              </a:tabLst>
            </a:pPr>
            <a:r>
              <a:rPr lang="en-US" b="1" dirty="0">
                <a:solidFill>
                  <a:srgbClr val="FF0000"/>
                </a:solidFill>
                <a:latin typeface="Cambria" pitchFamily="18" charset="0"/>
              </a:rPr>
              <a:t>ASSETS   = CAPITAL +LIABILITIES </a:t>
            </a:r>
          </a:p>
          <a:p>
            <a:pPr>
              <a:buNone/>
            </a:pPr>
            <a:r>
              <a:rPr lang="en-US" dirty="0">
                <a:solidFill>
                  <a:srgbClr val="FF0000"/>
                </a:solidFill>
                <a:latin typeface="Cambria" pitchFamily="18" charset="0"/>
              </a:rPr>
              <a:t>	</a:t>
            </a:r>
          </a:p>
          <a:p>
            <a:pPr>
              <a:tabLst>
                <a:tab pos="347663" algn="l"/>
              </a:tabLst>
            </a:pP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	</a:t>
            </a:r>
            <a:r>
              <a:rPr lang="en-US" sz="2400" dirty="0">
                <a:solidFill>
                  <a:srgbClr val="040E08"/>
                </a:solidFill>
                <a:latin typeface="Cambria" pitchFamily="18" charset="0"/>
              </a:rPr>
              <a:t>Assets of the business show what resources the business owns &amp; controls</a:t>
            </a:r>
            <a:r>
              <a:rPr lang="en-US" sz="1800" dirty="0">
                <a:solidFill>
                  <a:srgbClr val="040E08"/>
                </a:solidFill>
                <a:latin typeface="Cambria" pitchFamily="18" charset="0"/>
              </a:rPr>
              <a:t>.</a:t>
            </a:r>
          </a:p>
          <a:p>
            <a:pPr>
              <a:buClrTx/>
              <a:buNone/>
              <a:tabLst>
                <a:tab pos="347663" algn="l"/>
              </a:tabLst>
            </a:pPr>
            <a:endParaRPr lang="en-US" sz="400" dirty="0">
              <a:solidFill>
                <a:srgbClr val="040E08"/>
              </a:solidFill>
              <a:latin typeface="Cambria" pitchFamily="18" charset="0"/>
            </a:endParaRPr>
          </a:p>
          <a:p>
            <a:pPr>
              <a:tabLst>
                <a:tab pos="290513" algn="l"/>
              </a:tabLst>
            </a:pPr>
            <a:r>
              <a:rPr lang="en-US" sz="2400" dirty="0">
                <a:solidFill>
                  <a:srgbClr val="040E08"/>
                </a:solidFill>
                <a:latin typeface="Cambria" pitchFamily="18" charset="0"/>
              </a:rPr>
              <a:t>Liabilities &amp; capital show who contributed these resources to the business and how much each group contributed.</a:t>
            </a:r>
          </a:p>
          <a:p>
            <a:pPr>
              <a:buClrTx/>
              <a:buNone/>
              <a:tabLst>
                <a:tab pos="290513" algn="l"/>
              </a:tabLst>
            </a:pPr>
            <a:endParaRPr lang="en-US" sz="1800" dirty="0">
              <a:solidFill>
                <a:srgbClr val="040E08"/>
              </a:solidFill>
              <a:latin typeface="Cambria" pitchFamily="18" charset="0"/>
            </a:endParaRPr>
          </a:p>
          <a:p>
            <a:pPr>
              <a:buClrTx/>
              <a:buNone/>
              <a:tabLst>
                <a:tab pos="290513" algn="l"/>
              </a:tabLst>
            </a:pPr>
            <a:r>
              <a:rPr lang="en-US" sz="1800" dirty="0">
                <a:solidFill>
                  <a:srgbClr val="040E08"/>
                </a:solidFill>
                <a:latin typeface="Cambria" pitchFamily="18" charset="0"/>
              </a:rPr>
              <a:t>E.g. </a:t>
            </a:r>
            <a:endParaRPr lang="en-US" sz="2000" dirty="0">
              <a:solidFill>
                <a:srgbClr val="040E08"/>
              </a:solidFill>
              <a:latin typeface="Cambria" pitchFamily="18" charset="0"/>
            </a:endParaRPr>
          </a:p>
          <a:p>
            <a:pPr>
              <a:buClrTx/>
              <a:buNone/>
              <a:tabLst>
                <a:tab pos="290513" algn="l"/>
              </a:tabLst>
            </a:pPr>
            <a:r>
              <a:rPr lang="en-US" sz="2000" dirty="0">
                <a:solidFill>
                  <a:srgbClr val="040E08"/>
                </a:solidFill>
                <a:latin typeface="Cambria" pitchFamily="18" charset="0"/>
              </a:rPr>
              <a:t>			</a:t>
            </a:r>
            <a:r>
              <a:rPr lang="en-US" sz="2000" b="1" dirty="0">
                <a:solidFill>
                  <a:srgbClr val="040E08"/>
                </a:solidFill>
                <a:latin typeface="Cambria" pitchFamily="18" charset="0"/>
              </a:rPr>
              <a:t>Assets  =  Owner’s equity  +  Liabilities</a:t>
            </a:r>
          </a:p>
          <a:p>
            <a:pPr>
              <a:buClrTx/>
              <a:buNone/>
            </a:pPr>
            <a:r>
              <a:rPr lang="en-US" sz="2000" dirty="0">
                <a:solidFill>
                  <a:srgbClr val="040E08"/>
                </a:solidFill>
                <a:latin typeface="Cambria" pitchFamily="18" charset="0"/>
              </a:rPr>
              <a:t>		</a:t>
            </a:r>
            <a:r>
              <a:rPr lang="en-US" sz="2000" b="1" dirty="0">
                <a:solidFill>
                  <a:srgbClr val="040E08"/>
                </a:solidFill>
                <a:latin typeface="Cambria" pitchFamily="18" charset="0"/>
              </a:rPr>
              <a:t>1,750,000  =  1,000,000	    +  750,000</a:t>
            </a:r>
          </a:p>
          <a:p>
            <a:pPr>
              <a:buClrTx/>
              <a:buNone/>
            </a:pPr>
            <a:r>
              <a:rPr lang="en-US" sz="2000" dirty="0">
                <a:solidFill>
                  <a:srgbClr val="040E08"/>
                </a:solidFill>
                <a:latin typeface="Cambria" pitchFamily="18" charset="0"/>
              </a:rPr>
              <a:t>	</a:t>
            </a:r>
          </a:p>
          <a:p>
            <a:pPr>
              <a:buNone/>
            </a:pPr>
            <a:endParaRPr lang="en-US" dirty="0">
              <a:solidFill>
                <a:srgbClr val="FF000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8B688-6C81-4C08-B57D-8F7B5983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Activity 1-Complete the gaps in the following table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47800"/>
            <a:ext cx="8229600" cy="4648200"/>
          </a:xfrm>
        </p:spPr>
      </p:pic>
    </p:spTree>
    <p:extLst>
      <p:ext uri="{BB962C8B-B14F-4D97-AF65-F5344CB8AC3E}">
        <p14:creationId xmlns:p14="http://schemas.microsoft.com/office/powerpoint/2010/main" val="1875371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40" y="1447800"/>
            <a:ext cx="7772400" cy="4740942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138B688-6C81-4C08-B57D-8F7B5983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Activity 2- </a:t>
            </a:r>
            <a:b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Apply following transactions to the Accounting equation. </a:t>
            </a:r>
          </a:p>
        </p:txBody>
      </p:sp>
    </p:spTree>
    <p:extLst>
      <p:ext uri="{BB962C8B-B14F-4D97-AF65-F5344CB8AC3E}">
        <p14:creationId xmlns:p14="http://schemas.microsoft.com/office/powerpoint/2010/main" val="3064057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231775" y="152400"/>
            <a:ext cx="834658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040E08"/>
                </a:solidFill>
                <a:latin typeface="Cambria" pitchFamily="18" charset="0"/>
              </a:rPr>
              <a:t>Process of Financial Accounting</a:t>
            </a:r>
          </a:p>
        </p:txBody>
      </p:sp>
      <p:sp>
        <p:nvSpPr>
          <p:cNvPr id="102403" name="Text Box 3"/>
          <p:cNvSpPr txBox="1">
            <a:spLocks noChangeArrowheads="1"/>
          </p:cNvSpPr>
          <p:nvPr/>
        </p:nvSpPr>
        <p:spPr bwMode="auto">
          <a:xfrm>
            <a:off x="228600" y="1143000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31775" indent="-231775">
              <a:buFontTx/>
              <a:buChar char="•"/>
            </a:pPr>
            <a:r>
              <a:rPr lang="en-GB" sz="2400" i="1" dirty="0">
                <a:solidFill>
                  <a:srgbClr val="040E08"/>
                </a:solidFill>
                <a:latin typeface="Cambria" pitchFamily="18" charset="0"/>
              </a:rPr>
              <a:t>Source document</a:t>
            </a:r>
          </a:p>
        </p:txBody>
      </p:sp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228600" y="1828800"/>
            <a:ext cx="861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31775" indent="-231775">
              <a:buFontTx/>
              <a:buChar char="•"/>
            </a:pPr>
            <a:r>
              <a:rPr lang="en-GB" sz="2400" i="1" dirty="0">
                <a:solidFill>
                  <a:srgbClr val="040E08"/>
                </a:solidFill>
                <a:latin typeface="Cambria" pitchFamily="18" charset="0"/>
              </a:rPr>
              <a:t>Day Books / Journals</a:t>
            </a:r>
          </a:p>
        </p:txBody>
      </p:sp>
      <p:sp>
        <p:nvSpPr>
          <p:cNvPr id="102405" name="Text Box 5"/>
          <p:cNvSpPr txBox="1">
            <a:spLocks noChangeArrowheads="1"/>
          </p:cNvSpPr>
          <p:nvPr/>
        </p:nvSpPr>
        <p:spPr bwMode="auto">
          <a:xfrm>
            <a:off x="228600" y="2514600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31775" indent="-231775">
              <a:buFontTx/>
              <a:buChar char="•"/>
            </a:pPr>
            <a:r>
              <a:rPr lang="en-GB" sz="2400" i="1" dirty="0">
                <a:solidFill>
                  <a:srgbClr val="040E08"/>
                </a:solidFill>
                <a:latin typeface="Cambria" pitchFamily="18" charset="0"/>
              </a:rPr>
              <a:t>Ledger (Accounts)</a:t>
            </a:r>
          </a:p>
        </p:txBody>
      </p:sp>
      <p:sp>
        <p:nvSpPr>
          <p:cNvPr id="102406" name="Text Box 6"/>
          <p:cNvSpPr txBox="1">
            <a:spLocks noChangeArrowheads="1"/>
          </p:cNvSpPr>
          <p:nvPr/>
        </p:nvSpPr>
        <p:spPr bwMode="auto">
          <a:xfrm>
            <a:off x="228600" y="3230563"/>
            <a:ext cx="81534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31775" indent="-231775">
              <a:buFontTx/>
              <a:buChar char="•"/>
            </a:pPr>
            <a:r>
              <a:rPr lang="en-GB" sz="2400" i="1" dirty="0">
                <a:solidFill>
                  <a:srgbClr val="040E08"/>
                </a:solidFill>
                <a:latin typeface="Cambria" pitchFamily="18" charset="0"/>
              </a:rPr>
              <a:t>Trial Balance</a:t>
            </a:r>
          </a:p>
        </p:txBody>
      </p:sp>
      <p:sp>
        <p:nvSpPr>
          <p:cNvPr id="102407" name="Text Box 7"/>
          <p:cNvSpPr txBox="1">
            <a:spLocks noChangeArrowheads="1"/>
          </p:cNvSpPr>
          <p:nvPr/>
        </p:nvSpPr>
        <p:spPr bwMode="auto">
          <a:xfrm>
            <a:off x="228600" y="3886200"/>
            <a:ext cx="8915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31775" indent="-231775">
              <a:buFontTx/>
              <a:buChar char="•"/>
            </a:pPr>
            <a:r>
              <a:rPr lang="en-GB" sz="2400" i="1" dirty="0">
                <a:solidFill>
                  <a:srgbClr val="040E08"/>
                </a:solidFill>
                <a:latin typeface="Cambria" pitchFamily="18" charset="0"/>
              </a:rPr>
              <a:t>Financial Statements : Trading and Profit &amp; Loss A/c, Balance Sheet</a:t>
            </a:r>
          </a:p>
        </p:txBody>
      </p:sp>
      <p:sp>
        <p:nvSpPr>
          <p:cNvPr id="102408" name="Text Box 8"/>
          <p:cNvSpPr txBox="1">
            <a:spLocks noChangeArrowheads="1"/>
          </p:cNvSpPr>
          <p:nvPr/>
        </p:nvSpPr>
        <p:spPr bwMode="auto">
          <a:xfrm>
            <a:off x="228600" y="5135563"/>
            <a:ext cx="89154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31775" indent="-231775">
              <a:buFontTx/>
              <a:buChar char="•"/>
            </a:pPr>
            <a:r>
              <a:rPr lang="en-GB" sz="2400" i="1" dirty="0">
                <a:solidFill>
                  <a:srgbClr val="040E08"/>
                </a:solidFill>
                <a:latin typeface="Cambria" pitchFamily="18" charset="0"/>
              </a:rPr>
              <a:t>Interpretation of Financial Statements : Ratio Analysis</a:t>
            </a:r>
          </a:p>
        </p:txBody>
      </p:sp>
      <p:sp>
        <p:nvSpPr>
          <p:cNvPr id="102409" name="Line 9"/>
          <p:cNvSpPr>
            <a:spLocks noChangeShapeType="1"/>
          </p:cNvSpPr>
          <p:nvPr/>
        </p:nvSpPr>
        <p:spPr bwMode="auto">
          <a:xfrm>
            <a:off x="0" y="46482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410" name="Line 10"/>
          <p:cNvSpPr>
            <a:spLocks noChangeShapeType="1"/>
          </p:cNvSpPr>
          <p:nvPr/>
        </p:nvSpPr>
        <p:spPr bwMode="auto">
          <a:xfrm>
            <a:off x="1524000" y="1600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2414" name="Line 14"/>
          <p:cNvSpPr>
            <a:spLocks noChangeShapeType="1"/>
          </p:cNvSpPr>
          <p:nvPr/>
        </p:nvSpPr>
        <p:spPr bwMode="auto">
          <a:xfrm>
            <a:off x="1524000" y="43434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2416" name="Line 16"/>
          <p:cNvSpPr>
            <a:spLocks noChangeShapeType="1"/>
          </p:cNvSpPr>
          <p:nvPr/>
        </p:nvSpPr>
        <p:spPr bwMode="auto">
          <a:xfrm>
            <a:off x="1524000" y="2286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2417" name="Line 17"/>
          <p:cNvSpPr>
            <a:spLocks noChangeShapeType="1"/>
          </p:cNvSpPr>
          <p:nvPr/>
        </p:nvSpPr>
        <p:spPr bwMode="auto">
          <a:xfrm>
            <a:off x="1524000" y="2971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02418" name="Line 18"/>
          <p:cNvSpPr>
            <a:spLocks noChangeShapeType="1"/>
          </p:cNvSpPr>
          <p:nvPr/>
        </p:nvSpPr>
        <p:spPr bwMode="auto">
          <a:xfrm>
            <a:off x="1524000" y="3657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0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0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02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2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/>
      <p:bldP spid="102404" grpId="0"/>
      <p:bldP spid="102405" grpId="0"/>
      <p:bldP spid="102406" grpId="0"/>
      <p:bldP spid="102407" grpId="0"/>
      <p:bldP spid="102408" grpId="0"/>
      <p:bldP spid="102409" grpId="0" animBg="1"/>
      <p:bldP spid="102410" grpId="0" animBg="1"/>
      <p:bldP spid="102414" grpId="0" animBg="1"/>
      <p:bldP spid="102416" grpId="0" animBg="1"/>
      <p:bldP spid="102417" grpId="0" animBg="1"/>
      <p:bldP spid="1024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839" y="2895600"/>
            <a:ext cx="3832721" cy="2895600"/>
          </a:xfr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D591428D-2D90-4039-A6BB-C15BB1AFB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9200"/>
            <a:ext cx="838200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Microsoft Sans Serif" pitchFamily="34" charset="0"/>
              </a:defRPr>
            </a:lvl9pPr>
          </a:lstStyle>
          <a:p>
            <a:pPr algn="ctr"/>
            <a:r>
              <a:rPr lang="en-US" sz="5400" b="1" kern="0">
                <a:solidFill>
                  <a:srgbClr val="040E08"/>
                </a:solidFill>
                <a:latin typeface="Cambria" pitchFamily="18" charset="0"/>
              </a:rPr>
              <a:t>Sources of Finance</a:t>
            </a:r>
            <a:endParaRPr lang="ru-RU" sz="5400" b="1" kern="0" dirty="0">
              <a:solidFill>
                <a:srgbClr val="040E08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267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40E08"/>
                </a:solidFill>
                <a:latin typeface="Cambria" pitchFamily="18" charset="0"/>
              </a:rPr>
              <a:t>Types of Sources of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458200" cy="4800600"/>
          </a:xfrm>
        </p:spPr>
        <p:txBody>
          <a:bodyPr/>
          <a:lstStyle/>
          <a:p>
            <a:pPr marL="398463" indent="-398463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b="1" dirty="0">
                <a:solidFill>
                  <a:srgbClr val="040E08"/>
                </a:solidFill>
                <a:latin typeface="Cambria" pitchFamily="18" charset="0"/>
              </a:rPr>
              <a:t>Internal sources </a:t>
            </a:r>
            <a:r>
              <a:rPr lang="en-US" sz="2800" dirty="0">
                <a:solidFill>
                  <a:srgbClr val="040E08"/>
                </a:solidFill>
                <a:latin typeface="Cambria" pitchFamily="18" charset="0"/>
              </a:rPr>
              <a:t>: </a:t>
            </a:r>
            <a:r>
              <a:rPr lang="en-US" dirty="0">
                <a:solidFill>
                  <a:srgbClr val="040E08"/>
                </a:solidFill>
                <a:latin typeface="Cambria" pitchFamily="18" charset="0"/>
              </a:rPr>
              <a:t>Finance that come from owners.</a:t>
            </a:r>
          </a:p>
          <a:p>
            <a:pPr marL="398463" indent="-398463"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dirty="0">
                <a:latin typeface="Cambria" pitchFamily="18" charset="0"/>
              </a:rPr>
              <a:t> </a:t>
            </a:r>
            <a:r>
              <a:rPr lang="en-US" sz="2800" b="1" dirty="0">
                <a:solidFill>
                  <a:srgbClr val="040E08"/>
                </a:solidFill>
                <a:latin typeface="Cambria" pitchFamily="18" charset="0"/>
              </a:rPr>
              <a:t>External sources </a:t>
            </a:r>
            <a:r>
              <a:rPr lang="en-US" dirty="0">
                <a:solidFill>
                  <a:srgbClr val="040E08"/>
                </a:solidFill>
                <a:latin typeface="Cambria" pitchFamily="18" charset="0"/>
              </a:rPr>
              <a:t>: Finance provided by banks, other institutional lenders and creditors.</a:t>
            </a:r>
            <a:endParaRPr lang="en-US" sz="2800" dirty="0">
              <a:solidFill>
                <a:srgbClr val="040E08"/>
              </a:solidFill>
              <a:latin typeface="Cambria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4102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040E08"/>
                </a:solidFill>
                <a:latin typeface="Cambria" pitchFamily="18" charset="0"/>
              </a:rPr>
              <a:t>Own capital</a:t>
            </a:r>
            <a:r>
              <a:rPr lang="en-US" sz="2600" dirty="0">
                <a:solidFill>
                  <a:srgbClr val="040E08"/>
                </a:solidFill>
                <a:latin typeface="Cambria" pitchFamily="18" charset="0"/>
              </a:rPr>
              <a:t>-This is a common source of finance especially for start up business that provide by the individuals who form the business – entrepreneurs.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600" dirty="0">
              <a:solidFill>
                <a:srgbClr val="040E08"/>
              </a:solidFill>
              <a:latin typeface="Cambria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040E08"/>
                </a:solidFill>
                <a:latin typeface="Cambria" pitchFamily="18" charset="0"/>
              </a:rPr>
              <a:t>Personal Saving –</a:t>
            </a:r>
            <a:r>
              <a:rPr lang="en-US" sz="2600" dirty="0">
                <a:solidFill>
                  <a:srgbClr val="040E08"/>
                </a:solidFill>
                <a:latin typeface="Cambria" pitchFamily="18" charset="0"/>
              </a:rPr>
              <a:t>The amount of money that a business person or partner has at their disposal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600" dirty="0">
              <a:solidFill>
                <a:srgbClr val="040E08"/>
              </a:solidFill>
              <a:latin typeface="Cambria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040E08"/>
                </a:solidFill>
                <a:latin typeface="Cambria" pitchFamily="18" charset="0"/>
              </a:rPr>
              <a:t>Sale of assets </a:t>
            </a:r>
            <a:r>
              <a:rPr lang="en-US" sz="2600" dirty="0">
                <a:solidFill>
                  <a:srgbClr val="040E08"/>
                </a:solidFill>
                <a:latin typeface="Cambria" pitchFamily="18" charset="0"/>
              </a:rPr>
              <a:t>–Business can raise funds by selling its assets where they could finance in new activities or pay- off debts.</a:t>
            </a:r>
          </a:p>
          <a:p>
            <a:pPr marL="0" indent="0">
              <a:buNone/>
            </a:pPr>
            <a:endParaRPr lang="en-US" sz="2400" dirty="0">
              <a:latin typeface="Centaur" pitchFamily="18" charset="0"/>
            </a:endParaRPr>
          </a:p>
          <a:p>
            <a:endParaRPr lang="en-US" sz="2400" dirty="0">
              <a:latin typeface="Centaur" pitchFamily="18" charset="0"/>
            </a:endParaRPr>
          </a:p>
          <a:p>
            <a:pPr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040E08"/>
                </a:solidFill>
                <a:latin typeface="Cambria" pitchFamily="18" charset="0"/>
              </a:rPr>
              <a:t>Internal Sources of Finance</a:t>
            </a:r>
            <a:endParaRPr lang="en-US" b="1" dirty="0">
              <a:solidFill>
                <a:srgbClr val="040E08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219200"/>
            <a:ext cx="9144000" cy="63246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40E08"/>
                </a:solidFill>
                <a:latin typeface="Cambria" pitchFamily="18" charset="0"/>
              </a:rPr>
              <a:t>Debentures</a:t>
            </a:r>
            <a:r>
              <a:rPr lang="en-US" sz="2400" dirty="0">
                <a:solidFill>
                  <a:srgbClr val="040E08"/>
                </a:solidFill>
                <a:latin typeface="Cambria" pitchFamily="18" charset="0"/>
              </a:rPr>
              <a:t> – debentures are secured loans and are said to have either fixed or floating charges with them.</a:t>
            </a:r>
          </a:p>
          <a:p>
            <a:pPr marL="0" indent="0">
              <a:buNone/>
            </a:pPr>
            <a:endParaRPr lang="en-US" sz="2400" dirty="0">
              <a:solidFill>
                <a:srgbClr val="040E08"/>
              </a:solidFill>
              <a:latin typeface="Cambria" pitchFamily="18" charset="0"/>
            </a:endParaRPr>
          </a:p>
          <a:p>
            <a:r>
              <a:rPr lang="en-US" sz="2400" b="1" dirty="0">
                <a:solidFill>
                  <a:srgbClr val="040E08"/>
                </a:solidFill>
                <a:latin typeface="Cambria" pitchFamily="18" charset="0"/>
              </a:rPr>
              <a:t>Overdraft facilities </a:t>
            </a:r>
            <a:r>
              <a:rPr lang="en-US" sz="2400" dirty="0">
                <a:solidFill>
                  <a:srgbClr val="040E08"/>
                </a:solidFill>
                <a:latin typeface="Cambria" pitchFamily="18" charset="0"/>
              </a:rPr>
              <a:t>– Short term loan arrangement made with bank on current accounts.</a:t>
            </a:r>
          </a:p>
          <a:p>
            <a:pPr marL="0" indent="0">
              <a:buNone/>
            </a:pPr>
            <a:endParaRPr lang="en-US" sz="2400" dirty="0">
              <a:solidFill>
                <a:srgbClr val="040E08"/>
              </a:solidFill>
              <a:latin typeface="Cambria" pitchFamily="18" charset="0"/>
            </a:endParaRPr>
          </a:p>
          <a:p>
            <a:r>
              <a:rPr lang="en-US" sz="2400" b="1" dirty="0">
                <a:solidFill>
                  <a:srgbClr val="040E08"/>
                </a:solidFill>
                <a:latin typeface="Cambria" pitchFamily="18" charset="0"/>
              </a:rPr>
              <a:t>Hire purchase </a:t>
            </a:r>
            <a:r>
              <a:rPr lang="en-US" sz="2400" dirty="0">
                <a:solidFill>
                  <a:srgbClr val="040E08"/>
                </a:solidFill>
                <a:latin typeface="Cambria" pitchFamily="18" charset="0"/>
              </a:rPr>
              <a:t>– method of acquiring assets without having to invest full amount in buying them. </a:t>
            </a:r>
          </a:p>
          <a:p>
            <a:pPr marL="0" indent="0">
              <a:buNone/>
            </a:pPr>
            <a:endParaRPr lang="en-US" sz="2400" dirty="0">
              <a:solidFill>
                <a:srgbClr val="040E08"/>
              </a:solidFill>
              <a:latin typeface="Cambria" pitchFamily="18" charset="0"/>
            </a:endParaRPr>
          </a:p>
          <a:p>
            <a:r>
              <a:rPr lang="en-US" sz="2400" b="1" dirty="0">
                <a:solidFill>
                  <a:srgbClr val="040E08"/>
                </a:solidFill>
                <a:latin typeface="Cambria" pitchFamily="18" charset="0"/>
              </a:rPr>
              <a:t>Bank loans </a:t>
            </a:r>
            <a:r>
              <a:rPr lang="en-US" sz="2400" dirty="0">
                <a:solidFill>
                  <a:srgbClr val="040E08"/>
                </a:solidFill>
                <a:latin typeface="Cambria" pitchFamily="18" charset="0"/>
              </a:rPr>
              <a:t>– long term source of finance often used to buy fixed assets such as machinery ,vehicles ,etc.</a:t>
            </a:r>
          </a:p>
          <a:p>
            <a:endParaRPr lang="en-US" sz="2400" dirty="0">
              <a:solidFill>
                <a:srgbClr val="040E08"/>
              </a:solidFill>
              <a:latin typeface="Cambria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68362"/>
          </a:xfrm>
        </p:spPr>
        <p:txBody>
          <a:bodyPr/>
          <a:lstStyle/>
          <a:p>
            <a:r>
              <a:rPr lang="en-US" sz="4400" b="1" dirty="0">
                <a:solidFill>
                  <a:srgbClr val="040E08"/>
                </a:solidFill>
                <a:latin typeface="Cambria" pitchFamily="18" charset="0"/>
              </a:rPr>
              <a:t>External Sources of Finance</a:t>
            </a:r>
            <a:endParaRPr lang="en-US" b="1" dirty="0">
              <a:solidFill>
                <a:srgbClr val="040E08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werpoint-templat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powerpoint-template-24">
      <a:majorFont>
        <a:latin typeface="Microsoft Sans Serif"/>
        <a:ea typeface=""/>
        <a:cs typeface=""/>
      </a:majorFont>
      <a:minorFont>
        <a:latin typeface="Microsoft Sans Serif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>
                <a:gamma/>
                <a:tint val="26667"/>
                <a:invGamma/>
              </a:schemeClr>
            </a:gs>
            <a:gs pos="100000">
              <a:schemeClr val="bg2">
                <a:alpha val="14999"/>
              </a:schemeClr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owerpoint-template-24 1">
        <a:dk1>
          <a:srgbClr val="4D4D4D"/>
        </a:dk1>
        <a:lt1>
          <a:srgbClr val="FFFFFF"/>
        </a:lt1>
        <a:dk2>
          <a:srgbClr val="4D4D4D"/>
        </a:dk2>
        <a:lt2>
          <a:srgbClr val="CC0000"/>
        </a:lt2>
        <a:accent1>
          <a:srgbClr val="FF9933"/>
        </a:accent1>
        <a:accent2>
          <a:srgbClr val="009900"/>
        </a:accent2>
        <a:accent3>
          <a:srgbClr val="FFFFFF"/>
        </a:accent3>
        <a:accent4>
          <a:srgbClr val="404040"/>
        </a:accent4>
        <a:accent5>
          <a:srgbClr val="FFCAAD"/>
        </a:accent5>
        <a:accent6>
          <a:srgbClr val="008A00"/>
        </a:accent6>
        <a:hlink>
          <a:srgbClr val="3366F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2">
        <a:dk1>
          <a:srgbClr val="4D4D4D"/>
        </a:dk1>
        <a:lt1>
          <a:srgbClr val="FFFFFF"/>
        </a:lt1>
        <a:dk2>
          <a:srgbClr val="4D4D4D"/>
        </a:dk2>
        <a:lt2>
          <a:srgbClr val="E84A25"/>
        </a:lt2>
        <a:accent1>
          <a:srgbClr val="ED6A24"/>
        </a:accent1>
        <a:accent2>
          <a:srgbClr val="F99E1C"/>
        </a:accent2>
        <a:accent3>
          <a:srgbClr val="FFFFFF"/>
        </a:accent3>
        <a:accent4>
          <a:srgbClr val="404040"/>
        </a:accent4>
        <a:accent5>
          <a:srgbClr val="F4B9AC"/>
        </a:accent5>
        <a:accent6>
          <a:srgbClr val="E28F18"/>
        </a:accent6>
        <a:hlink>
          <a:srgbClr val="F1B545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3">
        <a:dk1>
          <a:srgbClr val="4D4D4D"/>
        </a:dk1>
        <a:lt1>
          <a:srgbClr val="FFFFFF"/>
        </a:lt1>
        <a:dk2>
          <a:srgbClr val="4D4D4D"/>
        </a:dk2>
        <a:lt2>
          <a:srgbClr val="B92D14"/>
        </a:lt2>
        <a:accent1>
          <a:srgbClr val="D34E13"/>
        </a:accent1>
        <a:accent2>
          <a:srgbClr val="DC9009"/>
        </a:accent2>
        <a:accent3>
          <a:srgbClr val="FFFFFF"/>
        </a:accent3>
        <a:accent4>
          <a:srgbClr val="404040"/>
        </a:accent4>
        <a:accent5>
          <a:srgbClr val="E6B2AA"/>
        </a:accent5>
        <a:accent6>
          <a:srgbClr val="C78207"/>
        </a:accent6>
        <a:hlink>
          <a:srgbClr val="EEC633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4">
        <a:dk1>
          <a:srgbClr val="4D4D4D"/>
        </a:dk1>
        <a:lt1>
          <a:srgbClr val="FFFFFF"/>
        </a:lt1>
        <a:dk2>
          <a:srgbClr val="4D4D4D"/>
        </a:dk2>
        <a:lt2>
          <a:srgbClr val="AE6310"/>
        </a:lt2>
        <a:accent1>
          <a:srgbClr val="E79613"/>
        </a:accent1>
        <a:accent2>
          <a:srgbClr val="E1720D"/>
        </a:accent2>
        <a:accent3>
          <a:srgbClr val="FFFFFF"/>
        </a:accent3>
        <a:accent4>
          <a:srgbClr val="404040"/>
        </a:accent4>
        <a:accent5>
          <a:srgbClr val="F1C9AA"/>
        </a:accent5>
        <a:accent6>
          <a:srgbClr val="CC670B"/>
        </a:accent6>
        <a:hlink>
          <a:srgbClr val="C6470A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5">
        <a:dk1>
          <a:srgbClr val="4D4D4D"/>
        </a:dk1>
        <a:lt1>
          <a:srgbClr val="FFFFFF"/>
        </a:lt1>
        <a:dk2>
          <a:srgbClr val="4D4D4D"/>
        </a:dk2>
        <a:lt2>
          <a:srgbClr val="C75F06"/>
        </a:lt2>
        <a:accent1>
          <a:srgbClr val="E07D06"/>
        </a:accent1>
        <a:accent2>
          <a:srgbClr val="F2A016"/>
        </a:accent2>
        <a:accent3>
          <a:srgbClr val="FFFFFF"/>
        </a:accent3>
        <a:accent4>
          <a:srgbClr val="404040"/>
        </a:accent4>
        <a:accent5>
          <a:srgbClr val="EDBFAA"/>
        </a:accent5>
        <a:accent6>
          <a:srgbClr val="DB9113"/>
        </a:accent6>
        <a:hlink>
          <a:srgbClr val="F7C91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6">
        <a:dk1>
          <a:srgbClr val="4D4D4D"/>
        </a:dk1>
        <a:lt1>
          <a:srgbClr val="FFFFFF"/>
        </a:lt1>
        <a:dk2>
          <a:srgbClr val="4D4D4D"/>
        </a:dk2>
        <a:lt2>
          <a:srgbClr val="CD5B12"/>
        </a:lt2>
        <a:accent1>
          <a:srgbClr val="E6721D"/>
        </a:accent1>
        <a:accent2>
          <a:srgbClr val="F09125"/>
        </a:accent2>
        <a:accent3>
          <a:srgbClr val="FFFFFF"/>
        </a:accent3>
        <a:accent4>
          <a:srgbClr val="404040"/>
        </a:accent4>
        <a:accent5>
          <a:srgbClr val="F0BCAB"/>
        </a:accent5>
        <a:accent6>
          <a:srgbClr val="D98320"/>
        </a:accent6>
        <a:hlink>
          <a:srgbClr val="F0973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7">
        <a:dk1>
          <a:srgbClr val="4D4D4D"/>
        </a:dk1>
        <a:lt1>
          <a:srgbClr val="FFFFFF"/>
        </a:lt1>
        <a:dk2>
          <a:srgbClr val="4D4D4D"/>
        </a:dk2>
        <a:lt2>
          <a:srgbClr val="BB5206"/>
        </a:lt2>
        <a:accent1>
          <a:srgbClr val="622C0A"/>
        </a:accent1>
        <a:accent2>
          <a:srgbClr val="E58218"/>
        </a:accent2>
        <a:accent3>
          <a:srgbClr val="FFFFFF"/>
        </a:accent3>
        <a:accent4>
          <a:srgbClr val="404040"/>
        </a:accent4>
        <a:accent5>
          <a:srgbClr val="B7ACAA"/>
        </a:accent5>
        <a:accent6>
          <a:srgbClr val="CF7515"/>
        </a:accent6>
        <a:hlink>
          <a:srgbClr val="8B3504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8">
        <a:dk1>
          <a:srgbClr val="4D4D4D"/>
        </a:dk1>
        <a:lt1>
          <a:srgbClr val="FFFFFF"/>
        </a:lt1>
        <a:dk2>
          <a:srgbClr val="4D4D4D"/>
        </a:dk2>
        <a:lt2>
          <a:srgbClr val="6C362C"/>
        </a:lt2>
        <a:accent1>
          <a:srgbClr val="CA7920"/>
        </a:accent1>
        <a:accent2>
          <a:srgbClr val="E4980F"/>
        </a:accent2>
        <a:accent3>
          <a:srgbClr val="FFFFFF"/>
        </a:accent3>
        <a:accent4>
          <a:srgbClr val="404040"/>
        </a:accent4>
        <a:accent5>
          <a:srgbClr val="E1BEAB"/>
        </a:accent5>
        <a:accent6>
          <a:srgbClr val="CF890C"/>
        </a:accent6>
        <a:hlink>
          <a:srgbClr val="F1AD04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9">
        <a:dk1>
          <a:srgbClr val="4D4D4D"/>
        </a:dk1>
        <a:lt1>
          <a:srgbClr val="FFFFFF"/>
        </a:lt1>
        <a:dk2>
          <a:srgbClr val="4D4D4D"/>
        </a:dk2>
        <a:lt2>
          <a:srgbClr val="C28E32"/>
        </a:lt2>
        <a:accent1>
          <a:srgbClr val="D89306"/>
        </a:accent1>
        <a:accent2>
          <a:srgbClr val="E19E06"/>
        </a:accent2>
        <a:accent3>
          <a:srgbClr val="FFFFFF"/>
        </a:accent3>
        <a:accent4>
          <a:srgbClr val="404040"/>
        </a:accent4>
        <a:accent5>
          <a:srgbClr val="E9C8AA"/>
        </a:accent5>
        <a:accent6>
          <a:srgbClr val="CC8F05"/>
        </a:accent6>
        <a:hlink>
          <a:srgbClr val="EFB20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0">
        <a:dk1>
          <a:srgbClr val="4D4D4D"/>
        </a:dk1>
        <a:lt1>
          <a:srgbClr val="FFFFFF"/>
        </a:lt1>
        <a:dk2>
          <a:srgbClr val="4D4D4D"/>
        </a:dk2>
        <a:lt2>
          <a:srgbClr val="00629E"/>
        </a:lt2>
        <a:accent1>
          <a:srgbClr val="0077C0"/>
        </a:accent1>
        <a:accent2>
          <a:srgbClr val="E4980F"/>
        </a:accent2>
        <a:accent3>
          <a:srgbClr val="FFFFFF"/>
        </a:accent3>
        <a:accent4>
          <a:srgbClr val="404040"/>
        </a:accent4>
        <a:accent5>
          <a:srgbClr val="AABDDC"/>
        </a:accent5>
        <a:accent6>
          <a:srgbClr val="CF890C"/>
        </a:accent6>
        <a:hlink>
          <a:srgbClr val="F1AD04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owerpoint-template-24 11">
        <a:dk1>
          <a:srgbClr val="4D4D4D"/>
        </a:dk1>
        <a:lt1>
          <a:srgbClr val="FFFFFF"/>
        </a:lt1>
        <a:dk2>
          <a:srgbClr val="4D4D4D"/>
        </a:dk2>
        <a:lt2>
          <a:srgbClr val="00629E"/>
        </a:lt2>
        <a:accent1>
          <a:srgbClr val="0077C0"/>
        </a:accent1>
        <a:accent2>
          <a:srgbClr val="0082D2"/>
        </a:accent2>
        <a:accent3>
          <a:srgbClr val="FFFFFF"/>
        </a:accent3>
        <a:accent4>
          <a:srgbClr val="404040"/>
        </a:accent4>
        <a:accent5>
          <a:srgbClr val="AABDDC"/>
        </a:accent5>
        <a:accent6>
          <a:srgbClr val="0075BE"/>
        </a:accent6>
        <a:hlink>
          <a:srgbClr val="008CE2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2415</TotalTime>
  <Words>817</Words>
  <Application>Microsoft Office PowerPoint</Application>
  <PresentationFormat>On-screen Show (4:3)</PresentationFormat>
  <Paragraphs>104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Cambria</vt:lpstr>
      <vt:lpstr>Centaur</vt:lpstr>
      <vt:lpstr>Microsoft Sans Serif</vt:lpstr>
      <vt:lpstr>Times New Roman</vt:lpstr>
      <vt:lpstr>Wingdings</vt:lpstr>
      <vt:lpstr>Wingdings 2</vt:lpstr>
      <vt:lpstr>powerpoint-template</vt:lpstr>
      <vt:lpstr> 4 - Accounting and Finance  Definition of Accounting</vt:lpstr>
      <vt:lpstr>What is an Asset?</vt:lpstr>
      <vt:lpstr>Categorization of Assets-I</vt:lpstr>
      <vt:lpstr>Categorization of Assets - II</vt:lpstr>
      <vt:lpstr>What is a Liability?</vt:lpstr>
      <vt:lpstr>What is Capital?</vt:lpstr>
      <vt:lpstr>What is an Income?</vt:lpstr>
      <vt:lpstr>What is an expense?</vt:lpstr>
      <vt:lpstr>The Accounting Equation</vt:lpstr>
      <vt:lpstr>Activity 1-Complete the gaps in the following table</vt:lpstr>
      <vt:lpstr>Activity 2-  Apply following transactions to the Accounting equation. </vt:lpstr>
      <vt:lpstr>PowerPoint Presentation</vt:lpstr>
      <vt:lpstr>PowerPoint Presentation</vt:lpstr>
      <vt:lpstr>Types of Sources of Finance</vt:lpstr>
      <vt:lpstr>Internal Sources of Finance</vt:lpstr>
      <vt:lpstr>External Sources of Finance</vt:lpstr>
    </vt:vector>
  </TitlesOfParts>
  <Company>SLIIT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Accounting</dc:title>
  <dc:creator>chalani.k</dc:creator>
  <cp:lastModifiedBy>Kavindya Mallawa</cp:lastModifiedBy>
  <cp:revision>169</cp:revision>
  <dcterms:created xsi:type="dcterms:W3CDTF">2011-12-02T04:06:15Z</dcterms:created>
  <dcterms:modified xsi:type="dcterms:W3CDTF">2025-09-23T09:38:56Z</dcterms:modified>
</cp:coreProperties>
</file>