
<file path=[Content_Types].xml><?xml version="1.0" encoding="utf-8"?>
<Types xmlns="http://schemas.openxmlformats.org/package/2006/content-types">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44"/>
  </p:notesMasterIdLst>
  <p:sldIdLst>
    <p:sldId id="256" r:id="rId4"/>
    <p:sldId id="287" r:id="rId5"/>
    <p:sldId id="25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286" r:id="rId40"/>
    <p:sldId id="259" r:id="rId41"/>
    <p:sldId id="284" r:id="rId42"/>
    <p:sldId id="285" r:id="rId4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242D66"/>
    <a:srgbClr val="F2F2F2"/>
    <a:srgbClr val="E87A23"/>
    <a:srgbClr val="ED7D31"/>
    <a:srgbClr val="00FF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autoAdjust="0"/>
    <p:restoredTop sz="94434" autoAdjust="0"/>
  </p:normalViewPr>
  <p:slideViewPr>
    <p:cSldViewPr>
      <p:cViewPr varScale="1">
        <p:scale>
          <a:sx n="74" d="100"/>
          <a:sy n="74" d="100"/>
        </p:scale>
        <p:origin x="1632" y="66"/>
      </p:cViewPr>
      <p:guideLst>
        <p:guide orient="horz" pos="2160"/>
        <p:guide pos="2880"/>
      </p:guideLst>
    </p:cSldViewPr>
  </p:slideViewPr>
  <p:outlineViewPr>
    <p:cViewPr>
      <p:scale>
        <a:sx n="33" d="100"/>
        <a:sy n="33" d="100"/>
      </p:scale>
      <p:origin x="0" y="-2520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25425D0-3ECE-420E-9130-D13D915528F8}" type="datetimeFigureOut">
              <a:rPr lang="en-US" smtClean="0"/>
              <a:pPr/>
              <a:t>1/26/2018</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D2F2318-E25A-4C0A-9D76-B30B703A9430}" type="slidenum">
              <a:rPr lang="en-US" smtClean="0"/>
              <a:pPr/>
              <a:t>‹#›</a:t>
            </a:fld>
            <a:endParaRPr lang="en-US"/>
          </a:p>
        </p:txBody>
      </p:sp>
    </p:spTree>
    <p:extLst>
      <p:ext uri="{BB962C8B-B14F-4D97-AF65-F5344CB8AC3E}">
        <p14:creationId xmlns:p14="http://schemas.microsoft.com/office/powerpoint/2010/main" val="1261693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2F2318-E25A-4C0A-9D76-B30B703A9430}" type="slidenum">
              <a:rPr lang="en-US" smtClean="0"/>
              <a:pPr/>
              <a:t>3</a:t>
            </a:fld>
            <a:endParaRPr lang="en-US"/>
          </a:p>
        </p:txBody>
      </p:sp>
    </p:spTree>
    <p:extLst>
      <p:ext uri="{BB962C8B-B14F-4D97-AF65-F5344CB8AC3E}">
        <p14:creationId xmlns:p14="http://schemas.microsoft.com/office/powerpoint/2010/main" val="31279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C4E748-FC49-4932-BA4D-63FD2602D52D}" type="slidenum">
              <a:rPr lang="en-US" smtClean="0"/>
              <a:t>7</a:t>
            </a:fld>
            <a:endParaRPr lang="en-US"/>
          </a:p>
        </p:txBody>
      </p:sp>
    </p:spTree>
    <p:extLst>
      <p:ext uri="{BB962C8B-B14F-4D97-AF65-F5344CB8AC3E}">
        <p14:creationId xmlns:p14="http://schemas.microsoft.com/office/powerpoint/2010/main" val="119449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D2F2318-E25A-4C0A-9D76-B30B703A9430}" type="slidenum">
              <a:rPr lang="en-US" smtClean="0"/>
              <a:pPr/>
              <a:t>38</a:t>
            </a:fld>
            <a:endParaRPr lang="en-US"/>
          </a:p>
        </p:txBody>
      </p:sp>
    </p:spTree>
    <p:extLst>
      <p:ext uri="{BB962C8B-B14F-4D97-AF65-F5344CB8AC3E}">
        <p14:creationId xmlns:p14="http://schemas.microsoft.com/office/powerpoint/2010/main" val="1639785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D2BDE25-0E3B-014D-AB08-0AD4741190BF}" type="datetime1">
              <a:rPr lang="en-US" smtClean="0"/>
              <a:t>1/26/2018</a:t>
            </a:fld>
            <a:endParaRPr lang="en-US"/>
          </a:p>
        </p:txBody>
      </p:sp>
      <p:sp>
        <p:nvSpPr>
          <p:cNvPr id="6" name="Slide Number Placeholder 5"/>
          <p:cNvSpPr>
            <a:spLocks noGrp="1"/>
          </p:cNvSpPr>
          <p:nvPr>
            <p:ph type="sldNum" sz="quarter" idx="12"/>
          </p:nvPr>
        </p:nvSpPr>
        <p:spPr>
          <a:xfrm>
            <a:off x="8610600" y="6385719"/>
            <a:ext cx="457200" cy="365125"/>
          </a:xfrm>
          <a:prstGeom prst="rect">
            <a:avLst/>
          </a:prstGeom>
        </p:spPr>
        <p:txBody>
          <a:bodyPr/>
          <a:lstStyle/>
          <a:p>
            <a:fld id="{82811DF7-A42A-4107-A9E6-6C3947535C56}"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99622F-DC27-6E4D-80EB-5A6117330FAE}" type="datetime1">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2273539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E6A6B0-E07D-7A4E-9C17-34F6E529FF07}" type="datetime1">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02285953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863283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8AE71E-C708-8048-B873-9764252AFD88}" type="datetime1">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63655967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0E2E0B2-8F0E-E541-A881-26952164E626}" type="datetime1">
              <a:rPr lang="en-US" smtClean="0"/>
              <a:t>1/26/2018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22564976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C128D78-157E-6441-A2E9-690CAD17061D}" type="datetime1">
              <a:rPr lang="en-US" smtClean="0"/>
              <a:t>1/26/2018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75602509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1/26/2018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1619373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31096719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023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E1DCC7-F5A3-F54A-8412-78F07FF2601F}" type="datetime1">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974303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BFF6D2-335C-6748-BEAD-B38E52C128C7}" type="datetime1">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6943976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7516F8-EADD-4F1E-A66A-F9DE6D301F0B}"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1342298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516F8-EADD-4F1E-A66A-F9DE6D301F0B}"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706195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7516F8-EADD-4F1E-A66A-F9DE6D301F0B}"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231547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7516F8-EADD-4F1E-A66A-F9DE6D301F0B}"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921060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516F8-EADD-4F1E-A66A-F9DE6D301F0B}" type="datetimeFigureOut">
              <a:rPr lang="en-US" smtClean="0"/>
              <a:t>1/26/2018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483027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7516F8-EADD-4F1E-A66A-F9DE6D301F0B}" type="datetimeFigureOut">
              <a:rPr lang="en-US" smtClean="0"/>
              <a:t>1/26/2018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334240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7516F8-EADD-4F1E-A66A-F9DE6D301F0B}" type="datetimeFigureOut">
              <a:rPr lang="en-US" smtClean="0"/>
              <a:t>1/26/2018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1251234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516F8-EADD-4F1E-A66A-F9DE6D301F0B}"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694671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516F8-EADD-4F1E-A66A-F9DE6D301F0B}" type="datetimeFigureOut">
              <a:rPr lang="en-US" smtClean="0"/>
              <a:t>1/26/2018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852590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516F8-EADD-4F1E-A66A-F9DE6D301F0B}"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26615000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516F8-EADD-4F1E-A66A-F9DE6D301F0B}" type="datetimeFigureOut">
              <a:rPr lang="en-US" smtClean="0"/>
              <a:t>1/26/2018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A883A-E27C-4CE2-8BE2-5A6B27F0492F}" type="slidenum">
              <a:rPr lang="en-US" smtClean="0"/>
              <a:t>‹#›</a:t>
            </a:fld>
            <a:endParaRPr lang="en-US"/>
          </a:p>
        </p:txBody>
      </p:sp>
    </p:spTree>
    <p:extLst>
      <p:ext uri="{BB962C8B-B14F-4D97-AF65-F5344CB8AC3E}">
        <p14:creationId xmlns:p14="http://schemas.microsoft.com/office/powerpoint/2010/main" val="37696598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3" cstate="print">
            <a:extLst>
              <a:ext uri="{28A0092B-C50C-407E-A947-70E740481C1C}">
                <a14:useLocalDpi xmlns:a14="http://schemas.microsoft.com/office/drawing/2010/main" val="0"/>
              </a:ext>
            </a:extLst>
          </a:blip>
          <a:srcRect t="78333" r="73809"/>
          <a:stretch/>
        </p:blipFill>
        <p:spPr>
          <a:xfrm>
            <a:off x="0" y="5410200"/>
            <a:ext cx="2450123" cy="1447800"/>
          </a:xfrm>
          <a:prstGeom prst="rect">
            <a:avLst/>
          </a:prstGeom>
        </p:spPr>
      </p:pic>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56384-A506-C646-ACE4-0A747B69E112}" type="datetime1">
              <a:rPr lang="en-US" smtClean="0"/>
              <a:t>1/26/2018</a:t>
            </a:fld>
            <a:endParaRPr lang="en-US"/>
          </a:p>
        </p:txBody>
      </p:sp>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l="73810" b="76667"/>
          <a:stretch/>
        </p:blipFill>
        <p:spPr>
          <a:xfrm>
            <a:off x="6690091" y="0"/>
            <a:ext cx="2453909" cy="1561578"/>
          </a:xfrm>
          <a:prstGeom prst="rect">
            <a:avLst/>
          </a:prstGeom>
        </p:spPr>
      </p:pic>
      <p:sp>
        <p:nvSpPr>
          <p:cNvPr id="3" name="TextBox 2"/>
          <p:cNvSpPr txBox="1"/>
          <p:nvPr userDrawn="1"/>
        </p:nvSpPr>
        <p:spPr>
          <a:xfrm>
            <a:off x="0" y="0"/>
            <a:ext cx="9144000" cy="338554"/>
          </a:xfrm>
          <a:prstGeom prst="rect">
            <a:avLst/>
          </a:prstGeom>
          <a:noFill/>
        </p:spPr>
        <p:txBody>
          <a:bodyPr wrap="square" rtlCol="0">
            <a:spAutoFit/>
          </a:bodyPr>
          <a:lstStyle/>
          <a:p>
            <a:r>
              <a:rPr lang="en-US" sz="1600" b="1" dirty="0" smtClean="0">
                <a:solidFill>
                  <a:schemeClr val="tx1"/>
                </a:solidFill>
              </a:rPr>
              <a:t>IT1090 - Information Systems and Data Modeling</a:t>
            </a:r>
            <a:endParaRPr lang="en-US" sz="1600" b="1" dirty="0">
              <a:solidFill>
                <a:schemeClr val="tx1"/>
              </a:solidFill>
            </a:endParaRPr>
          </a:p>
        </p:txBody>
      </p:sp>
      <p:sp>
        <p:nvSpPr>
          <p:cNvPr id="7" name="TextBox 6"/>
          <p:cNvSpPr txBox="1"/>
          <p:nvPr userDrawn="1"/>
        </p:nvSpPr>
        <p:spPr>
          <a:xfrm>
            <a:off x="0" y="6519446"/>
            <a:ext cx="9144000" cy="338554"/>
          </a:xfrm>
          <a:prstGeom prst="rect">
            <a:avLst/>
          </a:prstGeom>
          <a:noFill/>
        </p:spPr>
        <p:txBody>
          <a:bodyPr wrap="square" rtlCol="0">
            <a:spAutoFit/>
          </a:bodyPr>
          <a:lstStyle/>
          <a:p>
            <a:pPr algn="r"/>
            <a:r>
              <a:rPr lang="en-US" sz="1600" b="1" dirty="0" smtClean="0">
                <a:solidFill>
                  <a:schemeClr val="tx1"/>
                </a:solidFill>
              </a:rPr>
              <a:t>SLIIT </a:t>
            </a:r>
            <a:r>
              <a:rPr lang="en-US" sz="1600" b="1" baseline="0" dirty="0" smtClean="0">
                <a:solidFill>
                  <a:schemeClr val="tx1"/>
                </a:solidFill>
              </a:rPr>
              <a:t> - Faculty of Computing</a:t>
            </a:r>
            <a:endParaRPr lang="en-US" sz="1600" b="1" dirty="0">
              <a:solidFill>
                <a:schemeClr val="tx1"/>
              </a:solidFill>
            </a:endParaRPr>
          </a:p>
        </p:txBody>
      </p:sp>
      <p:sp>
        <p:nvSpPr>
          <p:cNvPr id="5" name="Rectangle 4"/>
          <p:cNvSpPr/>
          <p:nvPr userDrawn="1"/>
        </p:nvSpPr>
        <p:spPr>
          <a:xfrm>
            <a:off x="6248400" y="76200"/>
            <a:ext cx="2743200" cy="914400"/>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rotWithShape="1">
          <a:blip r:embed="rId5">
            <a:extLst>
              <a:ext uri="{28A0092B-C50C-407E-A947-70E740481C1C}">
                <a14:useLocalDpi xmlns:a14="http://schemas.microsoft.com/office/drawing/2010/main" val="0"/>
              </a:ext>
            </a:extLst>
          </a:blip>
          <a:srcRect t="29997" b="23330"/>
          <a:stretch/>
        </p:blipFill>
        <p:spPr>
          <a:xfrm>
            <a:off x="6248400" y="76200"/>
            <a:ext cx="2742857" cy="914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a:off x="0" y="6400800"/>
            <a:ext cx="9144000" cy="457201"/>
          </a:xfrm>
          <a:prstGeom prst="rect">
            <a:avLst/>
          </a:prstGeom>
        </p:spPr>
      </p:pic>
      <p:sp>
        <p:nvSpPr>
          <p:cNvPr id="2" name="Title Placeholder 1"/>
          <p:cNvSpPr>
            <a:spLocks noGrp="1"/>
          </p:cNvSpPr>
          <p:nvPr>
            <p:ph type="title"/>
          </p:nvPr>
        </p:nvSpPr>
        <p:spPr>
          <a:xfrm>
            <a:off x="628650" y="365125"/>
            <a:ext cx="7886700" cy="10826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1/26/2018</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pic>
        <p:nvPicPr>
          <p:cNvPr id="7" name="Picture 6"/>
          <p:cNvPicPr>
            <a:picLocks noChangeAspect="1"/>
          </p:cNvPicPr>
          <p:nvPr userDrawn="1"/>
        </p:nvPicPr>
        <p:blipFill rotWithShape="1">
          <a:blip r:embed="rId14" cstate="print">
            <a:extLst>
              <a:ext uri="{28A0092B-C50C-407E-A947-70E740481C1C}">
                <a14:useLocalDpi xmlns:a14="http://schemas.microsoft.com/office/drawing/2010/main" val="0"/>
              </a:ext>
            </a:extLst>
          </a:blip>
          <a:srcRect t="29997" b="23330"/>
          <a:stretch/>
        </p:blipFill>
        <p:spPr>
          <a:xfrm>
            <a:off x="7620000" y="0"/>
            <a:ext cx="1524000" cy="508064"/>
          </a:xfrm>
          <a:prstGeom prst="rect">
            <a:avLst/>
          </a:prstGeom>
        </p:spPr>
      </p:pic>
      <p:sp>
        <p:nvSpPr>
          <p:cNvPr id="11" name="TextBox 10"/>
          <p:cNvSpPr txBox="1"/>
          <p:nvPr userDrawn="1"/>
        </p:nvSpPr>
        <p:spPr>
          <a:xfrm>
            <a:off x="0" y="6553200"/>
            <a:ext cx="9144000" cy="338554"/>
          </a:xfrm>
          <a:prstGeom prst="rect">
            <a:avLst/>
          </a:prstGeom>
          <a:noFill/>
        </p:spPr>
        <p:txBody>
          <a:bodyPr wrap="square" rtlCol="0">
            <a:spAutoFit/>
          </a:bodyPr>
          <a:lstStyle/>
          <a:p>
            <a:pPr algn="r"/>
            <a:r>
              <a:rPr lang="en-US" sz="1600" b="1" dirty="0" smtClean="0">
                <a:solidFill>
                  <a:srgbClr val="E87A23"/>
                </a:solidFill>
              </a:rPr>
              <a:t>SLIIT </a:t>
            </a:r>
            <a:r>
              <a:rPr lang="en-US" sz="1600" b="1" baseline="0" dirty="0" smtClean="0">
                <a:solidFill>
                  <a:srgbClr val="E87A23"/>
                </a:solidFill>
              </a:rPr>
              <a:t> - Faculty of Computing</a:t>
            </a:r>
            <a:endParaRPr lang="en-US" sz="1600" b="1" dirty="0">
              <a:solidFill>
                <a:srgbClr val="E87A23"/>
              </a:solidFill>
            </a:endParaRPr>
          </a:p>
        </p:txBody>
      </p:sp>
      <p:pic>
        <p:nvPicPr>
          <p:cNvPr id="12" name="Picture 11"/>
          <p:cNvPicPr>
            <a:picLocks noChangeAspect="1"/>
          </p:cNvPicPr>
          <p:nvPr userDrawn="1"/>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7620000" cy="457201"/>
          </a:xfrm>
          <a:prstGeom prst="rect">
            <a:avLst/>
          </a:prstGeom>
        </p:spPr>
      </p:pic>
      <p:sp>
        <p:nvSpPr>
          <p:cNvPr id="10" name="TextBox 9"/>
          <p:cNvSpPr txBox="1"/>
          <p:nvPr userDrawn="1"/>
        </p:nvSpPr>
        <p:spPr>
          <a:xfrm>
            <a:off x="0" y="-76200"/>
            <a:ext cx="4419600" cy="338554"/>
          </a:xfrm>
          <a:prstGeom prst="rect">
            <a:avLst/>
          </a:prstGeom>
          <a:noFill/>
        </p:spPr>
        <p:txBody>
          <a:bodyPr wrap="square" rtlCol="0">
            <a:spAutoFit/>
          </a:bodyPr>
          <a:lstStyle/>
          <a:p>
            <a:r>
              <a:rPr lang="en-US" sz="1600" b="1" dirty="0" smtClean="0">
                <a:solidFill>
                  <a:schemeClr val="bg1"/>
                </a:solidFill>
              </a:rPr>
              <a:t>IT1090 - Information Systems and Data Modeling</a:t>
            </a:r>
            <a:endParaRPr lang="en-US" sz="1600" b="1" dirty="0">
              <a:solidFill>
                <a:schemeClr val="bg1"/>
              </a:solidFill>
            </a:endParaRPr>
          </a:p>
        </p:txBody>
      </p:sp>
      <p:cxnSp>
        <p:nvCxnSpPr>
          <p:cNvPr id="17" name="Straight Connector 16"/>
          <p:cNvCxnSpPr/>
          <p:nvPr userDrawn="1"/>
        </p:nvCxnSpPr>
        <p:spPr>
          <a:xfrm>
            <a:off x="628650" y="1447800"/>
            <a:ext cx="78867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377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7516F8-EADD-4F1E-A66A-F9DE6D301F0B}" type="datetimeFigureOut">
              <a:rPr lang="en-US" smtClean="0"/>
              <a:t>1/26/2018</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0A883A-E27C-4CE2-8BE2-5A6B27F0492F}" type="slidenum">
              <a:rPr lang="en-US" smtClean="0"/>
              <a:t>‹#›</a:t>
            </a:fld>
            <a:endParaRPr lang="en-US"/>
          </a:p>
        </p:txBody>
      </p:sp>
    </p:spTree>
    <p:extLst>
      <p:ext uri="{BB962C8B-B14F-4D97-AF65-F5344CB8AC3E}">
        <p14:creationId xmlns:p14="http://schemas.microsoft.com/office/powerpoint/2010/main" val="22347080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www.youtube.com/watch?v=ncEodci9nKo"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 Id="rId5" Type="http://schemas.openxmlformats.org/officeDocument/2006/relationships/image" Target="../media/image59.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Modern Information Systems</a:t>
            </a:r>
          </a:p>
        </p:txBody>
      </p:sp>
      <p:sp>
        <p:nvSpPr>
          <p:cNvPr id="3" name="Subtitle 2"/>
          <p:cNvSpPr>
            <a:spLocks noGrp="1"/>
          </p:cNvSpPr>
          <p:nvPr>
            <p:ph type="subTitle" idx="1"/>
          </p:nvPr>
        </p:nvSpPr>
        <p:spPr/>
        <p:txBody>
          <a:bodyPr/>
          <a:lstStyle/>
          <a:p>
            <a:r>
              <a:rPr lang="en-US" dirty="0" smtClean="0"/>
              <a:t>Lecture – </a:t>
            </a:r>
            <a:r>
              <a:rPr lang="en-US" dirty="0" smtClean="0"/>
              <a:t>03</a:t>
            </a:r>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a:t>
            </a:fld>
            <a:endParaRPr lang="en-US"/>
          </a:p>
        </p:txBody>
      </p:sp>
    </p:spTree>
    <p:extLst>
      <p:ext uri="{BB962C8B-B14F-4D97-AF65-F5344CB8AC3E}">
        <p14:creationId xmlns:p14="http://schemas.microsoft.com/office/powerpoint/2010/main" val="2644884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943600" y="2365936"/>
            <a:ext cx="3009900" cy="3644340"/>
          </a:xfrm>
          <a:prstGeom prst="rect">
            <a:avLst/>
          </a:prstGeom>
        </p:spPr>
      </p:pic>
      <p:sp>
        <p:nvSpPr>
          <p:cNvPr id="2" name="Title 1"/>
          <p:cNvSpPr>
            <a:spLocks noGrp="1"/>
          </p:cNvSpPr>
          <p:nvPr>
            <p:ph type="title"/>
          </p:nvPr>
        </p:nvSpPr>
        <p:spPr/>
        <p:txBody>
          <a:bodyPr/>
          <a:lstStyle/>
          <a:p>
            <a:r>
              <a:rPr lang="en-US" dirty="0" smtClean="0"/>
              <a:t>Lecture 03</a:t>
            </a:r>
            <a:endParaRPr lang="en-US" dirty="0"/>
          </a:p>
        </p:txBody>
      </p:sp>
      <p:sp>
        <p:nvSpPr>
          <p:cNvPr id="3" name="Content Placeholder 2"/>
          <p:cNvSpPr>
            <a:spLocks noGrp="1"/>
          </p:cNvSpPr>
          <p:nvPr>
            <p:ph idx="1"/>
          </p:nvPr>
        </p:nvSpPr>
        <p:spPr/>
        <p:txBody>
          <a:bodyPr/>
          <a:lstStyle/>
          <a:p>
            <a:r>
              <a:rPr lang="en-US" dirty="0">
                <a:solidFill>
                  <a:srgbClr val="FF0000"/>
                </a:solidFill>
              </a:rPr>
              <a:t>What is </a:t>
            </a:r>
            <a:r>
              <a:rPr lang="en-US" dirty="0" smtClean="0">
                <a:solidFill>
                  <a:srgbClr val="FF0000"/>
                </a:solidFill>
              </a:rPr>
              <a:t>a business process.?</a:t>
            </a:r>
          </a:p>
          <a:p>
            <a:r>
              <a:rPr lang="en-US" dirty="0" smtClean="0">
                <a:solidFill>
                  <a:srgbClr val="FF0000"/>
                </a:solidFill>
              </a:rPr>
              <a:t>How business processes work</a:t>
            </a:r>
          </a:p>
          <a:p>
            <a:r>
              <a:rPr lang="en-US" dirty="0" smtClean="0">
                <a:solidFill>
                  <a:srgbClr val="FF0000"/>
                </a:solidFill>
              </a:rPr>
              <a:t>What are its components </a:t>
            </a:r>
          </a:p>
        </p:txBody>
      </p:sp>
      <p:sp>
        <p:nvSpPr>
          <p:cNvPr id="4" name="Slide Number Placeholder 3"/>
          <p:cNvSpPr>
            <a:spLocks noGrp="1"/>
          </p:cNvSpPr>
          <p:nvPr>
            <p:ph type="sldNum" sz="quarter" idx="12"/>
          </p:nvPr>
        </p:nvSpPr>
        <p:spPr/>
        <p:txBody>
          <a:bodyPr/>
          <a:lstStyle/>
          <a:p>
            <a:fld id="{51A71D3D-F011-47C0-9290-685F7D9F6412}" type="slidenum">
              <a:rPr lang="en-US" smtClean="0"/>
              <a:t>2</a:t>
            </a:fld>
            <a:endParaRPr lang="en-US"/>
          </a:p>
        </p:txBody>
      </p:sp>
    </p:spTree>
    <p:extLst>
      <p:ext uri="{BB962C8B-B14F-4D97-AF65-F5344CB8AC3E}">
        <p14:creationId xmlns:p14="http://schemas.microsoft.com/office/powerpoint/2010/main" val="10968065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en-US" dirty="0"/>
          </a:p>
        </p:txBody>
      </p:sp>
      <p:sp>
        <p:nvSpPr>
          <p:cNvPr id="3" name="Content Placeholder 2"/>
          <p:cNvSpPr>
            <a:spLocks noGrp="1"/>
          </p:cNvSpPr>
          <p:nvPr>
            <p:ph idx="1"/>
          </p:nvPr>
        </p:nvSpPr>
        <p:spPr/>
        <p:txBody>
          <a:bodyPr/>
          <a:lstStyle/>
          <a:p>
            <a:r>
              <a:rPr lang="en-US" b="1" dirty="0" smtClean="0"/>
              <a:t>LO2:</a:t>
            </a:r>
            <a:r>
              <a:rPr lang="en-US" dirty="0" smtClean="0"/>
              <a:t> Evaluate </a:t>
            </a:r>
            <a:r>
              <a:rPr lang="en-US" dirty="0"/>
              <a:t>the </a:t>
            </a:r>
            <a:r>
              <a:rPr lang="en-US" dirty="0">
                <a:solidFill>
                  <a:srgbClr val="FF0000"/>
                </a:solidFill>
              </a:rPr>
              <a:t>information systems strategies </a:t>
            </a:r>
            <a:r>
              <a:rPr lang="en-US" dirty="0"/>
              <a:t>to </a:t>
            </a:r>
            <a:r>
              <a:rPr lang="en-US" dirty="0">
                <a:solidFill>
                  <a:srgbClr val="FF0000"/>
                </a:solidFill>
              </a:rPr>
              <a:t>achieve organizational goals</a:t>
            </a:r>
          </a:p>
        </p:txBody>
      </p:sp>
      <p:sp>
        <p:nvSpPr>
          <p:cNvPr id="4" name="Slide Number Placeholder 3"/>
          <p:cNvSpPr>
            <a:spLocks noGrp="1"/>
          </p:cNvSpPr>
          <p:nvPr>
            <p:ph type="sldNum" sz="quarter" idx="12"/>
          </p:nvPr>
        </p:nvSpPr>
        <p:spPr/>
        <p:txBody>
          <a:bodyPr/>
          <a:lstStyle/>
          <a:p>
            <a:fld id="{51A71D3D-F011-47C0-9290-685F7D9F6412}" type="slidenum">
              <a:rPr lang="en-US" smtClean="0"/>
              <a:t>3</a:t>
            </a:fld>
            <a:endParaRPr lang="en-US"/>
          </a:p>
        </p:txBody>
      </p:sp>
    </p:spTree>
    <p:extLst>
      <p:ext uri="{BB962C8B-B14F-4D97-AF65-F5344CB8AC3E}">
        <p14:creationId xmlns:p14="http://schemas.microsoft.com/office/powerpoint/2010/main" val="1410734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Session </a:t>
            </a:r>
            <a:r>
              <a:rPr lang="en-US" dirty="0" smtClean="0"/>
              <a:t>Objectives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At the end of this session, you will be able to;</a:t>
            </a:r>
          </a:p>
          <a:p>
            <a:pPr marL="0" indent="0">
              <a:buNone/>
            </a:pPr>
            <a:endParaRPr lang="en-US" dirty="0" smtClean="0"/>
          </a:p>
          <a:p>
            <a:r>
              <a:rPr lang="en-US" dirty="0" smtClean="0"/>
              <a:t>Explain the evolution of Computing world.</a:t>
            </a:r>
          </a:p>
          <a:p>
            <a:endParaRPr lang="en-US" dirty="0" smtClean="0"/>
          </a:p>
          <a:p>
            <a:r>
              <a:rPr lang="en-US" dirty="0" smtClean="0"/>
              <a:t>Compare and contrast various modern Information Systems including Enterprise Systems.</a:t>
            </a:r>
          </a:p>
          <a:p>
            <a:endParaRPr lang="en-US" dirty="0" smtClean="0"/>
          </a:p>
          <a:p>
            <a:r>
              <a:rPr lang="en-US" dirty="0" smtClean="0"/>
              <a:t>Know what are real world examples for various modern IS.</a:t>
            </a:r>
          </a:p>
          <a:p>
            <a:r>
              <a:rPr lang="en-US" dirty="0" smtClean="0"/>
              <a:t>Identify advanced technologies used in Modern IS.</a:t>
            </a:r>
          </a:p>
          <a:p>
            <a:endParaRPr lang="en-US" dirty="0" smtClean="0"/>
          </a:p>
          <a:p>
            <a:endParaRPr lang="en-US" dirty="0" smtClean="0"/>
          </a:p>
          <a:p>
            <a:endParaRPr lang="en-US" dirty="0"/>
          </a:p>
        </p:txBody>
      </p:sp>
    </p:spTree>
    <p:extLst>
      <p:ext uri="{BB962C8B-B14F-4D97-AF65-F5344CB8AC3E}">
        <p14:creationId xmlns:p14="http://schemas.microsoft.com/office/powerpoint/2010/main" val="1866048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Evolution of Computing World</a:t>
            </a:r>
            <a:endParaRPr lang="en-US" dirty="0"/>
          </a:p>
        </p:txBody>
      </p:sp>
      <p:sp>
        <p:nvSpPr>
          <p:cNvPr id="3" name="Content Placeholder 2"/>
          <p:cNvSpPr>
            <a:spLocks noGrp="1"/>
          </p:cNvSpPr>
          <p:nvPr>
            <p:ph idx="1"/>
          </p:nvPr>
        </p:nvSpPr>
        <p:spPr>
          <a:xfrm>
            <a:off x="457200" y="1417638"/>
            <a:ext cx="8229600" cy="5287962"/>
          </a:xfrm>
        </p:spPr>
        <p:txBody>
          <a:bodyPr>
            <a:normAutofit fontScale="92500" lnSpcReduction="20000"/>
          </a:bodyPr>
          <a:lstStyle/>
          <a:p>
            <a:pPr marL="0" indent="0">
              <a:buNone/>
            </a:pPr>
            <a:r>
              <a:rPr lang="en-GB" b="1" dirty="0" smtClean="0">
                <a:effectLst>
                  <a:outerShdw blurRad="38100" dist="38100" dir="2700000" algn="tl">
                    <a:srgbClr val="000000">
                      <a:alpha val="43137"/>
                    </a:srgbClr>
                  </a:outerShdw>
                </a:effectLst>
              </a:rPr>
              <a:t>Early </a:t>
            </a:r>
            <a:r>
              <a:rPr lang="en-GB" b="1" dirty="0">
                <a:effectLst>
                  <a:outerShdw blurRad="38100" dist="38100" dir="2700000" algn="tl">
                    <a:srgbClr val="000000">
                      <a:alpha val="43137"/>
                    </a:srgbClr>
                  </a:outerShdw>
                </a:effectLst>
              </a:rPr>
              <a:t>computers:</a:t>
            </a:r>
            <a:r>
              <a:rPr lang="en-GB" dirty="0"/>
              <a:t> Computing in 1945 </a:t>
            </a:r>
            <a:endParaRPr lang="en-GB" dirty="0" smtClean="0"/>
          </a:p>
          <a:p>
            <a:pPr marL="514350" indent="-457200"/>
            <a:r>
              <a:rPr lang="en-GB" dirty="0" smtClean="0"/>
              <a:t>Extremely </a:t>
            </a:r>
            <a:r>
              <a:rPr lang="en-GB" dirty="0"/>
              <a:t>difficult to use</a:t>
            </a:r>
          </a:p>
          <a:p>
            <a:pPr marL="514350" indent="-457200"/>
            <a:r>
              <a:rPr lang="en-GB" dirty="0" smtClean="0"/>
              <a:t>Large </a:t>
            </a:r>
            <a:r>
              <a:rPr lang="en-GB" dirty="0"/>
              <a:t>&amp; expensive</a:t>
            </a:r>
          </a:p>
          <a:p>
            <a:pPr marL="514350" indent="-457200"/>
            <a:r>
              <a:rPr lang="en-GB" dirty="0" smtClean="0"/>
              <a:t>Used </a:t>
            </a:r>
            <a:r>
              <a:rPr lang="en-GB" dirty="0"/>
              <a:t>by specialists for scientific calculations etc</a:t>
            </a:r>
            <a:r>
              <a:rPr lang="en-GB" dirty="0" smtClean="0"/>
              <a:t>.</a:t>
            </a:r>
          </a:p>
          <a:p>
            <a:endParaRPr lang="en-GB" dirty="0"/>
          </a:p>
          <a:p>
            <a:endParaRPr lang="en-GB" dirty="0" smtClean="0"/>
          </a:p>
          <a:p>
            <a:pPr marL="0" indent="0" algn="r">
              <a:buNone/>
            </a:pPr>
            <a:endParaRPr lang="en-GB" dirty="0" smtClean="0"/>
          </a:p>
          <a:p>
            <a:pPr marL="0" indent="0" algn="r">
              <a:buNone/>
            </a:pPr>
            <a:endParaRPr lang="en-GB" sz="1700" dirty="0" smtClean="0"/>
          </a:p>
          <a:p>
            <a:pPr marL="0" indent="0" algn="r">
              <a:buNone/>
            </a:pPr>
            <a:endParaRPr lang="en-GB" sz="1700" dirty="0"/>
          </a:p>
          <a:p>
            <a:pPr marL="0" indent="0" algn="r">
              <a:buNone/>
            </a:pPr>
            <a:endParaRPr lang="en-GB" sz="1700" dirty="0" smtClean="0"/>
          </a:p>
          <a:p>
            <a:pPr marL="0" indent="0" algn="r">
              <a:buNone/>
            </a:pPr>
            <a:endParaRPr lang="en-GB" sz="1700" dirty="0" smtClean="0"/>
          </a:p>
          <a:p>
            <a:pPr marL="0" indent="0" algn="r">
              <a:buNone/>
            </a:pPr>
            <a:endParaRPr lang="en-GB" sz="1700" dirty="0"/>
          </a:p>
          <a:p>
            <a:pPr marL="0" indent="0">
              <a:buNone/>
            </a:pPr>
            <a:r>
              <a:rPr lang="en-GB" sz="1700" dirty="0" smtClean="0"/>
              <a:t>			Harvard Mark I</a:t>
            </a:r>
          </a:p>
          <a:p>
            <a:pPr marL="0" indent="0">
              <a:buNone/>
            </a:pPr>
            <a:r>
              <a:rPr lang="en-GB" sz="1700" dirty="0" smtClean="0"/>
              <a:t>			ASCC: IBM Automatic Sequence Controlled Calculator</a:t>
            </a:r>
          </a:p>
          <a:p>
            <a:pPr marL="0" indent="0">
              <a:buNone/>
            </a:pPr>
            <a:r>
              <a:rPr lang="en-GB" sz="1700" dirty="0" smtClean="0"/>
              <a:t>			55 feet long, 8 feet high, 5 tons</a:t>
            </a:r>
          </a:p>
          <a:p>
            <a:endParaRPr lang="en-GB" dirty="0" smtClean="0"/>
          </a:p>
          <a:p>
            <a:endParaRPr lang="en-GB" dirty="0"/>
          </a:p>
        </p:txBody>
      </p:sp>
      <p:pic>
        <p:nvPicPr>
          <p:cNvPr id="6" name="Picture 5"/>
          <p:cNvPicPr>
            <a:picLocks noChangeAspect="1"/>
          </p:cNvPicPr>
          <p:nvPr/>
        </p:nvPicPr>
        <p:blipFill>
          <a:blip r:embed="rId2"/>
          <a:stretch>
            <a:fillRect/>
          </a:stretch>
        </p:blipFill>
        <p:spPr>
          <a:xfrm>
            <a:off x="2130716" y="3429000"/>
            <a:ext cx="3431546" cy="2286000"/>
          </a:xfrm>
          <a:prstGeom prst="rect">
            <a:avLst/>
          </a:prstGeom>
        </p:spPr>
      </p:pic>
    </p:spTree>
    <p:extLst>
      <p:ext uri="{BB962C8B-B14F-4D97-AF65-F5344CB8AC3E}">
        <p14:creationId xmlns:p14="http://schemas.microsoft.com/office/powerpoint/2010/main" val="5310897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Computing Paradigms </a:t>
            </a:r>
            <a:r>
              <a:rPr lang="en-US" sz="3200" dirty="0" smtClean="0"/>
              <a:t>Cont.</a:t>
            </a:r>
            <a:endParaRPr lang="en-US" sz="3200" dirty="0"/>
          </a:p>
        </p:txBody>
      </p:sp>
      <p:sp>
        <p:nvSpPr>
          <p:cNvPr id="3" name="Content Placeholder 2"/>
          <p:cNvSpPr>
            <a:spLocks noGrp="1"/>
          </p:cNvSpPr>
          <p:nvPr>
            <p:ph idx="1"/>
          </p:nvPr>
        </p:nvSpPr>
        <p:spPr/>
        <p:txBody>
          <a:bodyPr>
            <a:normAutofit fontScale="77500" lnSpcReduction="20000"/>
          </a:bodyPr>
          <a:lstStyle/>
          <a:p>
            <a:pPr marL="0" indent="0">
              <a:buNone/>
            </a:pPr>
            <a:r>
              <a:rPr lang="en-GB" b="1" dirty="0" smtClean="0">
                <a:effectLst>
                  <a:outerShdw blurRad="38100" dist="38100" dir="2700000" algn="tl">
                    <a:srgbClr val="000000">
                      <a:alpha val="43137"/>
                    </a:srgbClr>
                  </a:outerShdw>
                </a:effectLst>
              </a:rPr>
              <a:t>Late 1950s - 1970s, Mainframe computers and dumb terminals</a:t>
            </a:r>
            <a:endParaRPr lang="en-GB" b="1" dirty="0">
              <a:effectLst>
                <a:outerShdw blurRad="38100" dist="38100" dir="2700000" algn="tl">
                  <a:srgbClr val="000000">
                    <a:alpha val="43137"/>
                  </a:srgbClr>
                </a:outerShdw>
              </a:effectLst>
            </a:endParaRPr>
          </a:p>
          <a:p>
            <a:r>
              <a:rPr lang="en-GB" dirty="0" smtClean="0"/>
              <a:t>Batch processing</a:t>
            </a:r>
          </a:p>
          <a:p>
            <a:r>
              <a:rPr lang="en-GB" dirty="0" smtClean="0"/>
              <a:t>Time sharing </a:t>
            </a:r>
          </a:p>
          <a:p>
            <a:r>
              <a:rPr lang="en-GB" dirty="0" smtClean="0"/>
              <a:t>No graphical interfaces</a:t>
            </a:r>
          </a:p>
          <a:p>
            <a:pPr marL="0" indent="0">
              <a:buNone/>
            </a:pPr>
            <a:endParaRPr lang="en-GB" dirty="0" smtClean="0"/>
          </a:p>
          <a:p>
            <a:pPr marL="0" indent="0">
              <a:buNone/>
            </a:pPr>
            <a:endParaRPr lang="en-GB" dirty="0"/>
          </a:p>
          <a:p>
            <a:pPr marL="0" indent="0">
              <a:buNone/>
            </a:pPr>
            <a:r>
              <a:rPr lang="en-GB" b="1" dirty="0">
                <a:effectLst>
                  <a:outerShdw blurRad="38100" dist="38100" dir="2700000" algn="tl">
                    <a:srgbClr val="000000">
                      <a:alpha val="43137"/>
                    </a:srgbClr>
                  </a:outerShdw>
                </a:effectLst>
              </a:rPr>
              <a:t>In 1980s</a:t>
            </a:r>
          </a:p>
          <a:p>
            <a:r>
              <a:rPr lang="en-GB" dirty="0" smtClean="0"/>
              <a:t>Invention of a microprocessor</a:t>
            </a:r>
            <a:endParaRPr lang="en-GB" dirty="0"/>
          </a:p>
          <a:p>
            <a:r>
              <a:rPr lang="en-GB" dirty="0" smtClean="0"/>
              <a:t>Development </a:t>
            </a:r>
            <a:r>
              <a:rPr lang="en-GB" dirty="0"/>
              <a:t>of PC’s </a:t>
            </a:r>
            <a:r>
              <a:rPr lang="en-GB" dirty="0" smtClean="0"/>
              <a:t>- major landmark</a:t>
            </a:r>
          </a:p>
          <a:p>
            <a:r>
              <a:rPr lang="en-GB" dirty="0" smtClean="0"/>
              <a:t>Start using computers by people, customers</a:t>
            </a:r>
          </a:p>
          <a:p>
            <a:pPr marL="0" indent="0">
              <a:buNone/>
            </a:pPr>
            <a:r>
              <a:rPr lang="en-GB" dirty="0" smtClean="0"/>
              <a:t>     and end users of Business organizations</a:t>
            </a:r>
            <a:endParaRPr lang="en-GB" dirty="0"/>
          </a:p>
          <a:p>
            <a:endParaRPr lang="en-GB" dirty="0"/>
          </a:p>
          <a:p>
            <a:endParaRPr lang="en-US" dirty="0"/>
          </a:p>
        </p:txBody>
      </p:sp>
      <p:pic>
        <p:nvPicPr>
          <p:cNvPr id="4" name="Picture 3"/>
          <p:cNvPicPr>
            <a:picLocks noChangeAspect="1"/>
          </p:cNvPicPr>
          <p:nvPr/>
        </p:nvPicPr>
        <p:blipFill>
          <a:blip r:embed="rId2"/>
          <a:stretch>
            <a:fillRect/>
          </a:stretch>
        </p:blipFill>
        <p:spPr>
          <a:xfrm>
            <a:off x="4572000" y="2209800"/>
            <a:ext cx="2895600" cy="2294763"/>
          </a:xfrm>
          <a:prstGeom prst="rect">
            <a:avLst/>
          </a:prstGeom>
        </p:spPr>
      </p:pic>
      <p:pic>
        <p:nvPicPr>
          <p:cNvPr id="5" name="Picture 2" descr="C:\Program Files (x86)\Microsoft Office\MEDIA\CAGCAT10\j0285750.wmf"/>
          <p:cNvPicPr>
            <a:picLocks noChangeAspect="1" noChangeArrowheads="1"/>
          </p:cNvPicPr>
          <p:nvPr/>
        </p:nvPicPr>
        <p:blipFill>
          <a:blip r:embed="rId3" cstate="print"/>
          <a:srcRect/>
          <a:stretch>
            <a:fillRect/>
          </a:stretch>
        </p:blipFill>
        <p:spPr bwMode="auto">
          <a:xfrm>
            <a:off x="6553200" y="4685957"/>
            <a:ext cx="2514600" cy="2155416"/>
          </a:xfrm>
          <a:prstGeom prst="rect">
            <a:avLst/>
          </a:prstGeom>
          <a:noFill/>
        </p:spPr>
      </p:pic>
    </p:spTree>
    <p:extLst>
      <p:ext uri="{BB962C8B-B14F-4D97-AF65-F5344CB8AC3E}">
        <p14:creationId xmlns:p14="http://schemas.microsoft.com/office/powerpoint/2010/main" val="39282142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608" y="43828"/>
            <a:ext cx="8229600" cy="1143000"/>
          </a:xfrm>
        </p:spPr>
        <p:txBody>
          <a:bodyPr/>
          <a:lstStyle/>
          <a:p>
            <a:r>
              <a:rPr lang="en-US" dirty="0"/>
              <a:t>Computing </a:t>
            </a:r>
            <a:r>
              <a:rPr lang="en-US" dirty="0" smtClean="0"/>
              <a:t>Paradigms </a:t>
            </a:r>
            <a:r>
              <a:rPr lang="en-US" sz="3200" dirty="0" smtClean="0"/>
              <a:t>Cont.</a:t>
            </a:r>
            <a:endParaRPr lang="en-US" sz="3200" dirty="0"/>
          </a:p>
        </p:txBody>
      </p:sp>
      <p:sp>
        <p:nvSpPr>
          <p:cNvPr id="3" name="Content Placeholder 2"/>
          <p:cNvSpPr>
            <a:spLocks noGrp="1"/>
          </p:cNvSpPr>
          <p:nvPr>
            <p:ph idx="1"/>
          </p:nvPr>
        </p:nvSpPr>
        <p:spPr>
          <a:xfrm>
            <a:off x="449266" y="1054054"/>
            <a:ext cx="8237534" cy="5072109"/>
          </a:xfrm>
        </p:spPr>
        <p:txBody>
          <a:bodyPr>
            <a:normAutofit/>
          </a:bodyPr>
          <a:lstStyle/>
          <a:p>
            <a:pPr marL="0" indent="0">
              <a:buNone/>
            </a:pPr>
            <a:r>
              <a:rPr lang="en-GB" b="1" dirty="0" smtClean="0">
                <a:effectLst>
                  <a:outerShdw blurRad="38100" dist="38100" dir="2700000" algn="tl">
                    <a:srgbClr val="000000">
                      <a:alpha val="43137"/>
                    </a:srgbClr>
                  </a:outerShdw>
                </a:effectLst>
              </a:rPr>
              <a:t>Today </a:t>
            </a:r>
            <a:r>
              <a:rPr lang="en-GB" b="1" dirty="0">
                <a:effectLst>
                  <a:outerShdw blurRad="38100" dist="38100" dir="2700000" algn="tl">
                    <a:srgbClr val="000000">
                      <a:alpha val="43137"/>
                    </a:srgbClr>
                  </a:outerShdw>
                </a:effectLst>
              </a:rPr>
              <a:t>(This era</a:t>
            </a:r>
            <a:r>
              <a:rPr lang="en-GB" b="1" dirty="0" smtClean="0">
                <a:effectLst>
                  <a:outerShdw blurRad="38100" dist="38100" dir="2700000" algn="tl">
                    <a:srgbClr val="000000">
                      <a:alpha val="43137"/>
                    </a:srgbClr>
                  </a:outerShdw>
                </a:effectLst>
              </a:rPr>
              <a:t>)</a:t>
            </a:r>
          </a:p>
          <a:p>
            <a:pPr marL="0" indent="0">
              <a:buNone/>
            </a:pPr>
            <a:endParaRPr lang="en-GB" b="1" dirty="0">
              <a:effectLst>
                <a:outerShdw blurRad="38100" dist="38100" dir="2700000" algn="tl">
                  <a:srgbClr val="000000">
                    <a:alpha val="43137"/>
                  </a:srgbClr>
                </a:outerShdw>
              </a:effectLst>
            </a:endParaRPr>
          </a:p>
          <a:p>
            <a:pPr marL="0" indent="0">
              <a:buNone/>
            </a:pPr>
            <a:endParaRPr lang="en-US" dirty="0"/>
          </a:p>
        </p:txBody>
      </p:sp>
      <p:pic>
        <p:nvPicPr>
          <p:cNvPr id="8" name="Picture 7"/>
          <p:cNvPicPr>
            <a:picLocks noChangeAspect="1"/>
          </p:cNvPicPr>
          <p:nvPr/>
        </p:nvPicPr>
        <p:blipFill>
          <a:blip r:embed="rId3"/>
          <a:stretch>
            <a:fillRect/>
          </a:stretch>
        </p:blipFill>
        <p:spPr>
          <a:xfrm rot="1113064">
            <a:off x="6283276" y="1425199"/>
            <a:ext cx="2619375" cy="1752600"/>
          </a:xfrm>
          <a:prstGeom prst="rect">
            <a:avLst/>
          </a:prstGeom>
        </p:spPr>
      </p:pic>
      <p:pic>
        <p:nvPicPr>
          <p:cNvPr id="9" name="Picture 8"/>
          <p:cNvPicPr>
            <a:picLocks noChangeAspect="1"/>
          </p:cNvPicPr>
          <p:nvPr/>
        </p:nvPicPr>
        <p:blipFill>
          <a:blip r:embed="rId4"/>
          <a:stretch>
            <a:fillRect/>
          </a:stretch>
        </p:blipFill>
        <p:spPr>
          <a:xfrm rot="1021126">
            <a:off x="5784697" y="3444946"/>
            <a:ext cx="2847975" cy="1600200"/>
          </a:xfrm>
          <a:prstGeom prst="rect">
            <a:avLst/>
          </a:prstGeom>
        </p:spPr>
      </p:pic>
      <p:pic>
        <p:nvPicPr>
          <p:cNvPr id="11" name="Picture 10"/>
          <p:cNvPicPr>
            <a:picLocks noChangeAspect="1"/>
          </p:cNvPicPr>
          <p:nvPr/>
        </p:nvPicPr>
        <p:blipFill>
          <a:blip r:embed="rId5"/>
          <a:stretch>
            <a:fillRect/>
          </a:stretch>
        </p:blipFill>
        <p:spPr>
          <a:xfrm rot="20918356">
            <a:off x="504123" y="3563072"/>
            <a:ext cx="2276735" cy="1683563"/>
          </a:xfrm>
          <a:prstGeom prst="rect">
            <a:avLst/>
          </a:prstGeom>
        </p:spPr>
      </p:pic>
      <p:pic>
        <p:nvPicPr>
          <p:cNvPr id="12" name="Picture 11"/>
          <p:cNvPicPr>
            <a:picLocks noChangeAspect="1"/>
          </p:cNvPicPr>
          <p:nvPr/>
        </p:nvPicPr>
        <p:blipFill>
          <a:blip r:embed="rId6"/>
          <a:stretch>
            <a:fillRect/>
          </a:stretch>
        </p:blipFill>
        <p:spPr>
          <a:xfrm>
            <a:off x="2667000" y="5108316"/>
            <a:ext cx="3200400" cy="1428750"/>
          </a:xfrm>
          <a:prstGeom prst="rect">
            <a:avLst/>
          </a:prstGeom>
        </p:spPr>
      </p:pic>
      <p:pic>
        <p:nvPicPr>
          <p:cNvPr id="13" name="Picture 12"/>
          <p:cNvPicPr>
            <a:picLocks noChangeAspect="1"/>
          </p:cNvPicPr>
          <p:nvPr/>
        </p:nvPicPr>
        <p:blipFill>
          <a:blip r:embed="rId7"/>
          <a:stretch>
            <a:fillRect/>
          </a:stretch>
        </p:blipFill>
        <p:spPr>
          <a:xfrm rot="21274916">
            <a:off x="250424" y="1858322"/>
            <a:ext cx="2218473" cy="1476293"/>
          </a:xfrm>
          <a:prstGeom prst="rect">
            <a:avLst/>
          </a:prstGeom>
        </p:spPr>
      </p:pic>
      <p:pic>
        <p:nvPicPr>
          <p:cNvPr id="15" name="Picture 14"/>
          <p:cNvPicPr>
            <a:picLocks noChangeAspect="1"/>
          </p:cNvPicPr>
          <p:nvPr/>
        </p:nvPicPr>
        <p:blipFill>
          <a:blip r:embed="rId8"/>
          <a:stretch>
            <a:fillRect/>
          </a:stretch>
        </p:blipFill>
        <p:spPr>
          <a:xfrm rot="20789787">
            <a:off x="573761" y="5351839"/>
            <a:ext cx="1946824" cy="1296789"/>
          </a:xfrm>
          <a:prstGeom prst="rect">
            <a:avLst/>
          </a:prstGeom>
        </p:spPr>
      </p:pic>
      <p:pic>
        <p:nvPicPr>
          <p:cNvPr id="16" name="Picture 15"/>
          <p:cNvPicPr>
            <a:picLocks noChangeAspect="1"/>
          </p:cNvPicPr>
          <p:nvPr/>
        </p:nvPicPr>
        <p:blipFill>
          <a:blip r:embed="rId9"/>
          <a:stretch>
            <a:fillRect/>
          </a:stretch>
        </p:blipFill>
        <p:spPr>
          <a:xfrm rot="21184710">
            <a:off x="3079884" y="3129477"/>
            <a:ext cx="2457450" cy="1866900"/>
          </a:xfrm>
          <a:prstGeom prst="rect">
            <a:avLst/>
          </a:prstGeom>
        </p:spPr>
      </p:pic>
      <p:pic>
        <p:nvPicPr>
          <p:cNvPr id="6" name="Picture 5"/>
          <p:cNvPicPr>
            <a:picLocks noChangeAspect="1"/>
          </p:cNvPicPr>
          <p:nvPr/>
        </p:nvPicPr>
        <p:blipFill>
          <a:blip r:embed="rId10"/>
          <a:stretch>
            <a:fillRect/>
          </a:stretch>
        </p:blipFill>
        <p:spPr>
          <a:xfrm>
            <a:off x="3316953" y="1240112"/>
            <a:ext cx="2886075" cy="1581150"/>
          </a:xfrm>
          <a:prstGeom prst="rect">
            <a:avLst/>
          </a:prstGeom>
        </p:spPr>
      </p:pic>
      <p:pic>
        <p:nvPicPr>
          <p:cNvPr id="17" name="Picture 16"/>
          <p:cNvPicPr>
            <a:picLocks noChangeAspect="1"/>
          </p:cNvPicPr>
          <p:nvPr/>
        </p:nvPicPr>
        <p:blipFill>
          <a:blip r:embed="rId11"/>
          <a:stretch>
            <a:fillRect/>
          </a:stretch>
        </p:blipFill>
        <p:spPr>
          <a:xfrm>
            <a:off x="5942379" y="4877651"/>
            <a:ext cx="1830021" cy="1370749"/>
          </a:xfrm>
          <a:prstGeom prst="rect">
            <a:avLst/>
          </a:prstGeom>
        </p:spPr>
      </p:pic>
      <p:pic>
        <p:nvPicPr>
          <p:cNvPr id="4" name="Picture 3"/>
          <p:cNvPicPr>
            <a:picLocks noChangeAspect="1"/>
          </p:cNvPicPr>
          <p:nvPr/>
        </p:nvPicPr>
        <p:blipFill>
          <a:blip r:embed="rId12"/>
          <a:stretch>
            <a:fillRect/>
          </a:stretch>
        </p:blipFill>
        <p:spPr>
          <a:xfrm>
            <a:off x="7162800" y="5636568"/>
            <a:ext cx="1959812" cy="1221432"/>
          </a:xfrm>
          <a:prstGeom prst="rect">
            <a:avLst/>
          </a:prstGeom>
        </p:spPr>
      </p:pic>
    </p:spTree>
    <p:extLst>
      <p:ext uri="{BB962C8B-B14F-4D97-AF65-F5344CB8AC3E}">
        <p14:creationId xmlns:p14="http://schemas.microsoft.com/office/powerpoint/2010/main" val="36872346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made this change?</a:t>
            </a:r>
            <a:endParaRPr lang="en-US" dirty="0"/>
          </a:p>
        </p:txBody>
      </p:sp>
      <p:sp>
        <p:nvSpPr>
          <p:cNvPr id="3" name="Content Placeholder 2"/>
          <p:cNvSpPr>
            <a:spLocks noGrp="1"/>
          </p:cNvSpPr>
          <p:nvPr>
            <p:ph idx="1"/>
          </p:nvPr>
        </p:nvSpPr>
        <p:spPr/>
        <p:txBody>
          <a:bodyPr>
            <a:normAutofit lnSpcReduction="10000"/>
          </a:bodyPr>
          <a:lstStyle/>
          <a:p>
            <a:r>
              <a:rPr lang="en-US" dirty="0" smtClean="0"/>
              <a:t>Advancement of technology</a:t>
            </a:r>
          </a:p>
          <a:p>
            <a:pPr lvl="1"/>
            <a:r>
              <a:rPr lang="en-AU" altLang="en-US" dirty="0"/>
              <a:t>Rapid advances in speed and capacity</a:t>
            </a:r>
            <a:endParaRPr lang="en-US" dirty="0" smtClean="0"/>
          </a:p>
          <a:p>
            <a:r>
              <a:rPr lang="en-AU" altLang="en-US" dirty="0" smtClean="0"/>
              <a:t>Pervasiveness </a:t>
            </a:r>
            <a:r>
              <a:rPr lang="en-AU" altLang="en-US" dirty="0"/>
              <a:t>of </a:t>
            </a:r>
            <a:r>
              <a:rPr lang="en-AU" altLang="en-US" dirty="0" smtClean="0"/>
              <a:t>Internet</a:t>
            </a:r>
          </a:p>
          <a:p>
            <a:pPr lvl="1"/>
            <a:r>
              <a:rPr lang="en-AU" altLang="en-US" dirty="0" smtClean="0"/>
              <a:t>E-enabled world</a:t>
            </a:r>
          </a:p>
          <a:p>
            <a:r>
              <a:rPr lang="en-AU" altLang="en-US" dirty="0" smtClean="0"/>
              <a:t>Wireless</a:t>
            </a:r>
            <a:r>
              <a:rPr lang="en-AU" altLang="en-US" dirty="0"/>
              <a:t>, portable </a:t>
            </a:r>
            <a:r>
              <a:rPr lang="en-AU" altLang="en-US" dirty="0" smtClean="0"/>
              <a:t>devices</a:t>
            </a:r>
          </a:p>
          <a:p>
            <a:pPr lvl="1"/>
            <a:r>
              <a:rPr lang="en-AU" altLang="en-US" dirty="0" smtClean="0"/>
              <a:t>Any where, Any time work capability</a:t>
            </a:r>
          </a:p>
          <a:p>
            <a:endParaRPr lang="en-AU" dirty="0"/>
          </a:p>
          <a:p>
            <a:pPr marL="0" indent="0">
              <a:buNone/>
            </a:pPr>
            <a:r>
              <a:rPr lang="en-US" altLang="en-US" i="1" dirty="0">
                <a:solidFill>
                  <a:schemeClr val="tx2"/>
                </a:solidFill>
              </a:rPr>
              <a:t>Technology</a:t>
            </a:r>
            <a:r>
              <a:rPr lang="en-US" altLang="en-US" dirty="0"/>
              <a:t> is configured into </a:t>
            </a:r>
            <a:r>
              <a:rPr lang="en-US" altLang="en-US" i="1" dirty="0">
                <a:solidFill>
                  <a:schemeClr val="tx2"/>
                </a:solidFill>
              </a:rPr>
              <a:t>Information</a:t>
            </a:r>
            <a:r>
              <a:rPr lang="en-US" altLang="en-US" dirty="0" smtClean="0"/>
              <a:t> </a:t>
            </a:r>
            <a:r>
              <a:rPr lang="en-US" altLang="en-US" i="1" dirty="0" smtClean="0">
                <a:solidFill>
                  <a:schemeClr val="tx2"/>
                </a:solidFill>
              </a:rPr>
              <a:t>systems</a:t>
            </a:r>
            <a:r>
              <a:rPr lang="en-US" altLang="en-US" dirty="0" smtClean="0"/>
              <a:t> </a:t>
            </a:r>
            <a:r>
              <a:rPr lang="en-US" altLang="en-US" dirty="0"/>
              <a:t>that help manage </a:t>
            </a:r>
            <a:r>
              <a:rPr lang="en-US" altLang="en-US" i="1" dirty="0">
                <a:solidFill>
                  <a:schemeClr val="tx2"/>
                </a:solidFill>
              </a:rPr>
              <a:t>information</a:t>
            </a:r>
            <a:r>
              <a:rPr lang="en-US" altLang="en-US" dirty="0"/>
              <a:t> to improve </a:t>
            </a:r>
            <a:r>
              <a:rPr lang="en-US" altLang="en-US" i="1" dirty="0">
                <a:solidFill>
                  <a:schemeClr val="tx2"/>
                </a:solidFill>
              </a:rPr>
              <a:t>organizational </a:t>
            </a:r>
            <a:r>
              <a:rPr lang="en-US" altLang="en-US" i="1" dirty="0" smtClean="0">
                <a:solidFill>
                  <a:schemeClr val="tx2"/>
                </a:solidFill>
              </a:rPr>
              <a:t>performance.</a:t>
            </a:r>
            <a:endParaRPr lang="en-US" altLang="en-US" dirty="0"/>
          </a:p>
          <a:p>
            <a:endParaRPr lang="en-US" dirty="0"/>
          </a:p>
        </p:txBody>
      </p:sp>
    </p:spTree>
    <p:extLst>
      <p:ext uri="{BB962C8B-B14F-4D97-AF65-F5344CB8AC3E}">
        <p14:creationId xmlns:p14="http://schemas.microsoft.com/office/powerpoint/2010/main" val="33565909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400800" y="5029200"/>
            <a:ext cx="2619375" cy="1743075"/>
          </a:xfrm>
          <a:prstGeom prst="rect">
            <a:avLst/>
          </a:prstGeom>
        </p:spPr>
      </p:pic>
      <p:sp>
        <p:nvSpPr>
          <p:cNvPr id="2" name="Title 1"/>
          <p:cNvSpPr>
            <a:spLocks noGrp="1"/>
          </p:cNvSpPr>
          <p:nvPr>
            <p:ph type="title"/>
          </p:nvPr>
        </p:nvSpPr>
        <p:spPr>
          <a:xfrm>
            <a:off x="228600" y="304800"/>
            <a:ext cx="8229600" cy="990600"/>
          </a:xfrm>
        </p:spPr>
        <p:txBody>
          <a:bodyPr>
            <a:normAutofit/>
          </a:bodyPr>
          <a:lstStyle/>
          <a:p>
            <a:pPr marL="0" indent="0"/>
            <a:endParaRPr lang="en-US" dirty="0"/>
          </a:p>
        </p:txBody>
      </p:sp>
      <p:sp>
        <p:nvSpPr>
          <p:cNvPr id="5" name="Content Placeholder 4"/>
          <p:cNvSpPr>
            <a:spLocks noGrp="1"/>
          </p:cNvSpPr>
          <p:nvPr>
            <p:ph idx="1"/>
          </p:nvPr>
        </p:nvSpPr>
        <p:spPr>
          <a:xfrm>
            <a:off x="23884" y="2782352"/>
            <a:ext cx="8229600" cy="2345257"/>
          </a:xfrm>
          <a:prstGeom prst="rect">
            <a:avLst/>
          </a:prstGeom>
        </p:spPr>
        <p:txBody>
          <a:bodyPr>
            <a:spAutoFit/>
          </a:bodyPr>
          <a:lstStyle/>
          <a:p>
            <a:pPr marL="0" indent="0" algn="ctr">
              <a:buNone/>
            </a:pPr>
            <a:endParaRPr lang="en-AU" altLang="en-US" sz="2400" dirty="0"/>
          </a:p>
          <a:p>
            <a:pPr marL="0" indent="0">
              <a:buNone/>
            </a:pPr>
            <a:r>
              <a:rPr lang="en-AU" altLang="en-US" sz="3600" b="1" dirty="0" smtClean="0"/>
              <a:t>Key Idea:</a:t>
            </a:r>
          </a:p>
          <a:p>
            <a:pPr marL="0" indent="0">
              <a:buNone/>
            </a:pPr>
            <a:r>
              <a:rPr lang="en-AU" altLang="en-US" sz="3600" dirty="0" smtClean="0"/>
              <a:t>Get ready to adopt to the modern world with modern Information Systems!!!!</a:t>
            </a:r>
            <a:endParaRPr lang="en-AU" altLang="en-US" sz="3600" dirty="0"/>
          </a:p>
        </p:txBody>
      </p:sp>
      <p:pic>
        <p:nvPicPr>
          <p:cNvPr id="7" name="Picture 6"/>
          <p:cNvPicPr>
            <a:picLocks noChangeAspect="1"/>
          </p:cNvPicPr>
          <p:nvPr/>
        </p:nvPicPr>
        <p:blipFill>
          <a:blip r:embed="rId3"/>
          <a:stretch>
            <a:fillRect/>
          </a:stretch>
        </p:blipFill>
        <p:spPr>
          <a:xfrm>
            <a:off x="3581400" y="93252"/>
            <a:ext cx="5029200" cy="3861729"/>
          </a:xfrm>
          <a:prstGeom prst="rect">
            <a:avLst/>
          </a:prstGeom>
        </p:spPr>
      </p:pic>
    </p:spTree>
    <p:extLst>
      <p:ext uri="{BB962C8B-B14F-4D97-AF65-F5344CB8AC3E}">
        <p14:creationId xmlns:p14="http://schemas.microsoft.com/office/powerpoint/2010/main" val="25104284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 Information Systems </a:t>
            </a:r>
            <a:endParaRPr lang="en-US" dirty="0"/>
          </a:p>
        </p:txBody>
      </p:sp>
      <p:sp>
        <p:nvSpPr>
          <p:cNvPr id="3" name="Content Placeholder 2"/>
          <p:cNvSpPr>
            <a:spLocks noGrp="1"/>
          </p:cNvSpPr>
          <p:nvPr>
            <p:ph idx="1"/>
          </p:nvPr>
        </p:nvSpPr>
        <p:spPr/>
        <p:txBody>
          <a:bodyPr>
            <a:normAutofit/>
          </a:bodyPr>
          <a:lstStyle/>
          <a:p>
            <a:endParaRPr lang="en-US" dirty="0" smtClean="0"/>
          </a:p>
          <a:p>
            <a:endParaRPr lang="en-US" dirty="0"/>
          </a:p>
        </p:txBody>
      </p:sp>
      <p:sp>
        <p:nvSpPr>
          <p:cNvPr id="4" name="Isosceles Triangle 3"/>
          <p:cNvSpPr/>
          <p:nvPr/>
        </p:nvSpPr>
        <p:spPr>
          <a:xfrm>
            <a:off x="1648621" y="1196182"/>
            <a:ext cx="2705100" cy="1371600"/>
          </a:xfrm>
          <a:prstGeom prst="triangl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Office Automation </a:t>
            </a:r>
            <a:r>
              <a:rPr lang="en-GB" dirty="0" smtClean="0"/>
              <a:t>Systems</a:t>
            </a:r>
          </a:p>
          <a:p>
            <a:pPr algn="ctr"/>
            <a:endParaRPr lang="en-GB" dirty="0"/>
          </a:p>
          <a:p>
            <a:pPr algn="ctr"/>
            <a:endParaRPr lang="en-GB" dirty="0"/>
          </a:p>
        </p:txBody>
      </p:sp>
      <p:sp>
        <p:nvSpPr>
          <p:cNvPr id="5" name="Rectangle 4"/>
          <p:cNvSpPr/>
          <p:nvPr/>
        </p:nvSpPr>
        <p:spPr>
          <a:xfrm>
            <a:off x="5615587" y="1252702"/>
            <a:ext cx="1447800" cy="13716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Process </a:t>
            </a:r>
            <a:r>
              <a:rPr lang="en-GB" dirty="0" smtClean="0"/>
              <a:t>Control Systems</a:t>
            </a:r>
            <a:endParaRPr lang="en-GB" dirty="0"/>
          </a:p>
        </p:txBody>
      </p:sp>
      <p:sp>
        <p:nvSpPr>
          <p:cNvPr id="6" name="Oval 5"/>
          <p:cNvSpPr/>
          <p:nvPr/>
        </p:nvSpPr>
        <p:spPr>
          <a:xfrm>
            <a:off x="4116458" y="2981699"/>
            <a:ext cx="1818564" cy="1398715"/>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t>Decision Support Systems</a:t>
            </a:r>
          </a:p>
        </p:txBody>
      </p:sp>
      <p:sp>
        <p:nvSpPr>
          <p:cNvPr id="7" name="Rounded Rectangle 6"/>
          <p:cNvSpPr/>
          <p:nvPr/>
        </p:nvSpPr>
        <p:spPr>
          <a:xfrm>
            <a:off x="7369041" y="2645639"/>
            <a:ext cx="1361364" cy="160324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t>Enterprise Systems</a:t>
            </a:r>
            <a:endParaRPr lang="en-US" dirty="0"/>
          </a:p>
        </p:txBody>
      </p:sp>
      <p:sp>
        <p:nvSpPr>
          <p:cNvPr id="8" name="Snip Diagonal Corner Rectangle 7"/>
          <p:cNvSpPr/>
          <p:nvPr/>
        </p:nvSpPr>
        <p:spPr>
          <a:xfrm>
            <a:off x="4131257" y="4834275"/>
            <a:ext cx="1447800" cy="1649285"/>
          </a:xfrm>
          <a:prstGeom prst="snip2DiagRect">
            <a:avLst/>
          </a:prstGeom>
          <a:solidFill>
            <a:srgbClr val="F74515"/>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IoT</a:t>
            </a:r>
            <a:r>
              <a:rPr lang="en-US" dirty="0"/>
              <a:t> (Internet of Things) Systems</a:t>
            </a:r>
          </a:p>
        </p:txBody>
      </p:sp>
      <p:sp>
        <p:nvSpPr>
          <p:cNvPr id="9" name="Flowchart: Off-page Connector 8"/>
          <p:cNvSpPr/>
          <p:nvPr/>
        </p:nvSpPr>
        <p:spPr>
          <a:xfrm>
            <a:off x="1588423" y="4991775"/>
            <a:ext cx="1384315" cy="1603248"/>
          </a:xfrm>
          <a:prstGeom prst="flowChartOffpageConnector">
            <a:avLst/>
          </a:prstGeom>
          <a:solidFill>
            <a:srgbClr val="E626C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Cloud based Systems</a:t>
            </a:r>
          </a:p>
        </p:txBody>
      </p:sp>
      <p:sp>
        <p:nvSpPr>
          <p:cNvPr id="13" name="Flowchart: Display 12"/>
          <p:cNvSpPr/>
          <p:nvPr/>
        </p:nvSpPr>
        <p:spPr>
          <a:xfrm>
            <a:off x="614803" y="2978017"/>
            <a:ext cx="2067636" cy="1219200"/>
          </a:xfrm>
          <a:prstGeom prst="flowChartDisplay">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E-Commerce </a:t>
            </a:r>
            <a:r>
              <a:rPr lang="en-US" dirty="0" smtClean="0"/>
              <a:t>Systems</a:t>
            </a:r>
            <a:endParaRPr lang="en-US" dirty="0"/>
          </a:p>
        </p:txBody>
      </p:sp>
      <p:sp>
        <p:nvSpPr>
          <p:cNvPr id="14" name="Wave 13"/>
          <p:cNvSpPr/>
          <p:nvPr/>
        </p:nvSpPr>
        <p:spPr>
          <a:xfrm>
            <a:off x="6339487" y="4796744"/>
            <a:ext cx="2199564" cy="1240695"/>
          </a:xfrm>
          <a:prstGeom prst="wav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BI(Business Intelligence) Systems</a:t>
            </a:r>
          </a:p>
        </p:txBody>
      </p:sp>
    </p:spTree>
    <p:extLst>
      <p:ext uri="{BB962C8B-B14F-4D97-AF65-F5344CB8AC3E}">
        <p14:creationId xmlns:p14="http://schemas.microsoft.com/office/powerpoint/2010/main" val="35265642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en-GB" dirty="0"/>
              <a:t>Office </a:t>
            </a:r>
            <a:r>
              <a:rPr lang="en-GB" dirty="0" smtClean="0"/>
              <a:t>Automation Systems (OAS)</a:t>
            </a:r>
            <a:endParaRPr lang="en-US" dirty="0"/>
          </a:p>
        </p:txBody>
      </p:sp>
      <p:sp>
        <p:nvSpPr>
          <p:cNvPr id="3" name="Content Placeholder 2"/>
          <p:cNvSpPr>
            <a:spLocks noGrp="1"/>
          </p:cNvSpPr>
          <p:nvPr>
            <p:ph idx="1"/>
          </p:nvPr>
        </p:nvSpPr>
        <p:spPr>
          <a:xfrm>
            <a:off x="445826" y="1524000"/>
            <a:ext cx="8229600" cy="5257800"/>
          </a:xfrm>
        </p:spPr>
        <p:txBody>
          <a:bodyPr>
            <a:normAutofit fontScale="70000" lnSpcReduction="20000"/>
          </a:bodyPr>
          <a:lstStyle/>
          <a:p>
            <a:pPr marL="0" indent="0">
              <a:buNone/>
            </a:pPr>
            <a:r>
              <a:rPr lang="en-US" dirty="0" smtClean="0"/>
              <a:t>Used </a:t>
            </a:r>
            <a:r>
              <a:rPr lang="en-US" dirty="0"/>
              <a:t>to manage the administrative functions in an office environment and are often critical to service-based industries</a:t>
            </a:r>
            <a:r>
              <a:rPr lang="en-US" dirty="0" smtClean="0"/>
              <a:t>.</a:t>
            </a:r>
          </a:p>
          <a:p>
            <a:pPr marL="0" indent="0">
              <a:buNone/>
            </a:pPr>
            <a:r>
              <a:rPr lang="en-GB" dirty="0" smtClean="0"/>
              <a:t>OASs </a:t>
            </a:r>
            <a:r>
              <a:rPr lang="en-GB" dirty="0"/>
              <a:t>intended to increase the productivity of office </a:t>
            </a:r>
            <a:r>
              <a:rPr lang="en-GB" dirty="0" smtClean="0"/>
              <a:t>workers.</a:t>
            </a:r>
          </a:p>
          <a:p>
            <a:pPr marL="0" indent="0">
              <a:buNone/>
            </a:pPr>
            <a:r>
              <a:rPr lang="en-GB" sz="2800" dirty="0" smtClean="0"/>
              <a:t>Ex:</a:t>
            </a:r>
          </a:p>
          <a:p>
            <a:pPr marL="0" indent="0">
              <a:buNone/>
            </a:pPr>
            <a:r>
              <a:rPr lang="en-GB" sz="3100" b="1" dirty="0" smtClean="0"/>
              <a:t>Groupware</a:t>
            </a:r>
            <a:endParaRPr lang="en-GB" sz="3100" b="1" dirty="0"/>
          </a:p>
          <a:p>
            <a:pPr marL="0" indent="0">
              <a:buNone/>
            </a:pPr>
            <a:r>
              <a:rPr lang="en-GB" sz="2600" dirty="0" smtClean="0"/>
              <a:t>Assists </a:t>
            </a:r>
            <a:r>
              <a:rPr lang="en-GB" sz="2600" dirty="0"/>
              <a:t>teams of people working together through facilities such as email and teleconferencing within or between </a:t>
            </a:r>
            <a:r>
              <a:rPr lang="en-GB" sz="2600" dirty="0" smtClean="0"/>
              <a:t>companies </a:t>
            </a:r>
          </a:p>
          <a:p>
            <a:pPr lvl="1"/>
            <a:endParaRPr lang="en-GB" sz="2600" dirty="0"/>
          </a:p>
          <a:p>
            <a:pPr marL="0" indent="0">
              <a:buNone/>
            </a:pPr>
            <a:endParaRPr lang="en-GB" sz="2800" dirty="0" smtClean="0"/>
          </a:p>
          <a:p>
            <a:pPr marL="0" indent="0">
              <a:buNone/>
            </a:pPr>
            <a:endParaRPr lang="en-GB" sz="2800" dirty="0"/>
          </a:p>
          <a:p>
            <a:pPr marL="0" indent="0">
              <a:buNone/>
            </a:pPr>
            <a:endParaRPr lang="en-GB" sz="2800" dirty="0" smtClean="0"/>
          </a:p>
          <a:p>
            <a:pPr marL="0" indent="0">
              <a:buNone/>
            </a:pPr>
            <a:endParaRPr lang="en-GB" sz="2800" dirty="0" smtClean="0"/>
          </a:p>
          <a:p>
            <a:pPr marL="0" indent="0">
              <a:buNone/>
            </a:pPr>
            <a:r>
              <a:rPr lang="en-GB" sz="3100" b="1" dirty="0"/>
              <a:t>Document imaging process (DIP)</a:t>
            </a:r>
          </a:p>
          <a:p>
            <a:pPr marL="0" indent="0">
              <a:buNone/>
            </a:pPr>
            <a:r>
              <a:rPr lang="en-GB" sz="2600" dirty="0" smtClean="0"/>
              <a:t>Converts </a:t>
            </a:r>
            <a:r>
              <a:rPr lang="en-GB" sz="2600" dirty="0"/>
              <a:t>documents into digital format using a </a:t>
            </a:r>
            <a:r>
              <a:rPr lang="en-GB" sz="2600" dirty="0" smtClean="0"/>
              <a:t>scanner</a:t>
            </a:r>
          </a:p>
          <a:p>
            <a:pPr marL="0" indent="0">
              <a:buNone/>
            </a:pPr>
            <a:r>
              <a:rPr lang="en-GB" sz="2600" dirty="0" smtClean="0"/>
              <a:t>which </a:t>
            </a:r>
            <a:r>
              <a:rPr lang="en-GB" sz="2600" dirty="0"/>
              <a:t>can then be stored, retrieved and manipulated </a:t>
            </a:r>
            <a:endParaRPr lang="en-GB" sz="2600" dirty="0" smtClean="0"/>
          </a:p>
          <a:p>
            <a:pPr marL="0" indent="0">
              <a:buNone/>
            </a:pPr>
            <a:r>
              <a:rPr lang="en-GB" sz="2600" dirty="0" smtClean="0"/>
              <a:t>across </a:t>
            </a:r>
            <a:r>
              <a:rPr lang="en-GB" sz="2600" dirty="0"/>
              <a:t>a computer network.</a:t>
            </a:r>
            <a:endParaRPr lang="en-US" sz="2600" dirty="0"/>
          </a:p>
          <a:p>
            <a:endParaRPr lang="en-US" dirty="0"/>
          </a:p>
        </p:txBody>
      </p:sp>
      <p:pic>
        <p:nvPicPr>
          <p:cNvPr id="4" name="Picture 3"/>
          <p:cNvPicPr>
            <a:picLocks noChangeAspect="1"/>
          </p:cNvPicPr>
          <p:nvPr/>
        </p:nvPicPr>
        <p:blipFill>
          <a:blip r:embed="rId2"/>
          <a:stretch>
            <a:fillRect/>
          </a:stretch>
        </p:blipFill>
        <p:spPr>
          <a:xfrm>
            <a:off x="6553200" y="3634956"/>
            <a:ext cx="2000250" cy="1318044"/>
          </a:xfrm>
          <a:prstGeom prst="rect">
            <a:avLst/>
          </a:prstGeom>
        </p:spPr>
      </p:pic>
      <p:pic>
        <p:nvPicPr>
          <p:cNvPr id="6" name="Picture 5"/>
          <p:cNvPicPr>
            <a:picLocks noChangeAspect="1"/>
          </p:cNvPicPr>
          <p:nvPr/>
        </p:nvPicPr>
        <p:blipFill>
          <a:blip r:embed="rId3"/>
          <a:stretch>
            <a:fillRect/>
          </a:stretch>
        </p:blipFill>
        <p:spPr>
          <a:xfrm>
            <a:off x="3043237" y="3634956"/>
            <a:ext cx="2976563" cy="1318044"/>
          </a:xfrm>
          <a:prstGeom prst="rect">
            <a:avLst/>
          </a:prstGeom>
        </p:spPr>
      </p:pic>
      <p:pic>
        <p:nvPicPr>
          <p:cNvPr id="8" name="Picture 7"/>
          <p:cNvPicPr>
            <a:picLocks noChangeAspect="1"/>
          </p:cNvPicPr>
          <p:nvPr/>
        </p:nvPicPr>
        <p:blipFill>
          <a:blip r:embed="rId4"/>
          <a:stretch>
            <a:fillRect/>
          </a:stretch>
        </p:blipFill>
        <p:spPr>
          <a:xfrm>
            <a:off x="533400" y="3634956"/>
            <a:ext cx="1838325" cy="1318044"/>
          </a:xfrm>
          <a:prstGeom prst="rect">
            <a:avLst/>
          </a:prstGeom>
        </p:spPr>
      </p:pic>
      <p:pic>
        <p:nvPicPr>
          <p:cNvPr id="9" name="Picture 8"/>
          <p:cNvPicPr>
            <a:picLocks noChangeAspect="1"/>
          </p:cNvPicPr>
          <p:nvPr/>
        </p:nvPicPr>
        <p:blipFill>
          <a:blip r:embed="rId5"/>
          <a:stretch>
            <a:fillRect/>
          </a:stretch>
        </p:blipFill>
        <p:spPr>
          <a:xfrm>
            <a:off x="6248400" y="5437771"/>
            <a:ext cx="2254618" cy="1071981"/>
          </a:xfrm>
          <a:prstGeom prst="rect">
            <a:avLst/>
          </a:prstGeom>
        </p:spPr>
      </p:pic>
    </p:spTree>
    <p:extLst>
      <p:ext uri="{BB962C8B-B14F-4D97-AF65-F5344CB8AC3E}">
        <p14:creationId xmlns:p14="http://schemas.microsoft.com/office/powerpoint/2010/main" val="16566796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Office automation </a:t>
            </a:r>
            <a:r>
              <a:rPr lang="en-GB" dirty="0" smtClean="0"/>
              <a:t>systems </a:t>
            </a:r>
            <a:r>
              <a:rPr lang="en-GB" sz="3200" dirty="0" smtClean="0"/>
              <a:t>Cont.</a:t>
            </a:r>
            <a:endParaRPr lang="en-US" sz="3200" dirty="0"/>
          </a:p>
        </p:txBody>
      </p:sp>
      <p:sp>
        <p:nvSpPr>
          <p:cNvPr id="3" name="Content Placeholder 2"/>
          <p:cNvSpPr>
            <a:spLocks noGrp="1"/>
          </p:cNvSpPr>
          <p:nvPr>
            <p:ph idx="1"/>
          </p:nvPr>
        </p:nvSpPr>
        <p:spPr>
          <a:xfrm>
            <a:off x="457200" y="1600200"/>
            <a:ext cx="8229600" cy="5105400"/>
          </a:xfrm>
        </p:spPr>
        <p:txBody>
          <a:bodyPr>
            <a:normAutofit/>
          </a:bodyPr>
          <a:lstStyle/>
          <a:p>
            <a:pPr marL="0" indent="0">
              <a:lnSpc>
                <a:spcPct val="80000"/>
              </a:lnSpc>
              <a:buNone/>
            </a:pPr>
            <a:r>
              <a:rPr lang="en-GB" sz="2400" b="1" dirty="0"/>
              <a:t>Workflow management systems (WFMS)</a:t>
            </a:r>
          </a:p>
          <a:p>
            <a:pPr marL="0" indent="0">
              <a:lnSpc>
                <a:spcPct val="90000"/>
              </a:lnSpc>
              <a:buNone/>
            </a:pPr>
            <a:r>
              <a:rPr lang="en-GB" sz="2600" dirty="0"/>
              <a:t>Automate a business process by providing a structured framework to support the process as follows:-</a:t>
            </a:r>
          </a:p>
          <a:p>
            <a:pPr marL="412750" indent="-298450">
              <a:buFontTx/>
              <a:buChar char="–"/>
            </a:pPr>
            <a:r>
              <a:rPr lang="en-GB" sz="2600" dirty="0"/>
              <a:t>Assign tasks to </a:t>
            </a:r>
            <a:r>
              <a:rPr lang="en-GB" sz="2600" dirty="0" smtClean="0"/>
              <a:t>people.</a:t>
            </a:r>
            <a:endParaRPr lang="en-GB" sz="2600" dirty="0"/>
          </a:p>
          <a:p>
            <a:pPr marL="412750" indent="-298450">
              <a:buFontTx/>
              <a:buChar char="–"/>
            </a:pPr>
            <a:r>
              <a:rPr lang="en-GB" sz="2600" dirty="0"/>
              <a:t>Allow collaboration between people </a:t>
            </a:r>
            <a:endParaRPr lang="en-GB" sz="2600" dirty="0" smtClean="0"/>
          </a:p>
          <a:p>
            <a:pPr marL="114300" indent="0">
              <a:buNone/>
            </a:pPr>
            <a:r>
              <a:rPr lang="en-GB" sz="2600" dirty="0" smtClean="0"/>
              <a:t>    sharing tasks.</a:t>
            </a:r>
            <a:endParaRPr lang="en-GB" sz="2600" dirty="0"/>
          </a:p>
          <a:p>
            <a:pPr marL="412750" indent="-298450">
              <a:buFontTx/>
              <a:buChar char="–"/>
            </a:pPr>
            <a:r>
              <a:rPr lang="en-GB" sz="2600" dirty="0"/>
              <a:t>Retrieve information needed to </a:t>
            </a:r>
            <a:r>
              <a:rPr lang="en-GB" sz="2600" dirty="0" smtClean="0"/>
              <a:t>complete</a:t>
            </a:r>
          </a:p>
          <a:p>
            <a:pPr marL="114300" indent="0">
              <a:buNone/>
            </a:pPr>
            <a:r>
              <a:rPr lang="en-GB" sz="2600" dirty="0" smtClean="0"/>
              <a:t>    </a:t>
            </a:r>
            <a:r>
              <a:rPr lang="en-GB" sz="2600" dirty="0"/>
              <a:t>a task e.g. customer </a:t>
            </a:r>
            <a:r>
              <a:rPr lang="en-GB" sz="2600" dirty="0" smtClean="0"/>
              <a:t>details.</a:t>
            </a:r>
            <a:endParaRPr lang="en-GB" sz="2600" dirty="0"/>
          </a:p>
          <a:p>
            <a:pPr marL="412750" indent="-298450">
              <a:buFontTx/>
              <a:buChar char="–"/>
            </a:pPr>
            <a:r>
              <a:rPr lang="en-GB" sz="2600" dirty="0"/>
              <a:t>Provide an overview of the status of each </a:t>
            </a:r>
            <a:r>
              <a:rPr lang="en-GB" sz="2600" dirty="0" smtClean="0"/>
              <a:t>task.</a:t>
            </a:r>
            <a:endParaRPr lang="en-GB" sz="2600" dirty="0"/>
          </a:p>
          <a:p>
            <a:pPr marL="412750" indent="-298450">
              <a:buFontTx/>
              <a:buChar char="–"/>
            </a:pPr>
            <a:r>
              <a:rPr lang="en-GB" sz="2600" dirty="0"/>
              <a:t>Used in conjunction with DIP to provide automated routing of documents.</a:t>
            </a:r>
            <a:endParaRPr lang="en-US" sz="2600" dirty="0"/>
          </a:p>
          <a:p>
            <a:pPr marL="0" indent="0">
              <a:buNone/>
            </a:pPr>
            <a:endParaRPr lang="en-US" dirty="0"/>
          </a:p>
        </p:txBody>
      </p:sp>
      <p:pic>
        <p:nvPicPr>
          <p:cNvPr id="4" name="Picture 3"/>
          <p:cNvPicPr>
            <a:picLocks noChangeAspect="1"/>
          </p:cNvPicPr>
          <p:nvPr/>
        </p:nvPicPr>
        <p:blipFill>
          <a:blip r:embed="rId2"/>
          <a:stretch>
            <a:fillRect/>
          </a:stretch>
        </p:blipFill>
        <p:spPr>
          <a:xfrm>
            <a:off x="6553200" y="2676638"/>
            <a:ext cx="2514600" cy="2373086"/>
          </a:xfrm>
          <a:prstGeom prst="rect">
            <a:avLst/>
          </a:prstGeom>
        </p:spPr>
      </p:pic>
    </p:spTree>
    <p:extLst>
      <p:ext uri="{BB962C8B-B14F-4D97-AF65-F5344CB8AC3E}">
        <p14:creationId xmlns:p14="http://schemas.microsoft.com/office/powerpoint/2010/main" val="6775638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Process control systems</a:t>
            </a:r>
            <a:br>
              <a:rPr lang="en-GB" dirty="0"/>
            </a:br>
            <a:endParaRPr lang="en-US" dirty="0"/>
          </a:p>
        </p:txBody>
      </p:sp>
      <p:sp>
        <p:nvSpPr>
          <p:cNvPr id="3" name="Content Placeholder 2"/>
          <p:cNvSpPr>
            <a:spLocks noGrp="1"/>
          </p:cNvSpPr>
          <p:nvPr>
            <p:ph idx="1"/>
          </p:nvPr>
        </p:nvSpPr>
        <p:spPr>
          <a:xfrm>
            <a:off x="457200" y="1493837"/>
            <a:ext cx="8458200" cy="5287963"/>
          </a:xfrm>
        </p:spPr>
        <p:txBody>
          <a:bodyPr/>
          <a:lstStyle/>
          <a:p>
            <a:pPr marL="0" indent="0">
              <a:buNone/>
            </a:pPr>
            <a:r>
              <a:rPr lang="en-GB" dirty="0"/>
              <a:t>These systems support and control manufacturing </a:t>
            </a:r>
            <a:r>
              <a:rPr lang="en-GB" dirty="0" smtClean="0"/>
              <a:t>processes.</a:t>
            </a:r>
          </a:p>
          <a:p>
            <a:pPr marL="0" indent="0">
              <a:buNone/>
            </a:pPr>
            <a:r>
              <a:rPr lang="en-GB" sz="2600" b="1" dirty="0" smtClean="0"/>
              <a:t>Ex:</a:t>
            </a:r>
          </a:p>
          <a:p>
            <a:pPr marL="0" indent="0">
              <a:buNone/>
            </a:pPr>
            <a:r>
              <a:rPr lang="en-GB" sz="2600" b="1" dirty="0" smtClean="0"/>
              <a:t>CAD/CAM</a:t>
            </a:r>
            <a:r>
              <a:rPr lang="en-GB" sz="2600" dirty="0" smtClean="0"/>
              <a:t> </a:t>
            </a:r>
            <a:r>
              <a:rPr lang="en-GB" sz="2400" dirty="0" smtClean="0"/>
              <a:t>(Computer Aided Design/Computer Aided Manufacturing)</a:t>
            </a:r>
            <a:r>
              <a:rPr lang="en-GB" sz="2600" dirty="0" smtClean="0"/>
              <a:t>– </a:t>
            </a:r>
          </a:p>
          <a:p>
            <a:pPr marL="0" indent="0">
              <a:buNone/>
            </a:pPr>
            <a:endParaRPr lang="en-GB" sz="2600" dirty="0"/>
          </a:p>
          <a:p>
            <a:pPr marL="0" indent="0">
              <a:buNone/>
            </a:pPr>
            <a:endParaRPr lang="en-GB" sz="2600" dirty="0" smtClean="0"/>
          </a:p>
          <a:p>
            <a:pPr marL="0" indent="0">
              <a:buNone/>
            </a:pPr>
            <a:endParaRPr lang="en-GB" sz="2600" dirty="0"/>
          </a:p>
          <a:p>
            <a:pPr marL="0" indent="0">
              <a:buNone/>
            </a:pPr>
            <a:endParaRPr lang="en-GB" sz="2600" dirty="0" smtClean="0"/>
          </a:p>
          <a:p>
            <a:pPr marL="0" indent="0">
              <a:buNone/>
            </a:pPr>
            <a:r>
              <a:rPr lang="en-GB" sz="2600" dirty="0" smtClean="0"/>
              <a:t>provides </a:t>
            </a:r>
            <a:r>
              <a:rPr lang="en-GB" sz="2600" dirty="0"/>
              <a:t>a graphics program which allows the design (CAD) and automated manufacture (CAM) of components.</a:t>
            </a:r>
            <a:endParaRPr lang="en-US" sz="2600" dirty="0"/>
          </a:p>
          <a:p>
            <a:endParaRPr lang="en-US" dirty="0"/>
          </a:p>
        </p:txBody>
      </p:sp>
      <p:pic>
        <p:nvPicPr>
          <p:cNvPr id="4" name="Picture 3"/>
          <p:cNvPicPr>
            <a:picLocks noChangeAspect="1"/>
          </p:cNvPicPr>
          <p:nvPr/>
        </p:nvPicPr>
        <p:blipFill>
          <a:blip r:embed="rId2"/>
          <a:stretch>
            <a:fillRect/>
          </a:stretch>
        </p:blipFill>
        <p:spPr>
          <a:xfrm>
            <a:off x="2933700" y="3276600"/>
            <a:ext cx="3505200" cy="2038739"/>
          </a:xfrm>
          <a:prstGeom prst="rect">
            <a:avLst/>
          </a:prstGeom>
        </p:spPr>
      </p:pic>
    </p:spTree>
    <p:extLst>
      <p:ext uri="{BB962C8B-B14F-4D97-AF65-F5344CB8AC3E}">
        <p14:creationId xmlns:p14="http://schemas.microsoft.com/office/powerpoint/2010/main" val="11994768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Expert systems</a:t>
            </a:r>
            <a:endParaRPr lang="en-US" dirty="0"/>
          </a:p>
        </p:txBody>
      </p:sp>
      <p:sp>
        <p:nvSpPr>
          <p:cNvPr id="3" name="Content Placeholder 2"/>
          <p:cNvSpPr>
            <a:spLocks noGrp="1"/>
          </p:cNvSpPr>
          <p:nvPr>
            <p:ph idx="1"/>
          </p:nvPr>
        </p:nvSpPr>
        <p:spPr>
          <a:xfrm>
            <a:off x="457200" y="1417638"/>
            <a:ext cx="8229600" cy="4708525"/>
          </a:xfrm>
        </p:spPr>
        <p:txBody>
          <a:bodyPr>
            <a:normAutofit/>
          </a:bodyPr>
          <a:lstStyle/>
          <a:p>
            <a:pPr marL="0" lvl="1" indent="0">
              <a:buNone/>
            </a:pPr>
            <a:r>
              <a:rPr lang="en-GB" sz="2500" dirty="0"/>
              <a:t>Based on Artificial Intelligence </a:t>
            </a:r>
            <a:r>
              <a:rPr lang="en-GB" sz="2500" dirty="0" smtClean="0"/>
              <a:t>technologies.</a:t>
            </a:r>
            <a:endParaRPr lang="en-GB" sz="2500" dirty="0"/>
          </a:p>
          <a:p>
            <a:pPr marL="0" lvl="1" indent="0">
              <a:buNone/>
            </a:pPr>
            <a:r>
              <a:rPr lang="en-US" sz="2500" dirty="0"/>
              <a:t>Computer system that emulates the decision-making ability of a human </a:t>
            </a:r>
            <a:r>
              <a:rPr lang="en-US" sz="2500" dirty="0" smtClean="0"/>
              <a:t>expert. </a:t>
            </a:r>
            <a:endParaRPr lang="en-US" sz="2500" dirty="0"/>
          </a:p>
          <a:p>
            <a:pPr marL="0" lvl="1" indent="0">
              <a:buNone/>
            </a:pPr>
            <a:r>
              <a:rPr lang="en-GB" sz="2500" dirty="0"/>
              <a:t>Represent the knowledge and decision-making skills </a:t>
            </a:r>
            <a:r>
              <a:rPr lang="en-GB" sz="2500" dirty="0" smtClean="0"/>
              <a:t>of specialists.</a:t>
            </a:r>
          </a:p>
          <a:p>
            <a:pPr marL="0" lvl="1" indent="0">
              <a:buNone/>
            </a:pPr>
            <a:endParaRPr lang="en-GB" sz="2500" dirty="0"/>
          </a:p>
          <a:p>
            <a:pPr marL="0" indent="0">
              <a:buNone/>
            </a:pPr>
            <a:endParaRPr lang="en-US" sz="2500" dirty="0" smtClean="0"/>
          </a:p>
          <a:p>
            <a:pPr marL="0" indent="0">
              <a:buNone/>
            </a:pPr>
            <a:endParaRPr lang="en-US" sz="2500" dirty="0"/>
          </a:p>
          <a:p>
            <a:pPr marL="0" indent="0">
              <a:buNone/>
            </a:pPr>
            <a:endParaRPr lang="en-US" sz="2500" dirty="0"/>
          </a:p>
          <a:p>
            <a:pPr marL="0" indent="0">
              <a:buNone/>
            </a:pPr>
            <a:endParaRPr lang="en-US" dirty="0"/>
          </a:p>
        </p:txBody>
      </p:sp>
      <p:pic>
        <p:nvPicPr>
          <p:cNvPr id="4" name="Picture 3"/>
          <p:cNvPicPr>
            <a:picLocks noChangeAspect="1"/>
          </p:cNvPicPr>
          <p:nvPr/>
        </p:nvPicPr>
        <p:blipFill>
          <a:blip r:embed="rId2"/>
          <a:stretch>
            <a:fillRect/>
          </a:stretch>
        </p:blipFill>
        <p:spPr>
          <a:xfrm>
            <a:off x="609600" y="3657600"/>
            <a:ext cx="8206739" cy="3200400"/>
          </a:xfrm>
          <a:prstGeom prst="rect">
            <a:avLst/>
          </a:prstGeom>
        </p:spPr>
      </p:pic>
    </p:spTree>
    <p:extLst>
      <p:ext uri="{BB962C8B-B14F-4D97-AF65-F5344CB8AC3E}">
        <p14:creationId xmlns:p14="http://schemas.microsoft.com/office/powerpoint/2010/main" val="5428673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Expert </a:t>
            </a:r>
            <a:r>
              <a:rPr lang="en-GB" dirty="0" smtClean="0"/>
              <a:t>systems </a:t>
            </a:r>
            <a:r>
              <a:rPr lang="en-GB" sz="3200" dirty="0" smtClean="0"/>
              <a:t>Cont.</a:t>
            </a:r>
            <a:endParaRPr lang="en-US" sz="3200" dirty="0"/>
          </a:p>
        </p:txBody>
      </p:sp>
      <p:sp>
        <p:nvSpPr>
          <p:cNvPr id="3" name="Content Placeholder 2"/>
          <p:cNvSpPr>
            <a:spLocks noGrp="1"/>
          </p:cNvSpPr>
          <p:nvPr>
            <p:ph idx="1"/>
          </p:nvPr>
        </p:nvSpPr>
        <p:spPr/>
        <p:txBody>
          <a:bodyPr>
            <a:normAutofit lnSpcReduction="10000"/>
          </a:bodyPr>
          <a:lstStyle/>
          <a:p>
            <a:pPr marL="0" indent="0">
              <a:buNone/>
            </a:pPr>
            <a:endParaRPr lang="en-US" sz="2500" b="1" dirty="0"/>
          </a:p>
          <a:p>
            <a:pPr marL="0" indent="0">
              <a:buNone/>
            </a:pPr>
            <a:endParaRPr lang="en-US" sz="2500" b="1" dirty="0" smtClean="0"/>
          </a:p>
          <a:p>
            <a:pPr marL="0" indent="0">
              <a:buNone/>
            </a:pPr>
            <a:endParaRPr lang="en-US" sz="2500" b="1" dirty="0"/>
          </a:p>
          <a:p>
            <a:pPr marL="0" indent="0">
              <a:buNone/>
            </a:pPr>
            <a:endParaRPr lang="en-US" sz="2500" b="1" dirty="0" smtClean="0"/>
          </a:p>
          <a:p>
            <a:pPr marL="0" indent="0">
              <a:buNone/>
            </a:pPr>
            <a:r>
              <a:rPr lang="en-US" sz="2500" b="1" dirty="0" smtClean="0"/>
              <a:t>MYCIN</a:t>
            </a:r>
            <a:r>
              <a:rPr lang="en-US" sz="2500" b="1" dirty="0"/>
              <a:t>: medical diagnosis </a:t>
            </a:r>
          </a:p>
          <a:p>
            <a:pPr marL="0" indent="0">
              <a:buNone/>
            </a:pPr>
            <a:r>
              <a:rPr lang="en-US" sz="2500" dirty="0"/>
              <a:t>T</a:t>
            </a:r>
            <a:r>
              <a:rPr lang="en-US" sz="2500" dirty="0" smtClean="0"/>
              <a:t>he </a:t>
            </a:r>
            <a:r>
              <a:rPr lang="en-US" sz="2500" dirty="0"/>
              <a:t>first well known medical expert </a:t>
            </a:r>
            <a:endParaRPr lang="en-US" sz="2500" dirty="0" smtClean="0"/>
          </a:p>
          <a:p>
            <a:pPr marL="0" indent="0">
              <a:buNone/>
            </a:pPr>
            <a:r>
              <a:rPr lang="en-US" sz="2500" dirty="0" smtClean="0"/>
              <a:t>system </a:t>
            </a:r>
            <a:r>
              <a:rPr lang="en-US" sz="2500" dirty="0"/>
              <a:t>to help </a:t>
            </a:r>
            <a:r>
              <a:rPr lang="en-US" sz="2500" dirty="0" smtClean="0"/>
              <a:t>doctors, who are not </a:t>
            </a:r>
          </a:p>
          <a:p>
            <a:pPr marL="0" indent="0">
              <a:buNone/>
            </a:pPr>
            <a:r>
              <a:rPr lang="en-US" sz="2500" dirty="0" smtClean="0"/>
              <a:t>expert </a:t>
            </a:r>
            <a:r>
              <a:rPr lang="en-US" sz="2500" dirty="0"/>
              <a:t>in </a:t>
            </a:r>
            <a:r>
              <a:rPr lang="en-US" sz="2500" dirty="0" smtClean="0"/>
              <a:t>antibiotic drugs. It prescribes </a:t>
            </a:r>
            <a:r>
              <a:rPr lang="en-US" sz="2500" dirty="0"/>
              <a:t>such drugs for blood </a:t>
            </a:r>
            <a:r>
              <a:rPr lang="en-US" sz="2500" dirty="0" smtClean="0"/>
              <a:t>infections </a:t>
            </a:r>
            <a:r>
              <a:rPr lang="en-US" sz="2500" dirty="0"/>
              <a:t>with the dosage adjusted for patient's body weight</a:t>
            </a:r>
            <a:r>
              <a:rPr lang="en-US" sz="2500" dirty="0" smtClean="0"/>
              <a:t>.</a:t>
            </a:r>
            <a:r>
              <a:rPr lang="en-US" sz="2500" dirty="0"/>
              <a:t> </a:t>
            </a:r>
          </a:p>
          <a:p>
            <a:pPr marL="0" indent="0">
              <a:buNone/>
            </a:pPr>
            <a:endParaRPr lang="en-US" dirty="0"/>
          </a:p>
        </p:txBody>
      </p:sp>
      <p:pic>
        <p:nvPicPr>
          <p:cNvPr id="7" name="Picture 6"/>
          <p:cNvPicPr>
            <a:picLocks noChangeAspect="1"/>
          </p:cNvPicPr>
          <p:nvPr/>
        </p:nvPicPr>
        <p:blipFill>
          <a:blip r:embed="rId2"/>
          <a:stretch>
            <a:fillRect/>
          </a:stretch>
        </p:blipFill>
        <p:spPr>
          <a:xfrm>
            <a:off x="5257800" y="1896534"/>
            <a:ext cx="2771775" cy="2361142"/>
          </a:xfrm>
          <a:prstGeom prst="rect">
            <a:avLst/>
          </a:prstGeom>
        </p:spPr>
      </p:pic>
    </p:spTree>
    <p:extLst>
      <p:ext uri="{BB962C8B-B14F-4D97-AF65-F5344CB8AC3E}">
        <p14:creationId xmlns:p14="http://schemas.microsoft.com/office/powerpoint/2010/main" val="5288868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988271" y="1564548"/>
            <a:ext cx="1295401" cy="1143638"/>
          </a:xfrm>
          <a:prstGeom prst="rect">
            <a:avLst/>
          </a:prstGeom>
        </p:spPr>
      </p:pic>
      <p:sp>
        <p:nvSpPr>
          <p:cNvPr id="6" name="Oval 5"/>
          <p:cNvSpPr/>
          <p:nvPr/>
        </p:nvSpPr>
        <p:spPr>
          <a:xfrm>
            <a:off x="2656587" y="2819400"/>
            <a:ext cx="3830825" cy="2286000"/>
          </a:xfrm>
          <a:prstGeom prst="ellipse">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199" y="124356"/>
            <a:ext cx="8229600" cy="1143000"/>
          </a:xfrm>
        </p:spPr>
        <p:txBody>
          <a:bodyPr>
            <a:normAutofit/>
          </a:bodyPr>
          <a:lstStyle/>
          <a:p>
            <a:r>
              <a:rPr lang="en-US" dirty="0"/>
              <a:t>Enterprise Systems</a:t>
            </a:r>
          </a:p>
        </p:txBody>
      </p:sp>
      <p:sp>
        <p:nvSpPr>
          <p:cNvPr id="3" name="Content Placeholder 2"/>
          <p:cNvSpPr>
            <a:spLocks noGrp="1"/>
          </p:cNvSpPr>
          <p:nvPr>
            <p:ph idx="1"/>
          </p:nvPr>
        </p:nvSpPr>
        <p:spPr>
          <a:xfrm>
            <a:off x="152400" y="1371600"/>
            <a:ext cx="8686800" cy="5486400"/>
          </a:xfrm>
        </p:spPr>
        <p:txBody>
          <a:bodyPr>
            <a:normAutofit/>
          </a:bodyPr>
          <a:lstStyle/>
          <a:p>
            <a:pPr marL="57150" indent="0">
              <a:buNone/>
            </a:pPr>
            <a:r>
              <a:rPr lang="en-GB" sz="2400" dirty="0"/>
              <a:t>Support the business processes of an organisation across any functional boundaries that exist within that organisation.</a:t>
            </a:r>
          </a:p>
          <a:p>
            <a:pPr marL="457200" lvl="1" indent="0">
              <a:buNone/>
            </a:pPr>
            <a:endParaRPr lang="en-GB" sz="2400" dirty="0"/>
          </a:p>
          <a:p>
            <a:pPr lvl="1">
              <a:buFont typeface="Arial" panose="020B0604020202020204" pitchFamily="34" charset="0"/>
              <a:buChar char="•"/>
            </a:pPr>
            <a:endParaRPr lang="en-GB" sz="2400" dirty="0"/>
          </a:p>
          <a:p>
            <a:pPr lvl="1">
              <a:buFont typeface="Arial" panose="020B0604020202020204" pitchFamily="34" charset="0"/>
              <a:buChar char="•"/>
            </a:pPr>
            <a:endParaRPr lang="en-GB" sz="2400" dirty="0" smtClean="0"/>
          </a:p>
          <a:p>
            <a:pPr lvl="1">
              <a:buFont typeface="Arial" panose="020B0604020202020204" pitchFamily="34" charset="0"/>
              <a:buChar char="•"/>
            </a:pPr>
            <a:endParaRPr lang="en-GB" sz="2400" dirty="0"/>
          </a:p>
          <a:p>
            <a:pPr lvl="1">
              <a:buFont typeface="Arial" panose="020B0604020202020204" pitchFamily="34" charset="0"/>
              <a:buChar char="•"/>
            </a:pPr>
            <a:endParaRPr lang="en-GB" sz="2400" dirty="0" smtClean="0"/>
          </a:p>
          <a:p>
            <a:pPr lvl="1">
              <a:buFont typeface="Arial" panose="020B0604020202020204" pitchFamily="34" charset="0"/>
              <a:buChar char="•"/>
            </a:pPr>
            <a:endParaRPr lang="en-GB" sz="2400" dirty="0"/>
          </a:p>
          <a:p>
            <a:pPr lvl="1">
              <a:buFont typeface="Arial" panose="020B0604020202020204" pitchFamily="34" charset="0"/>
              <a:buChar char="•"/>
            </a:pPr>
            <a:endParaRPr lang="en-GB" sz="2400" dirty="0" smtClean="0"/>
          </a:p>
          <a:p>
            <a:pPr lvl="1">
              <a:buFont typeface="Arial" panose="020B0604020202020204" pitchFamily="34" charset="0"/>
              <a:buChar char="•"/>
            </a:pPr>
            <a:endParaRPr lang="en-GB" sz="2400" dirty="0" smtClean="0"/>
          </a:p>
          <a:p>
            <a:pPr marL="0" indent="0">
              <a:buNone/>
            </a:pPr>
            <a:r>
              <a:rPr lang="en-GB" sz="2400" dirty="0"/>
              <a:t>Use internet technology to connect the business with suppliers, customers and partners</a:t>
            </a:r>
            <a:r>
              <a:rPr lang="en-GB" sz="2400" dirty="0" smtClean="0"/>
              <a:t>.</a:t>
            </a:r>
          </a:p>
          <a:p>
            <a:pPr marL="0" indent="0">
              <a:buNone/>
            </a:pPr>
            <a:r>
              <a:rPr lang="en-GB" sz="2400" dirty="0" smtClean="0"/>
              <a:t>Main </a:t>
            </a:r>
            <a:r>
              <a:rPr lang="en-GB" sz="2400" dirty="0"/>
              <a:t>elements of Enterprise systems are ERP, CRM, SCM and SRM.</a:t>
            </a:r>
            <a:endParaRPr lang="en-US" sz="2400" dirty="0"/>
          </a:p>
        </p:txBody>
      </p:sp>
      <p:pic>
        <p:nvPicPr>
          <p:cNvPr id="1026" name="Picture 2" descr="Image result for suppl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362200"/>
            <a:ext cx="1085850" cy="9976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3851903" y="3564657"/>
            <a:ext cx="1481137" cy="955572"/>
          </a:xfrm>
          <a:prstGeom prst="rect">
            <a:avLst/>
          </a:prstGeom>
        </p:spPr>
      </p:pic>
      <p:cxnSp>
        <p:nvCxnSpPr>
          <p:cNvPr id="8" name="Straight Arrow Connector 7"/>
          <p:cNvCxnSpPr>
            <a:stCxn id="4" idx="1"/>
          </p:cNvCxnSpPr>
          <p:nvPr/>
        </p:nvCxnSpPr>
        <p:spPr>
          <a:xfrm flipH="1" flipV="1">
            <a:off x="2152650" y="3011609"/>
            <a:ext cx="1699253" cy="10308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257818" y="2035412"/>
            <a:ext cx="2089359" cy="149479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476107" y="4553677"/>
            <a:ext cx="2232727" cy="369332"/>
          </a:xfrm>
          <a:prstGeom prst="rect">
            <a:avLst/>
          </a:prstGeom>
          <a:noFill/>
        </p:spPr>
        <p:txBody>
          <a:bodyPr wrap="none" rtlCol="0">
            <a:spAutoFit/>
          </a:bodyPr>
          <a:lstStyle/>
          <a:p>
            <a:r>
              <a:rPr lang="en-US" dirty="0" smtClean="0"/>
              <a:t>Business Organization</a:t>
            </a:r>
            <a:endParaRPr lang="en-US" dirty="0"/>
          </a:p>
        </p:txBody>
      </p:sp>
      <p:sp>
        <p:nvSpPr>
          <p:cNvPr id="12" name="TextBox 11"/>
          <p:cNvSpPr txBox="1"/>
          <p:nvPr/>
        </p:nvSpPr>
        <p:spPr>
          <a:xfrm>
            <a:off x="1101616" y="3359883"/>
            <a:ext cx="957313" cy="369332"/>
          </a:xfrm>
          <a:prstGeom prst="rect">
            <a:avLst/>
          </a:prstGeom>
          <a:noFill/>
        </p:spPr>
        <p:txBody>
          <a:bodyPr wrap="none" rtlCol="0">
            <a:spAutoFit/>
          </a:bodyPr>
          <a:lstStyle/>
          <a:p>
            <a:r>
              <a:rPr lang="en-US" dirty="0" smtClean="0"/>
              <a:t>Supplier</a:t>
            </a:r>
            <a:endParaRPr lang="en-US" dirty="0"/>
          </a:p>
        </p:txBody>
      </p:sp>
      <p:sp>
        <p:nvSpPr>
          <p:cNvPr id="14" name="TextBox 13"/>
          <p:cNvSpPr txBox="1"/>
          <p:nvPr/>
        </p:nvSpPr>
        <p:spPr>
          <a:xfrm>
            <a:off x="7253757" y="2552656"/>
            <a:ext cx="1123335" cy="369332"/>
          </a:xfrm>
          <a:prstGeom prst="rect">
            <a:avLst/>
          </a:prstGeom>
          <a:noFill/>
        </p:spPr>
        <p:txBody>
          <a:bodyPr wrap="square" rtlCol="0">
            <a:spAutoFit/>
          </a:bodyPr>
          <a:lstStyle/>
          <a:p>
            <a:r>
              <a:rPr lang="en-US" dirty="0" smtClean="0"/>
              <a:t>Customer</a:t>
            </a:r>
            <a:endParaRPr lang="en-US" dirty="0"/>
          </a:p>
        </p:txBody>
      </p:sp>
      <p:sp>
        <p:nvSpPr>
          <p:cNvPr id="16" name="Cloud 15"/>
          <p:cNvSpPr/>
          <p:nvPr/>
        </p:nvSpPr>
        <p:spPr>
          <a:xfrm rot="20075709">
            <a:off x="2161790" y="3147721"/>
            <a:ext cx="1458675" cy="884493"/>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Supplier  Portal</a:t>
            </a:r>
            <a:endParaRPr lang="en-US" dirty="0"/>
          </a:p>
        </p:txBody>
      </p:sp>
      <p:sp>
        <p:nvSpPr>
          <p:cNvPr id="20" name="Cloud 19"/>
          <p:cNvSpPr/>
          <p:nvPr/>
        </p:nvSpPr>
        <p:spPr>
          <a:xfrm rot="288156">
            <a:off x="5059884" y="2349028"/>
            <a:ext cx="1696465" cy="914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Customer Portal</a:t>
            </a:r>
            <a:endParaRPr lang="en-US" dirty="0"/>
          </a:p>
        </p:txBody>
      </p:sp>
      <p:pic>
        <p:nvPicPr>
          <p:cNvPr id="22" name="Picture 21"/>
          <p:cNvPicPr>
            <a:picLocks noChangeAspect="1"/>
          </p:cNvPicPr>
          <p:nvPr/>
        </p:nvPicPr>
        <p:blipFill>
          <a:blip r:embed="rId5"/>
          <a:stretch>
            <a:fillRect/>
          </a:stretch>
        </p:blipFill>
        <p:spPr>
          <a:xfrm>
            <a:off x="7359455" y="3931330"/>
            <a:ext cx="1350865" cy="1011845"/>
          </a:xfrm>
          <a:prstGeom prst="rect">
            <a:avLst/>
          </a:prstGeom>
        </p:spPr>
      </p:pic>
      <p:sp>
        <p:nvSpPr>
          <p:cNvPr id="24" name="TextBox 23"/>
          <p:cNvSpPr txBox="1"/>
          <p:nvPr/>
        </p:nvSpPr>
        <p:spPr>
          <a:xfrm>
            <a:off x="7101411" y="4729883"/>
            <a:ext cx="1943750" cy="369332"/>
          </a:xfrm>
          <a:prstGeom prst="rect">
            <a:avLst/>
          </a:prstGeom>
          <a:noFill/>
        </p:spPr>
        <p:txBody>
          <a:bodyPr wrap="square" rtlCol="0">
            <a:spAutoFit/>
          </a:bodyPr>
          <a:lstStyle/>
          <a:p>
            <a:r>
              <a:rPr lang="en-US" dirty="0" smtClean="0"/>
              <a:t>Business partners</a:t>
            </a:r>
            <a:endParaRPr lang="en-US" dirty="0"/>
          </a:p>
        </p:txBody>
      </p:sp>
      <p:sp>
        <p:nvSpPr>
          <p:cNvPr id="23" name="Cloud 22"/>
          <p:cNvSpPr/>
          <p:nvPr/>
        </p:nvSpPr>
        <p:spPr>
          <a:xfrm rot="20428030">
            <a:off x="5562845" y="3684265"/>
            <a:ext cx="1869611" cy="9144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Authorized Access</a:t>
            </a:r>
            <a:endParaRPr lang="en-US" dirty="0"/>
          </a:p>
        </p:txBody>
      </p:sp>
      <p:cxnSp>
        <p:nvCxnSpPr>
          <p:cNvPr id="26" name="Straight Arrow Connector 25"/>
          <p:cNvCxnSpPr/>
          <p:nvPr/>
        </p:nvCxnSpPr>
        <p:spPr>
          <a:xfrm>
            <a:off x="5333040" y="4225354"/>
            <a:ext cx="2198482" cy="1159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04802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0050" y="3602"/>
            <a:ext cx="8229600" cy="1143000"/>
          </a:xfrm>
        </p:spPr>
        <p:txBody>
          <a:bodyPr>
            <a:normAutofit/>
          </a:bodyPr>
          <a:lstStyle/>
          <a:p>
            <a:r>
              <a:rPr lang="en-US" dirty="0"/>
              <a:t>Enterprise </a:t>
            </a:r>
            <a:r>
              <a:rPr lang="en-US" dirty="0" smtClean="0"/>
              <a:t>Systems </a:t>
            </a:r>
            <a:r>
              <a:rPr lang="en-US" sz="3200" dirty="0" smtClean="0"/>
              <a:t>Cont.</a:t>
            </a:r>
            <a:endParaRPr lang="en-US" sz="3200" dirty="0"/>
          </a:p>
        </p:txBody>
      </p:sp>
      <p:sp>
        <p:nvSpPr>
          <p:cNvPr id="10" name="Rectangle 9"/>
          <p:cNvSpPr/>
          <p:nvPr/>
        </p:nvSpPr>
        <p:spPr>
          <a:xfrm>
            <a:off x="152400" y="1066800"/>
            <a:ext cx="8839200" cy="5632311"/>
          </a:xfrm>
          <a:prstGeom prst="rect">
            <a:avLst/>
          </a:prstGeom>
        </p:spPr>
        <p:txBody>
          <a:bodyPr wrap="square">
            <a:spAutoFit/>
          </a:bodyPr>
          <a:lstStyle/>
          <a:p>
            <a:r>
              <a:rPr lang="en-GB" dirty="0"/>
              <a:t>Enterprise applications from </a:t>
            </a:r>
            <a:r>
              <a:rPr lang="en-GB" dirty="0" smtClean="0"/>
              <a:t>SAP</a:t>
            </a:r>
          </a:p>
          <a:p>
            <a:endParaRPr lang="en-GB" dirty="0"/>
          </a:p>
          <a:p>
            <a:endParaRPr lang="en-GB" dirty="0" smtClean="0"/>
          </a:p>
          <a:p>
            <a:endParaRPr lang="en-GB" dirty="0"/>
          </a:p>
          <a:p>
            <a:endParaRPr lang="en-GB" dirty="0" smtClean="0"/>
          </a:p>
          <a:p>
            <a:endParaRPr lang="en-GB" dirty="0"/>
          </a:p>
          <a:p>
            <a:endParaRPr lang="en-GB" dirty="0" smtClean="0"/>
          </a:p>
          <a:p>
            <a:endParaRPr lang="en-GB" dirty="0"/>
          </a:p>
          <a:p>
            <a:pPr algn="r"/>
            <a:r>
              <a:rPr lang="en-GB" b="1" dirty="0" smtClean="0"/>
              <a:t>Watch </a:t>
            </a:r>
            <a:r>
              <a:rPr lang="en-GB" b="1" dirty="0"/>
              <a:t>video on </a:t>
            </a:r>
            <a:endParaRPr lang="en-GB" b="1" dirty="0" smtClean="0"/>
          </a:p>
          <a:p>
            <a:pPr algn="r"/>
            <a:r>
              <a:rPr lang="en-GB" b="1" dirty="0" smtClean="0">
                <a:hlinkClick r:id="rId2"/>
              </a:rPr>
              <a:t>SAP </a:t>
            </a:r>
            <a:r>
              <a:rPr lang="en-GB" b="1" dirty="0">
                <a:hlinkClick r:id="rId2"/>
              </a:rPr>
              <a:t>BUSINESS SUITE 7 </a:t>
            </a:r>
            <a:endParaRPr lang="en-GB" b="1" dirty="0" smtClean="0">
              <a:hlinkClick r:id=""/>
            </a:endParaRPr>
          </a:p>
          <a:p>
            <a:pPr algn="r"/>
            <a:r>
              <a:rPr lang="en-GB" b="1" dirty="0" smtClean="0">
                <a:hlinkClick r:id=""/>
              </a:rPr>
              <a:t>RETAIL DEMO</a:t>
            </a:r>
            <a:endParaRPr lang="en-GB" b="1" dirty="0" smtClean="0"/>
          </a:p>
          <a:p>
            <a:pPr algn="r"/>
            <a:endParaRPr lang="en-GB" b="1" dirty="0"/>
          </a:p>
          <a:p>
            <a:pPr algn="r"/>
            <a:endParaRPr lang="en-GB" b="1" dirty="0" smtClean="0"/>
          </a:p>
          <a:p>
            <a:pPr algn="r"/>
            <a:endParaRPr lang="en-GB" b="1" dirty="0"/>
          </a:p>
          <a:p>
            <a:pPr algn="r"/>
            <a:endParaRPr lang="en-GB" b="1" dirty="0" smtClean="0"/>
          </a:p>
          <a:p>
            <a:pPr algn="r"/>
            <a:endParaRPr lang="en-GB" b="1" dirty="0"/>
          </a:p>
          <a:p>
            <a:pPr algn="r"/>
            <a:endParaRPr lang="en-GB" b="1" dirty="0" smtClean="0"/>
          </a:p>
          <a:p>
            <a:pPr algn="r"/>
            <a:endParaRPr lang="en-GB" b="1" dirty="0"/>
          </a:p>
          <a:p>
            <a:pPr algn="r"/>
            <a:endParaRPr lang="en-GB" b="1" dirty="0" smtClean="0"/>
          </a:p>
          <a:p>
            <a:pPr algn="r"/>
            <a:r>
              <a:rPr lang="en-GB" b="1" dirty="0"/>
              <a:t> </a:t>
            </a:r>
          </a:p>
        </p:txBody>
      </p:sp>
      <p:pic>
        <p:nvPicPr>
          <p:cNvPr id="11" name="Picture 10"/>
          <p:cNvPicPr>
            <a:picLocks noChangeAspect="1"/>
          </p:cNvPicPr>
          <p:nvPr/>
        </p:nvPicPr>
        <p:blipFill>
          <a:blip r:embed="rId3"/>
          <a:stretch>
            <a:fillRect/>
          </a:stretch>
        </p:blipFill>
        <p:spPr>
          <a:xfrm>
            <a:off x="304800" y="1408038"/>
            <a:ext cx="5383235" cy="5029636"/>
          </a:xfrm>
          <a:prstGeom prst="rect">
            <a:avLst/>
          </a:prstGeom>
        </p:spPr>
      </p:pic>
    </p:spTree>
    <p:extLst>
      <p:ext uri="{BB962C8B-B14F-4D97-AF65-F5344CB8AC3E}">
        <p14:creationId xmlns:p14="http://schemas.microsoft.com/office/powerpoint/2010/main" val="42089931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Enterprise Systems </a:t>
            </a:r>
            <a:r>
              <a:rPr lang="en-US" sz="3200" dirty="0"/>
              <a:t>Cont.</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marL="457200" lvl="1" indent="0">
              <a:buNone/>
            </a:pPr>
            <a:r>
              <a:rPr lang="en-US" b="1" dirty="0"/>
              <a:t>Enterprise Resource Planning(ERP) </a:t>
            </a:r>
            <a:r>
              <a:rPr lang="en-US" b="1" dirty="0" smtClean="0"/>
              <a:t>Systems:</a:t>
            </a:r>
            <a:endParaRPr lang="en-GB" b="1" dirty="0" smtClean="0"/>
          </a:p>
          <a:p>
            <a:pPr lvl="1"/>
            <a:r>
              <a:rPr lang="en-GB" dirty="0" smtClean="0"/>
              <a:t>ERP </a:t>
            </a:r>
            <a:r>
              <a:rPr lang="en-GB" dirty="0"/>
              <a:t>provides a single integrated solution from a single supplier for major business functions such as marketing, finance etc</a:t>
            </a:r>
            <a:r>
              <a:rPr lang="en-GB" dirty="0" smtClean="0"/>
              <a:t>.</a:t>
            </a:r>
          </a:p>
          <a:p>
            <a:pPr lvl="1"/>
            <a:endParaRPr lang="en-GB" dirty="0"/>
          </a:p>
          <a:p>
            <a:pPr lvl="1"/>
            <a:r>
              <a:rPr lang="en-GB" dirty="0"/>
              <a:t>Advantage of ERP is it removes ‘information islands’ (separate applications and data in different parts of the company</a:t>
            </a:r>
            <a:r>
              <a:rPr lang="en-GB" dirty="0" smtClean="0"/>
              <a:t>).</a:t>
            </a:r>
          </a:p>
          <a:p>
            <a:pPr lvl="1"/>
            <a:endParaRPr lang="en-GB" dirty="0"/>
          </a:p>
          <a:p>
            <a:pPr lvl="1"/>
            <a:r>
              <a:rPr lang="en-GB" dirty="0"/>
              <a:t>Disadvantages of ERP include high cost, major change required for implementation and need to change working methods to software.</a:t>
            </a:r>
            <a:endParaRPr lang="en-US" dirty="0"/>
          </a:p>
        </p:txBody>
      </p:sp>
    </p:spTree>
    <p:extLst>
      <p:ext uri="{BB962C8B-B14F-4D97-AF65-F5344CB8AC3E}">
        <p14:creationId xmlns:p14="http://schemas.microsoft.com/office/powerpoint/2010/main" val="17447067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Enterprise Systems </a:t>
            </a:r>
            <a:r>
              <a:rPr lang="en-US" sz="3200" dirty="0"/>
              <a:t>Cont.</a:t>
            </a:r>
          </a:p>
        </p:txBody>
      </p:sp>
      <p:pic>
        <p:nvPicPr>
          <p:cNvPr id="4" name="Picture 8" descr="R:\Powerpoint\Pe_Uk\PE160-Bocij\Final files\Gif\ch06\C06NF002.gif"/>
          <p:cNvPicPr>
            <a:picLocks noGrp="1" noChangeAspect="1" noChangeArrowheads="1"/>
          </p:cNvPicPr>
          <p:nvPr>
            <p:ph idx="1"/>
          </p:nvPr>
        </p:nvPicPr>
        <p:blipFill>
          <a:blip r:embed="rId2" cstate="print"/>
          <a:srcRect/>
          <a:stretch>
            <a:fillRect/>
          </a:stretch>
        </p:blipFill>
        <p:spPr bwMode="auto">
          <a:xfrm>
            <a:off x="1348608" y="1600200"/>
            <a:ext cx="6446783" cy="4525963"/>
          </a:xfrm>
          <a:prstGeom prst="rect">
            <a:avLst/>
          </a:prstGeom>
          <a:noFill/>
        </p:spPr>
      </p:pic>
      <p:sp>
        <p:nvSpPr>
          <p:cNvPr id="5" name="Rectangle 4"/>
          <p:cNvSpPr/>
          <p:nvPr/>
        </p:nvSpPr>
        <p:spPr>
          <a:xfrm>
            <a:off x="1104899" y="6308725"/>
            <a:ext cx="6934200" cy="369332"/>
          </a:xfrm>
          <a:prstGeom prst="rect">
            <a:avLst/>
          </a:prstGeom>
        </p:spPr>
        <p:txBody>
          <a:bodyPr wrap="square">
            <a:spAutoFit/>
          </a:bodyPr>
          <a:lstStyle/>
          <a:p>
            <a:r>
              <a:rPr lang="en-GB" dirty="0" smtClean="0"/>
              <a:t>ERP system in </a:t>
            </a:r>
            <a:r>
              <a:rPr lang="en-GB" dirty="0"/>
              <a:t>comparison to separate functional applications</a:t>
            </a:r>
            <a:endParaRPr lang="en-US" dirty="0"/>
          </a:p>
        </p:txBody>
      </p:sp>
    </p:spTree>
    <p:extLst>
      <p:ext uri="{BB962C8B-B14F-4D97-AF65-F5344CB8AC3E}">
        <p14:creationId xmlns:p14="http://schemas.microsoft.com/office/powerpoint/2010/main" val="27647378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27301" y="2715904"/>
            <a:ext cx="4816700" cy="3608696"/>
          </a:xfrm>
          <a:prstGeom prst="rect">
            <a:avLst/>
          </a:prstGeom>
        </p:spPr>
      </p:pic>
      <p:sp>
        <p:nvSpPr>
          <p:cNvPr id="2" name="Title 1"/>
          <p:cNvSpPr>
            <a:spLocks noGrp="1"/>
          </p:cNvSpPr>
          <p:nvPr>
            <p:ph type="title"/>
          </p:nvPr>
        </p:nvSpPr>
        <p:spPr/>
        <p:txBody>
          <a:bodyPr>
            <a:normAutofit/>
          </a:bodyPr>
          <a:lstStyle/>
          <a:p>
            <a:r>
              <a:rPr lang="en-US" dirty="0"/>
              <a:t>Enterprise Systems </a:t>
            </a:r>
            <a:r>
              <a:rPr lang="en-US" sz="3200" dirty="0"/>
              <a:t>Cont.</a:t>
            </a:r>
            <a:endParaRPr lang="en-US" dirty="0"/>
          </a:p>
        </p:txBody>
      </p:sp>
      <p:sp>
        <p:nvSpPr>
          <p:cNvPr id="3" name="Content Placeholder 2"/>
          <p:cNvSpPr>
            <a:spLocks noGrp="1"/>
          </p:cNvSpPr>
          <p:nvPr>
            <p:ph idx="1"/>
          </p:nvPr>
        </p:nvSpPr>
        <p:spPr>
          <a:xfrm>
            <a:off x="457200" y="1417638"/>
            <a:ext cx="8229600" cy="5440362"/>
          </a:xfrm>
        </p:spPr>
        <p:txBody>
          <a:bodyPr>
            <a:normAutofit/>
          </a:bodyPr>
          <a:lstStyle/>
          <a:p>
            <a:pPr marL="0" lvl="1" indent="0">
              <a:buNone/>
            </a:pPr>
            <a:r>
              <a:rPr lang="en-GB" b="1" dirty="0" smtClean="0"/>
              <a:t>Supply </a:t>
            </a:r>
            <a:r>
              <a:rPr lang="en-GB" b="1" dirty="0"/>
              <a:t>Chain Management (SCM) Systems:</a:t>
            </a:r>
          </a:p>
          <a:p>
            <a:pPr marL="0" lvl="1" indent="0">
              <a:buNone/>
            </a:pPr>
            <a:r>
              <a:rPr lang="en-GB" sz="2400" dirty="0"/>
              <a:t>A supply chain consists of the series of activities </a:t>
            </a:r>
            <a:r>
              <a:rPr lang="en-GB" sz="2400" dirty="0" smtClean="0"/>
              <a:t>that </a:t>
            </a:r>
            <a:r>
              <a:rPr lang="en-GB" sz="2400" dirty="0"/>
              <a:t>moves materials from suppliers through the organisation to customers</a:t>
            </a:r>
            <a:r>
              <a:rPr lang="en-GB" sz="2400" dirty="0" smtClean="0"/>
              <a:t>.</a:t>
            </a:r>
          </a:p>
          <a:p>
            <a:pPr marL="0" lvl="1" indent="0">
              <a:buNone/>
            </a:pPr>
            <a:r>
              <a:rPr lang="en-US" sz="2400" dirty="0" smtClean="0"/>
              <a:t>Activities involves </a:t>
            </a:r>
            <a:endParaRPr lang="en-US" sz="2400" dirty="0"/>
          </a:p>
          <a:p>
            <a:pPr marL="857250" lvl="2" indent="-457200"/>
            <a:r>
              <a:rPr lang="en-US" sz="2000" dirty="0" smtClean="0"/>
              <a:t>Warehouse </a:t>
            </a:r>
            <a:r>
              <a:rPr lang="en-US" sz="2000" dirty="0"/>
              <a:t>Management, </a:t>
            </a:r>
            <a:endParaRPr lang="en-US" sz="2000" dirty="0" smtClean="0"/>
          </a:p>
          <a:p>
            <a:pPr marL="857250" lvl="2" indent="-457200"/>
            <a:r>
              <a:rPr lang="en-US" sz="2000" dirty="0" smtClean="0"/>
              <a:t>Logistics management, </a:t>
            </a:r>
          </a:p>
          <a:p>
            <a:pPr marL="857250" lvl="2" indent="-457200"/>
            <a:r>
              <a:rPr lang="en-US" sz="2000" dirty="0" smtClean="0"/>
              <a:t>Transportation </a:t>
            </a:r>
            <a:r>
              <a:rPr lang="en-US" sz="2000" dirty="0"/>
              <a:t>Management, </a:t>
            </a:r>
            <a:endParaRPr lang="en-US" sz="2000" dirty="0" smtClean="0"/>
          </a:p>
          <a:p>
            <a:pPr marL="857250" lvl="2" indent="-457200"/>
            <a:r>
              <a:rPr lang="en-US" sz="2000" dirty="0" smtClean="0"/>
              <a:t>Demand </a:t>
            </a:r>
            <a:r>
              <a:rPr lang="en-US" sz="2000" dirty="0"/>
              <a:t>Forecasting, </a:t>
            </a:r>
            <a:endParaRPr lang="en-US" sz="2000" dirty="0" smtClean="0"/>
          </a:p>
          <a:p>
            <a:pPr marL="857250" lvl="2" indent="-457200"/>
            <a:r>
              <a:rPr lang="en-US" sz="2000" dirty="0" smtClean="0"/>
              <a:t>sales forecasting, </a:t>
            </a:r>
          </a:p>
          <a:p>
            <a:pPr marL="857250" lvl="2" indent="-457200"/>
            <a:r>
              <a:rPr lang="en-US" sz="2000" dirty="0" smtClean="0"/>
              <a:t>Manufacturing planning and controlling, </a:t>
            </a:r>
          </a:p>
          <a:p>
            <a:pPr marL="857250" lvl="2" indent="-457200"/>
            <a:r>
              <a:rPr lang="en-US" sz="2000" dirty="0" smtClean="0"/>
              <a:t>Marketing, </a:t>
            </a:r>
          </a:p>
          <a:p>
            <a:pPr marL="857250" lvl="2" indent="-457200"/>
            <a:r>
              <a:rPr lang="en-US" sz="2000" dirty="0" smtClean="0"/>
              <a:t>Quality Planning, </a:t>
            </a:r>
          </a:p>
          <a:p>
            <a:pPr marL="857250" lvl="2" indent="-457200"/>
            <a:r>
              <a:rPr lang="en-US" sz="2000" dirty="0" smtClean="0"/>
              <a:t>Financial Planning, …..</a:t>
            </a:r>
            <a:endParaRPr lang="en-GB" sz="2000" dirty="0"/>
          </a:p>
          <a:p>
            <a:pPr marL="0" lvl="1" indent="0">
              <a:buNone/>
            </a:pPr>
            <a:r>
              <a:rPr lang="en-GB" sz="2400" dirty="0" smtClean="0"/>
              <a:t>Ex: </a:t>
            </a:r>
            <a:r>
              <a:rPr lang="en-GB" sz="2400" dirty="0" err="1" smtClean="0"/>
              <a:t>QuickBase</a:t>
            </a:r>
            <a:r>
              <a:rPr lang="en-GB" sz="2400" dirty="0" smtClean="0"/>
              <a:t>, SAP SCM, </a:t>
            </a:r>
            <a:r>
              <a:rPr lang="en-GB" sz="2400" dirty="0" err="1" smtClean="0"/>
              <a:t>Infor</a:t>
            </a:r>
            <a:r>
              <a:rPr lang="en-GB" sz="2400" dirty="0" smtClean="0"/>
              <a:t> SCM</a:t>
            </a:r>
            <a:endParaRPr lang="en-US" sz="2400" dirty="0"/>
          </a:p>
          <a:p>
            <a:pPr marL="0" lvl="1" indent="0">
              <a:buNone/>
            </a:pPr>
            <a:endParaRPr lang="en-US" b="1" dirty="0"/>
          </a:p>
          <a:p>
            <a:pPr marL="0" lvl="1" indent="0">
              <a:buNone/>
            </a:pPr>
            <a:endParaRPr lang="en-US" b="1" dirty="0"/>
          </a:p>
          <a:p>
            <a:pPr marL="0" lvl="1" indent="0">
              <a:buNone/>
            </a:pPr>
            <a:endParaRPr lang="en-GB" dirty="0"/>
          </a:p>
          <a:p>
            <a:pPr marL="0" indent="0">
              <a:buNone/>
            </a:pPr>
            <a:endParaRPr lang="en-GB" sz="2800" b="1" dirty="0" smtClean="0"/>
          </a:p>
          <a:p>
            <a:pPr marL="0" indent="0">
              <a:buNone/>
            </a:pPr>
            <a:endParaRPr lang="en-GB" sz="2800" b="1" dirty="0"/>
          </a:p>
          <a:p>
            <a:pPr marL="0" indent="0">
              <a:buNone/>
            </a:pPr>
            <a:endParaRPr lang="en-GB" sz="2800" b="1" dirty="0" smtClean="0"/>
          </a:p>
          <a:p>
            <a:pPr marL="0" indent="0">
              <a:buNone/>
            </a:pPr>
            <a:endParaRPr lang="en-GB" sz="2800" b="1" dirty="0"/>
          </a:p>
          <a:p>
            <a:pPr marL="0" indent="0">
              <a:buNone/>
            </a:pPr>
            <a:endParaRPr lang="en-GB" sz="2800" b="1" dirty="0" smtClean="0"/>
          </a:p>
          <a:p>
            <a:pPr marL="0" indent="0">
              <a:buNone/>
            </a:pPr>
            <a:endParaRPr lang="en-GB" sz="2800" b="1" dirty="0" smtClean="0"/>
          </a:p>
          <a:p>
            <a:pPr marL="457200" lvl="1" indent="0">
              <a:buNone/>
            </a:pPr>
            <a:endParaRPr lang="en-GB" dirty="0"/>
          </a:p>
        </p:txBody>
      </p:sp>
    </p:spTree>
    <p:extLst>
      <p:ext uri="{BB962C8B-B14F-4D97-AF65-F5344CB8AC3E}">
        <p14:creationId xmlns:p14="http://schemas.microsoft.com/office/powerpoint/2010/main" val="39811398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Enterprise Systems </a:t>
            </a:r>
            <a:r>
              <a:rPr lang="en-US" sz="3200" dirty="0"/>
              <a:t>Cont.</a:t>
            </a:r>
            <a:endParaRPr lang="en-US" dirty="0"/>
          </a:p>
        </p:txBody>
      </p:sp>
      <p:sp>
        <p:nvSpPr>
          <p:cNvPr id="3" name="Content Placeholder 2"/>
          <p:cNvSpPr>
            <a:spLocks noGrp="1"/>
          </p:cNvSpPr>
          <p:nvPr>
            <p:ph idx="1"/>
          </p:nvPr>
        </p:nvSpPr>
        <p:spPr>
          <a:xfrm>
            <a:off x="152400" y="1493838"/>
            <a:ext cx="8305800" cy="5440362"/>
          </a:xfrm>
        </p:spPr>
        <p:txBody>
          <a:bodyPr>
            <a:normAutofit fontScale="62500" lnSpcReduction="20000"/>
          </a:bodyPr>
          <a:lstStyle/>
          <a:p>
            <a:pPr marL="0" indent="0">
              <a:buNone/>
            </a:pPr>
            <a:r>
              <a:rPr lang="en-GB" sz="4500" b="1" dirty="0"/>
              <a:t>Customer Relationship Management (CRM) Systems:</a:t>
            </a:r>
          </a:p>
          <a:p>
            <a:pPr marL="0" indent="0">
              <a:buNone/>
            </a:pPr>
            <a:r>
              <a:rPr lang="en-US" sz="2800" dirty="0" smtClean="0"/>
              <a:t>CRM systems analyze </a:t>
            </a:r>
            <a:r>
              <a:rPr lang="en-US" sz="2800" dirty="0"/>
              <a:t>customer interactions and data throughout the customer lifecycle, with the goal of improving business relationships with customers, assisting in customer retention and driving sales growth.</a:t>
            </a:r>
            <a:endParaRPr lang="en-GB" sz="2800" dirty="0"/>
          </a:p>
          <a:p>
            <a:pPr marL="0" indent="0">
              <a:buNone/>
            </a:pPr>
            <a:endParaRPr lang="en-US" sz="2800" dirty="0" smtClean="0"/>
          </a:p>
          <a:p>
            <a:pPr marL="0" indent="0">
              <a:buNone/>
            </a:pPr>
            <a:r>
              <a:rPr lang="en-GB" sz="2800" dirty="0" smtClean="0"/>
              <a:t>Designed </a:t>
            </a:r>
            <a:r>
              <a:rPr lang="en-GB" sz="2800" dirty="0"/>
              <a:t>to </a:t>
            </a:r>
            <a:r>
              <a:rPr lang="en-GB" sz="2800" dirty="0" smtClean="0"/>
              <a:t>integrate the </a:t>
            </a:r>
            <a:r>
              <a:rPr lang="en-GB" sz="2800" dirty="0"/>
              <a:t>range of </a:t>
            </a:r>
            <a:endParaRPr lang="en-GB" sz="2800" dirty="0" smtClean="0"/>
          </a:p>
          <a:p>
            <a:pPr marL="0" indent="0">
              <a:buNone/>
            </a:pPr>
            <a:r>
              <a:rPr lang="en-GB" sz="2800" dirty="0" smtClean="0"/>
              <a:t>information </a:t>
            </a:r>
            <a:r>
              <a:rPr lang="en-GB" sz="2800" dirty="0"/>
              <a:t>systems that </a:t>
            </a:r>
            <a:r>
              <a:rPr lang="en-GB" sz="2800" dirty="0" smtClean="0"/>
              <a:t>contain information </a:t>
            </a:r>
          </a:p>
          <a:p>
            <a:pPr marL="0" indent="0">
              <a:buNone/>
            </a:pPr>
            <a:r>
              <a:rPr lang="en-GB" sz="2800" dirty="0" smtClean="0"/>
              <a:t>regarding </a:t>
            </a:r>
            <a:r>
              <a:rPr lang="en-GB" sz="2800" dirty="0"/>
              <a:t>the customer</a:t>
            </a:r>
            <a:r>
              <a:rPr lang="en-GB" sz="2800" dirty="0" smtClean="0"/>
              <a:t>.</a:t>
            </a:r>
          </a:p>
          <a:p>
            <a:pPr marL="0" indent="0">
              <a:buNone/>
            </a:pPr>
            <a:endParaRPr lang="en-GB" sz="2800" dirty="0" smtClean="0"/>
          </a:p>
          <a:p>
            <a:pPr marL="0" indent="0">
              <a:buNone/>
            </a:pPr>
            <a:r>
              <a:rPr lang="en-US" sz="2800" dirty="0" smtClean="0"/>
              <a:t>Also, It collects and compile customer data </a:t>
            </a:r>
          </a:p>
          <a:p>
            <a:pPr marL="0" indent="0">
              <a:buNone/>
            </a:pPr>
            <a:r>
              <a:rPr lang="en-US" sz="2800" dirty="0" smtClean="0"/>
              <a:t>through company's </a:t>
            </a:r>
            <a:r>
              <a:rPr lang="en-US" sz="2800" dirty="0"/>
              <a:t>website, telephone, live chat, direct mail, marketing materials and social media</a:t>
            </a:r>
            <a:r>
              <a:rPr lang="en-US" sz="2800" dirty="0" smtClean="0"/>
              <a:t>.</a:t>
            </a:r>
          </a:p>
          <a:p>
            <a:pPr marL="0" indent="0">
              <a:buNone/>
            </a:pPr>
            <a:endParaRPr lang="en-US" sz="2800" dirty="0" smtClean="0"/>
          </a:p>
          <a:p>
            <a:pPr marL="0" indent="0">
              <a:buNone/>
            </a:pPr>
            <a:r>
              <a:rPr lang="en-US" sz="2900" dirty="0"/>
              <a:t>CRM provides customers' personal information, purchase history, buying preferences and concerns. That enables giving individual attention to the customer. </a:t>
            </a:r>
          </a:p>
          <a:p>
            <a:pPr marL="0" indent="0">
              <a:buNone/>
            </a:pPr>
            <a:endParaRPr lang="en-US" sz="2800" dirty="0" smtClean="0"/>
          </a:p>
          <a:p>
            <a:pPr marL="0" indent="0">
              <a:buNone/>
            </a:pPr>
            <a:r>
              <a:rPr lang="en-GB" sz="2800" dirty="0"/>
              <a:t>Helps to know your Customer </a:t>
            </a:r>
            <a:r>
              <a:rPr lang="en-GB" sz="2800" dirty="0" smtClean="0"/>
              <a:t>well and </a:t>
            </a:r>
            <a:r>
              <a:rPr lang="en-GB" sz="2800" dirty="0"/>
              <a:t>treats individually</a:t>
            </a:r>
            <a:r>
              <a:rPr lang="en-GB" sz="2800" dirty="0" smtClean="0"/>
              <a:t>.</a:t>
            </a:r>
            <a:endParaRPr lang="en-GB" sz="2800" dirty="0"/>
          </a:p>
        </p:txBody>
      </p:sp>
      <p:pic>
        <p:nvPicPr>
          <p:cNvPr id="4" name="Picture 3"/>
          <p:cNvPicPr>
            <a:picLocks noChangeAspect="1"/>
          </p:cNvPicPr>
          <p:nvPr/>
        </p:nvPicPr>
        <p:blipFill>
          <a:blip r:embed="rId2"/>
          <a:stretch>
            <a:fillRect/>
          </a:stretch>
        </p:blipFill>
        <p:spPr>
          <a:xfrm>
            <a:off x="6954743" y="5639628"/>
            <a:ext cx="1811470" cy="1192214"/>
          </a:xfrm>
          <a:prstGeom prst="rect">
            <a:avLst/>
          </a:prstGeom>
        </p:spPr>
      </p:pic>
      <p:pic>
        <p:nvPicPr>
          <p:cNvPr id="6" name="Picture 5"/>
          <p:cNvPicPr>
            <a:picLocks noChangeAspect="1"/>
          </p:cNvPicPr>
          <p:nvPr/>
        </p:nvPicPr>
        <p:blipFill>
          <a:blip r:embed="rId3"/>
          <a:stretch>
            <a:fillRect/>
          </a:stretch>
        </p:blipFill>
        <p:spPr>
          <a:xfrm>
            <a:off x="5791002" y="2496968"/>
            <a:ext cx="2133798" cy="1866362"/>
          </a:xfrm>
          <a:prstGeom prst="rect">
            <a:avLst/>
          </a:prstGeom>
        </p:spPr>
      </p:pic>
    </p:spTree>
    <p:extLst>
      <p:ext uri="{BB962C8B-B14F-4D97-AF65-F5344CB8AC3E}">
        <p14:creationId xmlns:p14="http://schemas.microsoft.com/office/powerpoint/2010/main" val="20267783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316" y="31845"/>
            <a:ext cx="8229600" cy="1143000"/>
          </a:xfrm>
        </p:spPr>
        <p:txBody>
          <a:bodyPr>
            <a:noAutofit/>
          </a:bodyPr>
          <a:lstStyle/>
          <a:p>
            <a:r>
              <a:rPr lang="en-US" sz="4000" dirty="0"/>
              <a:t>Enterprise Systems </a:t>
            </a:r>
            <a:r>
              <a:rPr lang="en-US" sz="2800" dirty="0"/>
              <a:t>Cont.</a:t>
            </a:r>
            <a:endParaRPr lang="en-US" sz="4000" dirty="0"/>
          </a:p>
        </p:txBody>
      </p:sp>
      <p:sp>
        <p:nvSpPr>
          <p:cNvPr id="3" name="Content Placeholder 2"/>
          <p:cNvSpPr>
            <a:spLocks noGrp="1"/>
          </p:cNvSpPr>
          <p:nvPr>
            <p:ph idx="1"/>
          </p:nvPr>
        </p:nvSpPr>
        <p:spPr>
          <a:xfrm>
            <a:off x="0" y="1173708"/>
            <a:ext cx="8686800" cy="5684292"/>
          </a:xfrm>
        </p:spPr>
        <p:txBody>
          <a:bodyPr>
            <a:normAutofit fontScale="62500" lnSpcReduction="20000"/>
          </a:bodyPr>
          <a:lstStyle/>
          <a:p>
            <a:pPr marL="0" indent="0">
              <a:buNone/>
            </a:pPr>
            <a:r>
              <a:rPr lang="en-GB" sz="4000" b="1" dirty="0"/>
              <a:t>Supplier Relationship Management (SRM) Systems</a:t>
            </a:r>
          </a:p>
          <a:p>
            <a:pPr marL="0" indent="0">
              <a:buNone/>
            </a:pPr>
            <a:endParaRPr lang="en-GB" sz="2800" dirty="0" smtClean="0"/>
          </a:p>
          <a:p>
            <a:pPr marL="0" indent="0">
              <a:buNone/>
            </a:pPr>
            <a:r>
              <a:rPr lang="en-GB" sz="2800" dirty="0" smtClean="0"/>
              <a:t>These </a:t>
            </a:r>
            <a:r>
              <a:rPr lang="en-GB" sz="2800" dirty="0"/>
              <a:t>systems refer to all the activities involved </a:t>
            </a:r>
            <a:r>
              <a:rPr lang="en-GB" sz="2800" dirty="0" smtClean="0"/>
              <a:t>with obtaining </a:t>
            </a:r>
            <a:r>
              <a:rPr lang="en-GB" sz="2800" dirty="0"/>
              <a:t>items from a supplier, including </a:t>
            </a:r>
            <a:r>
              <a:rPr lang="en-GB" sz="2800" dirty="0" smtClean="0"/>
              <a:t>procurement, transportation </a:t>
            </a:r>
            <a:r>
              <a:rPr lang="en-GB" sz="2800" dirty="0"/>
              <a:t>and warehousing</a:t>
            </a:r>
            <a:r>
              <a:rPr lang="en-GB" sz="2800" dirty="0" smtClean="0"/>
              <a:t>.</a:t>
            </a:r>
          </a:p>
          <a:p>
            <a:pPr marL="0" indent="0">
              <a:buNone/>
            </a:pPr>
            <a:endParaRPr lang="en-GB" sz="2800" dirty="0"/>
          </a:p>
          <a:p>
            <a:pPr marL="0" indent="0">
              <a:buNone/>
            </a:pPr>
            <a:r>
              <a:rPr lang="en-US" sz="2800" dirty="0" smtClean="0"/>
              <a:t>Aim to </a:t>
            </a:r>
            <a:r>
              <a:rPr lang="en-US" sz="2800" dirty="0"/>
              <a:t>streamline and make more effective the processes between an enterprise and its </a:t>
            </a:r>
            <a:r>
              <a:rPr lang="en-US" sz="2800" dirty="0" smtClean="0"/>
              <a:t>suppliers</a:t>
            </a:r>
          </a:p>
          <a:p>
            <a:pPr marL="0" indent="0">
              <a:buNone/>
            </a:pPr>
            <a:endParaRPr lang="en-GB" sz="2600" dirty="0" smtClean="0"/>
          </a:p>
          <a:p>
            <a:pPr marL="0" indent="0">
              <a:buNone/>
            </a:pPr>
            <a:r>
              <a:rPr lang="en-GB" sz="2800" dirty="0"/>
              <a:t>Procurement is an important aspect of SRM as the cost of materials can represent a substantial amount of the total cost of a product or service</a:t>
            </a:r>
            <a:r>
              <a:rPr lang="en-GB" sz="2800" dirty="0" smtClean="0"/>
              <a:t>.</a:t>
            </a:r>
          </a:p>
          <a:p>
            <a:pPr marL="0" indent="0">
              <a:buNone/>
            </a:pPr>
            <a:endParaRPr lang="en-GB" sz="2800" dirty="0"/>
          </a:p>
          <a:p>
            <a:pPr marL="0" indent="0">
              <a:buNone/>
            </a:pPr>
            <a:r>
              <a:rPr lang="en-GB" sz="2800" dirty="0"/>
              <a:t>Choosing a supplier is another important aspect of SRM.</a:t>
            </a:r>
          </a:p>
          <a:p>
            <a:pPr marL="0" indent="0">
              <a:buNone/>
            </a:pPr>
            <a:r>
              <a:rPr lang="en-GB" sz="2800" dirty="0" smtClean="0"/>
              <a:t>SRM is </a:t>
            </a:r>
            <a:r>
              <a:rPr lang="en-GB" sz="2800" dirty="0"/>
              <a:t>a component of SCM information flow. </a:t>
            </a:r>
            <a:endParaRPr lang="en-GB" sz="2800" dirty="0" smtClean="0"/>
          </a:p>
          <a:p>
            <a:pPr marL="0" indent="0">
              <a:buNone/>
            </a:pPr>
            <a:endParaRPr lang="en-GB" sz="2800" dirty="0"/>
          </a:p>
          <a:p>
            <a:pPr marL="0" indent="0">
              <a:buNone/>
            </a:pPr>
            <a:r>
              <a:rPr lang="en-US" sz="2800" dirty="0"/>
              <a:t>L</a:t>
            </a:r>
            <a:r>
              <a:rPr lang="en-US" sz="2800" dirty="0" smtClean="0"/>
              <a:t>ead </a:t>
            </a:r>
            <a:r>
              <a:rPr lang="en-US" sz="2800" dirty="0"/>
              <a:t>to lower production costs and a higher quality, </a:t>
            </a:r>
            <a:endParaRPr lang="en-US" sz="2800" dirty="0" smtClean="0"/>
          </a:p>
          <a:p>
            <a:pPr marL="0" indent="0">
              <a:buNone/>
            </a:pPr>
            <a:r>
              <a:rPr lang="en-US" sz="2800" dirty="0" smtClean="0"/>
              <a:t>but </a:t>
            </a:r>
            <a:r>
              <a:rPr lang="en-US" sz="2800" dirty="0"/>
              <a:t>lower priced end product</a:t>
            </a:r>
            <a:r>
              <a:rPr lang="en-US" sz="2800" dirty="0" smtClean="0"/>
              <a:t>.</a:t>
            </a:r>
          </a:p>
          <a:p>
            <a:pPr marL="0" indent="0">
              <a:buNone/>
            </a:pPr>
            <a:r>
              <a:rPr lang="en-US" sz="2800" dirty="0" smtClean="0"/>
              <a:t>Popular Vendors:</a:t>
            </a:r>
          </a:p>
          <a:p>
            <a:pPr marL="400050" lvl="1" indent="0">
              <a:buNone/>
            </a:pPr>
            <a:r>
              <a:rPr lang="en-US" sz="2900" dirty="0"/>
              <a:t>12 Technologies, </a:t>
            </a:r>
            <a:r>
              <a:rPr lang="en-US" sz="2900" dirty="0" err="1"/>
              <a:t>Manugistics</a:t>
            </a:r>
            <a:r>
              <a:rPr lang="en-US" sz="2900" dirty="0"/>
              <a:t>, PeopleSoft, SAP</a:t>
            </a:r>
          </a:p>
          <a:p>
            <a:pPr marL="0" indent="0">
              <a:buNone/>
            </a:pPr>
            <a:endParaRPr lang="en-US" dirty="0"/>
          </a:p>
        </p:txBody>
      </p:sp>
      <p:pic>
        <p:nvPicPr>
          <p:cNvPr id="4" name="Picture 3"/>
          <p:cNvPicPr>
            <a:picLocks noChangeAspect="1"/>
          </p:cNvPicPr>
          <p:nvPr/>
        </p:nvPicPr>
        <p:blipFill>
          <a:blip r:embed="rId2"/>
          <a:stretch>
            <a:fillRect/>
          </a:stretch>
        </p:blipFill>
        <p:spPr>
          <a:xfrm>
            <a:off x="6629400" y="4114800"/>
            <a:ext cx="2143125" cy="2143125"/>
          </a:xfrm>
          <a:prstGeom prst="rect">
            <a:avLst/>
          </a:prstGeom>
        </p:spPr>
      </p:pic>
    </p:spTree>
    <p:extLst>
      <p:ext uri="{BB962C8B-B14F-4D97-AF65-F5344CB8AC3E}">
        <p14:creationId xmlns:p14="http://schemas.microsoft.com/office/powerpoint/2010/main" val="31700759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E-Commerce Systems</a:t>
            </a:r>
            <a:endParaRPr lang="en-US" dirty="0"/>
          </a:p>
        </p:txBody>
      </p:sp>
      <p:sp>
        <p:nvSpPr>
          <p:cNvPr id="3" name="Content Placeholder 2"/>
          <p:cNvSpPr>
            <a:spLocks noGrp="1"/>
          </p:cNvSpPr>
          <p:nvPr>
            <p:ph idx="1"/>
          </p:nvPr>
        </p:nvSpPr>
        <p:spPr/>
        <p:txBody>
          <a:bodyPr>
            <a:normAutofit/>
          </a:bodyPr>
          <a:lstStyle/>
          <a:p>
            <a:pPr marL="0" indent="0">
              <a:buNone/>
            </a:pPr>
            <a:r>
              <a:rPr lang="en-US" sz="2600" dirty="0" smtClean="0"/>
              <a:t>What is E-Commerce?</a:t>
            </a:r>
          </a:p>
          <a:p>
            <a:pPr marL="0" indent="0">
              <a:buNone/>
            </a:pPr>
            <a:r>
              <a:rPr lang="en-US" sz="2600" dirty="0" smtClean="0"/>
              <a:t>E-commerce </a:t>
            </a:r>
            <a:r>
              <a:rPr lang="en-US" sz="2600" dirty="0"/>
              <a:t>is usually associated with buying and selling over the Internet</a:t>
            </a:r>
          </a:p>
          <a:p>
            <a:pPr marL="0" indent="0" algn="ctr">
              <a:buNone/>
            </a:pPr>
            <a:r>
              <a:rPr lang="en-US" sz="2600" dirty="0"/>
              <a:t>or </a:t>
            </a:r>
          </a:p>
          <a:p>
            <a:pPr marL="0" indent="0">
              <a:buNone/>
            </a:pPr>
            <a:r>
              <a:rPr lang="en-US" sz="2600" dirty="0"/>
              <a:t>Conducting any transaction involving the transfer of ownership or rights to use goods or services through a computer-mediated network</a:t>
            </a:r>
          </a:p>
          <a:p>
            <a:pPr marL="0" indent="0">
              <a:buNone/>
            </a:pPr>
            <a:endParaRPr lang="en-US" sz="3100" dirty="0"/>
          </a:p>
        </p:txBody>
      </p:sp>
      <p:sp>
        <p:nvSpPr>
          <p:cNvPr id="4" name="Rectangle 3"/>
          <p:cNvSpPr/>
          <p:nvPr/>
        </p:nvSpPr>
        <p:spPr>
          <a:xfrm>
            <a:off x="2895600" y="4953000"/>
            <a:ext cx="5257800" cy="584775"/>
          </a:xfrm>
          <a:prstGeom prst="rect">
            <a:avLst/>
          </a:prstGeom>
        </p:spPr>
        <p:txBody>
          <a:bodyPr wrap="square">
            <a:spAutoFit/>
          </a:bodyPr>
          <a:lstStyle/>
          <a:p>
            <a:pPr algn="r"/>
            <a:r>
              <a:rPr lang="en-US" sz="1600" dirty="0">
                <a:solidFill>
                  <a:srgbClr val="231F20"/>
                </a:solidFill>
              </a:rPr>
              <a:t>Thomas L. </a:t>
            </a:r>
            <a:r>
              <a:rPr lang="en-US" sz="1600" dirty="0" err="1">
                <a:solidFill>
                  <a:srgbClr val="231F20"/>
                </a:solidFill>
              </a:rPr>
              <a:t>Mesenbourg</a:t>
            </a:r>
            <a:r>
              <a:rPr lang="en-US" sz="1600" dirty="0">
                <a:solidFill>
                  <a:srgbClr val="231F20"/>
                </a:solidFill>
              </a:rPr>
              <a:t>, </a:t>
            </a:r>
            <a:r>
              <a:rPr lang="en-US" sz="1600" i="1" dirty="0">
                <a:solidFill>
                  <a:srgbClr val="231F20"/>
                </a:solidFill>
              </a:rPr>
              <a:t>Measuring Electronic Business: Definitions, Underlying </a:t>
            </a:r>
            <a:r>
              <a:rPr lang="en-US" sz="1600" i="1" dirty="0" smtClean="0">
                <a:solidFill>
                  <a:srgbClr val="231F20"/>
                </a:solidFill>
              </a:rPr>
              <a:t>Concepts, and </a:t>
            </a:r>
            <a:r>
              <a:rPr lang="en-US" sz="1600" i="1" dirty="0">
                <a:solidFill>
                  <a:srgbClr val="231F20"/>
                </a:solidFill>
              </a:rPr>
              <a:t>Measurement Plans</a:t>
            </a:r>
            <a:endParaRPr lang="en-US" sz="1600" dirty="0"/>
          </a:p>
        </p:txBody>
      </p:sp>
    </p:spTree>
    <p:extLst>
      <p:ext uri="{BB962C8B-B14F-4D97-AF65-F5344CB8AC3E}">
        <p14:creationId xmlns:p14="http://schemas.microsoft.com/office/powerpoint/2010/main" val="25558458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E-Commerce Systems </a:t>
            </a:r>
            <a:r>
              <a:rPr lang="en-US" sz="3200" dirty="0" smtClean="0"/>
              <a:t>Cont.</a:t>
            </a:r>
            <a:endParaRPr lang="en-US" sz="3200" dirty="0"/>
          </a:p>
        </p:txBody>
      </p:sp>
      <p:sp>
        <p:nvSpPr>
          <p:cNvPr id="3" name="Content Placeholder 2"/>
          <p:cNvSpPr>
            <a:spLocks noGrp="1"/>
          </p:cNvSpPr>
          <p:nvPr>
            <p:ph idx="1"/>
          </p:nvPr>
        </p:nvSpPr>
        <p:spPr>
          <a:xfrm>
            <a:off x="457200" y="1600200"/>
            <a:ext cx="8229600" cy="5029200"/>
          </a:xfrm>
        </p:spPr>
        <p:txBody>
          <a:bodyPr>
            <a:normAutofit/>
          </a:bodyPr>
          <a:lstStyle/>
          <a:p>
            <a:pPr marL="0" indent="0">
              <a:buNone/>
            </a:pPr>
            <a:endParaRPr lang="en-US" sz="3100" dirty="0" smtClean="0"/>
          </a:p>
          <a:p>
            <a:pPr marL="0" indent="0">
              <a:buNone/>
            </a:pPr>
            <a:endParaRPr lang="en-US" sz="3100" dirty="0"/>
          </a:p>
          <a:p>
            <a:pPr marL="0" indent="0">
              <a:buNone/>
            </a:pPr>
            <a:endParaRPr lang="en-US" sz="3100" dirty="0" smtClean="0"/>
          </a:p>
        </p:txBody>
      </p:sp>
      <p:grpSp>
        <p:nvGrpSpPr>
          <p:cNvPr id="10" name="Group 9"/>
          <p:cNvGrpSpPr/>
          <p:nvPr/>
        </p:nvGrpSpPr>
        <p:grpSpPr>
          <a:xfrm>
            <a:off x="914400" y="1752600"/>
            <a:ext cx="7620001" cy="1198563"/>
            <a:chOff x="914400" y="4800600"/>
            <a:chExt cx="7620001" cy="1198563"/>
          </a:xfrm>
        </p:grpSpPr>
        <p:sp>
          <p:nvSpPr>
            <p:cNvPr id="5" name="Rectangle 4"/>
            <p:cNvSpPr/>
            <p:nvPr/>
          </p:nvSpPr>
          <p:spPr>
            <a:xfrm>
              <a:off x="914400" y="5029199"/>
              <a:ext cx="1652588" cy="7493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smtClean="0">
                  <a:solidFill>
                    <a:schemeClr val="tx1"/>
                  </a:solidFill>
                </a:rPr>
                <a:t>Service provider </a:t>
              </a:r>
              <a:endParaRPr lang="en-US" sz="2400" dirty="0">
                <a:solidFill>
                  <a:schemeClr val="tx1"/>
                </a:solidFill>
              </a:endParaRPr>
            </a:p>
          </p:txBody>
        </p:sp>
        <p:sp>
          <p:nvSpPr>
            <p:cNvPr id="6" name="Rectangle 5"/>
            <p:cNvSpPr/>
            <p:nvPr/>
          </p:nvSpPr>
          <p:spPr>
            <a:xfrm>
              <a:off x="6881814" y="5029199"/>
              <a:ext cx="1652587" cy="7493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smtClean="0">
                  <a:solidFill>
                    <a:schemeClr val="tx1"/>
                  </a:solidFill>
                </a:rPr>
                <a:t>Service consumer </a:t>
              </a:r>
              <a:endParaRPr lang="en-US" sz="2400" dirty="0">
                <a:solidFill>
                  <a:schemeClr val="tx1"/>
                </a:solidFill>
              </a:endParaRPr>
            </a:p>
          </p:txBody>
        </p:sp>
        <p:cxnSp>
          <p:nvCxnSpPr>
            <p:cNvPr id="7" name="Straight Arrow Connector 6"/>
            <p:cNvCxnSpPr>
              <a:stCxn id="5" idx="3"/>
              <a:endCxn id="8" idx="2"/>
            </p:cNvCxnSpPr>
            <p:nvPr/>
          </p:nvCxnSpPr>
          <p:spPr>
            <a:xfrm flipV="1">
              <a:off x="2566988" y="5399882"/>
              <a:ext cx="862012" cy="396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429000" y="4800600"/>
              <a:ext cx="2590800" cy="1198563"/>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a:solidFill>
                    <a:schemeClr val="tx1"/>
                  </a:solidFill>
                </a:rPr>
                <a:t>eCommerce Transaction</a:t>
              </a:r>
            </a:p>
          </p:txBody>
        </p:sp>
        <p:cxnSp>
          <p:nvCxnSpPr>
            <p:cNvPr id="9" name="Straight Arrow Connector 8"/>
            <p:cNvCxnSpPr>
              <a:stCxn id="8" idx="6"/>
              <a:endCxn id="6" idx="1"/>
            </p:cNvCxnSpPr>
            <p:nvPr/>
          </p:nvCxnSpPr>
          <p:spPr>
            <a:xfrm>
              <a:off x="6019800" y="5399882"/>
              <a:ext cx="862014" cy="396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pic>
        <p:nvPicPr>
          <p:cNvPr id="11" name="Picture 10"/>
          <p:cNvPicPr>
            <a:picLocks noChangeAspect="1"/>
          </p:cNvPicPr>
          <p:nvPr/>
        </p:nvPicPr>
        <p:blipFill>
          <a:blip r:embed="rId2"/>
          <a:stretch>
            <a:fillRect/>
          </a:stretch>
        </p:blipFill>
        <p:spPr>
          <a:xfrm>
            <a:off x="97227" y="4247155"/>
            <a:ext cx="2209800" cy="1241627"/>
          </a:xfrm>
          <a:prstGeom prst="rect">
            <a:avLst/>
          </a:prstGeom>
        </p:spPr>
      </p:pic>
      <p:pic>
        <p:nvPicPr>
          <p:cNvPr id="12" name="Picture 11"/>
          <p:cNvPicPr>
            <a:picLocks noChangeAspect="1"/>
          </p:cNvPicPr>
          <p:nvPr/>
        </p:nvPicPr>
        <p:blipFill>
          <a:blip r:embed="rId3"/>
          <a:stretch>
            <a:fillRect/>
          </a:stretch>
        </p:blipFill>
        <p:spPr>
          <a:xfrm>
            <a:off x="2438400" y="3736182"/>
            <a:ext cx="4127823" cy="2283618"/>
          </a:xfrm>
          <a:prstGeom prst="rect">
            <a:avLst/>
          </a:prstGeom>
        </p:spPr>
      </p:pic>
      <p:pic>
        <p:nvPicPr>
          <p:cNvPr id="13" name="Picture 12"/>
          <p:cNvPicPr>
            <a:picLocks noChangeAspect="1"/>
          </p:cNvPicPr>
          <p:nvPr/>
        </p:nvPicPr>
        <p:blipFill>
          <a:blip r:embed="rId4"/>
          <a:stretch>
            <a:fillRect/>
          </a:stretch>
        </p:blipFill>
        <p:spPr>
          <a:xfrm>
            <a:off x="6788311" y="4219006"/>
            <a:ext cx="2216070" cy="1574576"/>
          </a:xfrm>
          <a:prstGeom prst="rect">
            <a:avLst/>
          </a:prstGeom>
        </p:spPr>
      </p:pic>
    </p:spTree>
    <p:extLst>
      <p:ext uri="{BB962C8B-B14F-4D97-AF65-F5344CB8AC3E}">
        <p14:creationId xmlns:p14="http://schemas.microsoft.com/office/powerpoint/2010/main" val="36495618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E-Commerce Systems </a:t>
            </a:r>
            <a:r>
              <a:rPr lang="en-US" sz="3200" dirty="0" smtClean="0"/>
              <a:t>Cont.</a:t>
            </a:r>
            <a:endParaRPr lang="en-US" sz="3200" dirty="0"/>
          </a:p>
        </p:txBody>
      </p:sp>
      <p:sp>
        <p:nvSpPr>
          <p:cNvPr id="3" name="Content Placeholder 2"/>
          <p:cNvSpPr>
            <a:spLocks noGrp="1"/>
          </p:cNvSpPr>
          <p:nvPr>
            <p:ph idx="1"/>
          </p:nvPr>
        </p:nvSpPr>
        <p:spPr>
          <a:xfrm>
            <a:off x="457200" y="1600200"/>
            <a:ext cx="8229600" cy="5029200"/>
          </a:xfrm>
        </p:spPr>
        <p:txBody>
          <a:bodyPr>
            <a:normAutofit/>
          </a:bodyPr>
          <a:lstStyle/>
          <a:p>
            <a:pPr marL="0" indent="0">
              <a:buNone/>
            </a:pPr>
            <a:endParaRPr lang="en-US" sz="3100" dirty="0" smtClean="0"/>
          </a:p>
          <a:p>
            <a:pPr marL="0" indent="0">
              <a:buNone/>
            </a:pPr>
            <a:endParaRPr lang="en-US" sz="3100" dirty="0"/>
          </a:p>
          <a:p>
            <a:pPr marL="0" indent="0">
              <a:buNone/>
            </a:pPr>
            <a:endParaRPr lang="en-US" sz="3100" dirty="0" smtClean="0"/>
          </a:p>
        </p:txBody>
      </p:sp>
      <p:grpSp>
        <p:nvGrpSpPr>
          <p:cNvPr id="10" name="Group 9"/>
          <p:cNvGrpSpPr/>
          <p:nvPr/>
        </p:nvGrpSpPr>
        <p:grpSpPr>
          <a:xfrm>
            <a:off x="914400" y="1752600"/>
            <a:ext cx="7620001" cy="1198563"/>
            <a:chOff x="914400" y="4800600"/>
            <a:chExt cx="7620001" cy="1198563"/>
          </a:xfrm>
        </p:grpSpPr>
        <p:sp>
          <p:nvSpPr>
            <p:cNvPr id="5" name="Rectangle 4"/>
            <p:cNvSpPr/>
            <p:nvPr/>
          </p:nvSpPr>
          <p:spPr>
            <a:xfrm>
              <a:off x="914400" y="5029199"/>
              <a:ext cx="1652588" cy="7493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smtClean="0">
                  <a:solidFill>
                    <a:schemeClr val="tx1"/>
                  </a:solidFill>
                </a:rPr>
                <a:t>Service provider </a:t>
              </a:r>
              <a:endParaRPr lang="en-US" sz="2400" dirty="0">
                <a:solidFill>
                  <a:schemeClr val="tx1"/>
                </a:solidFill>
              </a:endParaRPr>
            </a:p>
          </p:txBody>
        </p:sp>
        <p:sp>
          <p:nvSpPr>
            <p:cNvPr id="6" name="Rectangle 5"/>
            <p:cNvSpPr/>
            <p:nvPr/>
          </p:nvSpPr>
          <p:spPr>
            <a:xfrm>
              <a:off x="6881814" y="5029199"/>
              <a:ext cx="1652587" cy="749300"/>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smtClean="0">
                  <a:solidFill>
                    <a:schemeClr val="tx1"/>
                  </a:solidFill>
                </a:rPr>
                <a:t>Service consumer </a:t>
              </a:r>
              <a:endParaRPr lang="en-US" sz="2400" dirty="0">
                <a:solidFill>
                  <a:schemeClr val="tx1"/>
                </a:solidFill>
              </a:endParaRPr>
            </a:p>
          </p:txBody>
        </p:sp>
        <p:cxnSp>
          <p:nvCxnSpPr>
            <p:cNvPr id="7" name="Straight Arrow Connector 6"/>
            <p:cNvCxnSpPr>
              <a:stCxn id="5" idx="3"/>
              <a:endCxn id="8" idx="2"/>
            </p:cNvCxnSpPr>
            <p:nvPr/>
          </p:nvCxnSpPr>
          <p:spPr>
            <a:xfrm flipV="1">
              <a:off x="2566988" y="5399882"/>
              <a:ext cx="862012" cy="396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429000" y="4800600"/>
              <a:ext cx="2590800" cy="1198563"/>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dirty="0">
                  <a:solidFill>
                    <a:schemeClr val="tx1"/>
                  </a:solidFill>
                </a:rPr>
                <a:t>eCommerce Transaction</a:t>
              </a:r>
            </a:p>
          </p:txBody>
        </p:sp>
        <p:cxnSp>
          <p:nvCxnSpPr>
            <p:cNvPr id="9" name="Straight Arrow Connector 8"/>
            <p:cNvCxnSpPr>
              <a:stCxn id="8" idx="6"/>
              <a:endCxn id="6" idx="1"/>
            </p:cNvCxnSpPr>
            <p:nvPr/>
          </p:nvCxnSpPr>
          <p:spPr>
            <a:xfrm>
              <a:off x="6019800" y="5399882"/>
              <a:ext cx="862014" cy="3967"/>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pic>
        <p:nvPicPr>
          <p:cNvPr id="14" name="Picture 13"/>
          <p:cNvPicPr>
            <a:picLocks noChangeAspect="1"/>
          </p:cNvPicPr>
          <p:nvPr/>
        </p:nvPicPr>
        <p:blipFill>
          <a:blip r:embed="rId2"/>
          <a:stretch>
            <a:fillRect/>
          </a:stretch>
        </p:blipFill>
        <p:spPr>
          <a:xfrm>
            <a:off x="331281" y="3111498"/>
            <a:ext cx="1519451" cy="1138122"/>
          </a:xfrm>
          <a:prstGeom prst="rect">
            <a:avLst/>
          </a:prstGeom>
        </p:spPr>
      </p:pic>
      <p:pic>
        <p:nvPicPr>
          <p:cNvPr id="16" name="Picture 15"/>
          <p:cNvPicPr>
            <a:picLocks noChangeAspect="1"/>
          </p:cNvPicPr>
          <p:nvPr/>
        </p:nvPicPr>
        <p:blipFill>
          <a:blip r:embed="rId3"/>
          <a:stretch>
            <a:fillRect/>
          </a:stretch>
        </p:blipFill>
        <p:spPr>
          <a:xfrm>
            <a:off x="7099601" y="3599427"/>
            <a:ext cx="1227204" cy="1300386"/>
          </a:xfrm>
          <a:prstGeom prst="rect">
            <a:avLst/>
          </a:prstGeom>
        </p:spPr>
      </p:pic>
      <p:pic>
        <p:nvPicPr>
          <p:cNvPr id="19" name="Picture 18"/>
          <p:cNvPicPr>
            <a:picLocks noChangeAspect="1"/>
          </p:cNvPicPr>
          <p:nvPr/>
        </p:nvPicPr>
        <p:blipFill>
          <a:blip r:embed="rId4"/>
          <a:stretch>
            <a:fillRect/>
          </a:stretch>
        </p:blipFill>
        <p:spPr>
          <a:xfrm>
            <a:off x="2062832" y="3155949"/>
            <a:ext cx="4824669" cy="2863851"/>
          </a:xfrm>
          <a:prstGeom prst="rect">
            <a:avLst/>
          </a:prstGeom>
        </p:spPr>
      </p:pic>
    </p:spTree>
    <p:extLst>
      <p:ext uri="{BB962C8B-B14F-4D97-AF65-F5344CB8AC3E}">
        <p14:creationId xmlns:p14="http://schemas.microsoft.com/office/powerpoint/2010/main" val="16914417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Cloud based </a:t>
            </a:r>
            <a:r>
              <a:rPr lang="en-US" dirty="0" smtClean="0"/>
              <a:t>Systems</a:t>
            </a:r>
            <a:endParaRPr lang="en-US" dirty="0"/>
          </a:p>
        </p:txBody>
      </p:sp>
      <p:sp>
        <p:nvSpPr>
          <p:cNvPr id="3" name="Content Placeholder 2"/>
          <p:cNvSpPr>
            <a:spLocks noGrp="1"/>
          </p:cNvSpPr>
          <p:nvPr>
            <p:ph idx="1"/>
          </p:nvPr>
        </p:nvSpPr>
        <p:spPr>
          <a:xfrm>
            <a:off x="381000" y="1417638"/>
            <a:ext cx="8534400" cy="5287962"/>
          </a:xfrm>
        </p:spPr>
        <p:txBody>
          <a:bodyPr>
            <a:normAutofit fontScale="92500" lnSpcReduction="10000"/>
          </a:bodyPr>
          <a:lstStyle/>
          <a:p>
            <a:pPr marL="0" indent="0">
              <a:lnSpc>
                <a:spcPct val="80000"/>
              </a:lnSpc>
              <a:buNone/>
            </a:pPr>
            <a:r>
              <a:rPr lang="en-US" sz="2800" b="1" dirty="0"/>
              <a:t>Cloud computing – </a:t>
            </a:r>
            <a:endParaRPr lang="en-US" sz="2800" b="1" dirty="0" smtClean="0"/>
          </a:p>
          <a:p>
            <a:pPr marL="0" indent="0">
              <a:lnSpc>
                <a:spcPct val="80000"/>
              </a:lnSpc>
              <a:buNone/>
            </a:pPr>
            <a:r>
              <a:rPr lang="en-US" sz="2800" dirty="0" smtClean="0"/>
              <a:t>Provides </a:t>
            </a:r>
            <a:r>
              <a:rPr lang="en-US" sz="2800" dirty="0"/>
              <a:t>availability of entire computing </a:t>
            </a:r>
            <a:r>
              <a:rPr lang="en-US" sz="2800" dirty="0" smtClean="0"/>
              <a:t>infrastructure (HW/SW) over </a:t>
            </a:r>
            <a:r>
              <a:rPr lang="en-US" sz="2800" dirty="0"/>
              <a:t>the </a:t>
            </a:r>
            <a:r>
              <a:rPr lang="en-US" sz="2800" dirty="0" smtClean="0"/>
              <a:t>Internet.</a:t>
            </a:r>
          </a:p>
          <a:p>
            <a:pPr marL="0" indent="0">
              <a:lnSpc>
                <a:spcPct val="80000"/>
              </a:lnSpc>
              <a:buNone/>
            </a:pPr>
            <a:endParaRPr lang="en-US" sz="2800" dirty="0" smtClean="0"/>
          </a:p>
          <a:p>
            <a:pPr marL="0" indent="0">
              <a:lnSpc>
                <a:spcPct val="80000"/>
              </a:lnSpc>
              <a:buNone/>
            </a:pPr>
            <a:r>
              <a:rPr lang="en-US" sz="2800" dirty="0"/>
              <a:t>Users purchase computing capacity </a:t>
            </a:r>
            <a:r>
              <a:rPr lang="en-US" sz="2800" b="1" dirty="0" smtClean="0"/>
              <a:t>on-demand (</a:t>
            </a:r>
            <a:r>
              <a:rPr lang="en-US" sz="2800" b="1" dirty="0"/>
              <a:t>as need arises or decreases</a:t>
            </a:r>
            <a:r>
              <a:rPr lang="en-US" sz="2800" b="1" dirty="0" smtClean="0"/>
              <a:t>).</a:t>
            </a:r>
          </a:p>
          <a:p>
            <a:pPr marL="0" indent="0">
              <a:lnSpc>
                <a:spcPct val="80000"/>
              </a:lnSpc>
              <a:buNone/>
            </a:pPr>
            <a:endParaRPr lang="en-US" sz="2800" b="1" dirty="0"/>
          </a:p>
          <a:p>
            <a:pPr marL="0" indent="0">
              <a:lnSpc>
                <a:spcPct val="80000"/>
              </a:lnSpc>
              <a:buNone/>
            </a:pPr>
            <a:r>
              <a:rPr lang="en-US" sz="2800" dirty="0" smtClean="0"/>
              <a:t>Free of Capital Expenditure, Staff and maintenance cost</a:t>
            </a:r>
          </a:p>
          <a:p>
            <a:pPr marL="0" indent="0">
              <a:lnSpc>
                <a:spcPct val="80000"/>
              </a:lnSpc>
              <a:buNone/>
            </a:pPr>
            <a:r>
              <a:rPr lang="en-US" sz="2800" dirty="0" smtClean="0"/>
              <a:t>Work from anywhere.</a:t>
            </a:r>
          </a:p>
          <a:p>
            <a:pPr marL="0" indent="0">
              <a:lnSpc>
                <a:spcPct val="80000"/>
              </a:lnSpc>
              <a:buNone/>
            </a:pPr>
            <a:endParaRPr lang="en-US" sz="2800" dirty="0" smtClean="0"/>
          </a:p>
          <a:p>
            <a:pPr marL="0" indent="0">
              <a:lnSpc>
                <a:spcPct val="80000"/>
              </a:lnSpc>
              <a:buNone/>
            </a:pPr>
            <a:r>
              <a:rPr lang="en-US" sz="2800" dirty="0" smtClean="0"/>
              <a:t>Cloud based backup and recovery solutions.</a:t>
            </a:r>
          </a:p>
          <a:p>
            <a:pPr marL="0" indent="0">
              <a:lnSpc>
                <a:spcPct val="80000"/>
              </a:lnSpc>
              <a:buNone/>
            </a:pPr>
            <a:endParaRPr lang="en-US" sz="2800" dirty="0" smtClean="0"/>
          </a:p>
          <a:p>
            <a:pPr marL="0" indent="0">
              <a:lnSpc>
                <a:spcPct val="80000"/>
              </a:lnSpc>
              <a:buNone/>
            </a:pPr>
            <a:r>
              <a:rPr lang="en-US" sz="2800" dirty="0" smtClean="0"/>
              <a:t>Any Information System can be converted in to a cloud based system.</a:t>
            </a:r>
          </a:p>
          <a:p>
            <a:pPr marL="0" indent="0">
              <a:buNone/>
            </a:pPr>
            <a:endParaRPr lang="en-US" dirty="0"/>
          </a:p>
        </p:txBody>
      </p:sp>
    </p:spTree>
    <p:extLst>
      <p:ext uri="{BB962C8B-B14F-4D97-AF65-F5344CB8AC3E}">
        <p14:creationId xmlns:p14="http://schemas.microsoft.com/office/powerpoint/2010/main" val="173870089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Cloud based </a:t>
            </a:r>
            <a:r>
              <a:rPr lang="en-US" dirty="0" smtClean="0"/>
              <a:t>Systems </a:t>
            </a:r>
            <a:r>
              <a:rPr lang="en-US" sz="3200" dirty="0" smtClean="0"/>
              <a:t>Cont</a:t>
            </a:r>
            <a:r>
              <a:rPr lang="en-US" sz="3200" dirty="0"/>
              <a:t>.</a:t>
            </a:r>
          </a:p>
        </p:txBody>
      </p:sp>
      <p:sp>
        <p:nvSpPr>
          <p:cNvPr id="3" name="Content Placeholder 2"/>
          <p:cNvSpPr>
            <a:spLocks noGrp="1"/>
          </p:cNvSpPr>
          <p:nvPr>
            <p:ph idx="1"/>
          </p:nvPr>
        </p:nvSpPr>
        <p:spPr>
          <a:xfrm>
            <a:off x="457200" y="1417638"/>
            <a:ext cx="8229600" cy="5287962"/>
          </a:xfrm>
        </p:spPr>
        <p:txBody>
          <a:bodyPr>
            <a:normAutofit lnSpcReduction="10000"/>
          </a:bodyPr>
          <a:lstStyle/>
          <a:p>
            <a:pPr marL="0" indent="0">
              <a:lnSpc>
                <a:spcPct val="80000"/>
              </a:lnSpc>
              <a:buNone/>
            </a:pPr>
            <a:r>
              <a:rPr lang="en-US" sz="2800" dirty="0" smtClean="0"/>
              <a:t>Cloud Service Providers:</a:t>
            </a:r>
          </a:p>
          <a:p>
            <a:pPr marL="0" indent="0">
              <a:lnSpc>
                <a:spcPct val="80000"/>
              </a:lnSpc>
              <a:buNone/>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457200" lvl="1" indent="0">
              <a:lnSpc>
                <a:spcPct val="80000"/>
              </a:lnSpc>
              <a:buNone/>
            </a:pPr>
            <a:endParaRPr lang="en-US" sz="2400" dirty="0"/>
          </a:p>
          <a:p>
            <a:pPr marL="457200" lvl="1" indent="0">
              <a:lnSpc>
                <a:spcPct val="80000"/>
              </a:lnSpc>
              <a:buNone/>
            </a:pPr>
            <a:r>
              <a:rPr lang="en-US" sz="2400" dirty="0" smtClean="0"/>
              <a:t>Saleforce.com</a:t>
            </a:r>
          </a:p>
          <a:p>
            <a:pPr marL="457200" lvl="1" indent="0">
              <a:lnSpc>
                <a:spcPct val="80000"/>
              </a:lnSpc>
              <a:buNone/>
            </a:pPr>
            <a:r>
              <a:rPr lang="en-US" sz="2400" dirty="0" smtClean="0"/>
              <a:t>Google Cloud Platform (GCP)</a:t>
            </a:r>
          </a:p>
          <a:p>
            <a:pPr marL="457200" lvl="1" indent="0">
              <a:lnSpc>
                <a:spcPct val="80000"/>
              </a:lnSpc>
              <a:buNone/>
            </a:pPr>
            <a:r>
              <a:rPr lang="en-US" sz="2400" dirty="0" smtClean="0"/>
              <a:t>Oracle Cloud, </a:t>
            </a:r>
          </a:p>
          <a:p>
            <a:pPr marL="457200" lvl="1" indent="0">
              <a:lnSpc>
                <a:spcPct val="80000"/>
              </a:lnSpc>
              <a:buNone/>
            </a:pPr>
            <a:r>
              <a:rPr lang="en-US" sz="2400" dirty="0" smtClean="0"/>
              <a:t>Amazon Cloud Drive </a:t>
            </a:r>
          </a:p>
          <a:p>
            <a:pPr marL="457200" lvl="1" indent="0">
              <a:lnSpc>
                <a:spcPct val="80000"/>
              </a:lnSpc>
              <a:buNone/>
            </a:pPr>
            <a:r>
              <a:rPr lang="en-US" sz="2400" dirty="0" smtClean="0"/>
              <a:t>Microsoft Azure</a:t>
            </a:r>
          </a:p>
          <a:p>
            <a:pPr marL="857250" lvl="2" indent="0">
              <a:lnSpc>
                <a:spcPct val="80000"/>
              </a:lnSpc>
              <a:buNone/>
            </a:pPr>
            <a:endParaRPr lang="en-US" sz="2000" dirty="0" smtClean="0"/>
          </a:p>
          <a:p>
            <a:pPr marL="990600" lvl="1" indent="-533400">
              <a:lnSpc>
                <a:spcPct val="80000"/>
              </a:lnSpc>
            </a:pPr>
            <a:endParaRPr lang="en-US" sz="2400" dirty="0"/>
          </a:p>
          <a:p>
            <a:endParaRPr lang="en-US" dirty="0"/>
          </a:p>
        </p:txBody>
      </p:sp>
      <p:pic>
        <p:nvPicPr>
          <p:cNvPr id="4" name="Picture 3"/>
          <p:cNvPicPr>
            <a:picLocks noChangeAspect="1"/>
          </p:cNvPicPr>
          <p:nvPr/>
        </p:nvPicPr>
        <p:blipFill>
          <a:blip r:embed="rId2"/>
          <a:stretch>
            <a:fillRect/>
          </a:stretch>
        </p:blipFill>
        <p:spPr>
          <a:xfrm>
            <a:off x="4658323" y="4495800"/>
            <a:ext cx="4028477" cy="2255947"/>
          </a:xfrm>
          <a:prstGeom prst="rect">
            <a:avLst/>
          </a:prstGeom>
        </p:spPr>
      </p:pic>
      <p:pic>
        <p:nvPicPr>
          <p:cNvPr id="5" name="Picture 4"/>
          <p:cNvPicPr>
            <a:picLocks noChangeAspect="1"/>
          </p:cNvPicPr>
          <p:nvPr/>
        </p:nvPicPr>
        <p:blipFill>
          <a:blip r:embed="rId3"/>
          <a:stretch>
            <a:fillRect/>
          </a:stretch>
        </p:blipFill>
        <p:spPr>
          <a:xfrm>
            <a:off x="4781550" y="1228725"/>
            <a:ext cx="2619375" cy="1743075"/>
          </a:xfrm>
          <a:prstGeom prst="rect">
            <a:avLst/>
          </a:prstGeom>
        </p:spPr>
      </p:pic>
      <p:pic>
        <p:nvPicPr>
          <p:cNvPr id="7" name="Picture 6"/>
          <p:cNvPicPr>
            <a:picLocks noChangeAspect="1"/>
          </p:cNvPicPr>
          <p:nvPr/>
        </p:nvPicPr>
        <p:blipFill>
          <a:blip r:embed="rId4"/>
          <a:stretch>
            <a:fillRect/>
          </a:stretch>
        </p:blipFill>
        <p:spPr>
          <a:xfrm>
            <a:off x="1371600" y="1867374"/>
            <a:ext cx="1108062" cy="783751"/>
          </a:xfrm>
          <a:prstGeom prst="rect">
            <a:avLst/>
          </a:prstGeom>
        </p:spPr>
      </p:pic>
      <p:pic>
        <p:nvPicPr>
          <p:cNvPr id="8" name="Picture 7"/>
          <p:cNvPicPr>
            <a:picLocks noChangeAspect="1"/>
          </p:cNvPicPr>
          <p:nvPr/>
        </p:nvPicPr>
        <p:blipFill>
          <a:blip r:embed="rId5"/>
          <a:stretch>
            <a:fillRect/>
          </a:stretch>
        </p:blipFill>
        <p:spPr>
          <a:xfrm>
            <a:off x="3495675" y="2971800"/>
            <a:ext cx="2657475" cy="1371600"/>
          </a:xfrm>
          <a:prstGeom prst="rect">
            <a:avLst/>
          </a:prstGeom>
        </p:spPr>
      </p:pic>
      <p:pic>
        <p:nvPicPr>
          <p:cNvPr id="9" name="Picture 8"/>
          <p:cNvPicPr>
            <a:picLocks noChangeAspect="1"/>
          </p:cNvPicPr>
          <p:nvPr/>
        </p:nvPicPr>
        <p:blipFill>
          <a:blip r:embed="rId6"/>
          <a:stretch>
            <a:fillRect/>
          </a:stretch>
        </p:blipFill>
        <p:spPr>
          <a:xfrm>
            <a:off x="232608" y="2971800"/>
            <a:ext cx="3000375" cy="1524000"/>
          </a:xfrm>
          <a:prstGeom prst="rect">
            <a:avLst/>
          </a:prstGeom>
        </p:spPr>
      </p:pic>
    </p:spTree>
    <p:extLst>
      <p:ext uri="{BB962C8B-B14F-4D97-AF65-F5344CB8AC3E}">
        <p14:creationId xmlns:p14="http://schemas.microsoft.com/office/powerpoint/2010/main" val="30206126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Cloud based </a:t>
            </a:r>
            <a:r>
              <a:rPr lang="en-US" dirty="0" smtClean="0"/>
              <a:t>Systems </a:t>
            </a:r>
            <a:r>
              <a:rPr lang="en-US" sz="3200" dirty="0" smtClean="0"/>
              <a:t>Cont</a:t>
            </a:r>
            <a:r>
              <a:rPr lang="en-US" sz="3200" dirty="0"/>
              <a:t>.</a:t>
            </a:r>
          </a:p>
        </p:txBody>
      </p:sp>
      <p:sp>
        <p:nvSpPr>
          <p:cNvPr id="3" name="Content Placeholder 2"/>
          <p:cNvSpPr>
            <a:spLocks noGrp="1"/>
          </p:cNvSpPr>
          <p:nvPr>
            <p:ph idx="1"/>
          </p:nvPr>
        </p:nvSpPr>
        <p:spPr>
          <a:xfrm>
            <a:off x="457200" y="1417638"/>
            <a:ext cx="8229600" cy="5287962"/>
          </a:xfrm>
        </p:spPr>
        <p:txBody>
          <a:bodyPr>
            <a:normAutofit lnSpcReduction="10000"/>
          </a:bodyPr>
          <a:lstStyle/>
          <a:p>
            <a:pPr marL="0" indent="0">
              <a:lnSpc>
                <a:spcPct val="80000"/>
              </a:lnSpc>
              <a:buNone/>
            </a:pPr>
            <a:endParaRPr lang="en-US" sz="2800" dirty="0" smtClean="0"/>
          </a:p>
          <a:p>
            <a:pPr marL="0" indent="0">
              <a:lnSpc>
                <a:spcPct val="80000"/>
              </a:lnSpc>
              <a:buNone/>
            </a:pPr>
            <a:r>
              <a:rPr lang="en-US" sz="2800" b="1" dirty="0" smtClean="0"/>
              <a:t>Popular Cloud </a:t>
            </a:r>
            <a:r>
              <a:rPr lang="en-US" sz="2800" b="1" dirty="0"/>
              <a:t>based </a:t>
            </a:r>
            <a:r>
              <a:rPr lang="en-US" sz="2800" b="1" dirty="0" smtClean="0"/>
              <a:t>systems:</a:t>
            </a:r>
          </a:p>
          <a:p>
            <a:pPr marL="0" indent="0">
              <a:lnSpc>
                <a:spcPct val="80000"/>
              </a:lnSpc>
              <a:buNone/>
            </a:pPr>
            <a:endParaRPr lang="en-US" sz="2800" dirty="0"/>
          </a:p>
          <a:p>
            <a:pPr marL="0" indent="0">
              <a:lnSpc>
                <a:spcPct val="80000"/>
              </a:lnSpc>
              <a:buNone/>
            </a:pPr>
            <a:r>
              <a:rPr lang="en-US" sz="2800" dirty="0"/>
              <a:t>Systems that store, access data and programs (Infrastructure) over the cloud/internet</a:t>
            </a:r>
            <a:r>
              <a:rPr lang="en-US" sz="2800" dirty="0" smtClean="0"/>
              <a:t>.</a:t>
            </a:r>
          </a:p>
          <a:p>
            <a:pPr marL="0" indent="0">
              <a:lnSpc>
                <a:spcPct val="80000"/>
              </a:lnSpc>
              <a:buNone/>
            </a:pPr>
            <a:endParaRPr lang="en-US" sz="2800" dirty="0" smtClean="0"/>
          </a:p>
          <a:p>
            <a:pPr marL="0" indent="0">
              <a:lnSpc>
                <a:spcPct val="80000"/>
              </a:lnSpc>
              <a:buNone/>
            </a:pPr>
            <a:r>
              <a:rPr lang="en-US" sz="2800" dirty="0" smtClean="0"/>
              <a:t>Ex: </a:t>
            </a:r>
          </a:p>
          <a:p>
            <a:pPr>
              <a:lnSpc>
                <a:spcPct val="80000"/>
              </a:lnSpc>
            </a:pPr>
            <a:r>
              <a:rPr lang="en-US" sz="2800" b="1" dirty="0" smtClean="0"/>
              <a:t>Oracle NetSuite </a:t>
            </a:r>
            <a:r>
              <a:rPr lang="en-US" sz="2800" dirty="0" smtClean="0"/>
              <a:t>- </a:t>
            </a:r>
            <a:r>
              <a:rPr lang="en-US" sz="2800" dirty="0"/>
              <a:t>a complete cloud-based ERP </a:t>
            </a:r>
            <a:r>
              <a:rPr lang="en-US" sz="2800" dirty="0" smtClean="0"/>
              <a:t>solution on Oracle Cloud.</a:t>
            </a:r>
          </a:p>
          <a:p>
            <a:pPr>
              <a:lnSpc>
                <a:spcPct val="80000"/>
              </a:lnSpc>
            </a:pPr>
            <a:endParaRPr lang="en-US" sz="2800" dirty="0" smtClean="0"/>
          </a:p>
          <a:p>
            <a:pPr>
              <a:lnSpc>
                <a:spcPct val="80000"/>
              </a:lnSpc>
            </a:pPr>
            <a:r>
              <a:rPr lang="en-US" sz="2800" b="1" dirty="0" smtClean="0"/>
              <a:t>Office 365 – </a:t>
            </a:r>
            <a:r>
              <a:rPr lang="en-US" sz="2800" dirty="0" smtClean="0"/>
              <a:t>provides group of software and related </a:t>
            </a:r>
            <a:r>
              <a:rPr lang="en-US" sz="2800" dirty="0"/>
              <a:t>services to </a:t>
            </a:r>
            <a:r>
              <a:rPr lang="en-US" sz="2800" dirty="0" smtClean="0"/>
              <a:t>subscribers such as email, OneDrive (Cloud storage) on MS Azure</a:t>
            </a:r>
          </a:p>
          <a:p>
            <a:pPr>
              <a:lnSpc>
                <a:spcPct val="80000"/>
              </a:lnSpc>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0" indent="0">
              <a:lnSpc>
                <a:spcPct val="80000"/>
              </a:lnSpc>
              <a:buNone/>
            </a:pPr>
            <a:endParaRPr lang="en-US" sz="2800" dirty="0"/>
          </a:p>
          <a:p>
            <a:pPr marL="0" indent="0">
              <a:lnSpc>
                <a:spcPct val="80000"/>
              </a:lnSpc>
              <a:buNone/>
            </a:pPr>
            <a:endParaRPr lang="en-US" sz="2800" dirty="0" smtClean="0"/>
          </a:p>
          <a:p>
            <a:pPr marL="609600" indent="-609600">
              <a:lnSpc>
                <a:spcPct val="80000"/>
              </a:lnSpc>
            </a:pPr>
            <a:endParaRPr lang="en-US" sz="2400" dirty="0" smtClean="0"/>
          </a:p>
          <a:p>
            <a:pPr marL="990600" lvl="1" indent="-533400">
              <a:lnSpc>
                <a:spcPct val="80000"/>
              </a:lnSpc>
            </a:pPr>
            <a:endParaRPr lang="en-US" sz="2400" dirty="0"/>
          </a:p>
          <a:p>
            <a:endParaRPr lang="en-US" dirty="0"/>
          </a:p>
        </p:txBody>
      </p:sp>
    </p:spTree>
    <p:extLst>
      <p:ext uri="{BB962C8B-B14F-4D97-AF65-F5344CB8AC3E}">
        <p14:creationId xmlns:p14="http://schemas.microsoft.com/office/powerpoint/2010/main" val="17681636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IoT</a:t>
            </a:r>
            <a:r>
              <a:rPr lang="en-US" dirty="0"/>
              <a:t> (Internet of Things) Systems</a:t>
            </a:r>
          </a:p>
        </p:txBody>
      </p:sp>
      <p:sp>
        <p:nvSpPr>
          <p:cNvPr id="3" name="Content Placeholder 2"/>
          <p:cNvSpPr>
            <a:spLocks noGrp="1"/>
          </p:cNvSpPr>
          <p:nvPr>
            <p:ph idx="1"/>
          </p:nvPr>
        </p:nvSpPr>
        <p:spPr>
          <a:xfrm>
            <a:off x="457200" y="1600200"/>
            <a:ext cx="8229600" cy="4953000"/>
          </a:xfrm>
        </p:spPr>
        <p:txBody>
          <a:bodyPr>
            <a:normAutofit fontScale="32500" lnSpcReduction="20000"/>
          </a:bodyPr>
          <a:lstStyle/>
          <a:p>
            <a:pPr marL="0" indent="0">
              <a:buNone/>
            </a:pPr>
            <a:endParaRPr lang="en-US" dirty="0" smtClean="0">
              <a:solidFill>
                <a:srgbClr val="000000"/>
              </a:solidFill>
              <a:latin typeface="Times New Roman" panose="02020603050405020304" pitchFamily="18" charset="0"/>
            </a:endParaRPr>
          </a:p>
          <a:p>
            <a:pPr marL="0" indent="0">
              <a:buNone/>
            </a:pPr>
            <a:endParaRPr lang="en-US" dirty="0">
              <a:solidFill>
                <a:srgbClr val="000000"/>
              </a:solidFill>
              <a:latin typeface="Times New Roman" panose="02020603050405020304" pitchFamily="18" charset="0"/>
            </a:endParaRPr>
          </a:p>
          <a:p>
            <a:pPr marL="0" indent="0">
              <a:buNone/>
            </a:pPr>
            <a:endParaRPr lang="en-US" dirty="0" smtClean="0">
              <a:solidFill>
                <a:srgbClr val="000000"/>
              </a:solidFill>
              <a:latin typeface="Times New Roman" panose="02020603050405020304" pitchFamily="18" charset="0"/>
            </a:endParaRPr>
          </a:p>
          <a:p>
            <a:pPr marL="0" indent="0">
              <a:buNone/>
            </a:pPr>
            <a:endParaRPr lang="en-US" dirty="0">
              <a:solidFill>
                <a:srgbClr val="000000"/>
              </a:solidFill>
              <a:latin typeface="Times New Roman" panose="02020603050405020304" pitchFamily="18" charset="0"/>
            </a:endParaRPr>
          </a:p>
          <a:p>
            <a:pPr marL="0" indent="0">
              <a:buNone/>
            </a:pPr>
            <a:endParaRPr lang="en-US" dirty="0" smtClean="0">
              <a:solidFill>
                <a:srgbClr val="000000"/>
              </a:solidFill>
              <a:latin typeface="Times New Roman" panose="02020603050405020304" pitchFamily="18" charset="0"/>
            </a:endParaRPr>
          </a:p>
          <a:p>
            <a:pPr marL="0" indent="0">
              <a:buNone/>
            </a:pPr>
            <a:endParaRPr lang="en-US" dirty="0">
              <a:solidFill>
                <a:srgbClr val="000000"/>
              </a:solidFill>
              <a:latin typeface="Times New Roman" panose="02020603050405020304" pitchFamily="18" charset="0"/>
            </a:endParaRPr>
          </a:p>
          <a:p>
            <a:pPr marL="0" indent="0">
              <a:buNone/>
            </a:pPr>
            <a:endParaRPr lang="en-US" dirty="0" smtClean="0">
              <a:solidFill>
                <a:srgbClr val="000000"/>
              </a:solidFill>
              <a:latin typeface="Times New Roman" panose="02020603050405020304" pitchFamily="18" charset="0"/>
            </a:endParaRPr>
          </a:p>
          <a:p>
            <a:pPr marL="0" indent="0">
              <a:buNone/>
            </a:pPr>
            <a:endParaRPr lang="en-US" dirty="0" smtClean="0">
              <a:solidFill>
                <a:srgbClr val="000000"/>
              </a:solidFill>
              <a:latin typeface="Times New Roman" panose="02020603050405020304" pitchFamily="18" charset="0"/>
            </a:endParaRPr>
          </a:p>
          <a:p>
            <a:pPr marL="0" indent="0">
              <a:buNone/>
            </a:pPr>
            <a:endParaRPr lang="en-US" sz="5500" dirty="0" smtClean="0"/>
          </a:p>
          <a:p>
            <a:pPr marL="0" indent="0">
              <a:buNone/>
            </a:pPr>
            <a:r>
              <a:rPr lang="en-US" sz="6000" b="1" dirty="0" smtClean="0"/>
              <a:t>IOT </a:t>
            </a:r>
            <a:r>
              <a:rPr lang="en-US" sz="6000" b="1" dirty="0"/>
              <a:t>Concept:</a:t>
            </a:r>
          </a:p>
          <a:p>
            <a:pPr marL="0" indent="0">
              <a:buNone/>
            </a:pPr>
            <a:r>
              <a:rPr lang="en-US" sz="6000" dirty="0"/>
              <a:t>The Internet of Things (</a:t>
            </a:r>
            <a:r>
              <a:rPr lang="en-US" sz="6000" dirty="0" err="1"/>
              <a:t>IoT</a:t>
            </a:r>
            <a:r>
              <a:rPr lang="en-US" sz="6000" dirty="0"/>
              <a:t>) is a network of objects each embedded with sensors(things) which are connected to the Internet</a:t>
            </a:r>
            <a:r>
              <a:rPr lang="en-US" sz="6000" dirty="0" smtClean="0"/>
              <a:t>.</a:t>
            </a:r>
          </a:p>
          <a:p>
            <a:pPr marL="0" indent="0">
              <a:buNone/>
            </a:pPr>
            <a:endParaRPr lang="en-US" sz="6000" dirty="0" smtClean="0"/>
          </a:p>
          <a:p>
            <a:pPr marL="0" indent="0">
              <a:buNone/>
            </a:pPr>
            <a:r>
              <a:rPr lang="en-US" sz="6000" dirty="0" smtClean="0"/>
              <a:t>This </a:t>
            </a:r>
            <a:r>
              <a:rPr lang="en-US" sz="6000" dirty="0"/>
              <a:t>concept is connecting any device with an on and off switch to the Internet. This includes everything from mobiles, air conditioners, headphones, wearable devices and almost anything. </a:t>
            </a:r>
          </a:p>
        </p:txBody>
      </p:sp>
      <p:pic>
        <p:nvPicPr>
          <p:cNvPr id="4" name="Picture 3"/>
          <p:cNvPicPr>
            <a:picLocks noChangeAspect="1"/>
          </p:cNvPicPr>
          <p:nvPr/>
        </p:nvPicPr>
        <p:blipFill>
          <a:blip r:embed="rId2"/>
          <a:stretch>
            <a:fillRect/>
          </a:stretch>
        </p:blipFill>
        <p:spPr>
          <a:xfrm>
            <a:off x="1494279" y="1219200"/>
            <a:ext cx="6049521" cy="2133601"/>
          </a:xfrm>
          <a:prstGeom prst="rect">
            <a:avLst/>
          </a:prstGeom>
        </p:spPr>
      </p:pic>
    </p:spTree>
    <p:extLst>
      <p:ext uri="{BB962C8B-B14F-4D97-AF65-F5344CB8AC3E}">
        <p14:creationId xmlns:p14="http://schemas.microsoft.com/office/powerpoint/2010/main" val="30750347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IoT</a:t>
            </a:r>
            <a:r>
              <a:rPr lang="en-US" dirty="0"/>
              <a:t> (Internet of Things) </a:t>
            </a:r>
            <a:r>
              <a:rPr lang="en-US" dirty="0" smtClean="0"/>
              <a:t>Systems </a:t>
            </a:r>
            <a:r>
              <a:rPr lang="en-US" sz="3600" dirty="0" smtClean="0"/>
              <a:t>Cont.</a:t>
            </a:r>
            <a:endParaRPr lang="en-US" sz="3600" dirty="0"/>
          </a:p>
        </p:txBody>
      </p:sp>
      <p:sp>
        <p:nvSpPr>
          <p:cNvPr id="3" name="Content Placeholder 2"/>
          <p:cNvSpPr>
            <a:spLocks noGrp="1"/>
          </p:cNvSpPr>
          <p:nvPr>
            <p:ph idx="1"/>
          </p:nvPr>
        </p:nvSpPr>
        <p:spPr>
          <a:xfrm>
            <a:off x="457200" y="1600200"/>
            <a:ext cx="8229600" cy="4953000"/>
          </a:xfrm>
        </p:spPr>
        <p:txBody>
          <a:bodyPr>
            <a:normAutofit/>
          </a:bodyPr>
          <a:lstStyle/>
          <a:p>
            <a:pPr marL="0" indent="0">
              <a:buNone/>
            </a:pPr>
            <a:r>
              <a:rPr lang="en-US" sz="3400" dirty="0" smtClean="0"/>
              <a:t>Without </a:t>
            </a:r>
            <a:r>
              <a:rPr lang="en-US" sz="3400" dirty="0" err="1" smtClean="0"/>
              <a:t>IoT</a:t>
            </a:r>
            <a:r>
              <a:rPr lang="en-US" sz="3400" dirty="0" smtClean="0"/>
              <a:t>…</a:t>
            </a:r>
          </a:p>
          <a:p>
            <a:pPr marL="0" indent="0">
              <a:buNone/>
            </a:pPr>
            <a:endParaRPr lang="en-US" sz="3400" dirty="0"/>
          </a:p>
          <a:p>
            <a:pPr marL="0" indent="0">
              <a:buNone/>
            </a:pPr>
            <a:endParaRPr lang="en-US" sz="3400" dirty="0" smtClean="0"/>
          </a:p>
          <a:p>
            <a:pPr marL="0" indent="0">
              <a:buNone/>
            </a:pPr>
            <a:endParaRPr lang="en-US" sz="3400" dirty="0"/>
          </a:p>
          <a:p>
            <a:pPr marL="0" indent="0">
              <a:buNone/>
            </a:pPr>
            <a:r>
              <a:rPr lang="en-US" sz="3400" dirty="0" smtClean="0"/>
              <a:t>With </a:t>
            </a:r>
            <a:r>
              <a:rPr lang="en-US" sz="3400" dirty="0" err="1" smtClean="0"/>
              <a:t>IoT</a:t>
            </a:r>
            <a:r>
              <a:rPr lang="en-US" sz="3400" dirty="0" smtClean="0"/>
              <a:t>…</a:t>
            </a:r>
          </a:p>
          <a:p>
            <a:pPr marL="0" indent="0">
              <a:buNone/>
            </a:pPr>
            <a:endParaRPr lang="en-US" sz="3400" dirty="0"/>
          </a:p>
        </p:txBody>
      </p:sp>
      <p:grpSp>
        <p:nvGrpSpPr>
          <p:cNvPr id="10" name="Group 9"/>
          <p:cNvGrpSpPr/>
          <p:nvPr/>
        </p:nvGrpSpPr>
        <p:grpSpPr>
          <a:xfrm>
            <a:off x="2895600" y="1611321"/>
            <a:ext cx="4165883" cy="1392072"/>
            <a:chOff x="252381" y="2252519"/>
            <a:chExt cx="4331931" cy="1392072"/>
          </a:xfrm>
        </p:grpSpPr>
        <p:pic>
          <p:nvPicPr>
            <p:cNvPr id="5" name="Picture 4"/>
            <p:cNvPicPr>
              <a:picLocks noChangeAspect="1"/>
            </p:cNvPicPr>
            <p:nvPr/>
          </p:nvPicPr>
          <p:blipFill>
            <a:blip r:embed="rId2"/>
            <a:stretch>
              <a:fillRect/>
            </a:stretch>
          </p:blipFill>
          <p:spPr>
            <a:xfrm>
              <a:off x="252381" y="2272991"/>
              <a:ext cx="2981970" cy="1371600"/>
            </a:xfrm>
            <a:prstGeom prst="rect">
              <a:avLst/>
            </a:prstGeom>
          </p:spPr>
        </p:pic>
        <p:pic>
          <p:nvPicPr>
            <p:cNvPr id="7" name="Picture 6"/>
            <p:cNvPicPr>
              <a:picLocks noChangeAspect="1"/>
            </p:cNvPicPr>
            <p:nvPr/>
          </p:nvPicPr>
          <p:blipFill>
            <a:blip r:embed="rId3"/>
            <a:stretch>
              <a:fillRect/>
            </a:stretch>
          </p:blipFill>
          <p:spPr>
            <a:xfrm>
              <a:off x="3254823" y="2252519"/>
              <a:ext cx="1329489" cy="1371600"/>
            </a:xfrm>
            <a:prstGeom prst="rect">
              <a:avLst/>
            </a:prstGeom>
          </p:spPr>
        </p:pic>
        <p:cxnSp>
          <p:nvCxnSpPr>
            <p:cNvPr id="9" name="Straight Arrow Connector 8"/>
            <p:cNvCxnSpPr/>
            <p:nvPr/>
          </p:nvCxnSpPr>
          <p:spPr>
            <a:xfrm>
              <a:off x="2057400" y="2958791"/>
              <a:ext cx="1066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2961564" y="3775973"/>
            <a:ext cx="5413486" cy="2992771"/>
            <a:chOff x="3587056" y="3814881"/>
            <a:chExt cx="5327050" cy="2992771"/>
          </a:xfrm>
        </p:grpSpPr>
        <p:pic>
          <p:nvPicPr>
            <p:cNvPr id="12" name="Picture 11"/>
            <p:cNvPicPr>
              <a:picLocks noChangeAspect="1"/>
            </p:cNvPicPr>
            <p:nvPr/>
          </p:nvPicPr>
          <p:blipFill>
            <a:blip r:embed="rId2"/>
            <a:stretch>
              <a:fillRect/>
            </a:stretch>
          </p:blipFill>
          <p:spPr>
            <a:xfrm>
              <a:off x="3587056" y="3814881"/>
              <a:ext cx="2654921" cy="1621171"/>
            </a:xfrm>
            <a:prstGeom prst="rect">
              <a:avLst/>
            </a:prstGeom>
          </p:spPr>
        </p:pic>
        <p:pic>
          <p:nvPicPr>
            <p:cNvPr id="13" name="Picture 12"/>
            <p:cNvPicPr>
              <a:picLocks noChangeAspect="1"/>
            </p:cNvPicPr>
            <p:nvPr/>
          </p:nvPicPr>
          <p:blipFill>
            <a:blip r:embed="rId3"/>
            <a:stretch>
              <a:fillRect/>
            </a:stretch>
          </p:blipFill>
          <p:spPr>
            <a:xfrm>
              <a:off x="7584617" y="3873559"/>
              <a:ext cx="1329489" cy="1371600"/>
            </a:xfrm>
            <a:prstGeom prst="rect">
              <a:avLst/>
            </a:prstGeom>
          </p:spPr>
        </p:pic>
        <p:cxnSp>
          <p:nvCxnSpPr>
            <p:cNvPr id="14" name="Straight Arrow Connector 13"/>
            <p:cNvCxnSpPr/>
            <p:nvPr/>
          </p:nvCxnSpPr>
          <p:spPr>
            <a:xfrm>
              <a:off x="5387480" y="4724400"/>
              <a:ext cx="194523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5955915" y="5436052"/>
              <a:ext cx="1329489" cy="1371600"/>
            </a:xfrm>
            <a:prstGeom prst="rect">
              <a:avLst/>
            </a:prstGeom>
          </p:spPr>
        </p:pic>
        <p:cxnSp>
          <p:nvCxnSpPr>
            <p:cNvPr id="17" name="Straight Arrow Connector 16"/>
            <p:cNvCxnSpPr/>
            <p:nvPr/>
          </p:nvCxnSpPr>
          <p:spPr>
            <a:xfrm>
              <a:off x="4983760" y="5292045"/>
              <a:ext cx="807440" cy="725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7332711" y="5245159"/>
              <a:ext cx="744489" cy="772580"/>
            </a:xfrm>
            <a:prstGeom prst="straightConnector1">
              <a:avLst/>
            </a:prstGeom>
            <a:ln>
              <a:solidFill>
                <a:srgbClr val="FF0000"/>
              </a:solidFill>
              <a:headEnd type="triangle"/>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7807393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412" y="10236"/>
            <a:ext cx="8229600" cy="1143000"/>
          </a:xfrm>
        </p:spPr>
        <p:txBody>
          <a:bodyPr>
            <a:normAutofit fontScale="90000"/>
          </a:bodyPr>
          <a:lstStyle/>
          <a:p>
            <a:r>
              <a:rPr lang="en-US" dirty="0" err="1" smtClean="0"/>
              <a:t>IoT</a:t>
            </a:r>
            <a:r>
              <a:rPr lang="en-US" dirty="0" smtClean="0"/>
              <a:t> </a:t>
            </a:r>
            <a:r>
              <a:rPr lang="en-US" dirty="0"/>
              <a:t>(Internet of Things) </a:t>
            </a:r>
            <a:r>
              <a:rPr lang="en-US" dirty="0" smtClean="0"/>
              <a:t>Systems </a:t>
            </a:r>
            <a:r>
              <a:rPr lang="en-US" sz="3600" dirty="0" smtClean="0"/>
              <a:t>Cont.</a:t>
            </a:r>
            <a:endParaRPr lang="en-US" sz="3600" dirty="0"/>
          </a:p>
        </p:txBody>
      </p:sp>
      <p:sp>
        <p:nvSpPr>
          <p:cNvPr id="6" name="Content Placeholder 5"/>
          <p:cNvSpPr>
            <a:spLocks noGrp="1"/>
          </p:cNvSpPr>
          <p:nvPr>
            <p:ph idx="1"/>
          </p:nvPr>
        </p:nvSpPr>
        <p:spPr>
          <a:xfrm>
            <a:off x="228600" y="990600"/>
            <a:ext cx="8915400" cy="5867400"/>
          </a:xfrm>
        </p:spPr>
        <p:txBody>
          <a:bodyPr>
            <a:normAutofit fontScale="62500" lnSpcReduction="20000"/>
          </a:bodyPr>
          <a:lstStyle/>
          <a:p>
            <a:pPr marL="0" indent="0">
              <a:buNone/>
            </a:pPr>
            <a:r>
              <a:rPr lang="en-US" dirty="0" err="1" smtClean="0"/>
              <a:t>IoT</a:t>
            </a:r>
            <a:r>
              <a:rPr lang="en-US" dirty="0" smtClean="0"/>
              <a:t> makes anything “</a:t>
            </a:r>
            <a:r>
              <a:rPr lang="en-US" b="1" dirty="0" smtClean="0"/>
              <a:t>SMART</a:t>
            </a:r>
            <a:r>
              <a:rPr lang="en-US" dirty="0" smtClean="0"/>
              <a:t>” enhancing every aspect of life with the power of data collection (through sensors), AI algorithms and networks. </a:t>
            </a:r>
          </a:p>
          <a:p>
            <a:pPr marL="0" indent="0">
              <a:buNone/>
            </a:pPr>
            <a:r>
              <a:rPr lang="en-US" dirty="0" smtClean="0"/>
              <a:t>Ex: </a:t>
            </a:r>
          </a:p>
          <a:p>
            <a:pPr marL="0" indent="0">
              <a:buNone/>
            </a:pPr>
            <a:r>
              <a:rPr lang="en-US" dirty="0" smtClean="0"/>
              <a:t>Sensors connected to your refrigerator and cabinets</a:t>
            </a:r>
          </a:p>
          <a:p>
            <a:pPr marL="0" indent="0">
              <a:buNone/>
            </a:pPr>
            <a:r>
              <a:rPr lang="en-US" dirty="0" smtClean="0"/>
              <a:t>detect when milk and your favorite cereal run low, then</a:t>
            </a:r>
          </a:p>
          <a:p>
            <a:pPr marL="0" indent="0">
              <a:buNone/>
            </a:pPr>
            <a:r>
              <a:rPr lang="en-US" dirty="0" smtClean="0"/>
              <a:t>automatically place an order with your preferred grocer.</a:t>
            </a:r>
          </a:p>
          <a:p>
            <a:pPr marL="0" indent="0">
              <a:buNone/>
            </a:pPr>
            <a:r>
              <a:rPr lang="en-US" sz="2900" dirty="0" smtClean="0"/>
              <a:t>			</a:t>
            </a:r>
          </a:p>
          <a:p>
            <a:pPr marL="0" indent="0">
              <a:buNone/>
            </a:pPr>
            <a:r>
              <a:rPr lang="en-US" sz="2900" dirty="0" smtClean="0"/>
              <a:t>		</a:t>
            </a:r>
            <a:r>
              <a:rPr lang="en-US" dirty="0" smtClean="0"/>
              <a:t>	Sensors </a:t>
            </a:r>
            <a:r>
              <a:rPr lang="en-US" dirty="0"/>
              <a:t>such as heart rate monitors, </a:t>
            </a:r>
            <a:r>
              <a:rPr lang="en-US" dirty="0" smtClean="0"/>
              <a:t>blood pressure 				monitors, implant in your body, track you and when it 			breaches the risk level analyze and diagnose the critical 			condition, automatically send details to your doctor and 			the ambulance come to pick you to the hospital. </a:t>
            </a:r>
            <a:endParaRPr lang="en-US" dirty="0"/>
          </a:p>
          <a:p>
            <a:pPr marL="0" indent="0">
              <a:buNone/>
            </a:pPr>
            <a:endParaRPr lang="en-US" sz="2800" dirty="0" smtClean="0"/>
          </a:p>
          <a:p>
            <a:pPr marL="0" indent="0">
              <a:buNone/>
            </a:pPr>
            <a:endParaRPr lang="en-US" sz="2800" dirty="0" smtClean="0"/>
          </a:p>
          <a:p>
            <a:pPr marL="0" indent="0">
              <a:buNone/>
            </a:pPr>
            <a:r>
              <a:rPr lang="en-US" dirty="0" err="1" smtClean="0"/>
              <a:t>IoT</a:t>
            </a:r>
            <a:r>
              <a:rPr lang="en-US" dirty="0" smtClean="0"/>
              <a:t> </a:t>
            </a:r>
            <a:r>
              <a:rPr lang="en-US" dirty="0"/>
              <a:t>systems have applications across industries through their unique flexibility and ability to be suitable in any environment.</a:t>
            </a:r>
          </a:p>
          <a:p>
            <a:pPr marL="0" indent="0">
              <a:buNone/>
            </a:pPr>
            <a:r>
              <a:rPr lang="en-US" dirty="0" smtClean="0"/>
              <a:t>Ex:</a:t>
            </a:r>
            <a:endParaRPr lang="en-US" dirty="0"/>
          </a:p>
          <a:p>
            <a:pPr marL="0" indent="0">
              <a:buNone/>
            </a:pPr>
            <a:r>
              <a:rPr lang="en-US" sz="2800" dirty="0" smtClean="0"/>
              <a:t>	</a:t>
            </a:r>
            <a:r>
              <a:rPr lang="en-US" dirty="0" smtClean="0"/>
              <a:t>Transportation </a:t>
            </a:r>
            <a:r>
              <a:rPr lang="en-US" dirty="0"/>
              <a:t>and logistics </a:t>
            </a:r>
            <a:r>
              <a:rPr lang="en-US" dirty="0" smtClean="0"/>
              <a:t>, Healthcare, Agriculture, </a:t>
            </a:r>
          </a:p>
          <a:p>
            <a:pPr marL="0" indent="0">
              <a:buNone/>
            </a:pPr>
            <a:r>
              <a:rPr lang="en-US" dirty="0"/>
              <a:t>	</a:t>
            </a:r>
            <a:r>
              <a:rPr lang="en-US" dirty="0" smtClean="0"/>
              <a:t>Smart environment </a:t>
            </a:r>
            <a:r>
              <a:rPr lang="en-US" dirty="0"/>
              <a:t>(home, office, plant</a:t>
            </a:r>
            <a:r>
              <a:rPr lang="en-US" dirty="0" smtClean="0"/>
              <a:t>), Personal </a:t>
            </a:r>
            <a:r>
              <a:rPr lang="en-US" dirty="0"/>
              <a:t>and </a:t>
            </a:r>
            <a:r>
              <a:rPr lang="en-US" dirty="0" smtClean="0"/>
              <a:t>social, </a:t>
            </a:r>
          </a:p>
          <a:p>
            <a:pPr marL="0" indent="0">
              <a:buNone/>
            </a:pPr>
            <a:r>
              <a:rPr lang="en-US" dirty="0"/>
              <a:t>	</a:t>
            </a:r>
            <a:r>
              <a:rPr lang="en-US" dirty="0" smtClean="0"/>
              <a:t>Energy </a:t>
            </a:r>
            <a:r>
              <a:rPr lang="en-US" dirty="0"/>
              <a:t>and power </a:t>
            </a:r>
          </a:p>
        </p:txBody>
      </p:sp>
      <p:pic>
        <p:nvPicPr>
          <p:cNvPr id="3" name="Picture 2"/>
          <p:cNvPicPr>
            <a:picLocks noChangeAspect="1"/>
          </p:cNvPicPr>
          <p:nvPr/>
        </p:nvPicPr>
        <p:blipFill>
          <a:blip r:embed="rId2"/>
          <a:stretch>
            <a:fillRect/>
          </a:stretch>
        </p:blipFill>
        <p:spPr>
          <a:xfrm>
            <a:off x="6553200" y="1600200"/>
            <a:ext cx="2124075" cy="1457852"/>
          </a:xfrm>
          <a:prstGeom prst="rect">
            <a:avLst/>
          </a:prstGeom>
        </p:spPr>
      </p:pic>
      <p:pic>
        <p:nvPicPr>
          <p:cNvPr id="4" name="Picture 3"/>
          <p:cNvPicPr>
            <a:picLocks noChangeAspect="1"/>
          </p:cNvPicPr>
          <p:nvPr/>
        </p:nvPicPr>
        <p:blipFill>
          <a:blip r:embed="rId3"/>
          <a:stretch>
            <a:fillRect/>
          </a:stretch>
        </p:blipFill>
        <p:spPr>
          <a:xfrm>
            <a:off x="228600" y="2971800"/>
            <a:ext cx="2745041" cy="1760407"/>
          </a:xfrm>
          <a:prstGeom prst="rect">
            <a:avLst/>
          </a:prstGeom>
        </p:spPr>
      </p:pic>
    </p:spTree>
    <p:extLst>
      <p:ext uri="{BB962C8B-B14F-4D97-AF65-F5344CB8AC3E}">
        <p14:creationId xmlns:p14="http://schemas.microsoft.com/office/powerpoint/2010/main" val="36805862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7"/>
          <p:cNvSpPr/>
          <p:nvPr/>
        </p:nvSpPr>
        <p:spPr>
          <a:xfrm>
            <a:off x="1978622" y="2781119"/>
            <a:ext cx="4874333" cy="4076881"/>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BI(Business Intelligence) </a:t>
            </a:r>
            <a:r>
              <a:rPr lang="en-US" dirty="0" smtClean="0"/>
              <a:t>Systems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sp>
        <p:nvSpPr>
          <p:cNvPr id="4" name="Rectangle 3"/>
          <p:cNvSpPr/>
          <p:nvPr/>
        </p:nvSpPr>
        <p:spPr>
          <a:xfrm>
            <a:off x="1814822" y="1438118"/>
            <a:ext cx="1524000" cy="10153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Raw Data</a:t>
            </a:r>
            <a:endParaRPr lang="en-US" dirty="0"/>
          </a:p>
        </p:txBody>
      </p:sp>
      <p:sp>
        <p:nvSpPr>
          <p:cNvPr id="6" name="Oval 5"/>
          <p:cNvSpPr/>
          <p:nvPr/>
        </p:nvSpPr>
        <p:spPr>
          <a:xfrm>
            <a:off x="3300722" y="3657600"/>
            <a:ext cx="1905000"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Intelligence/ Knowledge</a:t>
            </a:r>
            <a:endParaRPr lang="en-US" dirty="0"/>
          </a:p>
        </p:txBody>
      </p:sp>
      <p:sp>
        <p:nvSpPr>
          <p:cNvPr id="7" name="Rounded Rectangle 6"/>
          <p:cNvSpPr/>
          <p:nvPr/>
        </p:nvSpPr>
        <p:spPr>
          <a:xfrm>
            <a:off x="5246383" y="1358636"/>
            <a:ext cx="1524000" cy="10153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Information</a:t>
            </a:r>
            <a:endParaRPr lang="en-US" dirty="0"/>
          </a:p>
        </p:txBody>
      </p:sp>
      <p:cxnSp>
        <p:nvCxnSpPr>
          <p:cNvPr id="9" name="Straight Arrow Connector 8"/>
          <p:cNvCxnSpPr/>
          <p:nvPr/>
        </p:nvCxnSpPr>
        <p:spPr>
          <a:xfrm>
            <a:off x="2904022" y="2636044"/>
            <a:ext cx="827961" cy="1021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4843695" y="2393033"/>
            <a:ext cx="770346" cy="1240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581400" y="1945800"/>
            <a:ext cx="16243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a:blip r:embed="rId2"/>
          <a:stretch>
            <a:fillRect/>
          </a:stretch>
        </p:blipFill>
        <p:spPr>
          <a:xfrm>
            <a:off x="5713363" y="3827099"/>
            <a:ext cx="2282872" cy="1688101"/>
          </a:xfrm>
          <a:prstGeom prst="rect">
            <a:avLst/>
          </a:prstGeom>
        </p:spPr>
      </p:pic>
      <p:sp>
        <p:nvSpPr>
          <p:cNvPr id="30" name="TextBox 29"/>
          <p:cNvSpPr txBox="1"/>
          <p:nvPr/>
        </p:nvSpPr>
        <p:spPr>
          <a:xfrm>
            <a:off x="3810168" y="1261573"/>
            <a:ext cx="894284" cy="369332"/>
          </a:xfrm>
          <a:prstGeom prst="rect">
            <a:avLst/>
          </a:prstGeom>
          <a:noFill/>
        </p:spPr>
        <p:txBody>
          <a:bodyPr wrap="none" rtlCol="0">
            <a:spAutoFit/>
          </a:bodyPr>
          <a:lstStyle/>
          <a:p>
            <a:r>
              <a:rPr lang="en-US" i="1" dirty="0" smtClean="0"/>
              <a:t>Process</a:t>
            </a:r>
            <a:endParaRPr lang="en-US" i="1" dirty="0"/>
          </a:p>
        </p:txBody>
      </p:sp>
      <p:pic>
        <p:nvPicPr>
          <p:cNvPr id="36" name="Picture 35"/>
          <p:cNvPicPr>
            <a:picLocks noChangeAspect="1"/>
          </p:cNvPicPr>
          <p:nvPr/>
        </p:nvPicPr>
        <p:blipFill>
          <a:blip r:embed="rId3"/>
          <a:stretch>
            <a:fillRect/>
          </a:stretch>
        </p:blipFill>
        <p:spPr>
          <a:xfrm>
            <a:off x="-49180" y="1230030"/>
            <a:ext cx="1587362" cy="2051565"/>
          </a:xfrm>
          <a:prstGeom prst="rect">
            <a:avLst/>
          </a:prstGeom>
        </p:spPr>
      </p:pic>
      <p:pic>
        <p:nvPicPr>
          <p:cNvPr id="37" name="Picture 36"/>
          <p:cNvPicPr>
            <a:picLocks noChangeAspect="1"/>
          </p:cNvPicPr>
          <p:nvPr/>
        </p:nvPicPr>
        <p:blipFill>
          <a:blip r:embed="rId4"/>
          <a:stretch>
            <a:fillRect/>
          </a:stretch>
        </p:blipFill>
        <p:spPr>
          <a:xfrm>
            <a:off x="7107594" y="1119642"/>
            <a:ext cx="2036406" cy="1661477"/>
          </a:xfrm>
          <a:prstGeom prst="rect">
            <a:avLst/>
          </a:prstGeom>
        </p:spPr>
      </p:pic>
      <p:sp>
        <p:nvSpPr>
          <p:cNvPr id="41" name="TextBox 40"/>
          <p:cNvSpPr txBox="1"/>
          <p:nvPr/>
        </p:nvSpPr>
        <p:spPr>
          <a:xfrm>
            <a:off x="3342121" y="3216692"/>
            <a:ext cx="2734126" cy="369332"/>
          </a:xfrm>
          <a:prstGeom prst="rect">
            <a:avLst/>
          </a:prstGeom>
          <a:noFill/>
        </p:spPr>
        <p:txBody>
          <a:bodyPr wrap="square" rtlCol="0">
            <a:spAutoFit/>
          </a:bodyPr>
          <a:lstStyle/>
          <a:p>
            <a:r>
              <a:rPr lang="en-US" i="1" dirty="0" smtClean="0"/>
              <a:t>Business Analytics</a:t>
            </a:r>
            <a:endParaRPr lang="en-US" i="1" dirty="0"/>
          </a:p>
        </p:txBody>
      </p:sp>
      <p:sp>
        <p:nvSpPr>
          <p:cNvPr id="18" name="TextBox 17"/>
          <p:cNvSpPr txBox="1"/>
          <p:nvPr/>
        </p:nvSpPr>
        <p:spPr>
          <a:xfrm>
            <a:off x="0" y="3177284"/>
            <a:ext cx="1749903" cy="923330"/>
          </a:xfrm>
          <a:prstGeom prst="rect">
            <a:avLst/>
          </a:prstGeom>
          <a:noFill/>
        </p:spPr>
        <p:txBody>
          <a:bodyPr wrap="none" rtlCol="0">
            <a:spAutoFit/>
          </a:bodyPr>
          <a:lstStyle/>
          <a:p>
            <a:r>
              <a:rPr lang="en-US" dirty="0" smtClean="0"/>
              <a:t>Facts</a:t>
            </a:r>
          </a:p>
          <a:p>
            <a:r>
              <a:rPr lang="en-US" i="1" dirty="0" smtClean="0">
                <a:solidFill>
                  <a:srgbClr val="00B050"/>
                </a:solidFill>
              </a:rPr>
              <a:t>Ex: Data in an </a:t>
            </a:r>
          </a:p>
          <a:p>
            <a:r>
              <a:rPr lang="en-US" i="1" dirty="0" smtClean="0">
                <a:solidFill>
                  <a:srgbClr val="00B050"/>
                </a:solidFill>
              </a:rPr>
              <a:t>Application form</a:t>
            </a:r>
            <a:endParaRPr lang="en-US" i="1" dirty="0">
              <a:solidFill>
                <a:srgbClr val="00B050"/>
              </a:solidFill>
            </a:endParaRPr>
          </a:p>
        </p:txBody>
      </p:sp>
      <p:sp>
        <p:nvSpPr>
          <p:cNvPr id="19" name="TextBox 18"/>
          <p:cNvSpPr txBox="1"/>
          <p:nvPr/>
        </p:nvSpPr>
        <p:spPr>
          <a:xfrm>
            <a:off x="6727180" y="1964601"/>
            <a:ext cx="2515476" cy="1200329"/>
          </a:xfrm>
          <a:prstGeom prst="rect">
            <a:avLst/>
          </a:prstGeom>
          <a:noFill/>
        </p:spPr>
        <p:txBody>
          <a:bodyPr wrap="square" rtlCol="0">
            <a:spAutoFit/>
          </a:bodyPr>
          <a:lstStyle/>
          <a:p>
            <a:r>
              <a:rPr lang="en-US" dirty="0"/>
              <a:t>meaningful and support </a:t>
            </a:r>
            <a:endParaRPr lang="en-US" dirty="0" smtClean="0"/>
          </a:p>
          <a:p>
            <a:r>
              <a:rPr lang="en-US" dirty="0" smtClean="0"/>
              <a:t>decision making</a:t>
            </a:r>
          </a:p>
          <a:p>
            <a:r>
              <a:rPr lang="en-US" i="1" dirty="0" smtClean="0">
                <a:solidFill>
                  <a:srgbClr val="00B050"/>
                </a:solidFill>
              </a:rPr>
              <a:t>Ex: Reports with organized information</a:t>
            </a:r>
            <a:endParaRPr lang="en-US" i="1" dirty="0">
              <a:solidFill>
                <a:srgbClr val="00B050"/>
              </a:solidFill>
            </a:endParaRPr>
          </a:p>
        </p:txBody>
      </p:sp>
      <p:sp>
        <p:nvSpPr>
          <p:cNvPr id="20" name="TextBox 19"/>
          <p:cNvSpPr txBox="1"/>
          <p:nvPr/>
        </p:nvSpPr>
        <p:spPr>
          <a:xfrm>
            <a:off x="913069" y="4127595"/>
            <a:ext cx="2988812" cy="2862322"/>
          </a:xfrm>
          <a:prstGeom prst="rect">
            <a:avLst/>
          </a:prstGeom>
          <a:noFill/>
        </p:spPr>
        <p:txBody>
          <a:bodyPr wrap="square" rtlCol="0">
            <a:spAutoFit/>
          </a:bodyPr>
          <a:lstStyle/>
          <a:p>
            <a:r>
              <a:rPr lang="en-US" dirty="0"/>
              <a:t>more meaningful and predictable </a:t>
            </a:r>
            <a:r>
              <a:rPr lang="en-US" dirty="0" smtClean="0"/>
              <a:t>information to </a:t>
            </a:r>
            <a:r>
              <a:rPr lang="en-US" dirty="0"/>
              <a:t>better decision </a:t>
            </a:r>
            <a:r>
              <a:rPr lang="en-US" dirty="0" smtClean="0"/>
              <a:t>making </a:t>
            </a:r>
          </a:p>
          <a:p>
            <a:r>
              <a:rPr lang="en-US" dirty="0" smtClean="0"/>
              <a:t>(</a:t>
            </a:r>
            <a:r>
              <a:rPr lang="en-US" dirty="0"/>
              <a:t>specially for </a:t>
            </a:r>
            <a:r>
              <a:rPr lang="en-US" dirty="0" smtClean="0"/>
              <a:t>strategic management for strategic planning)</a:t>
            </a:r>
          </a:p>
          <a:p>
            <a:r>
              <a:rPr lang="en-US" i="1" dirty="0" smtClean="0">
                <a:solidFill>
                  <a:srgbClr val="00B050"/>
                </a:solidFill>
              </a:rPr>
              <a:t>Ex: Prediction on profitability of a product with existing and future market condition.</a:t>
            </a:r>
            <a:endParaRPr lang="en-US" i="1" dirty="0">
              <a:solidFill>
                <a:srgbClr val="00B050"/>
              </a:solidFill>
            </a:endParaRPr>
          </a:p>
          <a:p>
            <a:endParaRPr lang="en-US" dirty="0"/>
          </a:p>
        </p:txBody>
      </p:sp>
      <p:pic>
        <p:nvPicPr>
          <p:cNvPr id="28" name="Picture 27"/>
          <p:cNvPicPr>
            <a:picLocks noChangeAspect="1"/>
          </p:cNvPicPr>
          <p:nvPr/>
        </p:nvPicPr>
        <p:blipFill>
          <a:blip r:embed="rId5"/>
          <a:stretch>
            <a:fillRect/>
          </a:stretch>
        </p:blipFill>
        <p:spPr>
          <a:xfrm>
            <a:off x="3929160" y="5145087"/>
            <a:ext cx="2743200" cy="1666875"/>
          </a:xfrm>
          <a:prstGeom prst="rect">
            <a:avLst/>
          </a:prstGeom>
        </p:spPr>
      </p:pic>
      <p:sp>
        <p:nvSpPr>
          <p:cNvPr id="49" name="Right Arrow 48"/>
          <p:cNvSpPr/>
          <p:nvPr/>
        </p:nvSpPr>
        <p:spPr>
          <a:xfrm>
            <a:off x="6852956" y="5715000"/>
            <a:ext cx="88632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7660984" y="5379803"/>
            <a:ext cx="1466256" cy="954107"/>
          </a:xfrm>
          <a:prstGeom prst="rect">
            <a:avLst/>
          </a:prstGeom>
          <a:noFill/>
        </p:spPr>
        <p:txBody>
          <a:bodyPr wrap="square" rtlCol="0">
            <a:spAutoFit/>
          </a:bodyPr>
          <a:lstStyle/>
          <a:p>
            <a:pPr algn="ctr"/>
            <a:r>
              <a:rPr lang="en-US" sz="2800" b="1" dirty="0" smtClean="0"/>
              <a:t>BI </a:t>
            </a:r>
          </a:p>
          <a:p>
            <a:r>
              <a:rPr lang="en-US" sz="2800" b="1" dirty="0" smtClean="0"/>
              <a:t>Systems</a:t>
            </a:r>
          </a:p>
        </p:txBody>
      </p:sp>
    </p:spTree>
    <p:extLst>
      <p:ext uri="{BB962C8B-B14F-4D97-AF65-F5344CB8AC3E}">
        <p14:creationId xmlns:p14="http://schemas.microsoft.com/office/powerpoint/2010/main" val="1111902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BI(Business Intelligence) </a:t>
            </a:r>
            <a:r>
              <a:rPr lang="en-US" dirty="0" smtClean="0"/>
              <a:t>Systems </a:t>
            </a:r>
            <a:r>
              <a:rPr lang="en-US" sz="3600" dirty="0" smtClean="0"/>
              <a:t>Cont.</a:t>
            </a:r>
            <a:endParaRPr lang="en-US" sz="3600" dirty="0"/>
          </a:p>
        </p:txBody>
      </p:sp>
      <p:sp>
        <p:nvSpPr>
          <p:cNvPr id="3" name="Content Placeholder 2"/>
          <p:cNvSpPr>
            <a:spLocks noGrp="1"/>
          </p:cNvSpPr>
          <p:nvPr>
            <p:ph idx="1"/>
          </p:nvPr>
        </p:nvSpPr>
        <p:spPr>
          <a:xfrm>
            <a:off x="457200" y="1600200"/>
            <a:ext cx="8458200" cy="5029200"/>
          </a:xfrm>
        </p:spPr>
        <p:txBody>
          <a:bodyPr>
            <a:normAutofit fontScale="77500" lnSpcReduction="20000"/>
          </a:bodyPr>
          <a:lstStyle/>
          <a:p>
            <a:r>
              <a:rPr lang="en-US" sz="3400" dirty="0" smtClean="0"/>
              <a:t>BI systems analyze/mine organizations raw data and Information to reveal insights of the business and build intelligence </a:t>
            </a:r>
            <a:r>
              <a:rPr lang="en-US" sz="3400" dirty="0"/>
              <a:t>to help a business make faster and more accurate </a:t>
            </a:r>
            <a:r>
              <a:rPr lang="en-US" sz="3400" dirty="0" smtClean="0"/>
              <a:t>decisions.</a:t>
            </a:r>
          </a:p>
          <a:p>
            <a:endParaRPr lang="en-US" sz="3400" dirty="0" smtClean="0"/>
          </a:p>
          <a:p>
            <a:r>
              <a:rPr lang="en-US" sz="3400" dirty="0" smtClean="0"/>
              <a:t>BI systems uses techniques such as data </a:t>
            </a:r>
            <a:r>
              <a:rPr lang="en-US" sz="3400" dirty="0"/>
              <a:t>mining, </a:t>
            </a:r>
            <a:r>
              <a:rPr lang="en-US" sz="3400" dirty="0" smtClean="0"/>
              <a:t>statistics, online </a:t>
            </a:r>
            <a:r>
              <a:rPr lang="en-US" sz="3400" dirty="0"/>
              <a:t>analytical processing, querying and </a:t>
            </a:r>
            <a:r>
              <a:rPr lang="en-US" sz="3400" dirty="0" smtClean="0"/>
              <a:t>reporting.</a:t>
            </a:r>
          </a:p>
          <a:p>
            <a:endParaRPr lang="en-US" sz="3400" dirty="0" smtClean="0"/>
          </a:p>
          <a:p>
            <a:r>
              <a:rPr lang="en-US" sz="3400" dirty="0" smtClean="0"/>
              <a:t>Integrate data/information from across the enterprise. (Big Data).</a:t>
            </a:r>
          </a:p>
          <a:p>
            <a:endParaRPr lang="en-US" sz="3400" dirty="0" smtClean="0"/>
          </a:p>
          <a:p>
            <a:r>
              <a:rPr lang="en-US" sz="3400" dirty="0" smtClean="0"/>
              <a:t>Illustrates </a:t>
            </a:r>
            <a:r>
              <a:rPr lang="en-US" sz="3400" dirty="0"/>
              <a:t>business intelligence in the areas of customer profiling, customer support, market research, market segmentation, product profitability, statistical analysis, </a:t>
            </a:r>
            <a:r>
              <a:rPr lang="en-US" sz="3400" dirty="0" smtClean="0"/>
              <a:t>inventory </a:t>
            </a:r>
            <a:r>
              <a:rPr lang="en-US" sz="3400" dirty="0"/>
              <a:t>and distribution </a:t>
            </a:r>
            <a:r>
              <a:rPr lang="en-US" sz="3400" dirty="0" smtClean="0"/>
              <a:t>analysis, . . . </a:t>
            </a:r>
          </a:p>
          <a:p>
            <a:pPr marL="0" indent="0">
              <a:buNone/>
            </a:pPr>
            <a:endParaRPr lang="en-US" dirty="0" smtClean="0"/>
          </a:p>
        </p:txBody>
      </p:sp>
    </p:spTree>
    <p:extLst>
      <p:ext uri="{BB962C8B-B14F-4D97-AF65-F5344CB8AC3E}">
        <p14:creationId xmlns:p14="http://schemas.microsoft.com/office/powerpoint/2010/main" val="5291294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775" y="97115"/>
            <a:ext cx="8229600" cy="1143000"/>
          </a:xfrm>
        </p:spPr>
        <p:txBody>
          <a:bodyPr>
            <a:normAutofit fontScale="90000"/>
          </a:bodyPr>
          <a:lstStyle/>
          <a:p>
            <a:pPr algn="l"/>
            <a:r>
              <a:rPr lang="en-US" dirty="0"/>
              <a:t>BI(Business Intelligence) </a:t>
            </a:r>
            <a:r>
              <a:rPr lang="en-US" dirty="0" smtClean="0"/>
              <a:t>Systems </a:t>
            </a:r>
            <a:r>
              <a:rPr lang="en-US" sz="3600" dirty="0" smtClean="0"/>
              <a:t>Cont.</a:t>
            </a:r>
            <a:br>
              <a:rPr lang="en-US" sz="3600" dirty="0" smtClean="0"/>
            </a:br>
            <a:r>
              <a:rPr lang="en-US" sz="3600" dirty="0" smtClean="0"/>
              <a:t>Existing systems:</a:t>
            </a:r>
            <a:endParaRPr lang="en-US" sz="3600" dirty="0"/>
          </a:p>
        </p:txBody>
      </p:sp>
      <p:sp>
        <p:nvSpPr>
          <p:cNvPr id="3" name="Content Placeholder 2"/>
          <p:cNvSpPr>
            <a:spLocks noGrp="1"/>
          </p:cNvSpPr>
          <p:nvPr>
            <p:ph idx="1"/>
          </p:nvPr>
        </p:nvSpPr>
        <p:spPr>
          <a:xfrm>
            <a:off x="457200" y="1600200"/>
            <a:ext cx="8458200" cy="5029200"/>
          </a:xfrm>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p:txBody>
      </p:sp>
      <p:pic>
        <p:nvPicPr>
          <p:cNvPr id="4" name="Picture 3"/>
          <p:cNvPicPr>
            <a:picLocks noChangeAspect="1"/>
          </p:cNvPicPr>
          <p:nvPr/>
        </p:nvPicPr>
        <p:blipFill>
          <a:blip r:embed="rId2"/>
          <a:stretch>
            <a:fillRect/>
          </a:stretch>
        </p:blipFill>
        <p:spPr>
          <a:xfrm>
            <a:off x="263857" y="1597925"/>
            <a:ext cx="4218633" cy="2278062"/>
          </a:xfrm>
          <a:prstGeom prst="rect">
            <a:avLst/>
          </a:prstGeom>
        </p:spPr>
      </p:pic>
      <p:pic>
        <p:nvPicPr>
          <p:cNvPr id="5" name="Picture 4"/>
          <p:cNvPicPr>
            <a:picLocks noChangeAspect="1"/>
          </p:cNvPicPr>
          <p:nvPr/>
        </p:nvPicPr>
        <p:blipFill>
          <a:blip r:embed="rId3"/>
          <a:stretch>
            <a:fillRect/>
          </a:stretch>
        </p:blipFill>
        <p:spPr>
          <a:xfrm>
            <a:off x="358625" y="4510476"/>
            <a:ext cx="4084362" cy="2128974"/>
          </a:xfrm>
          <a:prstGeom prst="rect">
            <a:avLst/>
          </a:prstGeom>
        </p:spPr>
      </p:pic>
      <p:grpSp>
        <p:nvGrpSpPr>
          <p:cNvPr id="18" name="Group 17"/>
          <p:cNvGrpSpPr/>
          <p:nvPr/>
        </p:nvGrpSpPr>
        <p:grpSpPr>
          <a:xfrm>
            <a:off x="5050626" y="4192773"/>
            <a:ext cx="3285695" cy="2527472"/>
            <a:chOff x="5050626" y="4192773"/>
            <a:chExt cx="3285695" cy="2527472"/>
          </a:xfrm>
        </p:grpSpPr>
        <p:pic>
          <p:nvPicPr>
            <p:cNvPr id="7" name="Picture 6"/>
            <p:cNvPicPr>
              <a:picLocks noChangeAspect="1"/>
            </p:cNvPicPr>
            <p:nvPr/>
          </p:nvPicPr>
          <p:blipFill>
            <a:blip r:embed="rId4"/>
            <a:stretch>
              <a:fillRect/>
            </a:stretch>
          </p:blipFill>
          <p:spPr>
            <a:xfrm>
              <a:off x="5133396" y="4553349"/>
              <a:ext cx="3202925" cy="1815790"/>
            </a:xfrm>
            <a:prstGeom prst="rect">
              <a:avLst/>
            </a:prstGeom>
          </p:spPr>
        </p:pic>
        <p:sp>
          <p:nvSpPr>
            <p:cNvPr id="12" name="TextBox 11"/>
            <p:cNvSpPr txBox="1"/>
            <p:nvPr/>
          </p:nvSpPr>
          <p:spPr>
            <a:xfrm>
              <a:off x="5050626" y="4192773"/>
              <a:ext cx="1577012" cy="461665"/>
            </a:xfrm>
            <a:prstGeom prst="rect">
              <a:avLst/>
            </a:prstGeom>
            <a:noFill/>
          </p:spPr>
          <p:txBody>
            <a:bodyPr wrap="square" rtlCol="0">
              <a:spAutoFit/>
            </a:bodyPr>
            <a:lstStyle/>
            <a:p>
              <a:r>
                <a:rPr lang="en-US" sz="2400" dirty="0" smtClean="0"/>
                <a:t>SISENSE</a:t>
              </a:r>
              <a:endParaRPr lang="en-US" sz="2400" dirty="0"/>
            </a:p>
          </p:txBody>
        </p:sp>
        <p:sp>
          <p:nvSpPr>
            <p:cNvPr id="13" name="Rectangle 12"/>
            <p:cNvSpPr/>
            <p:nvPr/>
          </p:nvSpPr>
          <p:spPr>
            <a:xfrm>
              <a:off x="5109076" y="6412468"/>
              <a:ext cx="2118850" cy="307777"/>
            </a:xfrm>
            <a:prstGeom prst="rect">
              <a:avLst/>
            </a:prstGeom>
          </p:spPr>
          <p:txBody>
            <a:bodyPr wrap="none">
              <a:spAutoFit/>
            </a:bodyPr>
            <a:lstStyle/>
            <a:p>
              <a:r>
                <a:rPr lang="en-US" sz="1400" dirty="0"/>
                <a:t>https://www.sisense.com/</a:t>
              </a:r>
            </a:p>
          </p:txBody>
        </p:sp>
      </p:grpSp>
      <p:grpSp>
        <p:nvGrpSpPr>
          <p:cNvPr id="21" name="Group 20"/>
          <p:cNvGrpSpPr/>
          <p:nvPr/>
        </p:nvGrpSpPr>
        <p:grpSpPr>
          <a:xfrm>
            <a:off x="0" y="4118046"/>
            <a:ext cx="6324600" cy="2777701"/>
            <a:chOff x="0" y="4118046"/>
            <a:chExt cx="6324600" cy="2777701"/>
          </a:xfrm>
        </p:grpSpPr>
        <p:sp>
          <p:nvSpPr>
            <p:cNvPr id="14" name="Rectangle 13"/>
            <p:cNvSpPr/>
            <p:nvPr/>
          </p:nvSpPr>
          <p:spPr>
            <a:xfrm>
              <a:off x="292660" y="4118046"/>
              <a:ext cx="3315523" cy="461665"/>
            </a:xfrm>
            <a:prstGeom prst="rect">
              <a:avLst/>
            </a:prstGeom>
          </p:spPr>
          <p:txBody>
            <a:bodyPr wrap="none">
              <a:spAutoFit/>
            </a:bodyPr>
            <a:lstStyle/>
            <a:p>
              <a:pPr fontAlgn="base"/>
              <a:r>
                <a:rPr lang="en-US" sz="2400" dirty="0"/>
                <a:t>SAP Business Intelligence</a:t>
              </a:r>
            </a:p>
          </p:txBody>
        </p:sp>
        <p:sp>
          <p:nvSpPr>
            <p:cNvPr id="15" name="Rectangle 14"/>
            <p:cNvSpPr/>
            <p:nvPr/>
          </p:nvSpPr>
          <p:spPr>
            <a:xfrm>
              <a:off x="0" y="6587970"/>
              <a:ext cx="6324600" cy="307777"/>
            </a:xfrm>
            <a:prstGeom prst="rect">
              <a:avLst/>
            </a:prstGeom>
          </p:spPr>
          <p:txBody>
            <a:bodyPr wrap="square">
              <a:spAutoFit/>
            </a:bodyPr>
            <a:lstStyle/>
            <a:p>
              <a:r>
                <a:rPr lang="en-US" sz="1400" dirty="0"/>
                <a:t>http://www.sap.com/pc/analytics/business-intelligence.html</a:t>
              </a:r>
            </a:p>
          </p:txBody>
        </p:sp>
      </p:grpSp>
      <p:grpSp>
        <p:nvGrpSpPr>
          <p:cNvPr id="20" name="Group 19"/>
          <p:cNvGrpSpPr/>
          <p:nvPr/>
        </p:nvGrpSpPr>
        <p:grpSpPr>
          <a:xfrm>
            <a:off x="195071" y="1336828"/>
            <a:ext cx="2387064" cy="2704749"/>
            <a:chOff x="195071" y="1336828"/>
            <a:chExt cx="2387064" cy="2704749"/>
          </a:xfrm>
        </p:grpSpPr>
        <p:sp>
          <p:nvSpPr>
            <p:cNvPr id="8" name="TextBox 7"/>
            <p:cNvSpPr txBox="1"/>
            <p:nvPr/>
          </p:nvSpPr>
          <p:spPr>
            <a:xfrm>
              <a:off x="236561" y="1336828"/>
              <a:ext cx="1316386" cy="461665"/>
            </a:xfrm>
            <a:prstGeom prst="rect">
              <a:avLst/>
            </a:prstGeom>
            <a:noFill/>
          </p:spPr>
          <p:txBody>
            <a:bodyPr wrap="none" rtlCol="0">
              <a:spAutoFit/>
            </a:bodyPr>
            <a:lstStyle/>
            <a:p>
              <a:r>
                <a:rPr lang="en-US" sz="2400" dirty="0" smtClean="0"/>
                <a:t>Yellowfin</a:t>
              </a:r>
              <a:endParaRPr lang="en-US" sz="2400" dirty="0"/>
            </a:p>
          </p:txBody>
        </p:sp>
        <p:sp>
          <p:nvSpPr>
            <p:cNvPr id="16" name="Rectangle 15"/>
            <p:cNvSpPr/>
            <p:nvPr/>
          </p:nvSpPr>
          <p:spPr>
            <a:xfrm>
              <a:off x="195071" y="3733800"/>
              <a:ext cx="2387064" cy="307777"/>
            </a:xfrm>
            <a:prstGeom prst="rect">
              <a:avLst/>
            </a:prstGeom>
          </p:spPr>
          <p:txBody>
            <a:bodyPr wrap="none">
              <a:spAutoFit/>
            </a:bodyPr>
            <a:lstStyle/>
            <a:p>
              <a:r>
                <a:rPr lang="en-US" sz="1400" dirty="0"/>
                <a:t>https://www.yellowfinbi.com/</a:t>
              </a:r>
            </a:p>
          </p:txBody>
        </p:sp>
      </p:grpSp>
      <p:grpSp>
        <p:nvGrpSpPr>
          <p:cNvPr id="19" name="Group 18"/>
          <p:cNvGrpSpPr/>
          <p:nvPr/>
        </p:nvGrpSpPr>
        <p:grpSpPr>
          <a:xfrm>
            <a:off x="4442987" y="1339205"/>
            <a:ext cx="4636953" cy="2776119"/>
            <a:chOff x="4442987" y="1339205"/>
            <a:chExt cx="4636953" cy="2776119"/>
          </a:xfrm>
        </p:grpSpPr>
        <p:sp>
          <p:nvSpPr>
            <p:cNvPr id="10" name="TextBox 9"/>
            <p:cNvSpPr txBox="1"/>
            <p:nvPr/>
          </p:nvSpPr>
          <p:spPr>
            <a:xfrm>
              <a:off x="4951800" y="1339205"/>
              <a:ext cx="3715441" cy="1200329"/>
            </a:xfrm>
            <a:prstGeom prst="rect">
              <a:avLst/>
            </a:prstGeom>
            <a:noFill/>
          </p:spPr>
          <p:txBody>
            <a:bodyPr wrap="none" rtlCol="0">
              <a:spAutoFit/>
            </a:bodyPr>
            <a:lstStyle/>
            <a:p>
              <a:r>
                <a:rPr lang="en-US" sz="2400" dirty="0"/>
                <a:t>Oracle Business </a:t>
              </a:r>
              <a:r>
                <a:rPr lang="en-US" sz="2400" dirty="0" smtClean="0"/>
                <a:t>Intelligence </a:t>
              </a:r>
            </a:p>
            <a:p>
              <a:r>
                <a:rPr lang="en-US" sz="2400" dirty="0" smtClean="0"/>
                <a:t>Enterprise Edition OBIEE</a:t>
              </a:r>
              <a:endParaRPr lang="en-US" sz="2400" dirty="0"/>
            </a:p>
            <a:p>
              <a:endParaRPr lang="en-US" sz="2400" dirty="0"/>
            </a:p>
          </p:txBody>
        </p:sp>
        <p:pic>
          <p:nvPicPr>
            <p:cNvPr id="11" name="Picture 10"/>
            <p:cNvPicPr>
              <a:picLocks noChangeAspect="1"/>
            </p:cNvPicPr>
            <p:nvPr/>
          </p:nvPicPr>
          <p:blipFill>
            <a:blip r:embed="rId5"/>
            <a:stretch>
              <a:fillRect/>
            </a:stretch>
          </p:blipFill>
          <p:spPr>
            <a:xfrm>
              <a:off x="5120887" y="2138329"/>
              <a:ext cx="3095066" cy="1500904"/>
            </a:xfrm>
            <a:prstGeom prst="rect">
              <a:avLst/>
            </a:prstGeom>
          </p:spPr>
        </p:pic>
        <p:sp>
          <p:nvSpPr>
            <p:cNvPr id="17" name="Rectangle 16"/>
            <p:cNvSpPr/>
            <p:nvPr/>
          </p:nvSpPr>
          <p:spPr>
            <a:xfrm>
              <a:off x="4442987" y="3592104"/>
              <a:ext cx="4636953" cy="523220"/>
            </a:xfrm>
            <a:prstGeom prst="rect">
              <a:avLst/>
            </a:prstGeom>
          </p:spPr>
          <p:txBody>
            <a:bodyPr wrap="square">
              <a:spAutoFit/>
            </a:bodyPr>
            <a:lstStyle/>
            <a:p>
              <a:r>
                <a:rPr lang="en-US" sz="1400" dirty="0"/>
                <a:t>http://www.oracle.com/technetwork/middleware/bi-enterprise-edition/overview/index.html?ssSourceSiteId=opn</a:t>
              </a:r>
            </a:p>
          </p:txBody>
        </p:sp>
      </p:grpSp>
    </p:spTree>
    <p:extLst>
      <p:ext uri="{BB962C8B-B14F-4D97-AF65-F5344CB8AC3E}">
        <p14:creationId xmlns:p14="http://schemas.microsoft.com/office/powerpoint/2010/main" val="20816123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Technologies behind Modern Information Systems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Internet (WWW)</a:t>
            </a:r>
          </a:p>
          <a:p>
            <a:r>
              <a:rPr lang="en-US" dirty="0" smtClean="0"/>
              <a:t>Mobile Technology</a:t>
            </a:r>
          </a:p>
          <a:p>
            <a:r>
              <a:rPr lang="en-US" dirty="0" smtClean="0"/>
              <a:t>Sensor networks</a:t>
            </a:r>
          </a:p>
          <a:p>
            <a:r>
              <a:rPr lang="en-US" dirty="0"/>
              <a:t>Global Positioning Systems (GPS</a:t>
            </a:r>
            <a:r>
              <a:rPr lang="en-US" dirty="0" smtClean="0"/>
              <a:t>)</a:t>
            </a:r>
          </a:p>
          <a:p>
            <a:r>
              <a:rPr lang="en-US" dirty="0" smtClean="0"/>
              <a:t>Cloud Computing and Virtual environments</a:t>
            </a:r>
            <a:endParaRPr lang="en-US" dirty="0"/>
          </a:p>
          <a:p>
            <a:r>
              <a:rPr lang="en-US" dirty="0" smtClean="0"/>
              <a:t>Object tracking technologies Ex. RFID(Radio Frequency </a:t>
            </a:r>
            <a:r>
              <a:rPr lang="en-US" dirty="0" err="1" smtClean="0"/>
              <a:t>IDentification</a:t>
            </a:r>
            <a:r>
              <a:rPr lang="en-US" dirty="0" smtClean="0"/>
              <a:t>) , NFC (Near Field Communication)</a:t>
            </a:r>
          </a:p>
          <a:p>
            <a:r>
              <a:rPr lang="en-US" dirty="0" smtClean="0"/>
              <a:t>Wireless  communication</a:t>
            </a:r>
          </a:p>
          <a:p>
            <a:r>
              <a:rPr lang="en-US" dirty="0" smtClean="0"/>
              <a:t>Artificial Intelligence (AI)</a:t>
            </a:r>
          </a:p>
          <a:p>
            <a:r>
              <a:rPr lang="en-US" dirty="0" smtClean="0"/>
              <a:t>Distributed storage – Ex. Hadoop</a:t>
            </a:r>
          </a:p>
          <a:p>
            <a:r>
              <a:rPr lang="en-US" dirty="0" smtClean="0"/>
              <a:t>Payment gateways (Credit card payment)</a:t>
            </a:r>
          </a:p>
          <a:p>
            <a:r>
              <a:rPr lang="en-US" dirty="0" smtClean="0"/>
              <a:t>Web Services</a:t>
            </a:r>
          </a:p>
          <a:p>
            <a:endParaRPr lang="en-US" dirty="0" smtClean="0"/>
          </a:p>
          <a:p>
            <a:endParaRPr lang="en-US" dirty="0" smtClean="0"/>
          </a:p>
          <a:p>
            <a:endParaRPr lang="en-US" dirty="0"/>
          </a:p>
        </p:txBody>
      </p:sp>
    </p:spTree>
    <p:extLst>
      <p:ext uri="{BB962C8B-B14F-4D97-AF65-F5344CB8AC3E}">
        <p14:creationId xmlns:p14="http://schemas.microsoft.com/office/powerpoint/2010/main" val="29060868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 Management within Information Systems Context</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pPr marL="0" indent="0">
              <a:buNone/>
            </a:pPr>
            <a:r>
              <a:rPr lang="en-US" b="1" dirty="0" smtClean="0"/>
              <a:t>Data</a:t>
            </a:r>
            <a:r>
              <a:rPr lang="en-US" dirty="0" smtClean="0"/>
              <a:t> is one of the important aspects of any kind of Information System. </a:t>
            </a:r>
          </a:p>
          <a:p>
            <a:pPr marL="0" indent="0">
              <a:buNone/>
            </a:pPr>
            <a:r>
              <a:rPr lang="en-US" dirty="0" smtClean="0"/>
              <a:t>Modeling and managing data is a fundamental requirement for a successful Information System.</a:t>
            </a:r>
          </a:p>
        </p:txBody>
      </p:sp>
    </p:spTree>
    <p:extLst>
      <p:ext uri="{BB962C8B-B14F-4D97-AF65-F5344CB8AC3E}">
        <p14:creationId xmlns:p14="http://schemas.microsoft.com/office/powerpoint/2010/main" val="34659922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a:t>
            </a:r>
            <a:endParaRPr lang="en-US" dirty="0"/>
          </a:p>
        </p:txBody>
      </p:sp>
      <p:sp>
        <p:nvSpPr>
          <p:cNvPr id="3" name="Content Placeholder 2"/>
          <p:cNvSpPr>
            <a:spLocks noGrp="1"/>
          </p:cNvSpPr>
          <p:nvPr>
            <p:ph idx="1"/>
          </p:nvPr>
        </p:nvSpPr>
        <p:spPr/>
        <p:txBody>
          <a:bodyPr/>
          <a:lstStyle/>
          <a:p>
            <a:r>
              <a:rPr lang="en-US" dirty="0" smtClean="0"/>
              <a:t>K. C</a:t>
            </a:r>
            <a:r>
              <a:rPr lang="en-US" dirty="0"/>
              <a:t>. </a:t>
            </a:r>
            <a:r>
              <a:rPr lang="en-US" dirty="0" smtClean="0"/>
              <a:t>Laudon and J.P</a:t>
            </a:r>
            <a:r>
              <a:rPr lang="en-US" dirty="0"/>
              <a:t>. </a:t>
            </a:r>
            <a:r>
              <a:rPr lang="en-US" dirty="0" smtClean="0"/>
              <a:t>Laudon, “Management </a:t>
            </a:r>
            <a:r>
              <a:rPr lang="en-US" dirty="0"/>
              <a:t>Information Systems: Managing the digital </a:t>
            </a:r>
            <a:r>
              <a:rPr lang="en-US" dirty="0" smtClean="0"/>
              <a:t>Firm”, INFORMATION </a:t>
            </a:r>
            <a:r>
              <a:rPr lang="en-US" dirty="0"/>
              <a:t>SYSTEMS IN BUSINESS </a:t>
            </a:r>
            <a:r>
              <a:rPr lang="en-US" dirty="0" smtClean="0"/>
              <a:t>TODAY, 13</a:t>
            </a:r>
            <a:r>
              <a:rPr lang="en-US" baseline="30000" dirty="0" smtClean="0"/>
              <a:t>th</a:t>
            </a:r>
            <a:r>
              <a:rPr lang="en-US" dirty="0" smtClean="0"/>
              <a:t> Ed, 2014</a:t>
            </a:r>
            <a:endParaRPr lang="en-US" dirty="0"/>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37</a:t>
            </a:fld>
            <a:endParaRPr lang="en-US"/>
          </a:p>
        </p:txBody>
      </p:sp>
      <p:pic>
        <p:nvPicPr>
          <p:cNvPr id="5" name="Picture 4"/>
          <p:cNvPicPr>
            <a:picLocks noChangeAspect="1"/>
          </p:cNvPicPr>
          <p:nvPr/>
        </p:nvPicPr>
        <p:blipFill>
          <a:blip r:embed="rId2"/>
          <a:stretch>
            <a:fillRect/>
          </a:stretch>
        </p:blipFill>
        <p:spPr>
          <a:xfrm>
            <a:off x="4419600" y="3060700"/>
            <a:ext cx="3295650" cy="3295650"/>
          </a:xfrm>
          <a:prstGeom prst="rect">
            <a:avLst/>
          </a:prstGeom>
        </p:spPr>
      </p:pic>
    </p:spTree>
    <p:extLst>
      <p:ext uri="{BB962C8B-B14F-4D97-AF65-F5344CB8AC3E}">
        <p14:creationId xmlns:p14="http://schemas.microsoft.com/office/powerpoint/2010/main" val="26880832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en-US" dirty="0"/>
          </a:p>
        </p:txBody>
      </p:sp>
      <p:sp>
        <p:nvSpPr>
          <p:cNvPr id="3" name="Content Placeholder 2"/>
          <p:cNvSpPr>
            <a:spLocks noGrp="1"/>
          </p:cNvSpPr>
          <p:nvPr>
            <p:ph idx="1"/>
          </p:nvPr>
        </p:nvSpPr>
        <p:spPr/>
        <p:txBody>
          <a:bodyPr/>
          <a:lstStyle/>
          <a:p>
            <a:r>
              <a:rPr lang="en-US" b="1" dirty="0" smtClean="0"/>
              <a:t>LO2:</a:t>
            </a:r>
            <a:r>
              <a:rPr lang="en-US" dirty="0" smtClean="0"/>
              <a:t> Evaluate </a:t>
            </a:r>
            <a:r>
              <a:rPr lang="en-US" dirty="0"/>
              <a:t>the </a:t>
            </a:r>
            <a:r>
              <a:rPr lang="en-US" dirty="0">
                <a:solidFill>
                  <a:srgbClr val="FF0000"/>
                </a:solidFill>
              </a:rPr>
              <a:t>information systems strategies </a:t>
            </a:r>
            <a:r>
              <a:rPr lang="en-US" dirty="0"/>
              <a:t>to </a:t>
            </a:r>
            <a:r>
              <a:rPr lang="en-US" dirty="0">
                <a:solidFill>
                  <a:srgbClr val="FF0000"/>
                </a:solidFill>
              </a:rPr>
              <a:t>achieve organizational goals</a:t>
            </a:r>
          </a:p>
        </p:txBody>
      </p:sp>
      <p:sp>
        <p:nvSpPr>
          <p:cNvPr id="4" name="Slide Number Placeholder 3"/>
          <p:cNvSpPr>
            <a:spLocks noGrp="1"/>
          </p:cNvSpPr>
          <p:nvPr>
            <p:ph type="sldNum" sz="quarter" idx="12"/>
          </p:nvPr>
        </p:nvSpPr>
        <p:spPr/>
        <p:txBody>
          <a:bodyPr/>
          <a:lstStyle/>
          <a:p>
            <a:fld id="{51A71D3D-F011-47C0-9290-685F7D9F6412}" type="slidenum">
              <a:rPr lang="en-US" smtClean="0"/>
              <a:t>38</a:t>
            </a:fld>
            <a:endParaRPr lang="en-US"/>
          </a:p>
        </p:txBody>
      </p:sp>
    </p:spTree>
    <p:extLst>
      <p:ext uri="{BB962C8B-B14F-4D97-AF65-F5344CB8AC3E}">
        <p14:creationId xmlns:p14="http://schemas.microsoft.com/office/powerpoint/2010/main" val="26839270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Lecture</a:t>
            </a:r>
            <a:endParaRPr lang="en-US" dirty="0"/>
          </a:p>
        </p:txBody>
      </p:sp>
      <p:sp>
        <p:nvSpPr>
          <p:cNvPr id="3" name="Content Placeholder 2"/>
          <p:cNvSpPr>
            <a:spLocks noGrp="1"/>
          </p:cNvSpPr>
          <p:nvPr>
            <p:ph idx="1"/>
          </p:nvPr>
        </p:nvSpPr>
        <p:spPr/>
        <p:txBody>
          <a:bodyPr/>
          <a:lstStyle/>
          <a:p>
            <a:r>
              <a:rPr lang="en-US" dirty="0"/>
              <a:t>Data Modeling </a:t>
            </a:r>
          </a:p>
          <a:p>
            <a:r>
              <a:rPr lang="en-US" dirty="0"/>
              <a:t>(Introduction to Database </a:t>
            </a:r>
            <a:r>
              <a:rPr lang="en-US" dirty="0" smtClean="0"/>
              <a:t>and </a:t>
            </a:r>
            <a:r>
              <a:rPr lang="en-US" dirty="0"/>
              <a:t>DBMS)</a:t>
            </a:r>
          </a:p>
          <a:p>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39</a:t>
            </a:fld>
            <a:endParaRPr lang="en-US"/>
          </a:p>
        </p:txBody>
      </p:sp>
      <p:pic>
        <p:nvPicPr>
          <p:cNvPr id="6" name="Picture 5"/>
          <p:cNvPicPr>
            <a:picLocks noChangeAspect="1"/>
          </p:cNvPicPr>
          <p:nvPr/>
        </p:nvPicPr>
        <p:blipFill>
          <a:blip r:embed="rId2"/>
          <a:stretch>
            <a:fillRect/>
          </a:stretch>
        </p:blipFill>
        <p:spPr>
          <a:xfrm>
            <a:off x="4724400" y="3048000"/>
            <a:ext cx="4096537" cy="2468562"/>
          </a:xfrm>
          <a:prstGeom prst="rect">
            <a:avLst/>
          </a:prstGeom>
        </p:spPr>
      </p:pic>
    </p:spTree>
    <p:extLst>
      <p:ext uri="{BB962C8B-B14F-4D97-AF65-F5344CB8AC3E}">
        <p14:creationId xmlns:p14="http://schemas.microsoft.com/office/powerpoint/2010/main" val="5151658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 of Lecture </a:t>
            </a:r>
            <a:r>
              <a:rPr lang="en-US" dirty="0" smtClean="0"/>
              <a:t>03</a:t>
            </a: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40</a:t>
            </a:fld>
            <a:endParaRPr lang="en-US"/>
          </a:p>
        </p:txBody>
      </p:sp>
      <p:pic>
        <p:nvPicPr>
          <p:cNvPr id="5" name="Picture 4"/>
          <p:cNvPicPr>
            <a:picLocks noChangeAspect="1"/>
          </p:cNvPicPr>
          <p:nvPr/>
        </p:nvPicPr>
        <p:blipFill>
          <a:blip r:embed="rId2"/>
          <a:stretch>
            <a:fillRect/>
          </a:stretch>
        </p:blipFill>
        <p:spPr>
          <a:xfrm>
            <a:off x="1704469" y="1825624"/>
            <a:ext cx="5458331" cy="4238233"/>
          </a:xfrm>
          <a:prstGeom prst="rect">
            <a:avLst/>
          </a:prstGeom>
        </p:spPr>
      </p:pic>
    </p:spTree>
    <p:extLst>
      <p:ext uri="{BB962C8B-B14F-4D97-AF65-F5344CB8AC3E}">
        <p14:creationId xmlns:p14="http://schemas.microsoft.com/office/powerpoint/2010/main" val="39799568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C5C82534-F570-47D0-B68B-77FF3196E0DA}" vid="{CA49051E-35FD-4162-BB75-12F1D25530D3}"/>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Updated Design</Template>
  <TotalTime>149</TotalTime>
  <Words>1682</Words>
  <Application>Microsoft Office PowerPoint</Application>
  <PresentationFormat>On-screen Show (4:3)</PresentationFormat>
  <Paragraphs>399</Paragraphs>
  <Slides>40</Slides>
  <Notes>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40</vt:i4>
      </vt:variant>
    </vt:vector>
  </HeadingPairs>
  <TitlesOfParts>
    <vt:vector size="47" baseType="lpstr">
      <vt:lpstr>Arial</vt:lpstr>
      <vt:lpstr>Calibri</vt:lpstr>
      <vt:lpstr>Calibri Light</vt:lpstr>
      <vt:lpstr>Times New Roman</vt:lpstr>
      <vt:lpstr>Office Theme</vt:lpstr>
      <vt:lpstr>Custom Design</vt:lpstr>
      <vt:lpstr>1_Custom Design</vt:lpstr>
      <vt:lpstr>Modern Information Systems</vt:lpstr>
      <vt:lpstr>Lecture 03</vt:lpstr>
      <vt:lpstr>Learning Outcomes</vt:lpstr>
      <vt:lpstr>Session Objectives</vt:lpstr>
      <vt:lpstr>Evolution of Computing World</vt:lpstr>
      <vt:lpstr>Computing Paradigms Cont.</vt:lpstr>
      <vt:lpstr>Computing Paradigms Cont.</vt:lpstr>
      <vt:lpstr>What made this change?</vt:lpstr>
      <vt:lpstr>PowerPoint Presentation</vt:lpstr>
      <vt:lpstr>Modern Information Systems </vt:lpstr>
      <vt:lpstr>Office Automation Systems (OAS)</vt:lpstr>
      <vt:lpstr>Office automation systems Cont.</vt:lpstr>
      <vt:lpstr>Process control systems </vt:lpstr>
      <vt:lpstr>Expert systems</vt:lpstr>
      <vt:lpstr>Expert systems Cont.</vt:lpstr>
      <vt:lpstr>Enterprise Systems</vt:lpstr>
      <vt:lpstr>Enterprise Systems Cont.</vt:lpstr>
      <vt:lpstr>Enterprise Systems Cont.</vt:lpstr>
      <vt:lpstr>Enterprise Systems Cont.</vt:lpstr>
      <vt:lpstr>Enterprise Systems Cont.</vt:lpstr>
      <vt:lpstr>Enterprise Systems Cont.</vt:lpstr>
      <vt:lpstr>Enterprise Systems Cont.</vt:lpstr>
      <vt:lpstr>E-Commerce Systems</vt:lpstr>
      <vt:lpstr>E-Commerce Systems Cont.</vt:lpstr>
      <vt:lpstr>E-Commerce Systems Cont.</vt:lpstr>
      <vt:lpstr>Cloud based Systems</vt:lpstr>
      <vt:lpstr>Cloud based Systems Cont.</vt:lpstr>
      <vt:lpstr>Cloud based Systems Cont.</vt:lpstr>
      <vt:lpstr>IoT (Internet of Things) Systems</vt:lpstr>
      <vt:lpstr>IoT (Internet of Things) Systems Cont.</vt:lpstr>
      <vt:lpstr>IoT (Internet of Things) Systems Cont.</vt:lpstr>
      <vt:lpstr>BI(Business Intelligence) Systems</vt:lpstr>
      <vt:lpstr>BI(Business Intelligence) Systems Cont.</vt:lpstr>
      <vt:lpstr>BI(Business Intelligence) Systems Cont. Existing systems:</vt:lpstr>
      <vt:lpstr>Technologies behind Modern Information Systems</vt:lpstr>
      <vt:lpstr>Data Management within Information Systems Context</vt:lpstr>
      <vt:lpstr>Reference </vt:lpstr>
      <vt:lpstr>Learning Outcomes</vt:lpstr>
      <vt:lpstr>Next Lecture</vt:lpstr>
      <vt:lpstr>End of Lecture 03</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Losini Shanmugam</dc:creator>
  <cp:lastModifiedBy>Chathurangika Kahandawaarachchi</cp:lastModifiedBy>
  <cp:revision>20</cp:revision>
  <dcterms:created xsi:type="dcterms:W3CDTF">2017-06-04T15:05:52Z</dcterms:created>
  <dcterms:modified xsi:type="dcterms:W3CDTF">2018-01-26T13:54:59Z</dcterms:modified>
</cp:coreProperties>
</file>