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256" r:id="rId2"/>
    <p:sldId id="323" r:id="rId3"/>
    <p:sldId id="365" r:id="rId4"/>
    <p:sldId id="326" r:id="rId5"/>
    <p:sldId id="327" r:id="rId6"/>
    <p:sldId id="328" r:id="rId7"/>
    <p:sldId id="329" r:id="rId8"/>
    <p:sldId id="330" r:id="rId9"/>
    <p:sldId id="363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64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EDB02-A8B0-42F8-A8FD-7B3647625E53}" v="69" dt="2018-09-04T03:43:39.673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BCF71-75B2-403B-BF5D-98E662A2CF15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8C326-8F41-4700-9D06-BE74866B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0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 systems (it 2040)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Lecture </a:t>
            </a:r>
            <a:r>
              <a:rPr lang="en-US" sz="2400" smtClean="0"/>
              <a:t>05 </a:t>
            </a:r>
            <a:r>
              <a:rPr lang="en-US" sz="2400" dirty="0"/>
              <a:t>– database programming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Views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SQL extensions (specifically T-SQL)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Functions &amp; Procedures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Triggers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At the end of this lecture, students should be able to</a:t>
            </a:r>
          </a:p>
          <a:p>
            <a:pPr lvl="1"/>
            <a:r>
              <a:rPr lang="en-US" sz="2400" dirty="0"/>
              <a:t>Identify situations where views, functions, stored procedures and triggers are applicable.</a:t>
            </a:r>
          </a:p>
          <a:p>
            <a:pPr lvl="1"/>
            <a:r>
              <a:rPr lang="en-US" sz="2400" dirty="0"/>
              <a:t>Write syntactically correct </a:t>
            </a:r>
            <a:r>
              <a:rPr lang="en-US" sz="2400" dirty="0" err="1"/>
              <a:t>sql</a:t>
            </a:r>
            <a:r>
              <a:rPr lang="en-US" sz="2400" dirty="0"/>
              <a:t> statements to create functions, procedures and triggers on RDBMS to cater user requirements.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98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Views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614" y="2743200"/>
            <a:ext cx="11294771" cy="4114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600" dirty="0"/>
              <a:t>A </a:t>
            </a:r>
            <a:r>
              <a:rPr lang="en-US" altLang="en-US" sz="2600" b="1" dirty="0"/>
              <a:t>view</a:t>
            </a:r>
            <a:r>
              <a:rPr lang="en-US" altLang="en-US" sz="2600" dirty="0"/>
              <a:t> is a virtual table which is derived from other tables which are called  </a:t>
            </a:r>
            <a:r>
              <a:rPr lang="en-US" altLang="en-US" sz="2600" b="1" dirty="0"/>
              <a:t>base tables</a:t>
            </a:r>
            <a:r>
              <a:rPr lang="en-US" altLang="en-US" sz="2600" dirty="0"/>
              <a:t> or </a:t>
            </a:r>
            <a:r>
              <a:rPr lang="en-US" altLang="en-US" sz="2600" b="1" dirty="0"/>
              <a:t>defining tables.</a:t>
            </a:r>
          </a:p>
          <a:p>
            <a:pPr eaLnBrk="1" hangingPunct="1"/>
            <a:r>
              <a:rPr lang="en-US" altLang="en-US" sz="2600" dirty="0"/>
              <a:t>A view does not necessarily exist in a physical form.</a:t>
            </a:r>
          </a:p>
          <a:p>
            <a:r>
              <a:rPr lang="en-US" altLang="en-US" sz="2600" dirty="0"/>
              <a:t>In SQL, CREATE VIEW statement is used to define views.</a:t>
            </a:r>
          </a:p>
          <a:p>
            <a:r>
              <a:rPr lang="en-US" altLang="en-US" sz="2600" dirty="0"/>
              <a:t>Syntax :</a:t>
            </a:r>
          </a:p>
          <a:p>
            <a:pPr marL="1085850" lvl="1" indent="0">
              <a:buNone/>
            </a:pPr>
            <a:r>
              <a:rPr lang="en-US" altLang="en-US" sz="2400" dirty="0"/>
              <a:t>CREATE VIEW &lt;</a:t>
            </a:r>
            <a:r>
              <a:rPr lang="en-US" altLang="en-US" sz="2400" dirty="0" err="1"/>
              <a:t>view_name</a:t>
            </a:r>
            <a:r>
              <a:rPr lang="en-US" altLang="en-US" sz="2400" dirty="0"/>
              <a:t>&gt; AS</a:t>
            </a:r>
            <a:br>
              <a:rPr lang="en-US" altLang="en-US" sz="2400" dirty="0"/>
            </a:br>
            <a:r>
              <a:rPr lang="en-US" altLang="en-US" sz="2400" dirty="0"/>
              <a:t>SELECT &lt;</a:t>
            </a:r>
            <a:r>
              <a:rPr lang="en-US" altLang="en-US" sz="2400" dirty="0" err="1"/>
              <a:t>column_name</a:t>
            </a:r>
            <a:r>
              <a:rPr lang="en-US" altLang="en-US" sz="2400" dirty="0"/>
              <a:t>(s)&gt;</a:t>
            </a:r>
            <a:br>
              <a:rPr lang="en-US" altLang="en-US" sz="2400" dirty="0"/>
            </a:br>
            <a:r>
              <a:rPr lang="en-US" altLang="en-US" sz="2400" dirty="0"/>
              <a:t>FROM &lt;</a:t>
            </a:r>
            <a:r>
              <a:rPr lang="en-US" altLang="en-US" sz="2400" dirty="0" err="1"/>
              <a:t>table_name</a:t>
            </a:r>
            <a:r>
              <a:rPr lang="en-US" altLang="en-US" sz="2400" dirty="0"/>
              <a:t>&gt;</a:t>
            </a:r>
            <a:br>
              <a:rPr lang="en-US" altLang="en-US" sz="2400" dirty="0"/>
            </a:br>
            <a:r>
              <a:rPr lang="en-US" altLang="en-US" sz="2400" dirty="0"/>
              <a:t>WHERE &lt;condition&gt;</a:t>
            </a:r>
            <a:endParaRPr lang="en-US" altLang="en-US" sz="22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dirty="0"/>
          </a:p>
          <a:p>
            <a:pPr eaLnBrk="1" hangingPunct="1"/>
            <a:endParaRPr lang="en-US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6018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Views (contd.)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003" y="2017713"/>
            <a:ext cx="11320529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200" dirty="0" err="1"/>
              <a:t>emp</a:t>
            </a:r>
            <a:r>
              <a:rPr lang="en-US" altLang="en-US" sz="2200" dirty="0"/>
              <a:t> (</a:t>
            </a:r>
            <a:r>
              <a:rPr lang="en-US" altLang="en-US" sz="2200" u="sng" dirty="0" err="1"/>
              <a:t>eid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ename</a:t>
            </a:r>
            <a:r>
              <a:rPr lang="en-US" altLang="en-US" sz="2200" dirty="0"/>
              <a:t>, age, salary) ,	</a:t>
            </a:r>
            <a:r>
              <a:rPr lang="en-US" altLang="en-US" sz="2200" dirty="0" err="1"/>
              <a:t>dept</a:t>
            </a:r>
            <a:r>
              <a:rPr lang="en-US" altLang="en-US" sz="2200" dirty="0"/>
              <a:t> (</a:t>
            </a:r>
            <a:r>
              <a:rPr lang="en-US" altLang="en-US" sz="2200" u="sng" dirty="0"/>
              <a:t>did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dname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budget,mangerId</a:t>
            </a:r>
            <a:r>
              <a:rPr lang="en-US" altLang="en-US" sz="2200" dirty="0"/>
              <a:t>), 	works (</a:t>
            </a:r>
            <a:r>
              <a:rPr lang="en-US" altLang="en-US" sz="2200" u="sng" dirty="0" err="1"/>
              <a:t>eid</a:t>
            </a:r>
            <a:r>
              <a:rPr lang="en-US" altLang="en-US" sz="2200" u="sng" dirty="0"/>
              <a:t>, did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pct_time</a:t>
            </a:r>
            <a:r>
              <a:rPr lang="en-US" altLang="en-US" sz="22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400" dirty="0"/>
              <a:t>Create a view named </a:t>
            </a:r>
            <a:r>
              <a:rPr lang="en-US" altLang="en-US" sz="2400" dirty="0" err="1"/>
              <a:t>dept_info</a:t>
            </a:r>
            <a:r>
              <a:rPr lang="en-US" altLang="en-US" sz="2400" dirty="0"/>
              <a:t> that contains name of the department, budget and manager’s name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CREATE VIEW </a:t>
            </a:r>
            <a:r>
              <a:rPr lang="en-US" altLang="en-US" sz="2400" dirty="0" err="1"/>
              <a:t>dept_info</a:t>
            </a:r>
            <a:r>
              <a:rPr lang="en-US" altLang="en-US" sz="2400" dirty="0"/>
              <a:t>(</a:t>
            </a:r>
            <a:r>
              <a:rPr lang="en-US" altLang="en-US" sz="2400" dirty="0" err="1"/>
              <a:t>dname,budget,manager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AS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SELECT </a:t>
            </a:r>
            <a:r>
              <a:rPr lang="en-US" altLang="en-US" sz="2400" dirty="0" err="1"/>
              <a:t>d.dname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d.budget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e.ename</a:t>
            </a:r>
            <a:r>
              <a:rPr lang="en-US" altLang="en-US" sz="2400" dirty="0"/>
              <a:t> 	FROM 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 e, </a:t>
            </a:r>
            <a:r>
              <a:rPr lang="en-US" altLang="en-US" sz="2400" dirty="0" err="1"/>
              <a:t>dept</a:t>
            </a:r>
            <a:r>
              <a:rPr lang="en-US" altLang="en-US" sz="2400" dirty="0"/>
              <a:t> 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	WHERE </a:t>
            </a:r>
            <a:r>
              <a:rPr lang="en-US" altLang="en-US" sz="2400" dirty="0" err="1"/>
              <a:t>e.eid</a:t>
            </a:r>
            <a:r>
              <a:rPr lang="en-US" altLang="en-US" sz="2400" dirty="0"/>
              <a:t>=</a:t>
            </a:r>
            <a:r>
              <a:rPr lang="en-US" altLang="en-US" sz="2400" dirty="0" err="1"/>
              <a:t>d.managerId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654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6"/>
            <a:ext cx="11029615" cy="3228631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Create a view named </a:t>
            </a:r>
            <a:r>
              <a:rPr lang="en-US" altLang="en-US" sz="2400" dirty="0" err="1"/>
              <a:t>emp_info</a:t>
            </a:r>
            <a:r>
              <a:rPr lang="en-US" altLang="en-US" sz="2400" dirty="0"/>
              <a:t> which contains 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, name, salary and total percentage of time.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 (</a:t>
            </a:r>
            <a:r>
              <a:rPr lang="en-US" altLang="en-US" sz="2400" u="sng" dirty="0" err="1"/>
              <a:t>eid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ename</a:t>
            </a:r>
            <a:r>
              <a:rPr lang="en-US" altLang="en-US" sz="2400" dirty="0"/>
              <a:t>, age, salary)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dept</a:t>
            </a:r>
            <a:r>
              <a:rPr lang="en-US" altLang="en-US" sz="2400" dirty="0"/>
              <a:t> (</a:t>
            </a:r>
            <a:r>
              <a:rPr lang="en-US" altLang="en-US" sz="2400" u="sng" dirty="0"/>
              <a:t>did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budget,mangerId</a:t>
            </a:r>
            <a:r>
              <a:rPr lang="en-US" altLang="en-US" sz="2400" dirty="0"/>
              <a:t>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/>
              <a:t>	works 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, did, </a:t>
            </a:r>
            <a:r>
              <a:rPr lang="en-US" altLang="en-US" sz="2400" dirty="0" err="1"/>
              <a:t>pct_time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1912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Querying and Deleting a view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761" y="2017713"/>
            <a:ext cx="11160047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Querying a view can be done similar to a table.</a:t>
            </a:r>
          </a:p>
          <a:p>
            <a:pPr lvl="1" eaLnBrk="1" hangingPunct="1"/>
            <a:r>
              <a:rPr lang="en-US" altLang="en-US" sz="2400" dirty="0"/>
              <a:t>Ex :      </a:t>
            </a:r>
            <a:r>
              <a:rPr lang="en-US" altLang="en-US" sz="2000" dirty="0"/>
              <a:t>SELECT * FROM </a:t>
            </a:r>
            <a:r>
              <a:rPr lang="en-US" altLang="en-US" sz="2000" dirty="0" err="1"/>
              <a:t>dept_info</a:t>
            </a:r>
            <a:endParaRPr lang="en-US" altLang="en-US" sz="2000" dirty="0"/>
          </a:p>
          <a:p>
            <a:pPr lvl="1" eaLnBrk="1" hangingPunct="1"/>
            <a:r>
              <a:rPr lang="en-US" altLang="en-US" sz="2400" dirty="0"/>
              <a:t>Ex :      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 FROM </a:t>
            </a:r>
            <a:r>
              <a:rPr lang="en-US" altLang="en-US" sz="2000" dirty="0" err="1"/>
              <a:t>dep_info</a:t>
            </a:r>
            <a:r>
              <a:rPr lang="en-US" altLang="en-US" sz="2000" dirty="0"/>
              <a:t> WHERE budget&gt; 500,000</a:t>
            </a:r>
          </a:p>
          <a:p>
            <a:pPr marL="324000" lvl="1" indent="0" eaLnBrk="1" hangingPunct="1">
              <a:buNone/>
            </a:pPr>
            <a:endParaRPr lang="en-US" altLang="en-US" sz="2000" dirty="0"/>
          </a:p>
          <a:p>
            <a:pPr eaLnBrk="1" hangingPunct="1"/>
            <a:r>
              <a:rPr lang="en-US" altLang="en-US" sz="2800" dirty="0"/>
              <a:t>Dropping a view</a:t>
            </a:r>
          </a:p>
          <a:p>
            <a:pPr lvl="1" eaLnBrk="1" hangingPunct="1"/>
            <a:r>
              <a:rPr lang="en-US" altLang="en-US" sz="2400" dirty="0"/>
              <a:t>Ex :  	DROP VIEW </a:t>
            </a:r>
            <a:r>
              <a:rPr lang="en-US" altLang="en-US" sz="2400" dirty="0" err="1"/>
              <a:t>dept_info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5481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Updating Views (Contd.)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800" dirty="0"/>
              <a:t>Updating a view can be ambiguous…</a:t>
            </a:r>
          </a:p>
          <a:p>
            <a:pPr lvl="1" eaLnBrk="1" hangingPunct="1"/>
            <a:r>
              <a:rPr lang="en-US" altLang="en-US" sz="2400" dirty="0"/>
              <a:t>Views containing aggregate functions are not updateable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Ex 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UPDATE </a:t>
            </a:r>
            <a:r>
              <a:rPr lang="en-US" altLang="en-US" sz="2200" dirty="0" err="1"/>
              <a:t>emp_info</a:t>
            </a:r>
            <a:endParaRPr lang="en-US" altLang="en-US" sz="22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SET  </a:t>
            </a:r>
            <a:r>
              <a:rPr lang="en-US" altLang="en-US" sz="2200" dirty="0" err="1"/>
              <a:t>tot_pct</a:t>
            </a:r>
            <a:r>
              <a:rPr lang="en-US" altLang="en-US" sz="2200" dirty="0"/>
              <a:t>= 90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WHERE </a:t>
            </a:r>
            <a:r>
              <a:rPr lang="en-US" altLang="en-US" sz="2200" dirty="0" err="1"/>
              <a:t>eid</a:t>
            </a:r>
            <a:r>
              <a:rPr lang="en-US" altLang="en-US" sz="2200" dirty="0"/>
              <a:t> = 1000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**This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288799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Updating Views (Contd.)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en-US" sz="3100" dirty="0"/>
              <a:t>Views containing a join can be ambiguous</a:t>
            </a:r>
          </a:p>
          <a:p>
            <a:pPr lvl="1">
              <a:defRPr/>
            </a:pPr>
            <a:endParaRPr lang="en-US" altLang="en-US" sz="2200" dirty="0"/>
          </a:p>
          <a:p>
            <a:pPr lvl="1">
              <a:buNone/>
              <a:defRPr/>
            </a:pPr>
            <a:endParaRPr lang="en-US" altLang="en-US" sz="2200" dirty="0"/>
          </a:p>
          <a:p>
            <a:pPr lvl="1">
              <a:buNone/>
              <a:defRPr/>
            </a:pPr>
            <a:endParaRPr lang="en-US" altLang="en-US" sz="2200" dirty="0"/>
          </a:p>
          <a:p>
            <a:pPr lvl="1">
              <a:buNone/>
              <a:defRPr/>
            </a:pPr>
            <a:r>
              <a:rPr lang="en-US" altLang="en-US" sz="2200" dirty="0"/>
              <a:t>			</a:t>
            </a:r>
          </a:p>
          <a:p>
            <a:pPr lvl="1">
              <a:buNone/>
              <a:defRPr/>
            </a:pPr>
            <a:r>
              <a:rPr lang="en-US" altLang="en-US" sz="2200" dirty="0"/>
              <a:t>			</a:t>
            </a:r>
            <a:r>
              <a:rPr lang="en-US" altLang="en-US" sz="2300" b="1" dirty="0"/>
              <a:t>UPDATE V1</a:t>
            </a:r>
          </a:p>
          <a:p>
            <a:pPr lvl="1">
              <a:buNone/>
              <a:defRPr/>
            </a:pPr>
            <a:r>
              <a:rPr lang="en-US" altLang="en-US" sz="2300" b="1" dirty="0"/>
              <a:t>			SET A = a</a:t>
            </a:r>
          </a:p>
          <a:p>
            <a:pPr lvl="1">
              <a:buNone/>
              <a:defRPr/>
            </a:pPr>
            <a:r>
              <a:rPr lang="en-US" altLang="en-US" sz="2300" b="1" dirty="0"/>
              <a:t>			WHERE C = e </a:t>
            </a:r>
          </a:p>
          <a:p>
            <a:pPr marL="306000" lvl="1">
              <a:defRPr/>
            </a:pPr>
            <a:r>
              <a:rPr lang="en-US" altLang="en-US" sz="3100" dirty="0"/>
              <a:t>Thus, in many DBMSs, views are updateable only if they are defined on a single base table.</a:t>
            </a:r>
          </a:p>
          <a:p>
            <a:endParaRPr lang="en-US" dirty="0"/>
          </a:p>
        </p:txBody>
      </p:sp>
      <p:graphicFrame>
        <p:nvGraphicFramePr>
          <p:cNvPr id="4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677503"/>
              </p:ext>
            </p:extLst>
          </p:nvPr>
        </p:nvGraphicFramePr>
        <p:xfrm>
          <a:off x="2782888" y="2819401"/>
          <a:ext cx="1676400" cy="8239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56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8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315682"/>
              </p:ext>
            </p:extLst>
          </p:nvPr>
        </p:nvGraphicFramePr>
        <p:xfrm>
          <a:off x="5105400" y="2789238"/>
          <a:ext cx="1716088" cy="1096974"/>
        </p:xfrm>
        <a:graphic>
          <a:graphicData uri="http://schemas.openxmlformats.org/drawingml/2006/table">
            <a:tbl>
              <a:tblPr/>
              <a:tblGrid>
                <a:gridCol w="85804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804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  <a:endParaRPr kumimoji="0" lang="en-US" sz="1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83014"/>
              </p:ext>
            </p:extLst>
          </p:nvPr>
        </p:nvGraphicFramePr>
        <p:xfrm>
          <a:off x="7239001" y="2787651"/>
          <a:ext cx="2263775" cy="1281113"/>
        </p:xfrm>
        <a:graphic>
          <a:graphicData uri="http://schemas.openxmlformats.org/drawingml/2006/table">
            <a:tbl>
              <a:tblPr/>
              <a:tblGrid>
                <a:gridCol w="7156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083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972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0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57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4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T="45719" marB="457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T="45719" marB="4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82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Why Views 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918" y="2141859"/>
            <a:ext cx="11029615" cy="4677504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Advantages</a:t>
            </a:r>
          </a:p>
          <a:p>
            <a:pPr lvl="1"/>
            <a:r>
              <a:rPr lang="en-US" sz="2400" b="1" dirty="0"/>
              <a:t>Security : </a:t>
            </a:r>
            <a:r>
              <a:rPr lang="en-US" sz="2400" dirty="0"/>
              <a:t>Each user can be given permission to access the database only through a small set of views that contain the specific data the user is authorized to see, thus restricting the user's access to stored data</a:t>
            </a:r>
          </a:p>
          <a:p>
            <a:pPr lvl="1"/>
            <a:r>
              <a:rPr lang="en-US" sz="2400" b="1" dirty="0"/>
              <a:t>Query Simplicity : </a:t>
            </a:r>
            <a:r>
              <a:rPr lang="en-US" sz="2400" dirty="0"/>
              <a:t>A view can draw data from several different tables and present it as a single table, turning multi-table queries into single-table queries against the view.</a:t>
            </a:r>
          </a:p>
          <a:p>
            <a:r>
              <a:rPr lang="en-US" sz="2600" dirty="0"/>
              <a:t>Disadvantages</a:t>
            </a:r>
          </a:p>
          <a:p>
            <a:pPr lvl="1"/>
            <a:r>
              <a:rPr lang="en-US" sz="2400" b="1" dirty="0"/>
              <a:t>Performance : </a:t>
            </a:r>
            <a:r>
              <a:rPr lang="en-US" sz="2500" dirty="0"/>
              <a:t>Views create the appearance of a table, but the DBMS must still translate queries against the view into queries against the underlying source tables. If the view is defined by a complex, multi-table query then simple queries on the views may take considerable time</a:t>
            </a:r>
          </a:p>
          <a:p>
            <a:pPr lvl="1"/>
            <a:r>
              <a:rPr lang="en-US" sz="2400" b="1" dirty="0"/>
              <a:t>Update restrictions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201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Programming in T-SQL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Similar to a programming language, certain extensions have been made in SQL to program simple server-side logic.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Some of the statements include: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Selection conditions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IF (…)… ELSE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Looping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WHILE (…)</a:t>
            </a:r>
          </a:p>
        </p:txBody>
      </p:sp>
    </p:spTree>
    <p:extLst>
      <p:ext uri="{BB962C8B-B14F-4D97-AF65-F5344CB8AC3E}">
        <p14:creationId xmlns:p14="http://schemas.microsoft.com/office/powerpoint/2010/main" val="347291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Transact-SQL local variable is an object that can hold a single data value of a specific type. </a:t>
            </a:r>
          </a:p>
          <a:p>
            <a:pPr eaLnBrk="1" hangingPunct="1"/>
            <a:r>
              <a:rPr lang="en-US" altLang="en-US" sz="2400"/>
              <a:t>Variables in scripts are typically used: </a:t>
            </a:r>
          </a:p>
          <a:p>
            <a:pPr lvl="1" eaLnBrk="1" hangingPunct="1"/>
            <a:r>
              <a:rPr lang="en-US" altLang="en-US" sz="2400"/>
              <a:t>As a counter either to count the number of times a loop is performed or to control how many times the loop is performed</a:t>
            </a:r>
          </a:p>
          <a:p>
            <a:pPr lvl="1" eaLnBrk="1" hangingPunct="1"/>
            <a:r>
              <a:rPr lang="en-US" altLang="en-US" sz="2400"/>
              <a:t>To hold a data value to be tested by a control-of-flow statement</a:t>
            </a:r>
          </a:p>
          <a:p>
            <a:pPr lvl="1" eaLnBrk="1" hangingPunct="1"/>
            <a:r>
              <a:rPr lang="en-US" altLang="en-US" sz="2400"/>
              <a:t>To save a data value to be returned by a stored procedure return code. </a:t>
            </a:r>
          </a:p>
          <a:p>
            <a:pPr eaLnBrk="1" hangingPunct="1"/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60808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1040" y="2772924"/>
            <a:ext cx="11029615" cy="367830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2600" dirty="0"/>
              <a:t>The DECLARE statement initializes a Transact-SQL variable.</a:t>
            </a:r>
          </a:p>
          <a:p>
            <a:pPr lvl="1" eaLnBrk="1" hangingPunct="1">
              <a:defRPr/>
            </a:pPr>
            <a:r>
              <a:rPr lang="en-US" altLang="en-US" sz="2200" dirty="0"/>
              <a:t>Syntax: DECLARE @&lt;variable name&gt; &lt;data type&gt;</a:t>
            </a:r>
          </a:p>
          <a:p>
            <a:pPr lvl="1" eaLnBrk="1" hangingPunct="1">
              <a:defRPr/>
            </a:pPr>
            <a:r>
              <a:rPr lang="en-US" altLang="en-US" sz="2200" dirty="0"/>
              <a:t>Ex: DECLARE @</a:t>
            </a:r>
            <a:r>
              <a:rPr lang="en-US" altLang="en-US" sz="2200" dirty="0" err="1"/>
              <a:t>DName</a:t>
            </a:r>
            <a:r>
              <a:rPr lang="en-US" altLang="en-US" sz="2200" dirty="0"/>
              <a:t> VARCHAR(20) </a:t>
            </a:r>
          </a:p>
          <a:p>
            <a:pPr lvl="1" eaLnBrk="1" hangingPunct="1">
              <a:defRPr/>
            </a:pPr>
            <a:r>
              <a:rPr lang="en-US" altLang="en-US" sz="2200" dirty="0"/>
              <a:t>The created variable will be holding a null value</a:t>
            </a:r>
          </a:p>
          <a:p>
            <a:pPr marL="457200" lvl="1" indent="0">
              <a:buNone/>
              <a:defRPr/>
            </a:pPr>
            <a:endParaRPr lang="en-US" altLang="en-US" sz="22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en-US" sz="2400" dirty="0"/>
              <a:t>To assign a value to a variable, use the SET statement. </a:t>
            </a:r>
          </a:p>
          <a:p>
            <a:pPr lvl="1" eaLnBrk="1" hangingPunct="1">
              <a:defRPr/>
            </a:pPr>
            <a:r>
              <a:rPr lang="en-US" altLang="en-US" sz="2200" dirty="0"/>
              <a:t>Syntax : </a:t>
            </a:r>
            <a:r>
              <a:rPr lang="en-US" altLang="en-US" sz="2200"/>
              <a:t>SET @&lt;</a:t>
            </a:r>
            <a:r>
              <a:rPr lang="en-US" altLang="en-US" sz="2200" dirty="0"/>
              <a:t>variable name</a:t>
            </a:r>
            <a:r>
              <a:rPr lang="en-US" altLang="en-US" sz="2200"/>
              <a:t>&gt; =&lt;</a:t>
            </a:r>
            <a:r>
              <a:rPr lang="en-US" altLang="en-US" sz="2200" dirty="0"/>
              <a:t>value&gt;</a:t>
            </a:r>
          </a:p>
          <a:p>
            <a:pPr lvl="1" eaLnBrk="1" hangingPunct="1">
              <a:defRPr/>
            </a:pPr>
            <a:r>
              <a:rPr lang="en-US" altLang="en-US" sz="2400" dirty="0"/>
              <a:t>SET @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 = ‘SESD’</a:t>
            </a:r>
          </a:p>
          <a:p>
            <a:pPr lvl="1" eaLnBrk="1" hangingPunct="1">
              <a:defRPr/>
            </a:pPr>
            <a:endParaRPr lang="en-US" altLang="en-US" sz="22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970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Variables (Contd.)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296407"/>
            <a:ext cx="11029615" cy="3678303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US" sz="2800" dirty="0"/>
              <a:t>The declared variables could be used in scripts</a:t>
            </a:r>
          </a:p>
          <a:p>
            <a:pPr eaLnBrk="1" hangingPunct="1"/>
            <a:r>
              <a:rPr lang="en-US" altLang="en-US" sz="2800" dirty="0"/>
              <a:t>Ex :</a:t>
            </a:r>
          </a:p>
          <a:p>
            <a:pPr lvl="1" eaLnBrk="1" hangingPunct="1"/>
            <a:r>
              <a:rPr lang="en-US" altLang="en-US" sz="2400" dirty="0"/>
              <a:t>SELECT budget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FROM	</a:t>
            </a:r>
            <a:r>
              <a:rPr lang="en-US" altLang="en-US" sz="2400" dirty="0" err="1"/>
              <a:t>Dept</a:t>
            </a:r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WHERE </a:t>
            </a:r>
            <a:r>
              <a:rPr lang="en-US" altLang="en-US" sz="2400" dirty="0" err="1"/>
              <a:t>dname</a:t>
            </a:r>
            <a:r>
              <a:rPr lang="en-US" altLang="en-US" sz="2400" dirty="0"/>
              <a:t> = @</a:t>
            </a:r>
            <a:r>
              <a:rPr lang="en-US" altLang="en-US" sz="2400" dirty="0" err="1"/>
              <a:t>DName</a:t>
            </a:r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r>
              <a:rPr lang="en-US" altLang="en-US" sz="2400" dirty="0"/>
              <a:t>DECLARE @</a:t>
            </a:r>
            <a:r>
              <a:rPr lang="en-US" altLang="en-US" sz="2400" dirty="0" err="1"/>
              <a:t>empId</a:t>
            </a:r>
            <a:r>
              <a:rPr lang="en-US" altLang="en-US" sz="2400" dirty="0"/>
              <a:t> INT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SELECT @</a:t>
            </a:r>
            <a:r>
              <a:rPr lang="en-US" altLang="en-US" sz="2400" dirty="0" err="1"/>
              <a:t>empId</a:t>
            </a:r>
            <a:r>
              <a:rPr lang="en-US" altLang="en-US" sz="2400" dirty="0"/>
              <a:t> = 	MAX(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)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	FROM 	</a:t>
            </a:r>
            <a:r>
              <a:rPr lang="en-US" altLang="en-US" sz="2400" dirty="0" err="1"/>
              <a:t>emp</a:t>
            </a:r>
            <a:endParaRPr lang="en-US" altLang="en-US" sz="24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911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IF statement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Imposes conditions on the execution of a Transact-SQL statement. </a:t>
            </a:r>
          </a:p>
          <a:p>
            <a:pPr eaLnBrk="1" hangingPunct="1">
              <a:defRPr/>
            </a:pPr>
            <a:r>
              <a:rPr lang="en-US" altLang="en-US" sz="2800" dirty="0"/>
              <a:t>Ex:</a:t>
            </a:r>
          </a:p>
          <a:p>
            <a:pPr marL="465138" indent="0">
              <a:buNone/>
              <a:defRPr/>
            </a:pPr>
            <a:r>
              <a:rPr lang="en-US" altLang="en-US" sz="2400" dirty="0"/>
              <a:t>IF (SELECT count(</a:t>
            </a:r>
            <a:r>
              <a:rPr lang="en-US" altLang="en-US" sz="2400" dirty="0" err="1"/>
              <a:t>eid</a:t>
            </a:r>
            <a:r>
              <a:rPr lang="en-US" altLang="en-US" sz="2400" dirty="0"/>
              <a:t>) FROM </a:t>
            </a:r>
            <a:r>
              <a:rPr lang="en-US" altLang="en-US" sz="2400" dirty="0" err="1"/>
              <a:t>emp</a:t>
            </a:r>
            <a:r>
              <a:rPr lang="en-US" altLang="en-US" sz="2400" dirty="0"/>
              <a:t>) &gt; 1000 </a:t>
            </a:r>
          </a:p>
          <a:p>
            <a:pPr marL="465138" indent="0">
              <a:buNone/>
              <a:defRPr/>
            </a:pPr>
            <a:r>
              <a:rPr lang="en-US" altLang="en-US" sz="2400" dirty="0"/>
              <a:t>BEGIN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‘Inside the IF statement’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‘There are lesser than 1000 employees ’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END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ELSE </a:t>
            </a:r>
          </a:p>
          <a:p>
            <a:pPr marL="465138" lvl="1" indent="0">
              <a:buNone/>
              <a:defRPr/>
            </a:pPr>
            <a:r>
              <a:rPr lang="en-US" altLang="en-US" sz="2400" dirty="0"/>
              <a:t>	PRINT ‘There are more than 1000 </a:t>
            </a:r>
            <a:r>
              <a:rPr lang="en-US" altLang="en-US" sz="2400" dirty="0" err="1"/>
              <a:t>emloyees</a:t>
            </a:r>
            <a:r>
              <a:rPr lang="en-US" altLang="en-US" sz="2400" dirty="0"/>
              <a:t> ! ' </a:t>
            </a:r>
          </a:p>
        </p:txBody>
      </p:sp>
    </p:spTree>
    <p:extLst>
      <p:ext uri="{BB962C8B-B14F-4D97-AF65-F5344CB8AC3E}">
        <p14:creationId xmlns:p14="http://schemas.microsoft.com/office/powerpoint/2010/main" val="37792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Sets a condition for the repeated execution of an SQL statement or statement block.</a:t>
            </a:r>
          </a:p>
          <a:p>
            <a:pPr eaLnBrk="1" hangingPunct="1"/>
            <a:r>
              <a:rPr lang="en-US" altLang="en-US" sz="2800" dirty="0"/>
              <a:t> The statements are executed repeatedly as long as the specified condition is true. </a:t>
            </a:r>
          </a:p>
          <a:p>
            <a:pPr eaLnBrk="1" hangingPunct="1"/>
            <a:r>
              <a:rPr lang="en-US" altLang="en-US" sz="2800" dirty="0"/>
              <a:t>The execution of statements in the WHILE loop can be controlled from inside the loop with the BREAK and CONTINUE keywords.</a:t>
            </a:r>
          </a:p>
        </p:txBody>
      </p:sp>
    </p:spTree>
    <p:extLst>
      <p:ext uri="{BB962C8B-B14F-4D97-AF65-F5344CB8AC3E}">
        <p14:creationId xmlns:p14="http://schemas.microsoft.com/office/powerpoint/2010/main" val="306714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BREAK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/>
              <a:t>Causes an exit from the innermost WHILE loop. Any statements appearing after the END keyword, marking the end of the loop, are executed.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CONTINUE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/>
              <a:t>Causes the WHILE loop to restart, ignoring any statements after the CONTINUE keyword. </a:t>
            </a:r>
          </a:p>
        </p:txBody>
      </p:sp>
    </p:spTree>
    <p:extLst>
      <p:ext uri="{BB962C8B-B14F-4D97-AF65-F5344CB8AC3E}">
        <p14:creationId xmlns:p14="http://schemas.microsoft.com/office/powerpoint/2010/main" val="368855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WHILE statement(contd.)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 :	</a:t>
            </a:r>
          </a:p>
          <a:p>
            <a:pPr marL="0" indent="0">
              <a:buNone/>
            </a:pPr>
            <a:r>
              <a:rPr lang="en-US" sz="2000" dirty="0" smtClean="0"/>
              <a:t>	WHILE </a:t>
            </a:r>
            <a:r>
              <a:rPr lang="en-US" sz="2000" dirty="0"/>
              <a:t>@count&lt;=100</a:t>
            </a:r>
          </a:p>
          <a:p>
            <a:pPr marL="0" indent="0">
              <a:buNone/>
            </a:pPr>
            <a:r>
              <a:rPr lang="en-US" sz="2000" dirty="0" smtClean="0"/>
              <a:t>	BEGIN</a:t>
            </a:r>
          </a:p>
          <a:p>
            <a:pPr marL="0" indent="0">
              <a:buNone/>
            </a:pPr>
            <a:r>
              <a:rPr lang="en-US" sz="2000" dirty="0" smtClean="0"/>
              <a:t>		INSERT INTO Employees VALUES(@</a:t>
            </a:r>
            <a:r>
              <a:rPr lang="en-US" sz="2000" dirty="0" err="1"/>
              <a:t>count,CONCAT</a:t>
            </a:r>
            <a:r>
              <a:rPr lang="en-US" sz="2000" dirty="0"/>
              <a:t>('</a:t>
            </a:r>
            <a:r>
              <a:rPr lang="en-US" sz="2000" dirty="0" err="1"/>
              <a:t>Employee',@count</a:t>
            </a:r>
            <a:r>
              <a:rPr lang="en-US" sz="2000" dirty="0"/>
              <a:t>))</a:t>
            </a:r>
          </a:p>
          <a:p>
            <a:pPr marL="0" indent="0">
              <a:buNone/>
            </a:pPr>
            <a:r>
              <a:rPr lang="en-US" sz="2000" dirty="0" smtClean="0"/>
              <a:t>		SET @</a:t>
            </a:r>
            <a:r>
              <a:rPr lang="en-US" sz="2000" dirty="0"/>
              <a:t>count=@count+1</a:t>
            </a:r>
          </a:p>
          <a:p>
            <a:pPr marL="0" indent="0">
              <a:buNone/>
            </a:pPr>
            <a:r>
              <a:rPr lang="en-US" sz="2000" dirty="0" smtClean="0"/>
              <a:t>	END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3073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Functions/Procedures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800" dirty="0"/>
              <a:t>Business logic is maintained in database tier for data intensive operations</a:t>
            </a:r>
          </a:p>
          <a:p>
            <a:pPr lvl="1" eaLnBrk="1" hangingPunct="1"/>
            <a:r>
              <a:rPr lang="en-US" altLang="en-US" sz="2400" dirty="0"/>
              <a:t>E.g. Calculating all interest earned in bank accounts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</a:t>
            </a:r>
          </a:p>
          <a:p>
            <a:pPr eaLnBrk="1" hangingPunct="1"/>
            <a:r>
              <a:rPr lang="en-US" altLang="en-US" sz="2800" dirty="0"/>
              <a:t>In SQL Server 2005, Stored Procedure/ Functions can be written in </a:t>
            </a:r>
          </a:p>
          <a:p>
            <a:pPr lvl="1" eaLnBrk="1" hangingPunct="1"/>
            <a:r>
              <a:rPr lang="en-US" altLang="en-US" sz="2400" dirty="0"/>
              <a:t>T-SQL (we will study only this)</a:t>
            </a:r>
          </a:p>
          <a:p>
            <a:pPr lvl="1" eaLnBrk="1" hangingPunct="1"/>
            <a:r>
              <a:rPr lang="en-US" altLang="en-US" sz="2400" dirty="0"/>
              <a:t>Any .NET Language </a:t>
            </a:r>
          </a:p>
        </p:txBody>
      </p:sp>
    </p:spTree>
    <p:extLst>
      <p:ext uri="{BB962C8B-B14F-4D97-AF65-F5344CB8AC3E}">
        <p14:creationId xmlns:p14="http://schemas.microsoft.com/office/powerpoint/2010/main" val="312633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Stored Functions/Procedures (Contd.)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607224" cy="3633047"/>
          </a:xfrm>
        </p:spPr>
        <p:txBody>
          <a:bodyPr>
            <a:normAutofit/>
          </a:bodyPr>
          <a:lstStyle/>
          <a:p>
            <a:r>
              <a:rPr lang="en-US" sz="2000" dirty="0"/>
              <a:t>Syntax of a function</a:t>
            </a:r>
          </a:p>
          <a:p>
            <a:pPr marL="324000" lvl="1" indent="0">
              <a:buNone/>
            </a:pPr>
            <a:r>
              <a:rPr lang="en-US" sz="1800" dirty="0"/>
              <a:t>	CREATE FUNCTION &lt;function name&gt; (parameters)</a:t>
            </a:r>
          </a:p>
          <a:p>
            <a:pPr marL="324000" lvl="1" indent="0">
              <a:buNone/>
            </a:pPr>
            <a:r>
              <a:rPr lang="en-US" sz="1800" dirty="0"/>
              <a:t>	RETURNS &lt;return type&gt;</a:t>
            </a:r>
          </a:p>
          <a:p>
            <a:pPr marL="324000" lvl="1" indent="0">
              <a:buNone/>
            </a:pPr>
            <a:r>
              <a:rPr lang="en-US" sz="1800" dirty="0"/>
              <a:t>	&lt;function body&gt;</a:t>
            </a:r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827572" cy="3633047"/>
          </a:xfrm>
        </p:spPr>
        <p:txBody>
          <a:bodyPr>
            <a:normAutofit/>
          </a:bodyPr>
          <a:lstStyle/>
          <a:p>
            <a:r>
              <a:rPr lang="en-US" sz="2000" dirty="0"/>
              <a:t>Syntax of a procedure</a:t>
            </a:r>
          </a:p>
          <a:p>
            <a:pPr marL="324000" lvl="1" indent="0">
              <a:buNone/>
            </a:pPr>
            <a:r>
              <a:rPr lang="en-US" sz="1800" dirty="0"/>
              <a:t>CREATE PROCEDURE &lt;procedure name&gt; (parameters)</a:t>
            </a:r>
          </a:p>
          <a:p>
            <a:pPr marL="324000" lvl="1" indent="0">
              <a:buNone/>
            </a:pPr>
            <a:r>
              <a:rPr lang="en-US" sz="1800"/>
              <a:t>	&lt;</a:t>
            </a:r>
            <a:r>
              <a:rPr lang="en-US" sz="1800" dirty="0" err="1"/>
              <a:t>proedure</a:t>
            </a:r>
            <a:r>
              <a:rPr lang="en-US" sz="1800" dirty="0"/>
              <a:t> body&gt;</a:t>
            </a:r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3240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188417" y="3873660"/>
            <a:ext cx="542239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Each parameter to a procedure should have a data type and a parameter mode (IN or OUT). </a:t>
            </a:r>
          </a:p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IN: This is the default mode. IN parameters allow the calling code to pass values into the </a:t>
            </a:r>
            <a:r>
              <a:rPr lang="en-US" sz="2000" dirty="0" smtClean="0">
                <a:solidFill>
                  <a:schemeClr val="tx2"/>
                </a:solidFill>
              </a:rPr>
              <a:t>procedure</a:t>
            </a:r>
            <a:endParaRPr lang="en-US" sz="2000" dirty="0">
              <a:solidFill>
                <a:schemeClr val="tx2"/>
              </a:solidFill>
            </a:endParaRPr>
          </a:p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2"/>
                </a:solidFill>
              </a:rPr>
              <a:t>OUT: OUT parameters allow the </a:t>
            </a:r>
            <a:r>
              <a:rPr lang="en-US" sz="2000" dirty="0" smtClean="0">
                <a:solidFill>
                  <a:schemeClr val="tx2"/>
                </a:solidFill>
              </a:rPr>
              <a:t>procedure </a:t>
            </a:r>
            <a:r>
              <a:rPr lang="en-US" sz="2000" dirty="0">
                <a:solidFill>
                  <a:schemeClr val="tx2"/>
                </a:solidFill>
              </a:rPr>
              <a:t>to pass values back to the calling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013" y="3896743"/>
            <a:ext cx="5518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632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smtClean="0">
                <a:solidFill>
                  <a:schemeClr val="tx2"/>
                </a:solidFill>
              </a:rPr>
              <a:t>Parameter mode of parameters for functions is IN which parameters allow </a:t>
            </a:r>
            <a:r>
              <a:rPr lang="en-US" sz="2000" dirty="0">
                <a:solidFill>
                  <a:schemeClr val="tx2"/>
                </a:solidFill>
              </a:rPr>
              <a:t>the calling code to pass values into the procedure</a:t>
            </a:r>
          </a:p>
        </p:txBody>
      </p:sp>
    </p:spTree>
    <p:extLst>
      <p:ext uri="{BB962C8B-B14F-4D97-AF65-F5344CB8AC3E}">
        <p14:creationId xmlns:p14="http://schemas.microsoft.com/office/powerpoint/2010/main" val="711353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53059" y="3103808"/>
            <a:ext cx="1416676" cy="3992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33352" y="3090929"/>
            <a:ext cx="1429555" cy="4121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Functions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6671256" y="3129566"/>
            <a:ext cx="373488" cy="3348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17490" y="2060620"/>
            <a:ext cx="11774509" cy="4797379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400" dirty="0"/>
              <a:t>Ex : Create a function that returns the number of employees in a given department.</a:t>
            </a:r>
          </a:p>
          <a:p>
            <a:pPr marL="800100" lvl="2" indent="0">
              <a:buNone/>
            </a:pPr>
            <a:endParaRPr lang="en-US" altLang="en-US" sz="2000" dirty="0"/>
          </a:p>
          <a:p>
            <a:pPr marL="800100" lvl="2" indent="0">
              <a:buNone/>
            </a:pP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create function </a:t>
            </a:r>
            <a:r>
              <a:rPr lang="en-US" altLang="en-US" sz="2000" dirty="0" err="1"/>
              <a:t>getEmpCount</a:t>
            </a:r>
            <a:r>
              <a:rPr lang="en-US" altLang="en-US" sz="2000" dirty="0"/>
              <a:t> (@did char(12)) returns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as</a:t>
            </a:r>
          </a:p>
          <a:p>
            <a:pPr marL="800100" lvl="2" indent="0">
              <a:buNone/>
            </a:pPr>
            <a:r>
              <a:rPr lang="en-US" altLang="en-US" sz="2000" dirty="0"/>
              <a:t>begin</a:t>
            </a:r>
          </a:p>
          <a:p>
            <a:pPr marL="800100" lvl="2" indent="0">
              <a:buNone/>
            </a:pPr>
            <a:r>
              <a:rPr lang="en-US" altLang="en-US" sz="2000" dirty="0"/>
              <a:t>		declare @</a:t>
            </a:r>
            <a:r>
              <a:rPr lang="en-US" altLang="en-US" sz="2000" dirty="0" err="1"/>
              <a:t>ecount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		select @</a:t>
            </a:r>
            <a:r>
              <a:rPr lang="en-US" altLang="en-US" sz="2000" dirty="0" err="1"/>
              <a:t>ecount</a:t>
            </a:r>
            <a:r>
              <a:rPr lang="en-US" altLang="en-US" sz="2000" dirty="0"/>
              <a:t>=count(*)</a:t>
            </a:r>
          </a:p>
          <a:p>
            <a:pPr marL="800100" lvl="2" indent="0">
              <a:buNone/>
            </a:pPr>
            <a:r>
              <a:rPr lang="en-US" altLang="en-US" sz="2000" dirty="0"/>
              <a:t>		from works w</a:t>
            </a:r>
          </a:p>
          <a:p>
            <a:pPr marL="800100" lvl="2" indent="0">
              <a:buNone/>
            </a:pPr>
            <a:r>
              <a:rPr lang="en-US" altLang="en-US" sz="2000" dirty="0"/>
              <a:t>		where </a:t>
            </a:r>
            <a:r>
              <a:rPr lang="en-US" altLang="en-US" sz="2000" dirty="0" err="1"/>
              <a:t>w.did</a:t>
            </a:r>
            <a:r>
              <a:rPr lang="en-US" altLang="en-US" sz="2000" dirty="0"/>
              <a:t>=@did</a:t>
            </a:r>
          </a:p>
          <a:p>
            <a:pPr marL="800100" lvl="2" indent="0">
              <a:buNone/>
            </a:pPr>
            <a:r>
              <a:rPr lang="en-US" altLang="en-US" sz="2000" dirty="0"/>
              <a:t>		return @</a:t>
            </a:r>
            <a:r>
              <a:rPr lang="en-US" altLang="en-US" sz="2000" dirty="0" err="1"/>
              <a:t>ecount</a:t>
            </a:r>
            <a:endParaRPr lang="en-US" altLang="en-US" sz="2000" dirty="0"/>
          </a:p>
          <a:p>
            <a:pPr marL="800100" lvl="2" indent="0">
              <a:buNone/>
            </a:pPr>
            <a:r>
              <a:rPr lang="en-US" altLang="en-US" sz="2000" dirty="0"/>
              <a:t>end</a:t>
            </a:r>
          </a:p>
          <a:p>
            <a:endParaRPr lang="en-US" altLang="en-US" sz="28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160655" y="3296992"/>
            <a:ext cx="113333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3994" y="3129566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data type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061397" y="2730321"/>
            <a:ext cx="1034603" cy="3992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0" y="2472539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379" y="2545655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name</a:t>
            </a:r>
          </a:p>
        </p:txBody>
      </p:sp>
      <p:cxnSp>
        <p:nvCxnSpPr>
          <p:cNvPr id="20" name="Straight Arrow Connector 19"/>
          <p:cNvCxnSpPr>
            <a:stCxn id="19" idx="3"/>
          </p:cNvCxnSpPr>
          <p:nvPr/>
        </p:nvCxnSpPr>
        <p:spPr>
          <a:xfrm>
            <a:off x="2678025" y="2730321"/>
            <a:ext cx="682581" cy="39924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122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Functions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Calling the function created previously</a:t>
            </a:r>
          </a:p>
          <a:p>
            <a:pPr eaLnBrk="1" hangingPunct="1"/>
            <a:endParaRPr lang="en-US" altLang="en-US" sz="28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declare @result int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exec @result=get_empCount 'Admin'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400" noProof="1"/>
              <a:t>print @result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8719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Create a function to return the total percentage of time a person works given the employee id.</a:t>
            </a:r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eaLnBrk="1" hangingPunct="1"/>
            <a:endParaRPr lang="en-US" altLang="en-US" sz="2800" noProof="1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3691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658" y="2107866"/>
            <a:ext cx="11354873" cy="44592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Ex : Create a procedure to give a salary increment to all the employee by a given percentage from their existing salary</a:t>
            </a:r>
          </a:p>
          <a:p>
            <a:pPr eaLnBrk="1" hangingPunct="1">
              <a:lnSpc>
                <a:spcPct val="80000"/>
              </a:lnSpc>
            </a:pPr>
            <a:endParaRPr lang="en-US" altLang="en-US" b="1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CREATE PROCEDURE increaseSalary (@pct float)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as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begin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	Update emp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	Set salary=salary+salary * (pct/100)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noProof="1"/>
              <a:t>end;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1217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 (Contd.)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Calling the procedure </a:t>
            </a:r>
          </a:p>
          <a:p>
            <a:pPr eaLnBrk="1" hangingPunct="1"/>
            <a:endParaRPr lang="en-US" altLang="en-US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800" noProof="1"/>
              <a:t>exec increaseSalary 10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noProof="1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 noProof="1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427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Stored Procedures (Contd.)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347922"/>
            <a:ext cx="11029615" cy="367830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2800" dirty="0"/>
              <a:t>Ex 2: create a procedure that outputs statistics of salary (min, max) for a given department.</a:t>
            </a:r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400050" lvl="1" indent="0">
              <a:buNone/>
              <a:defRPr/>
            </a:pPr>
            <a:r>
              <a:rPr lang="en-US" altLang="en-US" sz="2600" dirty="0"/>
              <a:t>create procedure </a:t>
            </a:r>
            <a:r>
              <a:rPr lang="en-US" altLang="en-US" sz="2600" dirty="0" err="1"/>
              <a:t>get_stats</a:t>
            </a:r>
            <a:r>
              <a:rPr lang="en-US" altLang="en-US" sz="2600" dirty="0"/>
              <a:t>(@did </a:t>
            </a:r>
            <a:r>
              <a:rPr lang="en-US" altLang="en-US" sz="2600" dirty="0" err="1"/>
              <a:t>varchar</a:t>
            </a:r>
            <a:r>
              <a:rPr lang="en-US" altLang="en-US" sz="2600" dirty="0"/>
              <a:t>(12),@</a:t>
            </a:r>
            <a:r>
              <a:rPr lang="en-US" altLang="en-US" sz="2600" dirty="0" err="1"/>
              <a:t>maxm</a:t>
            </a:r>
            <a:r>
              <a:rPr lang="en-US" altLang="en-US" sz="2600" dirty="0"/>
              <a:t> real output,@</a:t>
            </a:r>
            <a:r>
              <a:rPr lang="en-US" altLang="en-US" sz="2600" dirty="0" err="1"/>
              <a:t>minm</a:t>
            </a:r>
            <a:r>
              <a:rPr lang="en-US" altLang="en-US" sz="2600" dirty="0"/>
              <a:t> real output)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as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begin</a:t>
            </a:r>
          </a:p>
          <a:p>
            <a:pPr marL="914400" lvl="1" indent="-514350">
              <a:buNone/>
              <a:tabLst>
                <a:tab pos="2119313" algn="l"/>
              </a:tabLst>
              <a:defRPr/>
            </a:pPr>
            <a:r>
              <a:rPr lang="en-US" altLang="en-US" sz="2600" dirty="0"/>
              <a:t>	select @</a:t>
            </a:r>
            <a:r>
              <a:rPr lang="en-US" altLang="en-US" sz="2600" dirty="0" err="1"/>
              <a:t>maxm</a:t>
            </a:r>
            <a:r>
              <a:rPr lang="en-US" altLang="en-US" sz="2600" dirty="0"/>
              <a:t>=max(</a:t>
            </a:r>
            <a:r>
              <a:rPr lang="en-US" altLang="en-US" sz="2600" dirty="0" err="1"/>
              <a:t>e.salary</a:t>
            </a:r>
            <a:r>
              <a:rPr lang="en-US" altLang="en-US" sz="2600" dirty="0"/>
              <a:t>),@</a:t>
            </a:r>
            <a:r>
              <a:rPr lang="en-US" altLang="en-US" sz="2600" dirty="0" err="1"/>
              <a:t>minm</a:t>
            </a:r>
            <a:r>
              <a:rPr lang="en-US" altLang="en-US" sz="2600" dirty="0"/>
              <a:t>=min(</a:t>
            </a:r>
            <a:r>
              <a:rPr lang="en-US" altLang="en-US" sz="2600" dirty="0" err="1"/>
              <a:t>e.salary</a:t>
            </a:r>
            <a:r>
              <a:rPr lang="en-US" altLang="en-US" sz="2600" dirty="0"/>
              <a:t>)	from </a:t>
            </a:r>
            <a:r>
              <a:rPr lang="en-US" altLang="en-US" sz="2600" dirty="0" err="1"/>
              <a:t>dept</a:t>
            </a:r>
            <a:r>
              <a:rPr lang="en-US" altLang="en-US" sz="2600" dirty="0"/>
              <a:t> d, works w, </a:t>
            </a:r>
            <a:r>
              <a:rPr lang="en-US" altLang="en-US" sz="2600" dirty="0" err="1"/>
              <a:t>emp</a:t>
            </a:r>
            <a:r>
              <a:rPr lang="en-US" altLang="en-US" sz="2600" dirty="0"/>
              <a:t> e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  	where </a:t>
            </a:r>
            <a:r>
              <a:rPr lang="en-US" altLang="en-US" sz="2600" dirty="0" err="1"/>
              <a:t>d.did</a:t>
            </a:r>
            <a:r>
              <a:rPr lang="en-US" altLang="en-US" sz="2600" dirty="0"/>
              <a:t>=</a:t>
            </a:r>
            <a:r>
              <a:rPr lang="en-US" altLang="en-US" sz="2600" dirty="0" err="1"/>
              <a:t>w.did</a:t>
            </a:r>
            <a:r>
              <a:rPr lang="en-US" altLang="en-US" sz="2600" dirty="0"/>
              <a:t> and </a:t>
            </a:r>
            <a:r>
              <a:rPr lang="en-US" altLang="en-US" sz="2600" dirty="0" err="1"/>
              <a:t>w.eid</a:t>
            </a:r>
            <a:r>
              <a:rPr lang="en-US" altLang="en-US" sz="2600" dirty="0"/>
              <a:t>=</a:t>
            </a:r>
            <a:r>
              <a:rPr lang="en-US" altLang="en-US" sz="2600" dirty="0" err="1"/>
              <a:t>e.eid</a:t>
            </a:r>
            <a:r>
              <a:rPr lang="en-US" altLang="en-US" sz="2600" dirty="0"/>
              <a:t> and </a:t>
            </a:r>
            <a:r>
              <a:rPr lang="en-US" altLang="en-US" sz="2600" dirty="0" err="1"/>
              <a:t>d.did</a:t>
            </a:r>
            <a:r>
              <a:rPr lang="en-US" altLang="en-US" sz="2600" dirty="0"/>
              <a:t>=@did</a:t>
            </a:r>
          </a:p>
          <a:p>
            <a:pPr marL="400050" lvl="1" indent="0">
              <a:buNone/>
              <a:defRPr/>
            </a:pPr>
            <a:r>
              <a:rPr lang="en-US" altLang="en-US" sz="2600" dirty="0"/>
              <a:t>end</a:t>
            </a:r>
          </a:p>
          <a:p>
            <a:pPr eaLnBrk="1" hangingPunct="1"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80602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Stored Procedures (Contd.)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Calling the procedure </a:t>
            </a:r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400050" lvl="1" indent="0">
              <a:buNone/>
              <a:defRPr/>
            </a:pPr>
            <a:r>
              <a:rPr lang="en-US" altLang="en-US" sz="2400" dirty="0"/>
              <a:t>declare @max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,@min </a:t>
            </a:r>
            <a:r>
              <a:rPr lang="en-US" altLang="en-US" sz="2400" dirty="0" err="1"/>
              <a:t>int</a:t>
            </a:r>
            <a:r>
              <a:rPr lang="en-US" altLang="en-US" sz="2400" dirty="0"/>
              <a:t> 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exec </a:t>
            </a:r>
            <a:r>
              <a:rPr lang="en-US" altLang="en-US" sz="2400" dirty="0" err="1"/>
              <a:t>get_stats</a:t>
            </a:r>
            <a:r>
              <a:rPr lang="en-US" altLang="en-US" sz="2400" dirty="0"/>
              <a:t> 'Admin', @max </a:t>
            </a:r>
            <a:r>
              <a:rPr lang="en-US" altLang="en-US" sz="2400" dirty="0" err="1"/>
              <a:t>output,@min</a:t>
            </a:r>
            <a:r>
              <a:rPr lang="en-US" altLang="en-US" sz="2400" dirty="0"/>
              <a:t> output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print @max </a:t>
            </a:r>
          </a:p>
          <a:p>
            <a:pPr marL="400050" lvl="1" indent="0">
              <a:buNone/>
              <a:defRPr/>
            </a:pPr>
            <a:r>
              <a:rPr lang="en-US" altLang="en-US" sz="2400" dirty="0"/>
              <a:t>print @min </a:t>
            </a:r>
          </a:p>
          <a:p>
            <a:pPr marL="0" indent="0">
              <a:buNone/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4082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3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Create a procedure that outputs the name of the manager and his salary in a </a:t>
            </a:r>
            <a:r>
              <a:rPr lang="en-US" altLang="en-US" sz="2800"/>
              <a:t>given department.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184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Triggers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Triggers are useful in enforcing business rules and data integrity.</a:t>
            </a:r>
          </a:p>
          <a:p>
            <a:pPr eaLnBrk="1" hangingPunct="1"/>
            <a:r>
              <a:rPr lang="en-US" altLang="en-US" sz="2800" dirty="0"/>
              <a:t>They are more powerful than general constraints.</a:t>
            </a:r>
          </a:p>
          <a:p>
            <a:pPr eaLnBrk="1" hangingPunct="1"/>
            <a:r>
              <a:rPr lang="en-US" altLang="en-US" sz="2800" dirty="0"/>
              <a:t>For example, </a:t>
            </a:r>
          </a:p>
          <a:p>
            <a:pPr lvl="1" eaLnBrk="1" hangingPunct="1"/>
            <a:r>
              <a:rPr lang="en-US" altLang="en-US" sz="2400" dirty="0"/>
              <a:t>The employees salary is always less than his/her manager’s salary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800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A trigger is a special type of stored procedure that automatically takes effect when the data in a specified table is modified. </a:t>
            </a:r>
          </a:p>
          <a:p>
            <a:pPr eaLnBrk="1" hangingPunct="1"/>
            <a:r>
              <a:rPr lang="en-US" altLang="en-US" sz="2800" dirty="0"/>
              <a:t>A trigger is invoked in response to a </a:t>
            </a:r>
          </a:p>
          <a:p>
            <a:pPr lvl="1" eaLnBrk="1" hangingPunct="1"/>
            <a:r>
              <a:rPr lang="en-US" altLang="en-US" sz="2400" dirty="0"/>
              <a:t>DDL statement (CREATE, ALTER etc.) or</a:t>
            </a:r>
          </a:p>
          <a:p>
            <a:pPr lvl="1" eaLnBrk="1" hangingPunct="1"/>
            <a:r>
              <a:rPr lang="en-US" altLang="en-US" sz="2400" dirty="0"/>
              <a:t>DML statement (INSERT, UPDATE, or DELETE statement). ‘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6261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180496"/>
            <a:ext cx="11029615" cy="419454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800" dirty="0"/>
              <a:t>We will learn DML triggers…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Syntax :</a:t>
            </a:r>
          </a:p>
          <a:p>
            <a:pPr marL="800100" lvl="2" indent="0">
              <a:lnSpc>
                <a:spcPct val="90000"/>
              </a:lnSpc>
              <a:buNone/>
              <a:defRPr/>
            </a:pPr>
            <a:r>
              <a:rPr lang="en-US" altLang="en-US" sz="2200" dirty="0"/>
              <a:t>CREATE TRIGGER </a:t>
            </a:r>
            <a:r>
              <a:rPr lang="en-US" altLang="en-US" sz="2200" i="1" dirty="0" err="1"/>
              <a:t>trigger_name</a:t>
            </a:r>
            <a:r>
              <a:rPr lang="en-US" altLang="en-US" sz="2200" i="1" dirty="0"/>
              <a:t> </a:t>
            </a:r>
            <a:r>
              <a:rPr lang="en-US" altLang="en-US" sz="2200" dirty="0"/>
              <a:t/>
            </a:r>
            <a:br>
              <a:rPr lang="en-US" altLang="en-US" sz="2200" dirty="0"/>
            </a:br>
            <a:r>
              <a:rPr lang="en-US" altLang="en-US" sz="2200" dirty="0"/>
              <a:t>ON { </a:t>
            </a:r>
            <a:r>
              <a:rPr lang="en-US" altLang="en-US" sz="2200" i="1" dirty="0"/>
              <a:t>table</a:t>
            </a:r>
            <a:r>
              <a:rPr lang="en-US" altLang="en-US" sz="2200" dirty="0"/>
              <a:t> | </a:t>
            </a:r>
            <a:r>
              <a:rPr lang="en-US" altLang="en-US" sz="2200" i="1" dirty="0"/>
              <a:t>view </a:t>
            </a:r>
            <a:r>
              <a:rPr lang="en-US" altLang="en-US" sz="2200" dirty="0"/>
              <a:t>} </a:t>
            </a:r>
            <a:br>
              <a:rPr lang="en-US" altLang="en-US" sz="2200" dirty="0"/>
            </a:br>
            <a:r>
              <a:rPr lang="en-US" altLang="en-US" sz="2200" dirty="0"/>
              <a:t>{ </a:t>
            </a:r>
            <a:br>
              <a:rPr lang="en-US" altLang="en-US" sz="2200" dirty="0"/>
            </a:br>
            <a:r>
              <a:rPr lang="en-US" altLang="en-US" sz="2200" dirty="0"/>
              <a:t>    { </a:t>
            </a:r>
            <a:r>
              <a:rPr lang="en-US" altLang="en-US" sz="2200" b="1" dirty="0"/>
              <a:t>{ </a:t>
            </a:r>
            <a:r>
              <a:rPr lang="en-US" altLang="en-US" sz="2200" dirty="0"/>
              <a:t>FOR | AFTER | INSTEAD OF </a:t>
            </a:r>
            <a:r>
              <a:rPr lang="en-US" altLang="en-US" sz="2200" b="1" dirty="0"/>
              <a:t>}</a:t>
            </a:r>
            <a:r>
              <a:rPr lang="en-US" altLang="en-US" sz="2200" dirty="0"/>
              <a:t>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/>
              <a:t>		{ [ INSERT ] [ </a:t>
            </a:r>
            <a:r>
              <a:rPr lang="en-US" altLang="en-US" sz="2200" b="1" dirty="0"/>
              <a:t>, </a:t>
            </a:r>
            <a:r>
              <a:rPr lang="en-US" altLang="en-US" sz="2200" dirty="0"/>
              <a:t>] [ UPDATE ] [ </a:t>
            </a:r>
            <a:r>
              <a:rPr lang="en-US" altLang="en-US" sz="2200" b="1" dirty="0"/>
              <a:t>, </a:t>
            </a:r>
            <a:r>
              <a:rPr lang="en-US" altLang="en-US" sz="2200" dirty="0"/>
              <a:t>]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200" dirty="0"/>
              <a:t>		  [DELETE ] }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AS </a:t>
            </a:r>
            <a:br>
              <a:rPr lang="en-US" altLang="en-US" sz="2400" dirty="0"/>
            </a:br>
            <a:r>
              <a:rPr lang="en-US" altLang="en-US" sz="2400" dirty="0"/>
              <a:t>        </a:t>
            </a:r>
            <a:r>
              <a:rPr lang="en-US" altLang="en-US" sz="2400" i="1" dirty="0" err="1"/>
              <a:t>sql_statement</a:t>
            </a:r>
            <a:r>
              <a:rPr lang="en-US" altLang="en-US" sz="2400" dirty="0"/>
              <a:t> [</a:t>
            </a:r>
            <a:r>
              <a:rPr lang="en-US" altLang="en-US" sz="2400" b="1" dirty="0"/>
              <a:t> </a:t>
            </a:r>
            <a:r>
              <a:rPr lang="en-US" altLang="en-US" sz="2400" dirty="0"/>
              <a:t>...</a:t>
            </a:r>
            <a:r>
              <a:rPr lang="en-US" altLang="en-US" sz="2400" i="1" dirty="0"/>
              <a:t>n </a:t>
            </a:r>
            <a:r>
              <a:rPr lang="en-US" altLang="en-US" sz="2400" dirty="0"/>
              <a:t>] </a:t>
            </a:r>
            <a:br>
              <a:rPr lang="en-US" altLang="en-US" sz="2400" dirty="0"/>
            </a:br>
            <a:r>
              <a:rPr lang="en-US" altLang="en-US" sz="2400" dirty="0"/>
              <a:t>   }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533687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2" y="837127"/>
            <a:ext cx="10086808" cy="83927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 (Contd.)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1192" y="2605501"/>
            <a:ext cx="11029615" cy="367830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FOR|AFTER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AFTER specifies that the DML trigger is fired only when all operations specified in the triggering SQL statement have executed successfully. 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AFTER is the default when FOR is the only keyword specified.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AFTER triggers cannot be defined on views.</a:t>
            </a:r>
          </a:p>
          <a:p>
            <a:pPr marL="324000" lvl="1" indent="0" eaLnBrk="1" hangingPunct="1">
              <a:lnSpc>
                <a:spcPct val="90000"/>
              </a:lnSpc>
              <a:buNone/>
              <a:defRPr/>
            </a:pPr>
            <a:endParaRPr lang="en-US" sz="2000" dirty="0"/>
          </a:p>
          <a:p>
            <a:pPr marL="342900" lvl="1" indent="-342900">
              <a:lnSpc>
                <a:spcPct val="90000"/>
              </a:lnSpc>
              <a:buClr>
                <a:schemeClr val="folHlink"/>
              </a:buClr>
              <a:buSzPct val="60000"/>
              <a:defRPr/>
            </a:pPr>
            <a:r>
              <a:rPr lang="en-US" sz="2400" dirty="0"/>
              <a:t>INSTEAD OF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Specifies that the trigger is executed </a:t>
            </a:r>
            <a:r>
              <a:rPr lang="en-US" altLang="en-US" sz="2000" i="1" dirty="0"/>
              <a:t>instead of</a:t>
            </a:r>
            <a:r>
              <a:rPr lang="en-US" altLang="en-US" sz="2000" dirty="0"/>
              <a:t> the triggering SQL statement, thus overriding the actions of the triggering statements.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000" dirty="0"/>
              <a:t>Specifies At most, one INSTEAD OF trigger per INSERT, UPDATE, or DELETE statement can be defined on a table or view. 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26497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2" y="214314"/>
            <a:ext cx="10086808" cy="14620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T-SQL: Trigger syntax (Contd.)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[DELETE] [,] [INSERT] [,] [UPDATE]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Are keywords that specify which data modification statements, when attempted against this table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or view, activate the trigger. At least one option must be specified.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6216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Triggers : inserted/deleted tables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0761" y="2017713"/>
            <a:ext cx="11307650" cy="4114800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When a trigger is executed SQL Server creates two virtual tables called INSERTED and DELETED.</a:t>
            </a:r>
          </a:p>
          <a:p>
            <a:r>
              <a:rPr lang="en-US" altLang="en-US" sz="2000" dirty="0"/>
              <a:t>The </a:t>
            </a:r>
            <a:r>
              <a:rPr lang="en-US" altLang="en-US" sz="2000" b="1" dirty="0"/>
              <a:t>deleted</a:t>
            </a:r>
            <a:r>
              <a:rPr lang="en-US" altLang="en-US" sz="2000" dirty="0"/>
              <a:t> table stores copies of the affected rows during DELETE and UPDATE statements</a:t>
            </a:r>
          </a:p>
          <a:p>
            <a:r>
              <a:rPr lang="en-US" altLang="en-US" sz="2000" dirty="0"/>
              <a:t>The </a:t>
            </a:r>
            <a:r>
              <a:rPr lang="en-US" altLang="en-US" sz="2000" b="1" dirty="0"/>
              <a:t>inserted</a:t>
            </a:r>
            <a:r>
              <a:rPr lang="en-US" altLang="en-US" sz="2000" dirty="0"/>
              <a:t> table stores copies of the affected rows during INSERT and UPDATE statements</a:t>
            </a:r>
          </a:p>
          <a:p>
            <a:pPr lvl="1"/>
            <a:r>
              <a:rPr lang="en-US" altLang="en-US" sz="2000" dirty="0"/>
              <a:t>For example when inserting a record to a table,  SQL Server creates a virtual table call INSERTED and loads data into the inserted table then executes the trigger statements and writes the related data pages.</a:t>
            </a:r>
          </a:p>
          <a:p>
            <a:r>
              <a:rPr lang="en-US" altLang="en-US" sz="2000" dirty="0"/>
              <a:t>The format of the inserted and deleted tables is the same as the format of the table on which the trigger is defined</a:t>
            </a:r>
          </a:p>
          <a:p>
            <a:r>
              <a:rPr lang="en-US" altLang="en-US" sz="2000" dirty="0"/>
              <a:t>Each column in the inserted and deleted tables maps directly to a column in the base table</a:t>
            </a:r>
          </a:p>
        </p:txBody>
      </p:sp>
    </p:spTree>
    <p:extLst>
      <p:ext uri="{BB962C8B-B14F-4D97-AF65-F5344CB8AC3E}">
        <p14:creationId xmlns:p14="http://schemas.microsoft.com/office/powerpoint/2010/main" val="583513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Triggers : How do they work?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1089" y="1905000"/>
            <a:ext cx="2509837" cy="6858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Insert/update/delete value x on table t</a:t>
            </a:r>
          </a:p>
        </p:txBody>
      </p:sp>
      <p:sp>
        <p:nvSpPr>
          <p:cNvPr id="9" name="Can 8"/>
          <p:cNvSpPr/>
          <p:nvPr/>
        </p:nvSpPr>
        <p:spPr>
          <a:xfrm>
            <a:off x="5222876" y="3073401"/>
            <a:ext cx="1846263" cy="885825"/>
          </a:xfrm>
          <a:prstGeom prst="ca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Inserted /Deleted tables</a:t>
            </a:r>
          </a:p>
        </p:txBody>
      </p:sp>
      <p:sp>
        <p:nvSpPr>
          <p:cNvPr id="11" name="Down Arrow 10"/>
          <p:cNvSpPr/>
          <p:nvPr/>
        </p:nvSpPr>
        <p:spPr>
          <a:xfrm rot="16200000" flipH="1">
            <a:off x="7979569" y="2226469"/>
            <a:ext cx="290512" cy="609600"/>
          </a:xfrm>
          <a:prstGeom prst="downArrow">
            <a:avLst/>
          </a:prstGeom>
          <a:solidFill>
            <a:srgbClr val="00B0F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Diamond 11"/>
          <p:cNvSpPr/>
          <p:nvPr/>
        </p:nvSpPr>
        <p:spPr>
          <a:xfrm>
            <a:off x="5543550" y="4391025"/>
            <a:ext cx="1295400" cy="10668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6145213" y="2616200"/>
            <a:ext cx="0" cy="4572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Can 16"/>
          <p:cNvSpPr/>
          <p:nvPr/>
        </p:nvSpPr>
        <p:spPr>
          <a:xfrm>
            <a:off x="2606676" y="4464050"/>
            <a:ext cx="1128713" cy="6858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Table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35388" y="4953000"/>
            <a:ext cx="1808162" cy="0"/>
          </a:xfrm>
          <a:prstGeom prst="line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26064" y="6065839"/>
            <a:ext cx="1773237" cy="4159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Logic </a:t>
            </a:r>
          </a:p>
        </p:txBody>
      </p:sp>
      <p:cxnSp>
        <p:nvCxnSpPr>
          <p:cNvPr id="24" name="Straight Connector 23"/>
          <p:cNvCxnSpPr>
            <a:endCxn id="23" idx="0"/>
          </p:cNvCxnSpPr>
          <p:nvPr/>
        </p:nvCxnSpPr>
        <p:spPr>
          <a:xfrm>
            <a:off x="6213475" y="5248276"/>
            <a:ext cx="0" cy="81756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852" name="TextBox 27"/>
          <p:cNvSpPr txBox="1">
            <a:spLocks noChangeArrowheads="1"/>
          </p:cNvSpPr>
          <p:nvPr/>
        </p:nvSpPr>
        <p:spPr bwMode="auto">
          <a:xfrm>
            <a:off x="3844926" y="4344988"/>
            <a:ext cx="1941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[For Trigger on t]</a:t>
            </a:r>
          </a:p>
        </p:txBody>
      </p:sp>
      <p:sp>
        <p:nvSpPr>
          <p:cNvPr id="35853" name="TextBox 31"/>
          <p:cNvSpPr txBox="1">
            <a:spLocks noChangeArrowheads="1"/>
          </p:cNvSpPr>
          <p:nvPr/>
        </p:nvSpPr>
        <p:spPr bwMode="auto">
          <a:xfrm>
            <a:off x="7145338" y="3144838"/>
            <a:ext cx="2760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Insert/delete x to inserted/deleted table</a:t>
            </a:r>
          </a:p>
        </p:txBody>
      </p:sp>
      <p:sp>
        <p:nvSpPr>
          <p:cNvPr id="35854" name="TextBox 32"/>
          <p:cNvSpPr txBox="1">
            <a:spLocks noChangeArrowheads="1"/>
          </p:cNvSpPr>
          <p:nvPr/>
        </p:nvSpPr>
        <p:spPr bwMode="auto">
          <a:xfrm>
            <a:off x="1587501" y="4295775"/>
            <a:ext cx="911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Insert/delete/update x  to t 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6191250" y="3962400"/>
            <a:ext cx="0" cy="45720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7" idx="3"/>
            <a:endCxn id="23" idx="1"/>
          </p:cNvCxnSpPr>
          <p:nvPr/>
        </p:nvCxnSpPr>
        <p:spPr>
          <a:xfrm rot="16200000" flipH="1">
            <a:off x="3686969" y="4634706"/>
            <a:ext cx="1123950" cy="2154238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57" name="TextBox 41"/>
          <p:cNvSpPr txBox="1">
            <a:spLocks noChangeArrowheads="1"/>
          </p:cNvSpPr>
          <p:nvPr/>
        </p:nvSpPr>
        <p:spPr bwMode="auto">
          <a:xfrm>
            <a:off x="6423025" y="5472114"/>
            <a:ext cx="2654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[Instead of Trigger on t]</a:t>
            </a:r>
          </a:p>
        </p:txBody>
      </p:sp>
      <p:sp>
        <p:nvSpPr>
          <p:cNvPr id="35858" name="TextBox 42"/>
          <p:cNvSpPr txBox="1">
            <a:spLocks noChangeArrowheads="1"/>
          </p:cNvSpPr>
          <p:nvPr/>
        </p:nvSpPr>
        <p:spPr bwMode="auto">
          <a:xfrm>
            <a:off x="7048500" y="6018213"/>
            <a:ext cx="27622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Execute the logic specified in the trigger</a:t>
            </a:r>
          </a:p>
        </p:txBody>
      </p:sp>
    </p:spTree>
    <p:extLst>
      <p:ext uri="{BB962C8B-B14F-4D97-AF65-F5344CB8AC3E}">
        <p14:creationId xmlns:p14="http://schemas.microsoft.com/office/powerpoint/2010/main" val="97603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Triggers(contd.)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15344" y="1876045"/>
            <a:ext cx="11330188" cy="4114800"/>
          </a:xfrm>
        </p:spPr>
        <p:txBody>
          <a:bodyPr/>
          <a:lstStyle/>
          <a:p>
            <a:r>
              <a:rPr lang="en-US" altLang="en-US" sz="2800" dirty="0"/>
              <a:t>Example 1:</a:t>
            </a:r>
          </a:p>
          <a:p>
            <a:pPr lvl="1"/>
            <a:r>
              <a:rPr lang="en-US" altLang="en-US" sz="2400" dirty="0"/>
              <a:t>Consider tables below</a:t>
            </a:r>
          </a:p>
          <a:p>
            <a:pPr lvl="2"/>
            <a:r>
              <a:rPr lang="en-US" altLang="en-US" sz="2200" dirty="0"/>
              <a:t>Account (</a:t>
            </a:r>
            <a:r>
              <a:rPr lang="en-US" altLang="en-US" sz="2200" dirty="0" err="1"/>
              <a:t>accountNo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custId</a:t>
            </a:r>
            <a:r>
              <a:rPr lang="en-US" altLang="en-US" sz="2200" dirty="0"/>
              <a:t>, branch, balance)</a:t>
            </a:r>
          </a:p>
          <a:p>
            <a:pPr lvl="2"/>
            <a:r>
              <a:rPr lang="en-US" altLang="en-US" sz="2200" dirty="0" err="1"/>
              <a:t>AccountAudit</a:t>
            </a:r>
            <a:r>
              <a:rPr lang="en-US" altLang="en-US" sz="2200" dirty="0"/>
              <a:t> (</a:t>
            </a:r>
            <a:r>
              <a:rPr lang="en-US" altLang="en-US" sz="2200" dirty="0" err="1"/>
              <a:t>accountNo</a:t>
            </a:r>
            <a:r>
              <a:rPr lang="en-US" altLang="en-US" sz="2200" dirty="0"/>
              <a:t>, balance, date)</a:t>
            </a: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dirty="0"/>
              <a:t>Create a trigger to track all inserts/updates done to the balance field of an Account table at a bank in the </a:t>
            </a:r>
            <a:r>
              <a:rPr lang="en-US" altLang="en-US" sz="2400" dirty="0" err="1"/>
              <a:t>AccountAudit</a:t>
            </a:r>
            <a:r>
              <a:rPr lang="en-US" altLang="en-US" sz="2400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1495863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 (contd.)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3980" y="1953318"/>
            <a:ext cx="11156827" cy="47050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400" dirty="0"/>
              <a:t>Create trigger </a:t>
            </a:r>
            <a:r>
              <a:rPr lang="en-US" altLang="en-US" sz="2400" dirty="0" err="1"/>
              <a:t>account_audit_trigg</a:t>
            </a: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On Account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400" dirty="0"/>
              <a:t>For Insert, update</a:t>
            </a:r>
          </a:p>
          <a:p>
            <a:pPr marL="0" indent="0">
              <a:buNone/>
            </a:pPr>
            <a:r>
              <a:rPr lang="en-US" altLang="en-US" sz="2400" dirty="0"/>
              <a:t>As</a:t>
            </a:r>
          </a:p>
          <a:p>
            <a:pPr marL="0" indent="0">
              <a:buNone/>
            </a:pPr>
            <a:r>
              <a:rPr lang="en-US" altLang="en-US" sz="2400" dirty="0"/>
              <a:t>Begin</a:t>
            </a:r>
          </a:p>
          <a:p>
            <a:pPr marL="457200" lvl="1" indent="0">
              <a:buNone/>
            </a:pPr>
            <a:r>
              <a:rPr lang="en-US" altLang="en-US" sz="2000" dirty="0"/>
              <a:t>Declare 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</a:t>
            </a: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/>
              <a:t>Declare @balance float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r>
              <a:rPr lang="en-US" altLang="en-US" sz="2000" dirty="0"/>
              <a:t>Select 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=</a:t>
            </a:r>
            <a:r>
              <a:rPr lang="en-US" altLang="en-US" sz="2000" dirty="0" err="1"/>
              <a:t>accountNo</a:t>
            </a:r>
            <a:r>
              <a:rPr lang="en-US" altLang="en-US" sz="2000" dirty="0"/>
              <a:t>,@balance=balance from inserted</a:t>
            </a:r>
          </a:p>
          <a:p>
            <a:pPr marL="457200" lvl="1" indent="0">
              <a:buNone/>
            </a:pPr>
            <a:r>
              <a:rPr lang="en-US" altLang="en-US" sz="2000" dirty="0"/>
              <a:t>Insert into </a:t>
            </a:r>
            <a:r>
              <a:rPr lang="en-US" altLang="en-US" sz="2000" dirty="0" err="1"/>
              <a:t>accountAudit</a:t>
            </a:r>
            <a:r>
              <a:rPr lang="en-US" altLang="en-US" sz="2000" dirty="0"/>
              <a:t>(@</a:t>
            </a:r>
            <a:r>
              <a:rPr lang="en-US" altLang="en-US" sz="2000" dirty="0" err="1"/>
              <a:t>ano</a:t>
            </a:r>
            <a:r>
              <a:rPr lang="en-US" altLang="en-US" sz="2000" dirty="0"/>
              <a:t>,@</a:t>
            </a:r>
            <a:r>
              <a:rPr lang="en-US" altLang="en-US" sz="2000" dirty="0" err="1"/>
              <a:t>balance,getdate</a:t>
            </a:r>
            <a:r>
              <a:rPr lang="en-US" altLang="en-US" sz="2000" dirty="0"/>
              <a:t>())</a:t>
            </a:r>
          </a:p>
          <a:p>
            <a:pPr marL="0" indent="0">
              <a:buNone/>
            </a:pPr>
            <a:r>
              <a:rPr lang="en-US" altLang="en-US" sz="24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56205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T-SQL: Triggers (contd.)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02464" y="1927538"/>
            <a:ext cx="11368825" cy="4114800"/>
          </a:xfrm>
        </p:spPr>
        <p:txBody>
          <a:bodyPr/>
          <a:lstStyle/>
          <a:p>
            <a:r>
              <a:rPr lang="en-US" altLang="en-US" sz="2400" dirty="0"/>
              <a:t>Example 2:</a:t>
            </a:r>
          </a:p>
          <a:p>
            <a:pPr lvl="1"/>
            <a:r>
              <a:rPr lang="en-US" altLang="en-US" sz="2400" dirty="0"/>
              <a:t>Consider following tables :</a:t>
            </a:r>
          </a:p>
          <a:p>
            <a:pPr lvl="2"/>
            <a:r>
              <a:rPr lang="en-US" altLang="en-US" sz="2000" dirty="0" err="1"/>
              <a:t>Emp</a:t>
            </a:r>
            <a:r>
              <a:rPr lang="en-US" altLang="en-US" sz="2000" dirty="0"/>
              <a:t>( </a:t>
            </a:r>
            <a:r>
              <a:rPr lang="en-US" altLang="en-US" sz="2000" dirty="0" err="1"/>
              <a:t>eid</a:t>
            </a:r>
            <a:r>
              <a:rPr lang="en-US" altLang="en-US" sz="2000" dirty="0"/>
              <a:t> ,</a:t>
            </a:r>
            <a:r>
              <a:rPr lang="en-US" altLang="en-US" sz="2000" dirty="0" err="1"/>
              <a:t>ename</a:t>
            </a:r>
            <a:r>
              <a:rPr lang="en-US" altLang="en-US" sz="2000" dirty="0"/>
              <a:t>, age, salary) </a:t>
            </a:r>
          </a:p>
          <a:p>
            <a:pPr lvl="2"/>
            <a:r>
              <a:rPr lang="en-US" altLang="en-US" sz="2000" dirty="0"/>
              <a:t>Works (</a:t>
            </a:r>
            <a:r>
              <a:rPr lang="en-US" altLang="en-US" sz="2000" dirty="0" err="1"/>
              <a:t>eid</a:t>
            </a:r>
            <a:r>
              <a:rPr lang="en-US" altLang="en-US" sz="2000" dirty="0"/>
              <a:t>, did, </a:t>
            </a:r>
            <a:r>
              <a:rPr lang="en-US" altLang="en-US" sz="2000" dirty="0" err="1"/>
              <a:t>pct</a:t>
            </a:r>
            <a:r>
              <a:rPr lang="en-US" altLang="en-US" sz="2000" dirty="0"/>
              <a:t>-time)</a:t>
            </a:r>
          </a:p>
          <a:p>
            <a:pPr lvl="2"/>
            <a:r>
              <a:rPr lang="en-US" altLang="en-US" sz="2000" dirty="0" err="1"/>
              <a:t>Dept</a:t>
            </a:r>
            <a:r>
              <a:rPr lang="en-US" altLang="en-US" sz="2000" dirty="0"/>
              <a:t>( did, budget, </a:t>
            </a:r>
            <a:r>
              <a:rPr lang="en-US" altLang="en-US" sz="2000" dirty="0" err="1"/>
              <a:t>managerid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400" dirty="0"/>
              <a:t>Create a trigger to ensure that an employee doesn’t work in more than 2 departments</a:t>
            </a:r>
          </a:p>
          <a:p>
            <a:pPr lvl="1"/>
            <a:endParaRPr lang="en-US" altLang="en-US" dirty="0"/>
          </a:p>
          <a:p>
            <a:pPr lvl="3"/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99734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Exercise 4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450761" y="2017713"/>
            <a:ext cx="11333408" cy="4114800"/>
          </a:xfrm>
        </p:spPr>
        <p:txBody>
          <a:bodyPr/>
          <a:lstStyle/>
          <a:p>
            <a:endParaRPr lang="en-US" altLang="en-US" sz="2800" dirty="0"/>
          </a:p>
          <a:p>
            <a:r>
              <a:rPr lang="en-US" altLang="en-US" sz="2800" dirty="0"/>
              <a:t>Consider the following table</a:t>
            </a:r>
          </a:p>
          <a:p>
            <a:pPr lvl="1"/>
            <a:r>
              <a:rPr lang="en-US" altLang="en-US" sz="2400" dirty="0"/>
              <a:t>Transaction(</a:t>
            </a:r>
            <a:r>
              <a:rPr lang="en-US" altLang="en-US" sz="2400" u="sng" dirty="0" err="1"/>
              <a:t>tid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accountNo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type,amount,date</a:t>
            </a:r>
            <a:r>
              <a:rPr lang="en-US" altLang="en-US" sz="2400" dirty="0"/>
              <a:t>)</a:t>
            </a:r>
          </a:p>
          <a:p>
            <a:pPr lvl="2"/>
            <a:r>
              <a:rPr lang="en-US" altLang="en-US" sz="1800" dirty="0"/>
              <a:t>Type may contain ‘credit’ or ‘debit’</a:t>
            </a:r>
          </a:p>
          <a:p>
            <a:r>
              <a:rPr lang="en-US" altLang="en-US" sz="2800" dirty="0"/>
              <a:t>Assuming that the bank’s maximum withdrawal limit per day is 40000, write a trigger to ensure that no customer withdraws more than the given limit.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97459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Exercise 5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Consider the tables given below</a:t>
            </a:r>
          </a:p>
          <a:p>
            <a:pPr lvl="1"/>
            <a:r>
              <a:rPr lang="en-US" altLang="en-US" sz="2000" dirty="0"/>
              <a:t>Employee(</a:t>
            </a:r>
            <a:r>
              <a:rPr lang="en-US" altLang="en-US" sz="2000" dirty="0" err="1"/>
              <a:t>nic</a:t>
            </a:r>
            <a:r>
              <a:rPr lang="en-US" altLang="en-US" sz="2000" dirty="0"/>
              <a:t>, name, salary, </a:t>
            </a:r>
            <a:r>
              <a:rPr lang="en-US" altLang="en-US" sz="2000" dirty="0" err="1"/>
              <a:t>dno</a:t>
            </a:r>
            <a:r>
              <a:rPr lang="en-US" altLang="en-US" sz="2000" dirty="0"/>
              <a:t>)</a:t>
            </a:r>
          </a:p>
          <a:p>
            <a:pPr lvl="1"/>
            <a:r>
              <a:rPr lang="en-US" altLang="en-US" sz="2000" dirty="0" err="1"/>
              <a:t>Dept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dno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mgrNic</a:t>
            </a:r>
            <a:r>
              <a:rPr lang="en-US" altLang="en-US" sz="2000" dirty="0"/>
              <a:t>)</a:t>
            </a:r>
          </a:p>
          <a:p>
            <a:r>
              <a:rPr lang="en-US" altLang="en-US" sz="2400" dirty="0"/>
              <a:t>Create a trigger to ensure that no employee has a salary greater than his/her manager.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5510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Summary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Views</a:t>
            </a:r>
          </a:p>
          <a:p>
            <a:pPr eaLnBrk="1" hangingPunct="1"/>
            <a:r>
              <a:rPr lang="en-US" altLang="en-US" sz="2800" dirty="0"/>
              <a:t>Transaction Basics</a:t>
            </a:r>
          </a:p>
          <a:p>
            <a:pPr eaLnBrk="1" hangingPunct="1"/>
            <a:r>
              <a:rPr lang="en-US" altLang="en-US" sz="2800" dirty="0"/>
              <a:t>T-SQL extensions </a:t>
            </a:r>
          </a:p>
          <a:p>
            <a:pPr eaLnBrk="1" hangingPunct="1"/>
            <a:r>
              <a:rPr lang="en-US" altLang="en-US" sz="2800" dirty="0"/>
              <a:t>Stored Procedures</a:t>
            </a:r>
          </a:p>
          <a:p>
            <a:pPr eaLnBrk="1" hangingPunct="1"/>
            <a:r>
              <a:rPr lang="en-US" altLang="en-US" sz="2800" dirty="0"/>
              <a:t>Triggers </a:t>
            </a:r>
          </a:p>
        </p:txBody>
      </p:sp>
    </p:spTree>
    <p:extLst>
      <p:ext uri="{BB962C8B-B14F-4D97-AF65-F5344CB8AC3E}">
        <p14:creationId xmlns:p14="http://schemas.microsoft.com/office/powerpoint/2010/main" val="188963459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4739</TotalTime>
  <Words>1560</Words>
  <Application>Microsoft Office PowerPoint</Application>
  <PresentationFormat>Widescreen</PresentationFormat>
  <Paragraphs>329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Gill Sans MT</vt:lpstr>
      <vt:lpstr>Tahoma</vt:lpstr>
      <vt:lpstr>Wingdings</vt:lpstr>
      <vt:lpstr>Wingdings 2</vt:lpstr>
      <vt:lpstr>Dividend</vt:lpstr>
      <vt:lpstr>Database management systems (it 2040)</vt:lpstr>
      <vt:lpstr>Lecture content</vt:lpstr>
      <vt:lpstr>Learning outcomes</vt:lpstr>
      <vt:lpstr>Views</vt:lpstr>
      <vt:lpstr>Views (contd.)</vt:lpstr>
      <vt:lpstr>Exercise 1</vt:lpstr>
      <vt:lpstr>Querying and Deleting a view</vt:lpstr>
      <vt:lpstr>Updating Views (Contd.)</vt:lpstr>
      <vt:lpstr>Updating Views (Contd.)</vt:lpstr>
      <vt:lpstr>Why Views ?</vt:lpstr>
      <vt:lpstr>Programming in T-SQL</vt:lpstr>
      <vt:lpstr>T-SQL: Variables</vt:lpstr>
      <vt:lpstr>T-SQL: Variables (Contd.)</vt:lpstr>
      <vt:lpstr>T-SQL: Variables (Contd.)</vt:lpstr>
      <vt:lpstr>T-SQL: IF statement</vt:lpstr>
      <vt:lpstr>T-SQL: WHILE statement</vt:lpstr>
      <vt:lpstr>T-SQL: WHILE statement (contd.)</vt:lpstr>
      <vt:lpstr>T-SQL: WHILE statement(contd.)</vt:lpstr>
      <vt:lpstr>Stored Functions/Procedures</vt:lpstr>
      <vt:lpstr>Stored Functions/Procedures (Contd.)</vt:lpstr>
      <vt:lpstr>Functions</vt:lpstr>
      <vt:lpstr>Functions (Contd.)</vt:lpstr>
      <vt:lpstr>Exercise 2</vt:lpstr>
      <vt:lpstr>Stored Procedures</vt:lpstr>
      <vt:lpstr>Stored Procedures (Contd.)</vt:lpstr>
      <vt:lpstr>Stored Procedures (Contd.)</vt:lpstr>
      <vt:lpstr>Stored Procedures (Contd.)</vt:lpstr>
      <vt:lpstr>Exercise 3</vt:lpstr>
      <vt:lpstr>Triggers</vt:lpstr>
      <vt:lpstr>T-SQL: Triggers</vt:lpstr>
      <vt:lpstr>T-SQL: Trigger syntax</vt:lpstr>
      <vt:lpstr>T-SQL: Trigger syntax (Contd.)</vt:lpstr>
      <vt:lpstr>T-SQL: Trigger syntax (Contd.)</vt:lpstr>
      <vt:lpstr>Triggers : inserted/deleted tables</vt:lpstr>
      <vt:lpstr>Triggers : How do they work?</vt:lpstr>
      <vt:lpstr>T-SQL: Triggers(contd.)</vt:lpstr>
      <vt:lpstr>T-SQL: Triggers (contd.)</vt:lpstr>
      <vt:lpstr>T-SQL: Triggers (contd.)</vt:lpstr>
      <vt:lpstr>Exercise 4</vt:lpstr>
      <vt:lpstr>Exercise 5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anuradha.k</cp:lastModifiedBy>
  <cp:revision>293</cp:revision>
  <dcterms:created xsi:type="dcterms:W3CDTF">2017-12-01T06:14:40Z</dcterms:created>
  <dcterms:modified xsi:type="dcterms:W3CDTF">2020-03-30T06:05:00Z</dcterms:modified>
</cp:coreProperties>
</file>