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23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320" r:id="rId12"/>
    <p:sldId id="321" r:id="rId13"/>
    <p:sldId id="322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28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D6970-6046-4FAA-B7EB-77443D0A5958}" type="datetimeFigureOut">
              <a:rPr lang="en-US" smtClean="0"/>
              <a:t>7/22/2022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88F1E-16D5-4414-800A-D9EAF785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9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fld id="{D8EACEF3-05C4-457A-869F-C5A5C302EDEA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651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management systems (it2040)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Lecture 04 - SQL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423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Introduction to SQL</a:t>
            </a:r>
          </a:p>
          <a:p>
            <a:r>
              <a:rPr lang="en-US" sz="3200" dirty="0"/>
              <a:t>Data definition language</a:t>
            </a:r>
          </a:p>
          <a:p>
            <a:r>
              <a:rPr lang="en-US" sz="3200" dirty="0"/>
              <a:t>Data manipulation language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98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3678303"/>
          </a:xfrm>
        </p:spPr>
        <p:txBody>
          <a:bodyPr>
            <a:normAutofit/>
          </a:bodyPr>
          <a:lstStyle/>
          <a:p>
            <a:r>
              <a:rPr lang="en-US" sz="2800" dirty="0"/>
              <a:t>At the end of this lecture students should be able to</a:t>
            </a:r>
          </a:p>
          <a:p>
            <a:pPr lvl="1"/>
            <a:r>
              <a:rPr lang="en-US" sz="2600" dirty="0"/>
              <a:t>Write syntactically correct SQL statements to create and modify relations in a RDBMS</a:t>
            </a:r>
          </a:p>
          <a:p>
            <a:pPr lvl="1"/>
            <a:r>
              <a:rPr lang="en-US" sz="2600" dirty="0"/>
              <a:t>Write syntactically correct SQL statements to answer user defined queries in a RDBMS</a:t>
            </a:r>
          </a:p>
        </p:txBody>
      </p:sp>
    </p:spTree>
    <p:extLst>
      <p:ext uri="{BB962C8B-B14F-4D97-AF65-F5344CB8AC3E}">
        <p14:creationId xmlns:p14="http://schemas.microsoft.com/office/powerpoint/2010/main" val="418273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SQL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42871"/>
            <a:ext cx="11241614" cy="367830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SQL Initially called SEQUEL (for Structured English </a:t>
            </a:r>
            <a:r>
              <a:rPr lang="en-US" altLang="en-US" sz="2600" dirty="0" err="1"/>
              <a:t>QUEry</a:t>
            </a:r>
            <a:r>
              <a:rPr lang="en-US" altLang="en-US" sz="2600" dirty="0"/>
              <a:t> Language)</a:t>
            </a:r>
          </a:p>
          <a:p>
            <a:pPr eaLnBrk="1" hangingPunct="1"/>
            <a:r>
              <a:rPr lang="en-US" altLang="en-US" sz="2600" dirty="0"/>
              <a:t>It was developed for an experimental relational database system called System R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A joint effort between ANSI (American National Standard Institute) and ISO (International Standards Organization) led to a standard version of SQL in 1986 (SQL1, SQL-86, etc.)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Major revisions have been proposed and SQL2 (also called SQL-92)  has subsequently been developed</a:t>
            </a:r>
          </a:p>
        </p:txBody>
      </p:sp>
    </p:spTree>
    <p:extLst>
      <p:ext uri="{BB962C8B-B14F-4D97-AF65-F5344CB8AC3E}">
        <p14:creationId xmlns:p14="http://schemas.microsoft.com/office/powerpoint/2010/main" val="3797691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Relational Model Vs. SQL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Terminology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10000" y="3054191"/>
          <a:ext cx="5257800" cy="18778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Relational</a:t>
                      </a:r>
                      <a:r>
                        <a:rPr lang="en-US" sz="1800" baseline="0" dirty="0"/>
                        <a:t> Model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3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3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3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Tuple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413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SQL: Review (contd.)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161756" y="1822450"/>
            <a:ext cx="10515600" cy="4351338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SQL is a comprehensive database language:</a:t>
            </a:r>
          </a:p>
          <a:p>
            <a:pPr eaLnBrk="1" hangingPunct="1"/>
            <a:r>
              <a:rPr lang="en-US" altLang="en-US" sz="2800" dirty="0"/>
              <a:t>Data Definition Language (DDL)</a:t>
            </a:r>
          </a:p>
          <a:p>
            <a:pPr eaLnBrk="1" hangingPunct="1"/>
            <a:r>
              <a:rPr lang="en-US" altLang="en-US" sz="2800" dirty="0"/>
              <a:t>Data Manipulation Language (DML)</a:t>
            </a:r>
          </a:p>
          <a:p>
            <a:pPr eaLnBrk="1" hangingPunct="1"/>
            <a:r>
              <a:rPr lang="en-US" altLang="en-US" sz="2800" dirty="0"/>
              <a:t>Facilities for security &amp; authorization</a:t>
            </a:r>
          </a:p>
          <a:p>
            <a:pPr eaLnBrk="1" hangingPunct="1"/>
            <a:r>
              <a:rPr lang="en-US" altLang="en-US" sz="2800" dirty="0"/>
              <a:t>Facilities for transaction processing</a:t>
            </a:r>
          </a:p>
          <a:p>
            <a:pPr eaLnBrk="1" hangingPunct="1"/>
            <a:r>
              <a:rPr lang="en-US" altLang="en-US" sz="2800" dirty="0"/>
              <a:t>Facilities for embedding SQL in general purpose languages (Embedded SQL)</a:t>
            </a:r>
          </a:p>
          <a:p>
            <a:pPr eaLnBrk="1" hangingPunct="1"/>
            <a:r>
              <a:rPr lang="en-US" altLang="en-US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9650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Data Definition Language (DDL)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75088" y="1843032"/>
            <a:ext cx="11029615" cy="367830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DDL is the subset of SQL that supports the creation, deletion and modifications for tables and views.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Constraints can be defined on the tables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endParaRPr lang="en-US" altLang="en-US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659333" y="3628824"/>
          <a:ext cx="7113587" cy="28337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0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3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Constraint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Purpose</a:t>
                      </a:r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Not Null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Ensure</a:t>
                      </a:r>
                      <a:r>
                        <a:rPr lang="en-US" sz="1800" baseline="0" dirty="0"/>
                        <a:t> that column doesn’t have null values</a:t>
                      </a:r>
                      <a:endParaRPr lang="en-US" sz="1800" dirty="0"/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Unique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Ensure</a:t>
                      </a:r>
                      <a:r>
                        <a:rPr lang="en-US" sz="1800" baseline="0" dirty="0"/>
                        <a:t> that column doesn’t have duplicate values</a:t>
                      </a:r>
                      <a:endParaRPr lang="en-US" sz="1800" dirty="0"/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Primary key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Defines the primary</a:t>
                      </a:r>
                      <a:r>
                        <a:rPr lang="en-US" sz="1800" baseline="0" dirty="0"/>
                        <a:t> key</a:t>
                      </a:r>
                      <a:endParaRPr lang="en-US" sz="1800" dirty="0"/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Foreign key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Defines a foreign key</a:t>
                      </a:r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9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Default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Defines a default</a:t>
                      </a:r>
                      <a:r>
                        <a:rPr lang="en-US" sz="1800" baseline="0" dirty="0"/>
                        <a:t> value for a column (When no values are given)</a:t>
                      </a:r>
                      <a:endParaRPr lang="en-US" sz="1800" dirty="0"/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Check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Validates data in a column</a:t>
                      </a:r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3237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Creating a Table - Example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362200" y="2057400"/>
            <a:ext cx="8305800" cy="41148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b="1" dirty="0">
                <a:solidFill>
                  <a:srgbClr val="0070C0"/>
                </a:solidFill>
              </a:rPr>
              <a:t>CREATE TABLE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(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  	</a:t>
            </a:r>
            <a:r>
              <a:rPr lang="en-US" altLang="en-US" sz="2400" dirty="0" err="1"/>
              <a:t>studentId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INTEGER PRIMARY KEY</a:t>
            </a:r>
            <a:r>
              <a:rPr lang="en-US" altLang="en-US" sz="2400" dirty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 	</a:t>
            </a:r>
            <a:r>
              <a:rPr lang="en-US" altLang="en-US" sz="2400" dirty="0" err="1"/>
              <a:t>sName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VARCHAR (30) NOT NULL</a:t>
            </a:r>
            <a:r>
              <a:rPr lang="en-US" altLang="en-US" sz="2400" dirty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dirty="0" err="1"/>
              <a:t>nic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CHAR(10) UNIQUE</a:t>
            </a:r>
            <a:r>
              <a:rPr lang="en-US" altLang="en-US" sz="2400" dirty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dirty="0" err="1"/>
              <a:t>gpa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FLOAT</a:t>
            </a:r>
            <a:r>
              <a:rPr lang="en-US" altLang="en-US" sz="2400" dirty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dirty="0" err="1"/>
              <a:t>progId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VARCHAR(10) DEFAULT ‘IT’,</a:t>
            </a:r>
          </a:p>
          <a:p>
            <a:pPr marL="1143000" indent="-1143000">
              <a:lnSpc>
                <a:spcPct val="120000"/>
              </a:lnSpc>
              <a:buNone/>
              <a:defRPr/>
            </a:pPr>
            <a:r>
              <a:rPr lang="en-US" altLang="en-US" sz="2400" dirty="0"/>
              <a:t>    </a:t>
            </a:r>
            <a:r>
              <a:rPr lang="en-US" altLang="en-US" sz="2400" b="1" dirty="0">
                <a:solidFill>
                  <a:srgbClr val="0070C0"/>
                </a:solidFill>
              </a:rPr>
              <a:t>CONSTRAINT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student_prog_fk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FOREIGN KEY </a:t>
            </a:r>
            <a:r>
              <a:rPr lang="en-US" altLang="en-US" sz="2400" dirty="0"/>
              <a:t>(</a:t>
            </a:r>
            <a:r>
              <a:rPr lang="en-US" altLang="en-US" sz="2400" dirty="0" err="1"/>
              <a:t>progId</a:t>
            </a:r>
            <a:r>
              <a:rPr lang="en-US" altLang="en-US" sz="2400" dirty="0"/>
              <a:t>)   </a:t>
            </a:r>
            <a:r>
              <a:rPr lang="en-US" altLang="en-US" sz="2400" b="1" dirty="0">
                <a:solidFill>
                  <a:srgbClr val="0070C0"/>
                </a:solidFill>
              </a:rPr>
              <a:t>REFERENCES</a:t>
            </a:r>
            <a:r>
              <a:rPr lang="en-US" altLang="en-US" sz="2400" dirty="0"/>
              <a:t> programs(id) </a:t>
            </a:r>
            <a:r>
              <a:rPr lang="en-US" altLang="en-US" sz="2400" b="1" dirty="0">
                <a:solidFill>
                  <a:srgbClr val="0070C0"/>
                </a:solidFill>
              </a:rPr>
              <a:t>ON DELETE</a:t>
            </a:r>
            <a:r>
              <a:rPr lang="en-US" altLang="en-US" sz="2400" dirty="0">
                <a:solidFill>
                  <a:srgbClr val="0070C0"/>
                </a:solidFill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SET DEFAULT ON UPDATE</a:t>
            </a:r>
            <a:r>
              <a:rPr lang="en-US" altLang="en-US" sz="2400" dirty="0">
                <a:solidFill>
                  <a:srgbClr val="0070C0"/>
                </a:solidFill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CASCADE</a:t>
            </a:r>
            <a:r>
              <a:rPr lang="en-US" altLang="en-US" sz="2400" dirty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b="1" dirty="0">
                <a:solidFill>
                  <a:srgbClr val="0070C0"/>
                </a:solidFill>
              </a:rPr>
              <a:t>CONSTRAINT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gpa_ck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CHECK</a:t>
            </a:r>
            <a:r>
              <a:rPr lang="en-US" altLang="en-US" sz="2400" dirty="0"/>
              <a:t> (</a:t>
            </a:r>
            <a:r>
              <a:rPr lang="en-US" altLang="en-US" sz="2400" dirty="0" err="1"/>
              <a:t>gpa</a:t>
            </a:r>
            <a:r>
              <a:rPr lang="en-US" altLang="en-US" sz="2400" dirty="0"/>
              <a:t>&lt;= 4.0 )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03355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Modifications to Tables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989155" y="2200722"/>
            <a:ext cx="11029615" cy="4130152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4000" dirty="0"/>
              <a:t>ALTER commands – to alter the definition of the object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3400" dirty="0"/>
              <a:t>Ex : Adding a new column to a table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900" b="1" dirty="0">
                <a:solidFill>
                  <a:srgbClr val="0070C0"/>
                </a:solidFill>
              </a:rPr>
              <a:t>ALTER TABLE </a:t>
            </a:r>
            <a:r>
              <a:rPr lang="en-US" sz="2900" dirty="0"/>
              <a:t>student </a:t>
            </a:r>
            <a:r>
              <a:rPr lang="en-US" sz="2900" b="1" dirty="0">
                <a:solidFill>
                  <a:srgbClr val="0070C0"/>
                </a:solidFill>
              </a:rPr>
              <a:t>ADD</a:t>
            </a:r>
            <a:r>
              <a:rPr lang="en-US" sz="2900" dirty="0"/>
              <a:t> age </a:t>
            </a:r>
            <a:r>
              <a:rPr lang="en-US" sz="2900" b="1" dirty="0">
                <a:solidFill>
                  <a:srgbClr val="0070C0"/>
                </a:solidFill>
              </a:rPr>
              <a:t>INT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3400" dirty="0"/>
              <a:t>Ex : Adding a new constraint to a column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900" b="1" dirty="0">
                <a:solidFill>
                  <a:srgbClr val="0070C0"/>
                </a:solidFill>
              </a:rPr>
              <a:t>ALTER TABLE </a:t>
            </a:r>
            <a:r>
              <a:rPr lang="en-US" sz="2900" dirty="0"/>
              <a:t>student </a:t>
            </a:r>
            <a:r>
              <a:rPr lang="en-US" sz="2900" b="1" dirty="0">
                <a:solidFill>
                  <a:srgbClr val="0070C0"/>
                </a:solidFill>
              </a:rPr>
              <a:t>ADD CONSTRAINT </a:t>
            </a:r>
            <a:r>
              <a:rPr lang="en-US" sz="2900" dirty="0" err="1"/>
              <a:t>chk_age</a:t>
            </a:r>
            <a:r>
              <a:rPr lang="en-US" sz="2900" dirty="0"/>
              <a:t> </a:t>
            </a:r>
            <a:r>
              <a:rPr lang="en-US" sz="2900" b="1" dirty="0">
                <a:solidFill>
                  <a:srgbClr val="0070C0"/>
                </a:solidFill>
              </a:rPr>
              <a:t>CHECK</a:t>
            </a:r>
            <a:r>
              <a:rPr lang="en-US" sz="2900" b="1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2900" dirty="0"/>
              <a:t>age &gt; 18</a:t>
            </a:r>
            <a:r>
              <a:rPr lang="en-US" sz="29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en-US" altLang="en-US" sz="2900" b="1" dirty="0">
              <a:solidFill>
                <a:schemeClr val="tx2">
                  <a:lumMod val="75000"/>
                </a:schemeClr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3400" dirty="0"/>
              <a:t>Ex : removing a column from a table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900" b="1" dirty="0">
                <a:solidFill>
                  <a:srgbClr val="0070C0"/>
                </a:solidFill>
              </a:rPr>
              <a:t>ALTER TABLE</a:t>
            </a:r>
            <a:r>
              <a:rPr lang="en-US" altLang="en-US" sz="2900" dirty="0">
                <a:solidFill>
                  <a:srgbClr val="0070C0"/>
                </a:solidFill>
              </a:rPr>
              <a:t> </a:t>
            </a:r>
            <a:r>
              <a:rPr lang="en-US" altLang="en-US" sz="2900" dirty="0"/>
              <a:t>student </a:t>
            </a:r>
            <a:r>
              <a:rPr lang="en-US" altLang="en-US" sz="2900" b="1" dirty="0">
                <a:solidFill>
                  <a:srgbClr val="0070C0"/>
                </a:solidFill>
              </a:rPr>
              <a:t>DROP COLUMN</a:t>
            </a:r>
            <a:r>
              <a:rPr lang="en-US" altLang="en-US" sz="2900" dirty="0">
                <a:solidFill>
                  <a:srgbClr val="0070C0"/>
                </a:solidFill>
              </a:rPr>
              <a:t> </a:t>
            </a:r>
            <a:r>
              <a:rPr lang="en-US" altLang="en-US" sz="2900" dirty="0"/>
              <a:t>age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4000" dirty="0"/>
              <a:t>DROP commands – for dropping objects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3400" dirty="0"/>
              <a:t>Ex: Deleting a table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000" dirty="0"/>
              <a:t> </a:t>
            </a:r>
            <a:r>
              <a:rPr lang="en-US" altLang="en-US" sz="2900" b="1" dirty="0">
                <a:solidFill>
                  <a:srgbClr val="0070C0"/>
                </a:solidFill>
              </a:rPr>
              <a:t>DROP TABLE</a:t>
            </a:r>
            <a:r>
              <a:rPr lang="en-US" altLang="en-US" sz="2900" dirty="0">
                <a:solidFill>
                  <a:srgbClr val="0070C0"/>
                </a:solidFill>
              </a:rPr>
              <a:t> </a:t>
            </a:r>
            <a:r>
              <a:rPr lang="en-US" altLang="en-US" sz="2900" dirty="0"/>
              <a:t>Employee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9570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/>
              <a:t>Data Manipulation Language (DML)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48481" y="2210896"/>
            <a:ext cx="10855247" cy="349444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DML is the subset of SQL that allows users to write statements to insert, delete, modify and display rows.</a:t>
            </a:r>
          </a:p>
          <a:p>
            <a:pPr lvl="1" eaLnBrk="1" hangingPunct="1">
              <a:defRPr/>
            </a:pPr>
            <a:r>
              <a:rPr lang="en-US" altLang="en-US" dirty="0"/>
              <a:t>Inserting a row </a:t>
            </a:r>
          </a:p>
          <a:p>
            <a:pPr lvl="2" eaLnBrk="1" hangingPunct="1">
              <a:defRPr/>
            </a:pP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INSERT INTO </a:t>
            </a:r>
            <a:r>
              <a:rPr lang="en-US" altLang="en-US" sz="2200" dirty="0"/>
              <a:t>student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 VALUES </a:t>
            </a:r>
            <a:r>
              <a:rPr lang="en-US" altLang="en-US" sz="2200" b="1" dirty="0"/>
              <a:t>(</a:t>
            </a:r>
            <a:r>
              <a:rPr lang="en-US" altLang="en-US" sz="2200" dirty="0"/>
              <a:t>1000, ‘Amal’, ‘123456789V’, 3.2, ‘BM’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lvl="2" eaLnBrk="1" hangingPunct="1">
              <a:defRPr/>
            </a:pP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INSERT INTO </a:t>
            </a:r>
            <a:r>
              <a:rPr lang="en-US" altLang="en-US" sz="2200" dirty="0"/>
              <a:t>student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en-US" altLang="en-US" sz="2200" dirty="0" err="1"/>
              <a:t>studentId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sName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nic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r>
              <a:rPr lang="en-US" altLang="en-US" sz="2200" dirty="0"/>
              <a:t> 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VALUES (</a:t>
            </a:r>
            <a:r>
              <a:rPr lang="en-US" altLang="en-US" sz="2200" dirty="0"/>
              <a:t>1001, ‘</a:t>
            </a:r>
            <a:r>
              <a:rPr lang="en-US" altLang="en-US" sz="2200" dirty="0" err="1"/>
              <a:t>Nimali</a:t>
            </a:r>
            <a:r>
              <a:rPr lang="en-US" altLang="en-US" sz="2200" dirty="0"/>
              <a:t>’, ‘234567890V’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marL="457200" lvl="1" indent="0">
              <a:buNone/>
              <a:defRPr/>
            </a:pPr>
            <a:endParaRPr lang="en-US" altLang="en-US" dirty="0"/>
          </a:p>
          <a:p>
            <a:pPr lvl="1" eaLnBrk="1" hangingPunct="1">
              <a:defRPr/>
            </a:pPr>
            <a:endParaRPr lang="en-US" altLang="en-US" dirty="0"/>
          </a:p>
          <a:p>
            <a:pPr marL="457200" lvl="1" indent="0">
              <a:buNone/>
              <a:defRPr/>
            </a:pPr>
            <a:endParaRPr lang="en-US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6840" y="4817056"/>
          <a:ext cx="5401034" cy="1171620"/>
        </p:xfrm>
        <a:graphic>
          <a:graphicData uri="http://schemas.openxmlformats.org/drawingml/2006/table">
            <a:tbl>
              <a:tblPr/>
              <a:tblGrid>
                <a:gridCol w="1296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StudentID</a:t>
                      </a:r>
                      <a:endParaRPr lang="en-US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SName</a:t>
                      </a:r>
                      <a:endParaRPr lang="en-US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nic</a:t>
                      </a:r>
                      <a:endParaRPr lang="en-US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gpa</a:t>
                      </a:r>
                      <a:endParaRPr lang="en-US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progId</a:t>
                      </a:r>
                      <a:endParaRPr lang="en-US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Amal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123456789V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BM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Nimali</a:t>
                      </a:r>
                      <a:endParaRPr lang="en-US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234567890V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781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Data Manipulation Language (DML)(Contd.)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defRPr/>
            </a:pPr>
            <a:r>
              <a:rPr lang="en-US" altLang="en-US" sz="2400" dirty="0"/>
              <a:t>Deleting a row</a:t>
            </a:r>
          </a:p>
          <a:p>
            <a:pPr lvl="2">
              <a:defRPr/>
            </a:pPr>
            <a:r>
              <a:rPr lang="en-US" altLang="en-US" sz="2000" b="1" dirty="0">
                <a:solidFill>
                  <a:schemeClr val="tx2">
                    <a:lumMod val="75000"/>
                  </a:schemeClr>
                </a:solidFill>
              </a:rPr>
              <a:t>DELETE </a:t>
            </a:r>
            <a:r>
              <a:rPr lang="en-US" altLang="en-US" sz="2000" dirty="0"/>
              <a:t>student </a:t>
            </a:r>
            <a:r>
              <a:rPr lang="en-US" altLang="en-US" sz="2000" b="1" dirty="0">
                <a:solidFill>
                  <a:schemeClr val="tx2">
                    <a:lumMod val="75000"/>
                  </a:schemeClr>
                </a:solidFill>
              </a:rPr>
              <a:t>WHERE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studentId</a:t>
            </a:r>
            <a:r>
              <a:rPr lang="en-US" altLang="en-US" sz="2000" dirty="0"/>
              <a:t>=1000</a:t>
            </a:r>
          </a:p>
          <a:p>
            <a:pPr lvl="1">
              <a:defRPr/>
            </a:pPr>
            <a:r>
              <a:rPr lang="en-US" altLang="en-US" sz="2400" dirty="0"/>
              <a:t>Updating a row</a:t>
            </a:r>
          </a:p>
          <a:p>
            <a:pPr lvl="2">
              <a:defRPr/>
            </a:pPr>
            <a:r>
              <a:rPr lang="en-US" altLang="en-US" sz="2000" b="1" dirty="0"/>
              <a:t>UPDATE</a:t>
            </a:r>
            <a:r>
              <a:rPr lang="en-US" altLang="en-US" sz="2000" dirty="0"/>
              <a:t> student </a:t>
            </a:r>
          </a:p>
          <a:p>
            <a:pPr lvl="2" indent="0">
              <a:buNone/>
              <a:defRPr/>
            </a:pPr>
            <a:r>
              <a:rPr lang="en-US" altLang="en-US" sz="2000" b="1" dirty="0"/>
              <a:t>SET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gpa</a:t>
            </a:r>
            <a:r>
              <a:rPr lang="en-US" altLang="en-US" sz="2000" dirty="0"/>
              <a:t>=2.8 </a:t>
            </a:r>
          </a:p>
          <a:p>
            <a:pPr lvl="2" indent="0">
              <a:buNone/>
              <a:defRPr/>
            </a:pPr>
            <a:r>
              <a:rPr lang="en-US" altLang="en-US" sz="2000" b="1" dirty="0"/>
              <a:t>WHERE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studentId</a:t>
            </a:r>
            <a:r>
              <a:rPr lang="en-US" altLang="en-US" sz="2000" dirty="0"/>
              <a:t>=1001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87885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Select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8966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2800" dirty="0"/>
              <a:t>Select clause in SQL is the basic statement for retrieving information from a database</a:t>
            </a:r>
          </a:p>
          <a:p>
            <a:pPr>
              <a:defRPr/>
            </a:pPr>
            <a:r>
              <a:rPr lang="en-US" altLang="en-US" sz="2800" dirty="0"/>
              <a:t>Basic form</a:t>
            </a:r>
          </a:p>
          <a:p>
            <a:pPr marL="0" indent="0">
              <a:buNone/>
              <a:defRPr/>
            </a:pPr>
            <a:r>
              <a:rPr lang="en-US" altLang="en-US" sz="2800" dirty="0">
                <a:solidFill>
                  <a:schemeClr val="accent2"/>
                </a:solidFill>
              </a:rPr>
              <a:t>		</a:t>
            </a:r>
            <a:r>
              <a:rPr lang="en-US" altLang="en-US" sz="2400" b="1" dirty="0"/>
              <a:t>SELECT </a:t>
            </a:r>
            <a:r>
              <a:rPr lang="en-US" altLang="en-US" sz="2400" dirty="0"/>
              <a:t> &lt;attributes&gt;</a:t>
            </a:r>
          </a:p>
          <a:p>
            <a:pPr marL="0" indent="0">
              <a:buNone/>
              <a:defRPr/>
            </a:pPr>
            <a:r>
              <a:rPr lang="en-US" altLang="en-US" sz="2400" dirty="0"/>
              <a:t>		</a:t>
            </a:r>
            <a:r>
              <a:rPr lang="en-US" altLang="en-US" sz="2400" b="1" dirty="0"/>
              <a:t>FROM</a:t>
            </a:r>
            <a:r>
              <a:rPr lang="en-US" altLang="en-US" sz="2400" dirty="0"/>
              <a:t>     &lt;one or more relations&gt;</a:t>
            </a:r>
          </a:p>
          <a:p>
            <a:pPr marL="0" indent="0">
              <a:buNone/>
              <a:defRPr/>
            </a:pPr>
            <a:r>
              <a:rPr lang="en-US" altLang="en-US" sz="2400" dirty="0"/>
              <a:t>		</a:t>
            </a:r>
            <a:r>
              <a:rPr lang="en-US" altLang="en-US" sz="2400" b="1" dirty="0"/>
              <a:t>WHERE</a:t>
            </a:r>
            <a:r>
              <a:rPr lang="en-US" altLang="en-US" sz="2400" dirty="0"/>
              <a:t>  &lt;conditions&gt;</a:t>
            </a:r>
          </a:p>
          <a:p>
            <a:pPr>
              <a:defRPr/>
            </a:pPr>
            <a:r>
              <a:rPr lang="en-US" altLang="en-US" sz="2800" dirty="0"/>
              <a:t>Ex  : display ids of all students whose </a:t>
            </a:r>
            <a:r>
              <a:rPr lang="en-US" altLang="en-US" sz="2800" dirty="0" err="1"/>
              <a:t>gpa</a:t>
            </a:r>
            <a:r>
              <a:rPr lang="en-US" altLang="en-US" sz="2800" dirty="0"/>
              <a:t> is above 3.0</a:t>
            </a:r>
          </a:p>
          <a:p>
            <a:pPr lvl="1">
              <a:defRPr/>
            </a:pPr>
            <a:r>
              <a:rPr lang="en-US" altLang="en-US" sz="2400" dirty="0"/>
              <a:t>Select </a:t>
            </a:r>
            <a:r>
              <a:rPr lang="en-US" altLang="en-US" sz="2400" dirty="0" err="1"/>
              <a:t>StudentId</a:t>
            </a:r>
            <a:r>
              <a:rPr lang="en-US" altLang="en-US" sz="2400" dirty="0"/>
              <a:t> from student where </a:t>
            </a:r>
            <a:r>
              <a:rPr lang="en-US" altLang="en-US" sz="2400" dirty="0" err="1"/>
              <a:t>gpa</a:t>
            </a:r>
            <a:r>
              <a:rPr lang="en-US" altLang="en-US" sz="2400" dirty="0"/>
              <a:t>&gt; 3.0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90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Clauses and operators used with SELECT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592" y="2137397"/>
            <a:ext cx="11029615" cy="434909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en-US" sz="2800" dirty="0"/>
              <a:t>LIKE operator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IS [NOT] NULL operator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DISTINCT operators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BETWEEN operator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ORDER BY clause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Joins (inner &amp; outer)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Nested query (IN/SOME/ANY, ALL), [NOT] EXISTS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Aggregate functions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GROUP BY – HAVING clauses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051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LIKE operator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914400" y="1696088"/>
            <a:ext cx="5181600" cy="4114800"/>
          </a:xfrm>
        </p:spPr>
        <p:txBody>
          <a:bodyPr/>
          <a:lstStyle/>
          <a:p>
            <a:r>
              <a:rPr lang="en-US" altLang="en-US" sz="2600" dirty="0"/>
              <a:t>Used for matching patterns</a:t>
            </a:r>
          </a:p>
          <a:p>
            <a:r>
              <a:rPr lang="en-US" altLang="en-US" sz="2600" dirty="0"/>
              <a:t>Syntax : </a:t>
            </a:r>
            <a:r>
              <a:rPr lang="en-US" altLang="en-US" sz="2400" dirty="0"/>
              <a:t>&lt;string&gt; LIKE &lt;pattern&gt;</a:t>
            </a:r>
          </a:p>
          <a:p>
            <a:pPr lvl="1"/>
            <a:r>
              <a:rPr lang="en-US" altLang="en-US" sz="2400" dirty="0"/>
              <a:t>&lt;pattern&gt; may contain two special symbols:</a:t>
            </a:r>
          </a:p>
          <a:p>
            <a:pPr marL="1390650" lvl="2" indent="-533400"/>
            <a:r>
              <a:rPr lang="en-US" altLang="en-US" sz="2000" dirty="0"/>
              <a:t>%  = any sequence of characters</a:t>
            </a:r>
          </a:p>
          <a:p>
            <a:pPr marL="1390650" lvl="2" indent="-533400"/>
            <a:r>
              <a:rPr lang="en-US" altLang="en-US" sz="2000" dirty="0"/>
              <a:t>_   = any single character</a:t>
            </a:r>
          </a:p>
          <a:p>
            <a:pPr lvl="1"/>
            <a:endParaRPr lang="en-US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5052552"/>
            <a:ext cx="7391400" cy="10125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n-US" altLang="en-US" sz="2600" dirty="0">
                <a:solidFill>
                  <a:schemeClr val="tx2"/>
                </a:solidFill>
              </a:rPr>
              <a:t>Ex : Find students whose name starts  with a ‘A’</a:t>
            </a:r>
          </a:p>
          <a:p>
            <a:pPr marL="630000" lvl="1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n-US" sz="2400" dirty="0">
                <a:solidFill>
                  <a:schemeClr val="tx2"/>
                </a:solidFill>
              </a:rPr>
              <a:t>Select Name From student where Name Like ‘A%’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47020" y="4952523"/>
          <a:ext cx="1066800" cy="114300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77814" y="2422020"/>
          <a:ext cx="3605212" cy="19812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198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gpa</a:t>
                      </a:r>
                      <a:endParaRPr kumimoji="0" lang="en-US" altLang="en-US" sz="16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progId</a:t>
                      </a:r>
                      <a:endParaRPr kumimoji="0" lang="en-US" altLang="en-US" sz="16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479" name="TextBox 1"/>
          <p:cNvSpPr txBox="1">
            <a:spLocks noChangeArrowheads="1"/>
          </p:cNvSpPr>
          <p:nvPr/>
        </p:nvSpPr>
        <p:spPr bwMode="auto">
          <a:xfrm>
            <a:off x="6978696" y="2020909"/>
            <a:ext cx="1101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3011662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IS [NOT] NULL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13" y="2017713"/>
            <a:ext cx="6865513" cy="4114800"/>
          </a:xfrm>
        </p:spPr>
        <p:txBody>
          <a:bodyPr>
            <a:normAutofit/>
          </a:bodyPr>
          <a:lstStyle/>
          <a:p>
            <a:pPr marL="306000" lvl="1">
              <a:defRPr/>
            </a:pPr>
            <a:r>
              <a:rPr lang="en-US" sz="2600" dirty="0"/>
              <a:t>IS NULL :</a:t>
            </a:r>
            <a:r>
              <a:rPr lang="en-US" altLang="en-US" sz="2600" dirty="0"/>
              <a:t>Used to check whether attribute value is null</a:t>
            </a:r>
          </a:p>
          <a:p>
            <a:pPr>
              <a:defRPr/>
            </a:pPr>
            <a:r>
              <a:rPr lang="en-US" altLang="en-US" sz="2600" dirty="0"/>
              <a:t>Ex : Find </a:t>
            </a:r>
            <a:r>
              <a:rPr lang="en-US" altLang="en-US" sz="2600" dirty="0" err="1"/>
              <a:t>studentIDs</a:t>
            </a:r>
            <a:r>
              <a:rPr lang="en-US" altLang="en-US" sz="2600" dirty="0"/>
              <a:t> of the students who have not completed a semester yet.</a:t>
            </a:r>
          </a:p>
          <a:p>
            <a:pPr lvl="1">
              <a:defRPr/>
            </a:pPr>
            <a:r>
              <a:rPr lang="en-US" sz="2200" dirty="0"/>
              <a:t>Select </a:t>
            </a:r>
            <a:r>
              <a:rPr lang="en-US" sz="2200" dirty="0" err="1"/>
              <a:t>studentId</a:t>
            </a:r>
            <a:endParaRPr lang="en-US" sz="2200" dirty="0"/>
          </a:p>
          <a:p>
            <a:pPr marL="457200" lvl="1" indent="0">
              <a:buNone/>
              <a:defRPr/>
            </a:pPr>
            <a:r>
              <a:rPr lang="en-US" sz="2200" dirty="0"/>
              <a:t>   From student</a:t>
            </a:r>
          </a:p>
          <a:p>
            <a:pPr marL="457200" lvl="1" indent="0">
              <a:buNone/>
              <a:defRPr/>
            </a:pPr>
            <a:r>
              <a:rPr lang="en-US" sz="2200" dirty="0"/>
              <a:t>   Where </a:t>
            </a:r>
            <a:r>
              <a:rPr lang="en-US" sz="2200" dirty="0" err="1"/>
              <a:t>gpa</a:t>
            </a:r>
            <a:r>
              <a:rPr lang="en-US" sz="2200" dirty="0"/>
              <a:t> IS NULL</a:t>
            </a:r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endParaRPr lang="en-US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97437" y="4523705"/>
          <a:ext cx="1198563" cy="114300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198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7457" y="2105159"/>
          <a:ext cx="3605212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4152363" y="4701862"/>
            <a:ext cx="292100" cy="4841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508" name="TextBox 6"/>
          <p:cNvSpPr txBox="1">
            <a:spLocks noChangeArrowheads="1"/>
          </p:cNvSpPr>
          <p:nvPr/>
        </p:nvSpPr>
        <p:spPr bwMode="auto">
          <a:xfrm>
            <a:off x="8839201" y="1725614"/>
            <a:ext cx="1101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3678511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DISTINCT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1428" y="2043472"/>
            <a:ext cx="4953000" cy="4114800"/>
          </a:xfrm>
        </p:spPr>
        <p:txBody>
          <a:bodyPr/>
          <a:lstStyle/>
          <a:p>
            <a:pPr marL="306000" lvl="1">
              <a:defRPr/>
            </a:pPr>
            <a:r>
              <a:rPr lang="en-US" sz="2600" dirty="0"/>
              <a:t>In a table, a column may contain many duplicate values.</a:t>
            </a:r>
          </a:p>
          <a:p>
            <a:pPr marL="306000" lvl="1">
              <a:defRPr/>
            </a:pPr>
            <a:r>
              <a:rPr lang="en-US" sz="2600" dirty="0"/>
              <a:t>Duplicates in results can be eliminated using DISTINCT operator</a:t>
            </a:r>
          </a:p>
          <a:p>
            <a:pPr marL="306000" lvl="1">
              <a:defRPr/>
            </a:pPr>
            <a:r>
              <a:rPr lang="en-US" sz="2600" dirty="0"/>
              <a:t>Ex :</a:t>
            </a:r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dirty="0"/>
              <a:t>    </a:t>
            </a:r>
            <a:r>
              <a:rPr lang="en-US" sz="2400" dirty="0"/>
              <a:t>Select </a:t>
            </a:r>
            <a:r>
              <a:rPr lang="en-US" sz="2400" dirty="0" err="1"/>
              <a:t>progId</a:t>
            </a:r>
            <a:endParaRPr lang="en-US" sz="2400" dirty="0"/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   From student</a:t>
            </a:r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endParaRPr lang="en-US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435475" y="3872272"/>
          <a:ext cx="882650" cy="22860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34855" y="1928610"/>
          <a:ext cx="3567112" cy="23622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19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6926" y="4419600"/>
            <a:ext cx="3254737" cy="11510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1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sz="2400" dirty="0"/>
              <a:t>Select DISTINCT </a:t>
            </a:r>
            <a:r>
              <a:rPr lang="en-US" sz="2400" dirty="0" err="1"/>
              <a:t>progId</a:t>
            </a:r>
            <a:endParaRPr lang="en-US" sz="2400" dirty="0"/>
          </a:p>
          <a:p>
            <a:pPr marL="0" lvl="1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sz="2400" dirty="0"/>
              <a:t>From student</a:t>
            </a:r>
          </a:p>
          <a:p>
            <a:pPr>
              <a:defRPr/>
            </a:pPr>
            <a:endParaRPr lang="en-US" sz="16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296660" y="4564534"/>
          <a:ext cx="882650" cy="152934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575" name="TextBox 10"/>
          <p:cNvSpPr txBox="1">
            <a:spLocks noChangeArrowheads="1"/>
          </p:cNvSpPr>
          <p:nvPr/>
        </p:nvSpPr>
        <p:spPr bwMode="auto">
          <a:xfrm>
            <a:off x="6019800" y="1990398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1487504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BETWEEN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398" y="2236657"/>
            <a:ext cx="6226935" cy="4114800"/>
          </a:xfrm>
        </p:spPr>
        <p:txBody>
          <a:bodyPr>
            <a:normAutofit/>
          </a:bodyPr>
          <a:lstStyle/>
          <a:p>
            <a:pPr marL="306000" lvl="1">
              <a:defRPr/>
            </a:pPr>
            <a:r>
              <a:rPr lang="en-US" altLang="en-US" sz="2600" dirty="0"/>
              <a:t>Used to check whether attribute value is within a range</a:t>
            </a:r>
          </a:p>
          <a:p>
            <a:pPr marL="306000" lvl="1">
              <a:defRPr/>
            </a:pPr>
            <a:r>
              <a:rPr lang="en-US" sz="2600" dirty="0"/>
              <a:t>Ex :Find the students who will be obtaining a first class (3.7&lt;=</a:t>
            </a:r>
            <a:r>
              <a:rPr lang="en-US" sz="2600" dirty="0" err="1"/>
              <a:t>gpa</a:t>
            </a:r>
            <a:r>
              <a:rPr lang="en-US" sz="2600" dirty="0"/>
              <a:t>&lt;=4.0)</a:t>
            </a:r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dirty="0"/>
              <a:t>    	</a:t>
            </a:r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	Select </a:t>
            </a:r>
            <a:r>
              <a:rPr lang="en-US" sz="2400" dirty="0" err="1"/>
              <a:t>studentID</a:t>
            </a:r>
            <a:endParaRPr lang="en-US" sz="2400" dirty="0"/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	From student </a:t>
            </a:r>
          </a:p>
          <a:p>
            <a:pPr marL="914400" lvl="1" indent="-91440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	Where </a:t>
            </a:r>
            <a:r>
              <a:rPr lang="en-US" sz="2400" dirty="0" err="1"/>
              <a:t>gpa</a:t>
            </a:r>
            <a:r>
              <a:rPr lang="en-US" sz="2400" dirty="0"/>
              <a:t> between 3.7 and 4.00</a:t>
            </a:r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endParaRPr lang="en-US" sz="2400" dirty="0"/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endParaRPr lang="en-US" alt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68333" y="2178676"/>
          <a:ext cx="3567112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50938" y="4877336"/>
          <a:ext cx="1198562" cy="1219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Left Arrow 7"/>
          <p:cNvSpPr/>
          <p:nvPr/>
        </p:nvSpPr>
        <p:spPr>
          <a:xfrm flipH="1">
            <a:off x="6302061" y="5296436"/>
            <a:ext cx="304800" cy="381000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80" name="TextBox 6"/>
          <p:cNvSpPr txBox="1">
            <a:spLocks noChangeArrowheads="1"/>
          </p:cNvSpPr>
          <p:nvPr/>
        </p:nvSpPr>
        <p:spPr bwMode="auto">
          <a:xfrm>
            <a:off x="6841331" y="1782048"/>
            <a:ext cx="1100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1772802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ORDER BY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414" y="2034217"/>
            <a:ext cx="6523485" cy="4114800"/>
          </a:xfrm>
        </p:spPr>
        <p:txBody>
          <a:bodyPr>
            <a:normAutofit/>
          </a:bodyPr>
          <a:lstStyle/>
          <a:p>
            <a:pPr marL="306000" lvl="1">
              <a:defRPr/>
            </a:pPr>
            <a:r>
              <a:rPr lang="en-US" altLang="en-US" sz="2600" dirty="0"/>
              <a:t>Used to order results based on a given field</a:t>
            </a:r>
          </a:p>
          <a:p>
            <a:pPr marL="306000" lvl="1">
              <a:defRPr/>
            </a:pPr>
            <a:r>
              <a:rPr lang="en-US" altLang="en-US" sz="2600" dirty="0"/>
              <a:t>Ordering is ascending (ASC), unless you specify the DESC keyword</a:t>
            </a:r>
          </a:p>
          <a:p>
            <a:pPr marL="306000" lvl="1">
              <a:defRPr/>
            </a:pPr>
            <a:r>
              <a:rPr lang="en-US" sz="2600" dirty="0"/>
              <a:t>Ex : display the student names and </a:t>
            </a:r>
            <a:r>
              <a:rPr lang="en-US" sz="2600" dirty="0" err="1"/>
              <a:t>gpa’s</a:t>
            </a:r>
            <a:r>
              <a:rPr lang="en-US" sz="2600" dirty="0"/>
              <a:t> in the ascending order of </a:t>
            </a:r>
            <a:r>
              <a:rPr lang="en-US" sz="2600" dirty="0" err="1"/>
              <a:t>gpa’s</a:t>
            </a:r>
            <a:r>
              <a:rPr lang="en-US" sz="2600" dirty="0"/>
              <a:t>. </a:t>
            </a:r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dirty="0"/>
              <a:t>    	</a:t>
            </a:r>
            <a:r>
              <a:rPr lang="en-US" sz="2400" dirty="0"/>
              <a:t>Select Name, </a:t>
            </a:r>
            <a:r>
              <a:rPr lang="en-US" sz="2400" dirty="0" err="1"/>
              <a:t>gpa</a:t>
            </a:r>
            <a:endParaRPr lang="en-US" sz="2400" dirty="0"/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	From student </a:t>
            </a:r>
          </a:p>
          <a:p>
            <a:pPr marL="914400" lvl="1" indent="-91440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	Order by </a:t>
            </a:r>
            <a:r>
              <a:rPr lang="en-US" sz="2400" dirty="0" err="1"/>
              <a:t>gpa</a:t>
            </a:r>
            <a:endParaRPr lang="en-US" sz="2400" dirty="0"/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endParaRPr lang="en-US" alt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34100" y="2248945"/>
          <a:ext cx="3567112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Left Arrow 7"/>
          <p:cNvSpPr/>
          <p:nvPr/>
        </p:nvSpPr>
        <p:spPr>
          <a:xfrm flipH="1">
            <a:off x="3835757" y="4420645"/>
            <a:ext cx="304800" cy="381000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841347"/>
              </p:ext>
            </p:extLst>
          </p:nvPr>
        </p:nvGraphicFramePr>
        <p:xfrm>
          <a:off x="5248862" y="4128069"/>
          <a:ext cx="1495425" cy="229029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71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2" marR="91422" marT="0" marB="0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2" marR="91422" marT="0" marB="0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617" name="TextBox 6"/>
          <p:cNvSpPr txBox="1">
            <a:spLocks noChangeArrowheads="1"/>
          </p:cNvSpPr>
          <p:nvPr/>
        </p:nvSpPr>
        <p:spPr bwMode="auto">
          <a:xfrm>
            <a:off x="7586619" y="1828130"/>
            <a:ext cx="1100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1413542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[INNER] Join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597207" y="2041043"/>
            <a:ext cx="5806767" cy="4465773"/>
          </a:xfrm>
        </p:spPr>
        <p:txBody>
          <a:bodyPr>
            <a:normAutofit fontScale="70000" lnSpcReduction="20000"/>
          </a:bodyPr>
          <a:lstStyle/>
          <a:p>
            <a:pPr marL="306000" lvl="1">
              <a:defRPr/>
            </a:pPr>
            <a:r>
              <a:rPr lang="en-US" altLang="en-US" sz="2800" dirty="0"/>
              <a:t>Joins two tables based on a certain condition</a:t>
            </a:r>
          </a:p>
          <a:p>
            <a:pPr marL="306000" lvl="1">
              <a:defRPr/>
            </a:pPr>
            <a:r>
              <a:rPr lang="en-US" altLang="en-US" sz="2800" dirty="0"/>
              <a:t>Ex : Find the names of students who follow programs offered by SLIIT </a:t>
            </a:r>
          </a:p>
          <a:p>
            <a:pPr marL="0" lvl="1" indent="0">
              <a:buNone/>
              <a:defRPr/>
            </a:pPr>
            <a:r>
              <a:rPr lang="en-US" altLang="en-US" dirty="0"/>
              <a:t> </a:t>
            </a:r>
            <a:r>
              <a:rPr lang="en-US" altLang="en-US" sz="2900" dirty="0"/>
              <a:t>	Select </a:t>
            </a:r>
            <a:r>
              <a:rPr lang="en-US" altLang="en-US" sz="2900" dirty="0" err="1"/>
              <a:t>s.Name</a:t>
            </a:r>
            <a:endParaRPr lang="en-US" altLang="en-US" sz="2900" dirty="0"/>
          </a:p>
          <a:p>
            <a:pPr marL="0" lvl="1" indent="0">
              <a:buNone/>
              <a:defRPr/>
            </a:pPr>
            <a:r>
              <a:rPr lang="en-US" altLang="en-US" sz="2900" dirty="0"/>
              <a:t>	From student s, program p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	where </a:t>
            </a:r>
            <a:r>
              <a:rPr lang="en-US" altLang="en-US" sz="2900" dirty="0" err="1"/>
              <a:t>s.pid</a:t>
            </a:r>
            <a:r>
              <a:rPr lang="en-US" altLang="en-US" sz="2900" dirty="0"/>
              <a:t>=</a:t>
            </a:r>
            <a:r>
              <a:rPr lang="en-US" altLang="en-US" sz="2900" dirty="0" err="1"/>
              <a:t>p.ProgId</a:t>
            </a:r>
            <a:r>
              <a:rPr lang="en-US" altLang="en-US" sz="2900" dirty="0"/>
              <a:t> and </a:t>
            </a:r>
            <a:r>
              <a:rPr lang="en-US" altLang="en-US" sz="2900" dirty="0" err="1"/>
              <a:t>offerBy</a:t>
            </a:r>
            <a:r>
              <a:rPr lang="en-US" altLang="en-US" sz="2900" dirty="0"/>
              <a:t>=‘SLIIT’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		   Or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	Select </a:t>
            </a:r>
            <a:r>
              <a:rPr lang="en-US" altLang="en-US" sz="2900" dirty="0" err="1"/>
              <a:t>s.Name</a:t>
            </a:r>
            <a:endParaRPr lang="en-US" altLang="en-US" sz="2900" dirty="0"/>
          </a:p>
          <a:p>
            <a:pPr marL="0" lvl="1" indent="0">
              <a:buNone/>
              <a:defRPr/>
            </a:pPr>
            <a:r>
              <a:rPr lang="en-US" altLang="en-US" sz="2900" dirty="0"/>
              <a:t>	From student s </a:t>
            </a:r>
            <a:r>
              <a:rPr lang="en-US" altLang="en-US" sz="2600" dirty="0"/>
              <a:t>INNER JOIN </a:t>
            </a:r>
            <a:r>
              <a:rPr lang="en-US" altLang="en-US" sz="2900" dirty="0"/>
              <a:t>program p on    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             </a:t>
            </a:r>
            <a:r>
              <a:rPr lang="en-US" altLang="en-US" sz="2900" dirty="0" err="1"/>
              <a:t>s.pid</a:t>
            </a:r>
            <a:r>
              <a:rPr lang="en-US" altLang="en-US" sz="2900" dirty="0"/>
              <a:t>=</a:t>
            </a:r>
            <a:r>
              <a:rPr lang="en-US" altLang="en-US" sz="2900" dirty="0" err="1"/>
              <a:t>p.progId</a:t>
            </a:r>
            <a:r>
              <a:rPr lang="en-US" altLang="en-US" sz="2900" dirty="0"/>
              <a:t> 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	Where </a:t>
            </a:r>
            <a:r>
              <a:rPr lang="en-US" altLang="en-US" sz="2900" dirty="0" err="1"/>
              <a:t>offerBy</a:t>
            </a:r>
            <a:r>
              <a:rPr lang="en-US" altLang="en-US" sz="2900" dirty="0"/>
              <a:t>=‘SLIIT’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  <a:defRPr/>
            </a:pPr>
            <a:endParaRPr lang="en-US" altLang="en-US" sz="1400" dirty="0"/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r>
              <a:rPr lang="en-US" altLang="en-US" sz="1000" dirty="0"/>
              <a:t>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7934" y="2325556"/>
          <a:ext cx="2743183" cy="1981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0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257294" y="2348807"/>
          <a:ext cx="2747501" cy="163036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33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Offer 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SHU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2277" y="4890328"/>
          <a:ext cx="944450" cy="108809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4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6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19" marR="91419" marT="0" marB="0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19" marR="91419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19" marR="91419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ight Brace 5"/>
          <p:cNvSpPr/>
          <p:nvPr/>
        </p:nvSpPr>
        <p:spPr>
          <a:xfrm>
            <a:off x="7239000" y="3886200"/>
            <a:ext cx="533400" cy="2743200"/>
          </a:xfrm>
          <a:prstGeom prst="rightBrac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645" name="TextBox 7"/>
          <p:cNvSpPr txBox="1">
            <a:spLocks noChangeArrowheads="1"/>
          </p:cNvSpPr>
          <p:nvPr/>
        </p:nvSpPr>
        <p:spPr bwMode="auto">
          <a:xfrm>
            <a:off x="6403975" y="1916112"/>
            <a:ext cx="1101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24646" name="TextBox 9"/>
          <p:cNvSpPr txBox="1">
            <a:spLocks noChangeArrowheads="1"/>
          </p:cNvSpPr>
          <p:nvPr/>
        </p:nvSpPr>
        <p:spPr bwMode="auto">
          <a:xfrm>
            <a:off x="9257294" y="1916112"/>
            <a:ext cx="1181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1299396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LEFT OUTER JOIN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483678" y="2743200"/>
            <a:ext cx="5538146" cy="41148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400" dirty="0"/>
              <a:t>Returns all rows from the table on the left hand side of join, with the matching rows in the table on the right hand side of the join. </a:t>
            </a:r>
          </a:p>
          <a:p>
            <a:r>
              <a:rPr lang="en-US" altLang="en-US" sz="2400" dirty="0"/>
              <a:t>The result is NULL in the right side when there is no match.</a:t>
            </a:r>
          </a:p>
          <a:p>
            <a:pPr lvl="1"/>
            <a:r>
              <a:rPr lang="en-US" altLang="en-US" sz="2200" dirty="0"/>
              <a:t>Ex : For all the students display the name and the offering institute 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dirty="0"/>
              <a:t>      </a:t>
            </a:r>
            <a:r>
              <a:rPr lang="en-US" altLang="en-US" sz="2000" dirty="0"/>
              <a:t>Select </a:t>
            </a:r>
            <a:r>
              <a:rPr lang="en-US" altLang="en-US" sz="2000" dirty="0" err="1"/>
              <a:t>s.Name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p.offerBy</a:t>
            </a:r>
            <a:endParaRPr lang="en-US" altLang="en-US" sz="2000" dirty="0"/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2000" dirty="0"/>
              <a:t>     From student s LEFT OUTER JOIN program p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2000" dirty="0"/>
              <a:t>				on </a:t>
            </a:r>
            <a:r>
              <a:rPr lang="en-US" altLang="en-US" sz="2000" dirty="0" err="1"/>
              <a:t>s.pid</a:t>
            </a:r>
            <a:r>
              <a:rPr lang="en-US" altLang="en-US" sz="2000" dirty="0"/>
              <a:t>=</a:t>
            </a:r>
            <a:r>
              <a:rPr lang="en-US" altLang="en-US" sz="2000" dirty="0" err="1"/>
              <a:t>p.progId</a:t>
            </a:r>
            <a:r>
              <a:rPr lang="en-US" altLang="en-US" sz="2000" dirty="0"/>
              <a:t> 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2000" dirty="0"/>
              <a:t>	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endParaRPr lang="en-US" altLang="en-US" sz="2400" dirty="0"/>
          </a:p>
          <a:p>
            <a:pPr marL="342900" lvl="1" indent="-342900">
              <a:buClr>
                <a:schemeClr val="folHlink"/>
              </a:buClr>
              <a:buSzPct val="60000"/>
            </a:pPr>
            <a:endParaRPr lang="en-US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15501" y="4666468"/>
          <a:ext cx="1822450" cy="1981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71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offerBy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6318116" y="5289998"/>
            <a:ext cx="304800" cy="41751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3526" y="2325556"/>
          <a:ext cx="2743183" cy="1981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0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257294" y="2348807"/>
          <a:ext cx="2747501" cy="1249467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33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Offer 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6403975" y="1916112"/>
            <a:ext cx="1101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9257294" y="1916112"/>
            <a:ext cx="1181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1667760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RIGHT OUTER JOIN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82705" y="2590800"/>
            <a:ext cx="5257702" cy="4114800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sz="2400" dirty="0"/>
              <a:t>Returns all rows from the table on the right hand side of join, with the matching rows in the table on the left hand side of the join. </a:t>
            </a:r>
          </a:p>
          <a:p>
            <a:r>
              <a:rPr lang="en-US" altLang="en-US" sz="2400" dirty="0"/>
              <a:t>The result is NULL in the left side when there is no match.</a:t>
            </a:r>
          </a:p>
          <a:p>
            <a:pPr marL="648000" lvl="3" indent="-306000"/>
            <a:r>
              <a:rPr lang="en-US" altLang="en-US" sz="2200" dirty="0"/>
              <a:t>Ex : For all the programs display the offering institute and names of the students following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1900" dirty="0"/>
              <a:t>      </a:t>
            </a:r>
            <a:r>
              <a:rPr lang="en-US" altLang="en-US" sz="2100" dirty="0"/>
              <a:t>Select </a:t>
            </a:r>
            <a:r>
              <a:rPr lang="en-US" altLang="en-US" sz="2100" dirty="0" err="1"/>
              <a:t>s.Name</a:t>
            </a:r>
            <a:r>
              <a:rPr lang="en-US" altLang="en-US" sz="2100" dirty="0"/>
              <a:t>, </a:t>
            </a:r>
            <a:r>
              <a:rPr lang="en-US" altLang="en-US" sz="2100" dirty="0" err="1"/>
              <a:t>p.offerBy</a:t>
            </a:r>
            <a:endParaRPr lang="en-US" altLang="en-US" sz="2100" dirty="0"/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2100" dirty="0"/>
              <a:t>	From student s RIGHT OUTER JOIN program p on </a:t>
            </a:r>
            <a:r>
              <a:rPr lang="en-US" altLang="en-US" sz="2100" dirty="0" err="1"/>
              <a:t>s.pid</a:t>
            </a:r>
            <a:r>
              <a:rPr lang="en-US" altLang="en-US" sz="2100" dirty="0"/>
              <a:t>=</a:t>
            </a:r>
            <a:r>
              <a:rPr lang="en-US" altLang="en-US" sz="2100" dirty="0" err="1"/>
              <a:t>p.progId</a:t>
            </a:r>
            <a:r>
              <a:rPr lang="en-US" altLang="en-US" sz="2100" dirty="0"/>
              <a:t> 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2000" dirty="0"/>
              <a:t>	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endParaRPr lang="en-US" altLang="en-US" sz="2400" dirty="0"/>
          </a:p>
          <a:p>
            <a:pPr marL="342900" lvl="1" indent="-342900">
              <a:buClr>
                <a:schemeClr val="folHlink"/>
              </a:buClr>
              <a:buSzPct val="60000"/>
            </a:pPr>
            <a:endParaRPr lang="en-US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64550" y="4724400"/>
          <a:ext cx="1822450" cy="1981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71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offerBy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SHU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7786688" y="5715000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66228" y="2325556"/>
          <a:ext cx="3200481" cy="208788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06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kumimoji="0" lang="en-US" altLang="en-US" sz="1600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257294" y="2348807"/>
          <a:ext cx="2747501" cy="163036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33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Offer 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SHU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6403975" y="1916112"/>
            <a:ext cx="1101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9257294" y="1916112"/>
            <a:ext cx="1181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3819602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IN operator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581192" y="3275842"/>
            <a:ext cx="4989512" cy="41148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en-US" sz="2400" dirty="0"/>
              <a:t>Used to check whether attribute value matches any value within a value list</a:t>
            </a:r>
          </a:p>
          <a:p>
            <a:pPr>
              <a:defRPr/>
            </a:pPr>
            <a:r>
              <a:rPr lang="en-US" altLang="en-US" sz="2400" dirty="0"/>
              <a:t>Ex : Find the students who has obtained a ‘A’.</a:t>
            </a:r>
          </a:p>
          <a:p>
            <a:pPr marL="0" indent="0"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000" dirty="0"/>
              <a:t>Select </a:t>
            </a:r>
            <a:r>
              <a:rPr lang="en-US" altLang="en-US" sz="2000" dirty="0" err="1"/>
              <a:t>s.Name</a:t>
            </a:r>
            <a:r>
              <a:rPr lang="en-US" altLang="en-US" sz="2000" dirty="0"/>
              <a:t> </a:t>
            </a:r>
          </a:p>
          <a:p>
            <a:pPr marL="0" indent="0">
              <a:buNone/>
              <a:defRPr/>
            </a:pPr>
            <a:r>
              <a:rPr lang="en-US" altLang="en-US" sz="2000" dirty="0"/>
              <a:t>	From Student s</a:t>
            </a:r>
          </a:p>
          <a:p>
            <a:pPr marL="914400" indent="-914400">
              <a:buNone/>
              <a:defRPr/>
            </a:pPr>
            <a:r>
              <a:rPr lang="en-US" altLang="en-US" sz="2000" dirty="0"/>
              <a:t>	Where </a:t>
            </a:r>
            <a:r>
              <a:rPr lang="en-US" altLang="en-US" sz="2000" dirty="0" err="1"/>
              <a:t>s.SID</a:t>
            </a:r>
            <a:r>
              <a:rPr lang="en-US" altLang="en-US" sz="2000" dirty="0"/>
              <a:t> IN ( Select SID </a:t>
            </a:r>
          </a:p>
          <a:p>
            <a:pPr marL="1657350" indent="-1657350">
              <a:buNone/>
              <a:defRPr/>
            </a:pPr>
            <a:r>
              <a:rPr lang="en-US" altLang="en-US" sz="2000" dirty="0"/>
              <a:t>	from Grades</a:t>
            </a:r>
          </a:p>
          <a:p>
            <a:pPr marL="1657350" indent="-1657350">
              <a:buNone/>
              <a:defRPr/>
            </a:pPr>
            <a:r>
              <a:rPr lang="en-US" altLang="en-US" sz="2000" dirty="0"/>
              <a:t>	Where Grade=‘A’)</a:t>
            </a:r>
          </a:p>
          <a:p>
            <a:pPr marL="0" indent="0">
              <a:buNone/>
              <a:defRPr/>
            </a:pPr>
            <a:r>
              <a:rPr lang="en-US" altLang="en-US" sz="24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dirty="0"/>
              <a:t>		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530057" y="2315588"/>
          <a:ext cx="2411413" cy="1600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806657" y="2294999"/>
          <a:ext cx="2411413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IT102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IT100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IT102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IT102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IT200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06069" y="4785511"/>
          <a:ext cx="939800" cy="109546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34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2" marR="91432" marT="0" marB="0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2" marR="91432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2" marR="91432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714" name="TextBox 6"/>
          <p:cNvSpPr txBox="1">
            <a:spLocks noChangeArrowheads="1"/>
          </p:cNvSpPr>
          <p:nvPr/>
        </p:nvSpPr>
        <p:spPr bwMode="auto">
          <a:xfrm>
            <a:off x="5440095" y="1921247"/>
            <a:ext cx="1100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27715" name="TextBox 7"/>
          <p:cNvSpPr txBox="1">
            <a:spLocks noChangeArrowheads="1"/>
          </p:cNvSpPr>
          <p:nvPr/>
        </p:nvSpPr>
        <p:spPr bwMode="auto">
          <a:xfrm>
            <a:off x="8674370" y="1921247"/>
            <a:ext cx="995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Grades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82531" y="4938712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81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EXISTS operator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540545" y="3252755"/>
            <a:ext cx="4989512" cy="4114800"/>
          </a:xfrm>
        </p:spPr>
        <p:txBody>
          <a:bodyPr>
            <a:noAutofit/>
          </a:bodyPr>
          <a:lstStyle/>
          <a:p>
            <a:pPr marL="306000" lvl="1">
              <a:defRPr/>
            </a:pPr>
            <a:r>
              <a:rPr lang="en-US" altLang="en-US" sz="2400" dirty="0"/>
              <a:t>Used to check if subquery returns any rows</a:t>
            </a:r>
          </a:p>
          <a:p>
            <a:pPr>
              <a:defRPr/>
            </a:pPr>
            <a:r>
              <a:rPr lang="en-US" altLang="en-US" sz="2400" dirty="0"/>
              <a:t> Ex : Find the students who has obtained a ‘A’.</a:t>
            </a:r>
          </a:p>
          <a:p>
            <a:pPr marL="0" indent="0"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000" dirty="0"/>
              <a:t>Select </a:t>
            </a:r>
            <a:r>
              <a:rPr lang="en-US" altLang="en-US" sz="2000" dirty="0" err="1"/>
              <a:t>s.Name</a:t>
            </a:r>
            <a:r>
              <a:rPr lang="en-US" altLang="en-US" sz="2000" dirty="0"/>
              <a:t> </a:t>
            </a:r>
          </a:p>
          <a:p>
            <a:pPr marL="0" indent="0">
              <a:buNone/>
              <a:defRPr/>
            </a:pPr>
            <a:r>
              <a:rPr lang="en-US" altLang="en-US" sz="2000" dirty="0"/>
              <a:t>	From Student s</a:t>
            </a:r>
          </a:p>
          <a:p>
            <a:pPr marL="914400" indent="-914400">
              <a:buNone/>
              <a:defRPr/>
            </a:pPr>
            <a:r>
              <a:rPr lang="en-US" altLang="en-US" sz="2000" dirty="0"/>
              <a:t>	Where EXISTS ( Select * </a:t>
            </a:r>
          </a:p>
          <a:p>
            <a:pPr marL="1657350" indent="-1657350">
              <a:buNone/>
              <a:defRPr/>
            </a:pPr>
            <a:r>
              <a:rPr lang="en-US" altLang="en-US" sz="2000" dirty="0"/>
              <a:t>	from grades g</a:t>
            </a:r>
          </a:p>
          <a:p>
            <a:pPr marL="1657350" indent="-1657350">
              <a:buNone/>
              <a:defRPr/>
            </a:pPr>
            <a:r>
              <a:rPr lang="en-US" altLang="en-US" sz="2000" dirty="0"/>
              <a:t>	Where </a:t>
            </a:r>
            <a:r>
              <a:rPr lang="en-US" altLang="en-US" sz="2000" dirty="0" err="1"/>
              <a:t>g.SID</a:t>
            </a:r>
            <a:r>
              <a:rPr lang="en-US" altLang="en-US" sz="2000" dirty="0"/>
              <a:t>=</a:t>
            </a:r>
            <a:r>
              <a:rPr lang="en-US" altLang="en-US" sz="2000" dirty="0" err="1"/>
              <a:t>s.SID</a:t>
            </a:r>
            <a:r>
              <a:rPr lang="en-US" altLang="en-US" sz="2000" dirty="0"/>
              <a:t> and </a:t>
            </a:r>
            <a:r>
              <a:rPr lang="en-US" altLang="en-US" sz="2000" dirty="0" err="1"/>
              <a:t>g.Grade</a:t>
            </a:r>
            <a:r>
              <a:rPr lang="en-US" altLang="en-US" sz="2000" dirty="0"/>
              <a:t>=‘A’)</a:t>
            </a:r>
          </a:p>
          <a:p>
            <a:pPr marL="0" indent="0">
              <a:buNone/>
              <a:defRPr/>
            </a:pPr>
            <a:r>
              <a:rPr lang="en-US" altLang="en-US" sz="24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dirty="0"/>
              <a:t>		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30057" y="2315588"/>
          <a:ext cx="2411413" cy="1600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806657" y="2294999"/>
          <a:ext cx="2411413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IT102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IT100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IT102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IT102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IT200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95963" y="4762424"/>
          <a:ext cx="939800" cy="109546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34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2" marR="91432" marT="0" marB="0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2" marR="91432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2" marR="91432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5440095" y="1921247"/>
            <a:ext cx="1100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8674370" y="1921247"/>
            <a:ext cx="995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Grades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73031" y="4876042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59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Comparison operators with SOME, ANY &amp; ALL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682772"/>
            <a:ext cx="11029615" cy="367830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Comparison operators such as =, &lt;&gt;, &gt; ,&gt;= ,&lt; and &lt;= could be modified using operators SOME, ANY and ALL.</a:t>
            </a:r>
          </a:p>
          <a:p>
            <a:pPr lvl="1" eaLnBrk="1" hangingPunct="1"/>
            <a:r>
              <a:rPr lang="en-US" altLang="en-US" sz="2200" dirty="0"/>
              <a:t>SOME and ANY : </a:t>
            </a:r>
            <a:r>
              <a:rPr lang="en-US" altLang="en-US" sz="2400" dirty="0"/>
              <a:t>used to compare a value to a list or subquery. Return true if at least one of the comparison evaluates as true.</a:t>
            </a:r>
          </a:p>
          <a:p>
            <a:pPr lvl="1" eaLnBrk="1" hangingPunct="1"/>
            <a:r>
              <a:rPr lang="en-US" altLang="en-US" sz="2400" dirty="0"/>
              <a:t>ALL :   used to compare a value to a list or subquery. If all of the comparisons evaluate to true then the result of the ALL expression will be true. Otherwise the result will be false</a:t>
            </a:r>
            <a:endParaRPr lang="en-US" altLang="en-US" sz="22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454248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ANY and SOME operators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921287" y="2043470"/>
            <a:ext cx="4662488" cy="4114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altLang="en-US" sz="2800" dirty="0"/>
              <a:t>Ex : Find BM students who has </a:t>
            </a:r>
            <a:r>
              <a:rPr lang="en-US" altLang="en-US" sz="2800" dirty="0" err="1"/>
              <a:t>gpa</a:t>
            </a:r>
            <a:r>
              <a:rPr lang="en-US" altLang="en-US" sz="2800" dirty="0"/>
              <a:t> greater than any of the IT students.</a:t>
            </a:r>
          </a:p>
          <a:p>
            <a:pPr eaLnBrk="1" hangingPunct="1">
              <a:defRPr/>
            </a:pPr>
            <a:endParaRPr lang="en-US" altLang="en-US" sz="1600" dirty="0"/>
          </a:p>
          <a:p>
            <a:pPr marL="400050" lvl="1" indent="0">
              <a:buNone/>
              <a:defRPr/>
            </a:pPr>
            <a:r>
              <a:rPr lang="en-US" altLang="en-US" sz="2000" dirty="0"/>
              <a:t>Select </a:t>
            </a:r>
            <a:r>
              <a:rPr lang="en-US" altLang="en-US" sz="2000" dirty="0" err="1"/>
              <a:t>s.Name</a:t>
            </a:r>
            <a:endParaRPr lang="en-US" altLang="en-US" sz="2000" dirty="0"/>
          </a:p>
          <a:p>
            <a:pPr marL="400050" lvl="1" indent="0">
              <a:buNone/>
              <a:defRPr/>
            </a:pPr>
            <a:r>
              <a:rPr lang="en-US" altLang="en-US" sz="2000" dirty="0"/>
              <a:t>From student s</a:t>
            </a:r>
          </a:p>
          <a:p>
            <a:pPr marL="400050" lvl="1" indent="0">
              <a:buNone/>
              <a:defRPr/>
            </a:pPr>
            <a:r>
              <a:rPr lang="en-US" altLang="en-US" sz="2000" dirty="0"/>
              <a:t>Where </a:t>
            </a:r>
            <a:r>
              <a:rPr lang="en-US" altLang="en-US" sz="2000" dirty="0" err="1"/>
              <a:t>s.progID</a:t>
            </a:r>
            <a:r>
              <a:rPr lang="en-US" altLang="en-US" sz="2000" dirty="0"/>
              <a:t>=‘BM</a:t>
            </a:r>
            <a:r>
              <a:rPr lang="en-US" altLang="en-US" sz="2400" dirty="0"/>
              <a:t>’ and </a:t>
            </a:r>
          </a:p>
          <a:p>
            <a:pPr marL="1085850" lvl="1" indent="0">
              <a:buNone/>
              <a:defRPr/>
            </a:pPr>
            <a:r>
              <a:rPr lang="en-US" altLang="en-US" sz="2000" dirty="0" err="1"/>
              <a:t>s.gpa</a:t>
            </a:r>
            <a:r>
              <a:rPr lang="en-US" altLang="en-US" sz="2000" dirty="0"/>
              <a:t> &gt; ANY (</a:t>
            </a:r>
          </a:p>
          <a:p>
            <a:pPr marL="1943100" lvl="1" indent="0">
              <a:buNone/>
              <a:defRPr/>
            </a:pPr>
            <a:r>
              <a:rPr lang="en-US" altLang="en-US" sz="2000" dirty="0"/>
              <a:t>select s1.gpa </a:t>
            </a:r>
          </a:p>
          <a:p>
            <a:pPr marL="1943100" lvl="1" indent="0">
              <a:buNone/>
              <a:defRPr/>
            </a:pPr>
            <a:r>
              <a:rPr lang="en-US" altLang="en-US" sz="2000" dirty="0"/>
              <a:t>from student s1 where s1.progId=‘IT’)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91560" y="2301415"/>
          <a:ext cx="3567112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608227" y="5035102"/>
          <a:ext cx="871538" cy="838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71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8" marR="91428" marT="0" marB="0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8" marR="91428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769" name="TextBox 5"/>
          <p:cNvSpPr txBox="1">
            <a:spLocks noChangeArrowheads="1"/>
          </p:cNvSpPr>
          <p:nvPr/>
        </p:nvSpPr>
        <p:spPr bwMode="auto">
          <a:xfrm>
            <a:off x="5686805" y="2159379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83774" y="5225602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843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ALL operator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820493" y="2128066"/>
            <a:ext cx="4800600" cy="4114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altLang="en-US" sz="2800" dirty="0"/>
              <a:t>Ex : Find IT students who has </a:t>
            </a:r>
            <a:r>
              <a:rPr lang="en-US" altLang="en-US" sz="2800" dirty="0" err="1"/>
              <a:t>gpa</a:t>
            </a:r>
            <a:r>
              <a:rPr lang="en-US" altLang="en-US" sz="2800" dirty="0"/>
              <a:t> greater than all the BM students.</a:t>
            </a:r>
          </a:p>
          <a:p>
            <a:pPr eaLnBrk="1" hangingPunct="1">
              <a:defRPr/>
            </a:pPr>
            <a:endParaRPr lang="en-US" altLang="en-US" sz="1600" dirty="0"/>
          </a:p>
          <a:p>
            <a:pPr marL="400050" lvl="1" indent="0">
              <a:buNone/>
              <a:defRPr/>
            </a:pPr>
            <a:r>
              <a:rPr lang="en-US" altLang="en-US" sz="2000" dirty="0"/>
              <a:t>Select </a:t>
            </a:r>
            <a:r>
              <a:rPr lang="en-US" altLang="en-US" sz="2000" dirty="0" err="1"/>
              <a:t>s.Name</a:t>
            </a:r>
            <a:endParaRPr lang="en-US" altLang="en-US" sz="2000" dirty="0"/>
          </a:p>
          <a:p>
            <a:pPr marL="400050" lvl="1" indent="0">
              <a:buNone/>
              <a:defRPr/>
            </a:pPr>
            <a:r>
              <a:rPr lang="en-US" altLang="en-US" sz="2000" dirty="0"/>
              <a:t>From student s</a:t>
            </a:r>
          </a:p>
          <a:p>
            <a:pPr marL="400050" lvl="1" indent="0">
              <a:buNone/>
              <a:defRPr/>
            </a:pPr>
            <a:r>
              <a:rPr lang="en-US" altLang="en-US" sz="2000" dirty="0"/>
              <a:t>Where </a:t>
            </a:r>
            <a:r>
              <a:rPr lang="en-US" altLang="en-US" sz="2000" dirty="0" err="1"/>
              <a:t>s.progID</a:t>
            </a:r>
            <a:r>
              <a:rPr lang="en-US" altLang="en-US" sz="2000" dirty="0"/>
              <a:t>=‘IT</a:t>
            </a:r>
            <a:r>
              <a:rPr lang="en-US" altLang="en-US" sz="2400" dirty="0"/>
              <a:t>’ and </a:t>
            </a:r>
          </a:p>
          <a:p>
            <a:pPr marL="1085850" lvl="1" indent="0">
              <a:buNone/>
              <a:defRPr/>
            </a:pPr>
            <a:r>
              <a:rPr lang="en-US" altLang="en-US" sz="2000" dirty="0" err="1"/>
              <a:t>s.gpa</a:t>
            </a:r>
            <a:r>
              <a:rPr lang="en-US" altLang="en-US" sz="2000" dirty="0"/>
              <a:t> &gt; ALL (</a:t>
            </a:r>
          </a:p>
          <a:p>
            <a:pPr marL="1943100" lvl="1" indent="0">
              <a:buNone/>
              <a:defRPr/>
            </a:pPr>
            <a:r>
              <a:rPr lang="en-US" altLang="en-US" sz="2000" dirty="0"/>
              <a:t>select s1.gpa </a:t>
            </a:r>
          </a:p>
          <a:p>
            <a:pPr marL="1943100" lvl="1" indent="0">
              <a:buNone/>
              <a:defRPr/>
            </a:pPr>
            <a:r>
              <a:rPr lang="en-US" altLang="en-US" sz="2000" dirty="0"/>
              <a:t>from student s1 where s1.progId=‘BM’)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37159" y="2178056"/>
          <a:ext cx="3567112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570908" y="5022224"/>
          <a:ext cx="871538" cy="838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71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8" marR="91428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8" marR="91428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793" name="TextBox 5"/>
          <p:cNvSpPr txBox="1">
            <a:spLocks noChangeArrowheads="1"/>
          </p:cNvSpPr>
          <p:nvPr/>
        </p:nvSpPr>
        <p:spPr bwMode="auto">
          <a:xfrm>
            <a:off x="5154769" y="2151535"/>
            <a:ext cx="1100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73906" y="5212724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Aggregation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cs typeface="Times New Roman" panose="02020603050405020304" pitchFamily="18" charset="0"/>
              </a:rPr>
              <a:t>An aggregate function summarizes the results of an expression over a number of rows, returning a single value.</a:t>
            </a:r>
            <a:endParaRPr lang="en-US" altLang="en-US" sz="2800"/>
          </a:p>
          <a:p>
            <a:r>
              <a:rPr lang="en-US" altLang="en-US" sz="2800"/>
              <a:t>Some of the commonly used aggregate functions are SUM, COUNT, AVG, MIN and MAX</a:t>
            </a:r>
          </a:p>
          <a:p>
            <a:pPr eaLnBrk="1" hangingPunct="1"/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756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Aggregation (Contd.)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429837"/>
            <a:ext cx="572895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 dirty="0"/>
              <a:t>Ex : Find the average, minimum, maximum </a:t>
            </a:r>
            <a:r>
              <a:rPr lang="en-US" altLang="en-US" sz="2600" dirty="0" err="1"/>
              <a:t>gpa</a:t>
            </a:r>
            <a:r>
              <a:rPr lang="en-US" altLang="en-US" sz="2600" dirty="0"/>
              <a:t> of students</a:t>
            </a:r>
          </a:p>
          <a:p>
            <a:pPr marL="0" indent="0">
              <a:buNone/>
              <a:defRPr/>
            </a:pPr>
            <a:endParaRPr lang="en-US" altLang="en-US" sz="2600" dirty="0"/>
          </a:p>
          <a:p>
            <a:pPr indent="0">
              <a:buNone/>
              <a:defRPr/>
            </a:pPr>
            <a:endParaRPr lang="en-US" altLang="en-US" sz="2600" dirty="0"/>
          </a:p>
          <a:p>
            <a:pPr indent="0">
              <a:buNone/>
              <a:defRPr/>
            </a:pPr>
            <a:endParaRPr lang="en-US" altLang="en-US" sz="2400" dirty="0"/>
          </a:p>
          <a:p>
            <a:pPr indent="0">
              <a:buNone/>
              <a:defRPr/>
            </a:pPr>
            <a:r>
              <a:rPr lang="en-US" altLang="en-US" sz="2400" dirty="0"/>
              <a:t>Select  AVG(</a:t>
            </a:r>
            <a:r>
              <a:rPr lang="en-US" altLang="en-US" sz="2400" dirty="0" err="1"/>
              <a:t>gpa</a:t>
            </a:r>
            <a:r>
              <a:rPr lang="en-US" altLang="en-US" sz="2400" dirty="0"/>
              <a:t>), MIN(</a:t>
            </a:r>
            <a:r>
              <a:rPr lang="en-US" altLang="en-US" sz="2400" dirty="0" err="1"/>
              <a:t>gpa</a:t>
            </a:r>
            <a:r>
              <a:rPr lang="en-US" altLang="en-US" sz="2400" dirty="0"/>
              <a:t>), MAX(</a:t>
            </a:r>
            <a:r>
              <a:rPr lang="en-US" altLang="en-US" sz="2400" dirty="0" err="1"/>
              <a:t>gpa</a:t>
            </a:r>
            <a:r>
              <a:rPr lang="en-US" altLang="en-US" sz="2400" dirty="0"/>
              <a:t>)</a:t>
            </a:r>
          </a:p>
          <a:p>
            <a:pPr indent="0">
              <a:buNone/>
              <a:defRPr/>
            </a:pPr>
            <a:r>
              <a:rPr lang="en-US" altLang="en-US" sz="2400" dirty="0"/>
              <a:t>From student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en-US" sz="26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en-US" sz="2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16166" y="5081320"/>
          <a:ext cx="3497262" cy="838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9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AVG(</a:t>
                      </a: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gpa</a:t>
                      </a: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MIN(</a:t>
                      </a: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gpa</a:t>
                      </a: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MAX(</a:t>
                      </a: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gpa</a:t>
                      </a: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3.26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6252" y="2137203"/>
          <a:ext cx="3567112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5636083" y="2167619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58721" y="5277119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7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Grouping (GROUP BY Clause)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778072" y="2269676"/>
            <a:ext cx="11029615" cy="367830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Groups the data in tables and produces a single summary row for each group.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Grouping is done based on a values in a given field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When using group by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Each item in the SELECT list must be single valued per group.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SELECT clause may only contain Columns names, aggregate function, constants or an expression involving combinations of the above.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All column names in SELECT list must appear in the GROUP BY clause unless the name is used only in the aggregate function.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7936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Grouping (Contd.)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813150" y="2273800"/>
            <a:ext cx="4760912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Ex: Count the number of students who has followed each module.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marL="400050" lvl="1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400050" lvl="1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400050" lvl="1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400050" lvl="1" indent="0">
              <a:lnSpc>
                <a:spcPct val="90000"/>
              </a:lnSpc>
              <a:buNone/>
            </a:pPr>
            <a:r>
              <a:rPr lang="en-US" altLang="en-US" sz="2000" dirty="0"/>
              <a:t>Select CID, Count(SID) 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altLang="en-US" sz="2000" dirty="0"/>
              <a:t>From Student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altLang="en-US" sz="2000" dirty="0"/>
              <a:t>Group by CID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19937" y="2214465"/>
          <a:ext cx="2411413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Grade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SPD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095888" y="4584200"/>
          <a:ext cx="2298700" cy="1600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40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Count (SID)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SPD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497983" y="2230563"/>
          <a:ext cx="2411413" cy="2362200"/>
        </p:xfrm>
        <a:graphic>
          <a:graphicData uri="http://schemas.openxmlformats.org/drawingml/2006/table">
            <a:tbl>
              <a:tblPr/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SID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CID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Grade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1002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1002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SPD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5574062" y="2193749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83701" y="5148330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4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HAVING Clause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146503"/>
            <a:ext cx="5132961" cy="4114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Used to apply conditions on the groupings </a:t>
            </a:r>
          </a:p>
          <a:p>
            <a:pPr eaLnBrk="1" hangingPunct="1"/>
            <a:r>
              <a:rPr lang="en-US" altLang="en-US" sz="2400" dirty="0"/>
              <a:t>Ex: Find courses which is followed by more than two students </a:t>
            </a:r>
          </a:p>
          <a:p>
            <a:pPr marL="800100" lvl="2" indent="0">
              <a:lnSpc>
                <a:spcPct val="90000"/>
              </a:lnSpc>
              <a:buNone/>
            </a:pPr>
            <a:endParaRPr lang="en-US" altLang="en-US" sz="1800" dirty="0"/>
          </a:p>
          <a:p>
            <a:pPr marL="800100" lvl="2" indent="0">
              <a:lnSpc>
                <a:spcPct val="90000"/>
              </a:lnSpc>
              <a:buNone/>
            </a:pPr>
            <a:r>
              <a:rPr lang="en-US" altLang="en-US" sz="1800" dirty="0"/>
              <a:t>Select CID, Count(SID) 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altLang="en-US" sz="1800" dirty="0"/>
              <a:t>From course 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altLang="en-US" sz="1800" dirty="0"/>
              <a:t>Group by CID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altLang="en-US" sz="1800" dirty="0"/>
              <a:t>Having count(SID)&gt;2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19937" y="2214465"/>
          <a:ext cx="2411413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Grade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SPD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19238" y="4635715"/>
          <a:ext cx="2298700" cy="838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40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Count (SID)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497983" y="2230563"/>
          <a:ext cx="2411413" cy="2362200"/>
        </p:xfrm>
        <a:graphic>
          <a:graphicData uri="http://schemas.openxmlformats.org/drawingml/2006/table">
            <a:tbl>
              <a:tblPr/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SID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CID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Grade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1002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1002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SPD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5574062" y="2193749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32752" y="4774842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0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SQL: Review (contd.)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Summary of SQL Queries…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SELECT &lt;attribute-list&gt;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FROM	&lt;table-list&gt;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[WHERE	&lt;condition&gt;]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[GROUP BY	&lt;group attribute(s)&gt;]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[HAVING	&lt;group condition&gt;]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[ORDER	BY	&lt;attribute list&gt;];</a:t>
            </a:r>
          </a:p>
        </p:txBody>
      </p:sp>
    </p:spTree>
    <p:extLst>
      <p:ext uri="{BB962C8B-B14F-4D97-AF65-F5344CB8AC3E}">
        <p14:creationId xmlns:p14="http://schemas.microsoft.com/office/powerpoint/2010/main" val="3160218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you have to do by 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Try out the self-test questions on the course web.</a:t>
            </a:r>
          </a:p>
          <a:p>
            <a:r>
              <a:rPr lang="en-US" sz="2400" dirty="0"/>
              <a:t>Complete the </a:t>
            </a:r>
            <a:r>
              <a:rPr lang="en-US" sz="2400"/>
              <a:t>tutorial.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9157869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3006</TotalTime>
  <Words>2334</Words>
  <Application>Microsoft Office PowerPoint</Application>
  <PresentationFormat>Widescreen</PresentationFormat>
  <Paragraphs>798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Gill Sans MT</vt:lpstr>
      <vt:lpstr>Tahoma</vt:lpstr>
      <vt:lpstr>Wingdings</vt:lpstr>
      <vt:lpstr>Wingdings 2</vt:lpstr>
      <vt:lpstr>Dividend</vt:lpstr>
      <vt:lpstr>Database management systems (it2040)</vt:lpstr>
      <vt:lpstr>Lecture content</vt:lpstr>
      <vt:lpstr>Lecture content</vt:lpstr>
      <vt:lpstr>SQL</vt:lpstr>
      <vt:lpstr>Relational Model Vs. SQL </vt:lpstr>
      <vt:lpstr>SQL: Review (contd.)</vt:lpstr>
      <vt:lpstr>Data Definition Language (DDL)</vt:lpstr>
      <vt:lpstr>Creating a Table - Example</vt:lpstr>
      <vt:lpstr>Modifications to Tables</vt:lpstr>
      <vt:lpstr>Data Manipulation Language (DML)</vt:lpstr>
      <vt:lpstr>Data Manipulation Language (DML)(Contd.)</vt:lpstr>
      <vt:lpstr>Select clause</vt:lpstr>
      <vt:lpstr>Clauses and operators used with SELECT </vt:lpstr>
      <vt:lpstr>LIKE operator</vt:lpstr>
      <vt:lpstr>IS [NOT] NULL operator</vt:lpstr>
      <vt:lpstr>DISTINCT operator</vt:lpstr>
      <vt:lpstr>BETWEEN operator</vt:lpstr>
      <vt:lpstr>ORDER BY Clause</vt:lpstr>
      <vt:lpstr>[INNER] Join</vt:lpstr>
      <vt:lpstr>LEFT OUTER JOIN</vt:lpstr>
      <vt:lpstr>RIGHT OUTER JOIN</vt:lpstr>
      <vt:lpstr>IN operator</vt:lpstr>
      <vt:lpstr>EXISTS operator</vt:lpstr>
      <vt:lpstr>Comparison operators with SOME, ANY &amp; ALL</vt:lpstr>
      <vt:lpstr>ANY and SOME operators</vt:lpstr>
      <vt:lpstr>ALL operator</vt:lpstr>
      <vt:lpstr>Aggregation</vt:lpstr>
      <vt:lpstr>Aggregation (Contd.)</vt:lpstr>
      <vt:lpstr>Grouping (GROUP BY Clause)</vt:lpstr>
      <vt:lpstr>Grouping (Contd.)</vt:lpstr>
      <vt:lpstr>HAVING Clause</vt:lpstr>
      <vt:lpstr>SQL: Review (contd.)</vt:lpstr>
      <vt:lpstr>What you have to do by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(it 2040)</dc:title>
  <dc:creator>Anuradha Karunnasena</dc:creator>
  <cp:lastModifiedBy>Anuradha Karunasena</cp:lastModifiedBy>
  <cp:revision>166</cp:revision>
  <dcterms:created xsi:type="dcterms:W3CDTF">2017-12-01T06:14:40Z</dcterms:created>
  <dcterms:modified xsi:type="dcterms:W3CDTF">2022-07-22T16:03:37Z</dcterms:modified>
</cp:coreProperties>
</file>