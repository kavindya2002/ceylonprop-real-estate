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86" r:id="rId5"/>
    <p:sldId id="287" r:id="rId6"/>
    <p:sldId id="288" r:id="rId7"/>
    <p:sldId id="289" r:id="rId8"/>
    <p:sldId id="290" r:id="rId9"/>
    <p:sldId id="291" r:id="rId10"/>
    <p:sldId id="297" r:id="rId11"/>
    <p:sldId id="294" r:id="rId12"/>
    <p:sldId id="293" r:id="rId13"/>
    <p:sldId id="295" r:id="rId14"/>
    <p:sldId id="296" r:id="rId15"/>
    <p:sldId id="317" r:id="rId16"/>
    <p:sldId id="301" r:id="rId17"/>
    <p:sldId id="299" r:id="rId18"/>
    <p:sldId id="302" r:id="rId19"/>
    <p:sldId id="303" r:id="rId20"/>
    <p:sldId id="304" r:id="rId21"/>
    <p:sldId id="305" r:id="rId22"/>
    <p:sldId id="307" r:id="rId23"/>
    <p:sldId id="306" r:id="rId24"/>
    <p:sldId id="309" r:id="rId25"/>
    <p:sldId id="308" r:id="rId26"/>
    <p:sldId id="310" r:id="rId27"/>
    <p:sldId id="311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management systems (it 2040)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Lecture 03- </a:t>
            </a:r>
            <a:r>
              <a:rPr lang="en-US" sz="2400"/>
              <a:t>Schema refinement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423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schema refinement?</a:t>
            </a:r>
          </a:p>
          <a:p>
            <a:r>
              <a:rPr lang="en-US" sz="3200" dirty="0"/>
              <a:t>Properties of good decomposition</a:t>
            </a:r>
          </a:p>
          <a:p>
            <a:r>
              <a:rPr lang="en-US" sz="3200" dirty="0"/>
              <a:t>Functional dependencies</a:t>
            </a:r>
          </a:p>
          <a:p>
            <a:r>
              <a:rPr lang="en-US" sz="3200" dirty="0"/>
              <a:t>Computing keys of relations</a:t>
            </a:r>
          </a:p>
          <a:p>
            <a:r>
              <a:rPr lang="en-US" sz="3200" dirty="0"/>
              <a:t>Normalization and normal forms</a:t>
            </a:r>
          </a:p>
        </p:txBody>
      </p:sp>
    </p:spTree>
    <p:extLst>
      <p:ext uri="{BB962C8B-B14F-4D97-AF65-F5344CB8AC3E}">
        <p14:creationId xmlns:p14="http://schemas.microsoft.com/office/powerpoint/2010/main" val="3798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29133"/>
            <a:ext cx="11029615" cy="3115599"/>
          </a:xfrm>
        </p:spPr>
        <p:txBody>
          <a:bodyPr>
            <a:normAutofit/>
          </a:bodyPr>
          <a:lstStyle/>
          <a:p>
            <a:r>
              <a:rPr lang="en-US" sz="2800" dirty="0"/>
              <a:t>Explain the pitfalls of incorrect grouping of attributes in relations.</a:t>
            </a:r>
          </a:p>
          <a:p>
            <a:r>
              <a:rPr lang="en-US" sz="2800" dirty="0"/>
              <a:t>Explain the properties of a good decomposition.</a:t>
            </a:r>
          </a:p>
          <a:p>
            <a:r>
              <a:rPr lang="en-US" sz="2800" dirty="0"/>
              <a:t>Compute keys from a given set of FDs in a relation</a:t>
            </a:r>
          </a:p>
          <a:p>
            <a:r>
              <a:rPr lang="en-US" sz="2800" dirty="0"/>
              <a:t>Normalize a given schema to BCNF.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8927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schema refinement?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3162" y="1732974"/>
            <a:ext cx="11029615" cy="2968508"/>
          </a:xfrm>
        </p:spPr>
        <p:txBody>
          <a:bodyPr>
            <a:normAutofit/>
          </a:bodyPr>
          <a:lstStyle/>
          <a:p>
            <a:r>
              <a:rPr lang="en-US" sz="2400" dirty="0"/>
              <a:t>The relations resulted through the logical database design may not be very good if your conceptual database design is not good.</a:t>
            </a:r>
          </a:p>
          <a:p>
            <a:r>
              <a:rPr lang="en-US" sz="2400" dirty="0"/>
              <a:t>For example, what is wrong with the following schema resulted through mapping of an ER diagram</a:t>
            </a: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48" name="Group 47"/>
          <p:cNvGrpSpPr/>
          <p:nvPr/>
        </p:nvGrpSpPr>
        <p:grpSpPr>
          <a:xfrm>
            <a:off x="362249" y="3972682"/>
            <a:ext cx="5124149" cy="2233658"/>
            <a:chOff x="581192" y="4397686"/>
            <a:chExt cx="5124149" cy="2233658"/>
          </a:xfrm>
        </p:grpSpPr>
        <p:sp>
          <p:nvSpPr>
            <p:cNvPr id="4" name="Rectangle 3"/>
            <p:cNvSpPr/>
            <p:nvPr/>
          </p:nvSpPr>
          <p:spPr>
            <a:xfrm>
              <a:off x="2137893" y="5344733"/>
              <a:ext cx="1506828" cy="4121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Employee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81192" y="5433796"/>
              <a:ext cx="835484" cy="42500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u="sng" dirty="0" err="1"/>
                <a:t>eid</a:t>
              </a:r>
              <a:endParaRPr lang="en-US" u="sng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1122105" y="4635945"/>
              <a:ext cx="1170335" cy="4765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ename</a:t>
              </a:r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513023" y="4397686"/>
              <a:ext cx="1170335" cy="4765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salary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3903941" y="4716214"/>
              <a:ext cx="1801400" cy="4765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designation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219473" y="5476068"/>
              <a:ext cx="1170335" cy="4765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did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644721" y="6142135"/>
              <a:ext cx="1170335" cy="4765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dname</a:t>
              </a:r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1552725" y="6154826"/>
              <a:ext cx="1641236" cy="4765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dlocation</a:t>
              </a:r>
              <a:endParaRPr lang="en-US" dirty="0"/>
            </a:p>
          </p:txBody>
        </p:sp>
        <p:cxnSp>
          <p:nvCxnSpPr>
            <p:cNvPr id="13" name="Straight Connector 12"/>
            <p:cNvCxnSpPr>
              <a:stCxn id="6" idx="4"/>
            </p:cNvCxnSpPr>
            <p:nvPr/>
          </p:nvCxnSpPr>
          <p:spPr>
            <a:xfrm>
              <a:off x="1707273" y="5112463"/>
              <a:ext cx="430620" cy="3213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7" idx="4"/>
            </p:cNvCxnSpPr>
            <p:nvPr/>
          </p:nvCxnSpPr>
          <p:spPr>
            <a:xfrm flipH="1">
              <a:off x="3028177" y="4874204"/>
              <a:ext cx="70014" cy="4705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8" idx="3"/>
            </p:cNvCxnSpPr>
            <p:nvPr/>
          </p:nvCxnSpPr>
          <p:spPr>
            <a:xfrm flipH="1">
              <a:off x="3644721" y="5122948"/>
              <a:ext cx="523029" cy="2217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endCxn id="4" idx="3"/>
            </p:cNvCxnSpPr>
            <p:nvPr/>
          </p:nvCxnSpPr>
          <p:spPr>
            <a:xfrm flipH="1" flipV="1">
              <a:off x="3644721" y="5550795"/>
              <a:ext cx="574752" cy="2060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5" idx="6"/>
              <a:endCxn id="4" idx="1"/>
            </p:cNvCxnSpPr>
            <p:nvPr/>
          </p:nvCxnSpPr>
          <p:spPr>
            <a:xfrm flipV="1">
              <a:off x="1416676" y="5550795"/>
              <a:ext cx="721217" cy="955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1" idx="0"/>
            </p:cNvCxnSpPr>
            <p:nvPr/>
          </p:nvCxnSpPr>
          <p:spPr>
            <a:xfrm flipV="1">
              <a:off x="2373343" y="5756857"/>
              <a:ext cx="344099" cy="3979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0" idx="1"/>
            </p:cNvCxnSpPr>
            <p:nvPr/>
          </p:nvCxnSpPr>
          <p:spPr>
            <a:xfrm flipH="1" flipV="1">
              <a:off x="3309870" y="5756857"/>
              <a:ext cx="506243" cy="4550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6114601" y="4857687"/>
          <a:ext cx="586954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5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61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eid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ename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designation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dname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6095999" y="4404126"/>
            <a:ext cx="176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Employee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348027" y="4865258"/>
            <a:ext cx="443171" cy="4757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4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schema refinement?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273784"/>
            <a:ext cx="11029615" cy="1515740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Schemas such as in the previous slide lead to several anomalies while inserting, updating and deleting and wasting of space due to redundancies of data.</a:t>
            </a:r>
          </a:p>
          <a:p>
            <a:r>
              <a:rPr lang="en-US" sz="2400" dirty="0"/>
              <a:t>Can you spot where data are duplicated and issues may cause during insert/update &amp; delete?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950939"/>
              </p:ext>
            </p:extLst>
          </p:nvPr>
        </p:nvGraphicFramePr>
        <p:xfrm>
          <a:off x="2119312" y="3429000"/>
          <a:ext cx="7953375" cy="311921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785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74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sng" strike="noStrike" dirty="0" err="1">
                          <a:effectLst/>
                        </a:rPr>
                        <a:t>eid</a:t>
                      </a:r>
                      <a:endParaRPr lang="en-US" sz="1600" b="1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Ename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Designation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Salary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dname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location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Ajith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Lecturer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60000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Academic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malabe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1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Sunil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Executive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45000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Maintenance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Kandy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Kamal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Lecturer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75000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Academic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malabe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Piyumi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Manager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50000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Admin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metro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Roshan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Lecturer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35000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Academic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malabe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Nuwan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Lecturer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80000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Academic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malabe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Jayamini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Assistant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25000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Admin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metro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Nishani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Lecturer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42000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Academic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malabe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Amal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Assistant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28000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ITSD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Matara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58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schema refinement?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0496"/>
            <a:ext cx="11029615" cy="4677504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en-US" sz="2800" dirty="0"/>
              <a:t>Insertion Anomaly</a:t>
            </a:r>
          </a:p>
          <a:p>
            <a:pPr lvl="1">
              <a:defRPr/>
            </a:pPr>
            <a:r>
              <a:rPr lang="en-US" altLang="en-US" sz="2400" dirty="0"/>
              <a:t>Inserting a new employee to the </a:t>
            </a:r>
            <a:r>
              <a:rPr lang="en-US" altLang="en-US" sz="2400" dirty="0" err="1"/>
              <a:t>emp</a:t>
            </a:r>
            <a:r>
              <a:rPr lang="en-US" altLang="en-US" sz="2400" dirty="0"/>
              <a:t> table</a:t>
            </a:r>
          </a:p>
          <a:p>
            <a:pPr lvl="2">
              <a:defRPr/>
            </a:pPr>
            <a:r>
              <a:rPr lang="en-US" altLang="en-US" sz="2000" dirty="0"/>
              <a:t>Department information is repeated (ensure that correct department information is inserted).</a:t>
            </a:r>
          </a:p>
          <a:p>
            <a:pPr lvl="1">
              <a:defRPr/>
            </a:pPr>
            <a:r>
              <a:rPr lang="en-US" altLang="en-US" sz="2400" dirty="0"/>
              <a:t>Inserting a department with no employees</a:t>
            </a:r>
          </a:p>
          <a:p>
            <a:pPr lvl="2">
              <a:defRPr/>
            </a:pPr>
            <a:r>
              <a:rPr lang="en-US" altLang="en-US" sz="2000" dirty="0"/>
              <a:t>Impossible since </a:t>
            </a:r>
            <a:r>
              <a:rPr lang="en-US" altLang="en-US" sz="2000" dirty="0" err="1"/>
              <a:t>eid</a:t>
            </a:r>
            <a:r>
              <a:rPr lang="en-US" altLang="en-US" sz="2000" dirty="0"/>
              <a:t> cannot be null</a:t>
            </a:r>
          </a:p>
          <a:p>
            <a:pPr>
              <a:defRPr/>
            </a:pPr>
            <a:r>
              <a:rPr lang="en-US" altLang="en-US" sz="2800" dirty="0"/>
              <a:t>Deletion Anomaly</a:t>
            </a:r>
          </a:p>
          <a:p>
            <a:pPr lvl="1">
              <a:defRPr/>
            </a:pPr>
            <a:r>
              <a:rPr lang="en-US" altLang="en-US" sz="2400" dirty="0"/>
              <a:t>Deleting the last employee from the department will lead to loosing information about the department</a:t>
            </a:r>
          </a:p>
          <a:p>
            <a:pPr>
              <a:defRPr/>
            </a:pPr>
            <a:r>
              <a:rPr lang="en-US" altLang="en-US" sz="2800" dirty="0"/>
              <a:t>Update Anomaly</a:t>
            </a:r>
          </a:p>
          <a:p>
            <a:pPr lvl="1">
              <a:defRPr/>
            </a:pPr>
            <a:r>
              <a:rPr lang="en-US" altLang="en-US" sz="2500" dirty="0"/>
              <a:t>Updating the department’s location needs to be done for all employees working for that department</a:t>
            </a:r>
          </a:p>
          <a:p>
            <a:pPr lvl="1">
              <a:defRPr/>
            </a:pPr>
            <a:endParaRPr lang="en-US" alt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1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schema refinement? (</a:t>
            </a:r>
            <a:r>
              <a:rPr lang="en-US" sz="3600" dirty="0" err="1"/>
              <a:t>CONTd.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435" y="2985912"/>
            <a:ext cx="11029615" cy="1296800"/>
          </a:xfrm>
        </p:spPr>
        <p:txBody>
          <a:bodyPr>
            <a:noAutofit/>
          </a:bodyPr>
          <a:lstStyle/>
          <a:p>
            <a:r>
              <a:rPr lang="en-US" altLang="en-US" sz="2200" dirty="0"/>
              <a:t>To solve the issues discussed previously, we should decompose the relations to smaller relations.</a:t>
            </a:r>
          </a:p>
          <a:p>
            <a:r>
              <a:rPr lang="en-US" altLang="en-US" sz="2200" dirty="0"/>
              <a:t>For example, we can decompose the </a:t>
            </a:r>
            <a:r>
              <a:rPr lang="en-US" altLang="en-US" sz="2200" dirty="0" err="1"/>
              <a:t>emp</a:t>
            </a:r>
            <a:r>
              <a:rPr lang="en-US" altLang="en-US" sz="2200" dirty="0"/>
              <a:t> relation discussed previously into two relations as below to overcome the issues of redundancies and anomalies.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54224" y="3440682"/>
          <a:ext cx="4041775" cy="3062802"/>
        </p:xfrm>
        <a:graphic>
          <a:graphicData uri="http://schemas.openxmlformats.org/drawingml/2006/table">
            <a:tbl>
              <a:tblPr>
                <a:tableStyleId>{74C1A8A3-306A-4EB7-A6B1-4F7E0EB9C5D6}</a:tableStyleId>
              </a:tblPr>
              <a:tblGrid>
                <a:gridCol w="509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sng" strike="noStrike" dirty="0" err="1">
                          <a:effectLst/>
                        </a:rPr>
                        <a:t>eid</a:t>
                      </a:r>
                      <a:endParaRPr lang="en-US" sz="1600" b="1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err="1">
                          <a:effectLst/>
                        </a:rPr>
                        <a:t>Ename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Designation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Salary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did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Ajith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Lecturer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60000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1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Sunil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Executive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45000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Kamal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Lecturer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75000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Piyumi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Manager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50000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Roshan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Lecturer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35000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Nuwan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Lecturer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80000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Jayamini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Assistant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25000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Nishani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Lecturer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42000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7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1008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Amal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Assistant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28000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6" marR="9526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22078" y="3872088"/>
          <a:ext cx="3140074" cy="1592262"/>
        </p:xfrm>
        <a:graphic>
          <a:graphicData uri="http://schemas.openxmlformats.org/drawingml/2006/table">
            <a:tbl>
              <a:tblPr>
                <a:tableStyleId>{74C1A8A3-306A-4EB7-A6B1-4F7E0EB9C5D6}</a:tableStyleId>
              </a:tblPr>
              <a:tblGrid>
                <a:gridCol w="727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did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err="1">
                          <a:effectLst/>
                        </a:rPr>
                        <a:t>dname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location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Academic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malabe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Admin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metro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Maintenance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Kandy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ITSD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Matara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4" marR="9524" marT="952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tx2">
                            <a:lumMod val="40000"/>
                            <a:lumOff val="60000"/>
                            <a:tint val="66000"/>
                            <a:satMod val="160000"/>
                          </a:schemeClr>
                        </a:gs>
                        <a:gs pos="50000">
                          <a:schemeClr val="tx2">
                            <a:lumMod val="40000"/>
                            <a:lumOff val="60000"/>
                            <a:tint val="44500"/>
                            <a:satMod val="160000"/>
                          </a:schemeClr>
                        </a:gs>
                        <a:gs pos="100000">
                          <a:schemeClr val="tx2">
                            <a:lumMod val="40000"/>
                            <a:lumOff val="6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3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schema refinement? (</a:t>
            </a:r>
            <a:r>
              <a:rPr lang="en-US" sz="3600" dirty="0" err="1"/>
              <a:t>CONTd.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8513"/>
            <a:ext cx="11029615" cy="3450448"/>
          </a:xfrm>
        </p:spPr>
        <p:txBody>
          <a:bodyPr>
            <a:normAutofit/>
          </a:bodyPr>
          <a:lstStyle/>
          <a:p>
            <a:r>
              <a:rPr lang="en-US" sz="2400" dirty="0"/>
              <a:t>Random decompositions however, may introduce new problems.</a:t>
            </a:r>
          </a:p>
          <a:p>
            <a:r>
              <a:rPr lang="en-US" sz="2400" dirty="0"/>
              <a:t>Two properties that could be looked up to ensure that the relations resulted from decomposition are good are as follows:</a:t>
            </a:r>
          </a:p>
          <a:p>
            <a:pPr lvl="1"/>
            <a:r>
              <a:rPr lang="en-US" sz="2200" dirty="0"/>
              <a:t>Loss-less join property</a:t>
            </a:r>
          </a:p>
          <a:p>
            <a:pPr lvl="1"/>
            <a:r>
              <a:rPr lang="en-US" sz="2200" dirty="0"/>
              <a:t>Dependency preserving property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4507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schema refinement? (</a:t>
            </a:r>
            <a:r>
              <a:rPr lang="en-US" sz="3600" dirty="0" err="1"/>
              <a:t>CONTd.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118" y="2426672"/>
            <a:ext cx="11002108" cy="5054799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Loss-less join property </a:t>
            </a:r>
            <a:r>
              <a:rPr lang="en-US" sz="2800" dirty="0"/>
              <a:t>: the property enables recovery of original relation from a set of smaller relations resulted through decomposition.</a:t>
            </a:r>
          </a:p>
          <a:p>
            <a:pPr lvl="2"/>
            <a:r>
              <a:rPr lang="en-US" sz="2000" dirty="0"/>
              <a:t>For example, suppose S is decomposed in to R</a:t>
            </a:r>
            <a:r>
              <a:rPr lang="en-US" sz="1600" dirty="0"/>
              <a:t>1</a:t>
            </a:r>
            <a:r>
              <a:rPr lang="en-US" sz="2000" dirty="0"/>
              <a:t>and R</a:t>
            </a:r>
            <a:r>
              <a:rPr lang="en-US" sz="1600" dirty="0"/>
              <a:t>2</a:t>
            </a:r>
            <a:r>
              <a:rPr lang="en-US" sz="2000" dirty="0"/>
              <a:t>. When we join R1 and R2 do we get S? if so, we say the decomposition is loss-less.</a:t>
            </a:r>
          </a:p>
          <a:p>
            <a:pPr lvl="2"/>
            <a:endParaRPr lang="en-US" sz="3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solidFill>
                  <a:srgbClr val="00B0F0"/>
                </a:solidFill>
              </a:rPr>
              <a:t>Dependency preserving property </a:t>
            </a:r>
            <a:r>
              <a:rPr lang="en-US" sz="2400" dirty="0"/>
              <a:t>:  enables to enforce any constraint on the original relation simply enforcing some constraints on each of the smaller relation.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741824"/>
              </p:ext>
            </p:extLst>
          </p:nvPr>
        </p:nvGraphicFramePr>
        <p:xfrm>
          <a:off x="1560729" y="3611547"/>
          <a:ext cx="2743200" cy="207327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S3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472846"/>
              </p:ext>
            </p:extLst>
          </p:nvPr>
        </p:nvGraphicFramePr>
        <p:xfrm>
          <a:off x="5798586" y="3648796"/>
          <a:ext cx="2057400" cy="2073276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S3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990488"/>
              </p:ext>
            </p:extLst>
          </p:nvPr>
        </p:nvGraphicFramePr>
        <p:xfrm>
          <a:off x="9127980" y="3611547"/>
          <a:ext cx="2057400" cy="2073276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Box 60"/>
          <p:cNvSpPr txBox="1">
            <a:spLocks noChangeArrowheads="1"/>
          </p:cNvSpPr>
          <p:nvPr/>
        </p:nvSpPr>
        <p:spPr bwMode="auto">
          <a:xfrm>
            <a:off x="1093634" y="412999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8" name="Text Box 61"/>
          <p:cNvSpPr txBox="1">
            <a:spLocks noChangeArrowheads="1"/>
          </p:cNvSpPr>
          <p:nvPr/>
        </p:nvSpPr>
        <p:spPr bwMode="auto">
          <a:xfrm>
            <a:off x="5309636" y="419098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R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" name="Text Box 62"/>
          <p:cNvSpPr txBox="1">
            <a:spLocks noChangeArrowheads="1"/>
          </p:cNvSpPr>
          <p:nvPr/>
        </p:nvSpPr>
        <p:spPr bwMode="auto">
          <a:xfrm>
            <a:off x="8436988" y="422767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R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2819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Schema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Schema refinement can be considered a systematic process for analyzing a relational schema with the aim of  minimizing redundancies and minimizing insertion, deletion and update anomalies.</a:t>
            </a:r>
          </a:p>
          <a:p>
            <a:r>
              <a:rPr lang="en-US" sz="2400" dirty="0"/>
              <a:t>The process  performs a series of tests called </a:t>
            </a:r>
            <a:r>
              <a:rPr lang="en-US" sz="2400" dirty="0">
                <a:solidFill>
                  <a:srgbClr val="00B0F0"/>
                </a:solidFill>
              </a:rPr>
              <a:t>normal form tests </a:t>
            </a:r>
            <a:r>
              <a:rPr lang="en-US" sz="2400" dirty="0"/>
              <a:t>to check whether the schemas meet certain conditions, and those relations that are unsatisfactory are decomposed in to smaller relation.</a:t>
            </a:r>
          </a:p>
          <a:p>
            <a:r>
              <a:rPr lang="en-US" altLang="en-US" sz="2400" dirty="0"/>
              <a:t>Normalization is based on functional dependencies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812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Functional dependency in general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183" y="2477541"/>
            <a:ext cx="11029615" cy="3678303"/>
          </a:xfrm>
        </p:spPr>
        <p:txBody>
          <a:bodyPr>
            <a:noAutofit/>
          </a:bodyPr>
          <a:lstStyle/>
          <a:p>
            <a:r>
              <a:rPr lang="en-US" sz="2800" dirty="0"/>
              <a:t>Functional dependency is a relationship that exists when one attribute uniquely determine another attribute.</a:t>
            </a:r>
          </a:p>
          <a:p>
            <a:r>
              <a:rPr lang="en-US" sz="2800" dirty="0"/>
              <a:t>For example: Suppose we have a student table with attributes: id name, age. </a:t>
            </a:r>
          </a:p>
          <a:p>
            <a:pPr lvl="1"/>
            <a:r>
              <a:rPr lang="en-US" sz="2400" dirty="0"/>
              <a:t>Here id attribute uniquely identifies the name attribute of student table because if we know the student id we can tell the student name associated with it. </a:t>
            </a:r>
          </a:p>
          <a:p>
            <a:pPr lvl="1"/>
            <a:r>
              <a:rPr lang="en-US" sz="2400" dirty="0"/>
              <a:t>This is known as functional dependency and can be written as id-&gt;name or in words we can say name is functionally dependent on id.</a:t>
            </a:r>
          </a:p>
          <a:p>
            <a:pPr marL="306000" lvl="1"/>
            <a:r>
              <a:rPr lang="en-US" altLang="en-US" sz="2800" dirty="0"/>
              <a:t>Redundancies in relations are based on functional dependencies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01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Functional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en-US" sz="2800" dirty="0"/>
              <a:t>Mathematical definition of functional dependency (FD) :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A functional dependency, denoted by X</a:t>
            </a:r>
            <a:r>
              <a:rPr lang="en-US" altLang="en-US" sz="2400" dirty="0">
                <a:sym typeface="Wingdings" panose="05000000000000000000" pitchFamily="2" charset="2"/>
              </a:rPr>
              <a:t> Y, where X and Y are sets of attributes in relation R, specifies  the following constraint: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en-US" sz="2000" dirty="0"/>
              <a:t>Let 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and 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be tuples of relation R for any given instance</a:t>
            </a:r>
          </a:p>
          <a:p>
            <a:pPr marL="914400" lvl="2" indent="0">
              <a:lnSpc>
                <a:spcPct val="90000"/>
              </a:lnSpc>
              <a:buNone/>
              <a:defRPr/>
            </a:pPr>
            <a:r>
              <a:rPr lang="en-US" altLang="en-US" sz="2000" dirty="0"/>
              <a:t>  Whenever 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[X] = 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[X] then 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[Y] = 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[Y] </a:t>
            </a:r>
          </a:p>
          <a:p>
            <a:pPr marL="914400" lvl="2" indent="0">
              <a:lnSpc>
                <a:spcPct val="90000"/>
              </a:lnSpc>
              <a:buNone/>
              <a:defRPr/>
            </a:pPr>
            <a:r>
              <a:rPr lang="en-US" altLang="en-US" sz="2000" dirty="0"/>
              <a:t>  where 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[X] represents the values for X in tuple 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endParaRPr lang="en-US" altLang="en-US" sz="2000" baseline="-250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86574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974117"/>
            <a:ext cx="11029615" cy="1660831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Consider a person entity. With respect to attributes you know a person holds write three functional dependencies that can exist in a person table.</a:t>
            </a:r>
          </a:p>
          <a:p>
            <a:r>
              <a:rPr lang="en-US" sz="2400" dirty="0"/>
              <a:t>Exchange what you have written with your peers.</a:t>
            </a:r>
          </a:p>
          <a:p>
            <a:r>
              <a:rPr lang="en-US" sz="2400" dirty="0"/>
              <a:t>What have they written?</a:t>
            </a:r>
          </a:p>
          <a:p>
            <a:endParaRPr lang="en-US" sz="2400" dirty="0"/>
          </a:p>
          <a:p>
            <a:pPr lvl="8"/>
            <a:endParaRPr lang="en-US" sz="6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1738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Keys and FDs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477541"/>
            <a:ext cx="11029615" cy="3678303"/>
          </a:xfrm>
        </p:spPr>
        <p:txBody>
          <a:bodyPr>
            <a:normAutofit/>
          </a:bodyPr>
          <a:lstStyle/>
          <a:p>
            <a:r>
              <a:rPr lang="en-US" sz="2400" dirty="0"/>
              <a:t>A key constraint is a special case of a FD where the attributes in the key play the role of X and the set of all attributes play the role of  Y.</a:t>
            </a:r>
          </a:p>
          <a:p>
            <a:r>
              <a:rPr lang="en-US" sz="2400" dirty="0"/>
              <a:t>Normalization process analyzes schemas based on keys and on the functional dependencies among their attributes.</a:t>
            </a:r>
          </a:p>
          <a:p>
            <a:r>
              <a:rPr lang="en-US" sz="2400" dirty="0"/>
              <a:t>Thus, to start normalization it is essential to find keys of a given relation.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Attribute closure of an attribute set X, denoted by X+ can be defined as set of all attributes which can be functionally determined from it.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If X+ = all attributes, then X is a key.</a:t>
            </a:r>
          </a:p>
          <a:p>
            <a:endParaRPr lang="en-US" sz="2400" dirty="0"/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25795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E42FCF-E644-4B9D-AB70-BA9EC7FC5B35}"/>
              </a:ext>
            </a:extLst>
          </p:cNvPr>
          <p:cNvSpPr txBox="1"/>
          <p:nvPr/>
        </p:nvSpPr>
        <p:spPr>
          <a:xfrm>
            <a:off x="516836" y="2093961"/>
            <a:ext cx="10628242" cy="372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400" dirty="0">
                <a:solidFill>
                  <a:schemeClr val="tx2"/>
                </a:solidFill>
              </a:rPr>
              <a:t>Attribute closure could be computed using Armstrong Axioms.</a:t>
            </a:r>
          </a:p>
          <a:p>
            <a:pPr marL="306000" lvl="1" indent="-3060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US" sz="2400" dirty="0">
                <a:solidFill>
                  <a:schemeClr val="tx2"/>
                </a:solidFill>
              </a:rPr>
              <a:t>X, Y, Z are sets of attributes:</a:t>
            </a:r>
          </a:p>
          <a:p>
            <a:pPr lvl="1">
              <a:lnSpc>
                <a:spcPct val="90000"/>
              </a:lnSpc>
            </a:pPr>
            <a:endParaRPr lang="en-US" altLang="en-US" sz="2600" dirty="0"/>
          </a:p>
          <a:p>
            <a:pPr lvl="2">
              <a:lnSpc>
                <a:spcPct val="90000"/>
              </a:lnSpc>
            </a:pPr>
            <a:r>
              <a:rPr lang="en-US" altLang="en-US" sz="2200" i="1" u="sng" dirty="0">
                <a:solidFill>
                  <a:schemeClr val="folHlink"/>
                </a:solidFill>
              </a:rPr>
              <a:t>Reflexivity</a:t>
            </a:r>
            <a:r>
              <a:rPr lang="en-US" altLang="en-US" sz="2200" dirty="0"/>
              <a:t>:</a:t>
            </a:r>
            <a:r>
              <a:rPr lang="en-US" altLang="en-US" sz="2200" dirty="0">
                <a:solidFill>
                  <a:schemeClr val="accent1"/>
                </a:solidFill>
              </a:rPr>
              <a:t>  </a:t>
            </a:r>
            <a:r>
              <a:rPr lang="en-US" altLang="en-US" sz="2200" dirty="0"/>
              <a:t>If  X </a:t>
            </a:r>
            <a:r>
              <a:rPr lang="en-US" altLang="en-US" sz="2200" dirty="0">
                <a:sym typeface="Symbol" panose="05050102010706020507" pitchFamily="18" charset="2"/>
              </a:rPr>
              <a:t> </a:t>
            </a:r>
            <a:r>
              <a:rPr lang="en-US" altLang="en-US" sz="2200" dirty="0"/>
              <a:t>Y,  then   Y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X </a:t>
            </a:r>
          </a:p>
          <a:p>
            <a:pPr lvl="2">
              <a:lnSpc>
                <a:spcPct val="90000"/>
              </a:lnSpc>
            </a:pPr>
            <a:r>
              <a:rPr lang="en-US" altLang="en-US" sz="2200" i="1" u="sng" dirty="0">
                <a:solidFill>
                  <a:schemeClr val="folHlink"/>
                </a:solidFill>
              </a:rPr>
              <a:t>Augmentation</a:t>
            </a:r>
            <a:r>
              <a:rPr lang="en-US" altLang="en-US" sz="2200" dirty="0"/>
              <a:t>:</a:t>
            </a:r>
            <a:r>
              <a:rPr lang="en-US" altLang="en-US" sz="2200" dirty="0">
                <a:solidFill>
                  <a:schemeClr val="accent1"/>
                </a:solidFill>
              </a:rPr>
              <a:t>  </a:t>
            </a:r>
            <a:r>
              <a:rPr lang="en-US" altLang="en-US" sz="2200" dirty="0"/>
              <a:t>If  X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Y,  then   XZ </a:t>
            </a:r>
            <a:r>
              <a:rPr lang="en-US" altLang="en-US" sz="2200" dirty="0">
                <a:sym typeface="Wingdings" panose="05000000000000000000" pitchFamily="2" charset="2"/>
              </a:rPr>
              <a:t> </a:t>
            </a:r>
            <a:r>
              <a:rPr lang="en-US" altLang="en-US" sz="2200" dirty="0"/>
              <a:t>YZ   for any Z</a:t>
            </a:r>
          </a:p>
          <a:p>
            <a:pPr lvl="2">
              <a:lnSpc>
                <a:spcPct val="90000"/>
              </a:lnSpc>
            </a:pPr>
            <a:r>
              <a:rPr lang="en-US" altLang="en-US" sz="2200" i="1" u="sng" dirty="0">
                <a:solidFill>
                  <a:schemeClr val="folHlink"/>
                </a:solidFill>
              </a:rPr>
              <a:t>Transitivity</a:t>
            </a:r>
            <a:r>
              <a:rPr lang="en-US" altLang="en-US" sz="2200" dirty="0"/>
              <a:t>:</a:t>
            </a:r>
            <a:r>
              <a:rPr lang="en-US" altLang="en-US" sz="2200" dirty="0">
                <a:solidFill>
                  <a:schemeClr val="accent1"/>
                </a:solidFill>
              </a:rPr>
              <a:t>  </a:t>
            </a:r>
            <a:r>
              <a:rPr lang="en-US" altLang="en-US" sz="2200" dirty="0"/>
              <a:t>If  X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Y  and  Y </a:t>
            </a:r>
            <a:r>
              <a:rPr lang="en-US" altLang="en-US" sz="2200" dirty="0">
                <a:sym typeface="Wingdings" panose="05000000000000000000" pitchFamily="2" charset="2"/>
              </a:rPr>
              <a:t> </a:t>
            </a:r>
            <a:r>
              <a:rPr lang="en-US" altLang="en-US" sz="2200" dirty="0"/>
              <a:t>Z,  then   X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Z</a:t>
            </a:r>
          </a:p>
          <a:p>
            <a:pPr lvl="2">
              <a:lnSpc>
                <a:spcPct val="90000"/>
              </a:lnSpc>
            </a:pPr>
            <a:endParaRPr lang="en-US" altLang="en-US" sz="2200" dirty="0"/>
          </a:p>
          <a:p>
            <a:pPr marL="306000" lvl="1" indent="-3060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US" sz="2400" dirty="0">
                <a:solidFill>
                  <a:schemeClr val="tx2"/>
                </a:solidFill>
              </a:rPr>
              <a:t>Couple of additional rules (that follow from Armstrong Axioms):</a:t>
            </a:r>
          </a:p>
          <a:p>
            <a:pPr lvl="2">
              <a:lnSpc>
                <a:spcPct val="90000"/>
              </a:lnSpc>
            </a:pPr>
            <a:r>
              <a:rPr lang="en-US" altLang="en-US" sz="2200" i="1" u="sng" dirty="0">
                <a:solidFill>
                  <a:schemeClr val="folHlink"/>
                </a:solidFill>
              </a:rPr>
              <a:t>Union</a:t>
            </a:r>
            <a:r>
              <a:rPr lang="en-US" altLang="en-US" sz="2200" dirty="0"/>
              <a:t>:   If X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Y  and  X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r>
              <a:rPr lang="en-US" altLang="en-US" sz="2200" dirty="0"/>
              <a:t> Z,   then  X </a:t>
            </a:r>
            <a:r>
              <a:rPr lang="en-US" altLang="en-US" sz="2200" dirty="0">
                <a:sym typeface="Wingdings" panose="05000000000000000000" pitchFamily="2" charset="2"/>
              </a:rPr>
              <a:t> </a:t>
            </a:r>
            <a:r>
              <a:rPr lang="en-US" altLang="en-US" sz="2200" dirty="0"/>
              <a:t>YZ</a:t>
            </a:r>
          </a:p>
          <a:p>
            <a:pPr lvl="2">
              <a:lnSpc>
                <a:spcPct val="90000"/>
              </a:lnSpc>
            </a:pPr>
            <a:r>
              <a:rPr lang="en-US" altLang="en-US" sz="2200" i="1" u="sng" dirty="0">
                <a:solidFill>
                  <a:schemeClr val="folHlink"/>
                </a:solidFill>
              </a:rPr>
              <a:t>Decomposition</a:t>
            </a:r>
            <a:r>
              <a:rPr lang="en-US" altLang="en-US" sz="2200" dirty="0"/>
              <a:t>:   If X </a:t>
            </a:r>
            <a:r>
              <a:rPr lang="en-US" altLang="en-US" sz="2200" dirty="0">
                <a:sym typeface="Wingdings" panose="05000000000000000000" pitchFamily="2" charset="2"/>
              </a:rPr>
              <a:t> </a:t>
            </a:r>
            <a:r>
              <a:rPr lang="en-US" altLang="en-US" sz="2200" dirty="0"/>
              <a:t>YZ,   then  X </a:t>
            </a:r>
            <a:r>
              <a:rPr lang="en-US" altLang="en-US" sz="2200" dirty="0">
                <a:sym typeface="Wingdings" panose="05000000000000000000" pitchFamily="2" charset="2"/>
              </a:rPr>
              <a:t> </a:t>
            </a:r>
            <a:r>
              <a:rPr lang="en-US" altLang="en-US" sz="2200" dirty="0"/>
              <a:t>Y  and  X </a:t>
            </a:r>
            <a:r>
              <a:rPr lang="en-US" altLang="en-US" sz="2200" dirty="0">
                <a:sym typeface="Wingdings" panose="05000000000000000000" pitchFamily="2" charset="2"/>
              </a:rPr>
              <a:t> </a:t>
            </a:r>
            <a:r>
              <a:rPr lang="en-US" altLang="en-US" sz="2200" dirty="0"/>
              <a:t>Z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35F5FB-71D7-4471-8A56-C6B7BF1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Computing keys using </a:t>
            </a:r>
            <a:r>
              <a:rPr lang="en-US" sz="3600" dirty="0" err="1"/>
              <a:t>Amstrong</a:t>
            </a:r>
            <a:r>
              <a:rPr lang="en-US" sz="3600" dirty="0"/>
              <a:t> Axioms</a:t>
            </a:r>
          </a:p>
        </p:txBody>
      </p:sp>
    </p:spTree>
    <p:extLst>
      <p:ext uri="{BB962C8B-B14F-4D97-AF65-F5344CB8AC3E}">
        <p14:creationId xmlns:p14="http://schemas.microsoft.com/office/powerpoint/2010/main" val="3951696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Computing keys using </a:t>
            </a:r>
            <a:r>
              <a:rPr lang="en-US" sz="3600" dirty="0" err="1"/>
              <a:t>Amstrong</a:t>
            </a:r>
            <a:r>
              <a:rPr lang="en-US" sz="3600" dirty="0"/>
              <a:t> Axioms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Consider a relation R (A, B, C, D), with the following set of functional dependencies over R:</a:t>
            </a:r>
          </a:p>
          <a:p>
            <a:pPr lvl="1"/>
            <a:r>
              <a:rPr lang="en-US" altLang="en-US" sz="2400" dirty="0"/>
              <a:t>F = { A </a:t>
            </a:r>
            <a:r>
              <a:rPr lang="en-US" altLang="en-US" sz="2400" dirty="0">
                <a:latin typeface="Calibri" panose="020F0502020204030204" pitchFamily="34" charset="0"/>
              </a:rPr>
              <a:t>→</a:t>
            </a:r>
            <a:r>
              <a:rPr lang="en-US" altLang="en-US" sz="2400" dirty="0"/>
              <a:t> B, B</a:t>
            </a:r>
            <a:r>
              <a:rPr lang="en-US" altLang="en-US" sz="2400" dirty="0">
                <a:latin typeface="Calibri" panose="020F0502020204030204" pitchFamily="34" charset="0"/>
              </a:rPr>
              <a:t> → </a:t>
            </a:r>
            <a:r>
              <a:rPr lang="en-US" altLang="en-US" sz="2400" dirty="0"/>
              <a:t>C, B</a:t>
            </a:r>
            <a:r>
              <a:rPr lang="en-US" altLang="en-US" sz="2400" dirty="0">
                <a:latin typeface="Calibri" panose="020F0502020204030204" pitchFamily="34" charset="0"/>
              </a:rPr>
              <a:t> → </a:t>
            </a:r>
            <a:r>
              <a:rPr lang="en-US" altLang="en-US" sz="2400" dirty="0"/>
              <a:t>D}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marL="324000" lvl="1" indent="0">
              <a:buNone/>
            </a:pPr>
            <a:endParaRPr lang="en-US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184855" y="3747751"/>
            <a:ext cx="92727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A</a:t>
            </a:r>
            <a:r>
              <a:rPr lang="en-US" altLang="en-US" sz="2400" dirty="0">
                <a:latin typeface="Calibri" panose="020F0502020204030204" pitchFamily="34" charset="0"/>
              </a:rPr>
              <a:t> → </a:t>
            </a:r>
            <a:r>
              <a:rPr lang="en-US" altLang="en-US" sz="2400" dirty="0"/>
              <a:t>A (reflexivity rule)</a:t>
            </a:r>
          </a:p>
          <a:p>
            <a:r>
              <a:rPr lang="en-US" altLang="en-US" sz="2400" dirty="0"/>
              <a:t>A</a:t>
            </a:r>
            <a:r>
              <a:rPr lang="en-US" altLang="en-US" sz="2400" dirty="0">
                <a:latin typeface="Calibri" panose="020F0502020204030204" pitchFamily="34" charset="0"/>
              </a:rPr>
              <a:t> → </a:t>
            </a:r>
            <a:r>
              <a:rPr lang="en-US" altLang="en-US" sz="2400" dirty="0"/>
              <a:t>B (given)</a:t>
            </a:r>
          </a:p>
          <a:p>
            <a:r>
              <a:rPr lang="en-US" altLang="en-US" sz="2400" dirty="0"/>
              <a:t>A</a:t>
            </a:r>
            <a:r>
              <a:rPr lang="en-US" altLang="en-US" sz="2400" dirty="0">
                <a:latin typeface="Calibri" panose="020F0502020204030204" pitchFamily="34" charset="0"/>
              </a:rPr>
              <a:t> → </a:t>
            </a:r>
            <a:r>
              <a:rPr lang="en-US" altLang="en-US" sz="2400" dirty="0"/>
              <a:t>B and B </a:t>
            </a:r>
            <a:r>
              <a:rPr lang="en-US" altLang="en-US" sz="2400" dirty="0">
                <a:latin typeface="Calibri" panose="020F0502020204030204" pitchFamily="34" charset="0"/>
              </a:rPr>
              <a:t>→</a:t>
            </a:r>
            <a:r>
              <a:rPr lang="en-US" altLang="en-US" sz="2400" dirty="0"/>
              <a:t> C then A</a:t>
            </a:r>
            <a:r>
              <a:rPr lang="en-US" altLang="en-US" sz="2400" dirty="0">
                <a:latin typeface="Calibri" panose="020F0502020204030204" pitchFamily="34" charset="0"/>
              </a:rPr>
              <a:t> → </a:t>
            </a:r>
            <a:r>
              <a:rPr lang="en-US" altLang="en-US" sz="2400" dirty="0"/>
              <a:t>C (transitivity)</a:t>
            </a:r>
          </a:p>
          <a:p>
            <a:r>
              <a:rPr lang="en-US" sz="2400" dirty="0"/>
              <a:t>A </a:t>
            </a:r>
            <a:r>
              <a:rPr lang="en-US" altLang="en-US" sz="2400" dirty="0">
                <a:latin typeface="Calibri" panose="020F0502020204030204" pitchFamily="34" charset="0"/>
              </a:rPr>
              <a:t>→ B and B →  D then  A → D (transitivity)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B+= {BCD} , C+ = {C} , D+={D}</a:t>
            </a:r>
          </a:p>
          <a:p>
            <a:r>
              <a:rPr lang="en-US" sz="2400" dirty="0"/>
              <a:t>Therefore A is the key</a:t>
            </a:r>
          </a:p>
        </p:txBody>
      </p:sp>
      <p:sp>
        <p:nvSpPr>
          <p:cNvPr id="5" name="Right Brace 4"/>
          <p:cNvSpPr/>
          <p:nvPr/>
        </p:nvSpPr>
        <p:spPr>
          <a:xfrm>
            <a:off x="6812923" y="4106424"/>
            <a:ext cx="218941" cy="10045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031864" y="4193202"/>
            <a:ext cx="4829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  <a:r>
              <a:rPr lang="en-US" altLang="en-US" sz="2000" dirty="0">
                <a:latin typeface="Calibri" panose="020F0502020204030204" pitchFamily="34" charset="0"/>
              </a:rPr>
              <a:t> → </a:t>
            </a:r>
            <a:r>
              <a:rPr lang="en-US" altLang="en-US" sz="2000" dirty="0"/>
              <a:t>ABCD (Union rule) , [A]+={ABCD}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61821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1019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Consider a relation R (A, B, C, D, E), with the following set of functional dependencies over R:</a:t>
            </a:r>
          </a:p>
          <a:p>
            <a:r>
              <a:rPr lang="pt-BR" sz="2400" dirty="0"/>
              <a:t>{A </a:t>
            </a:r>
            <a:r>
              <a:rPr lang="en-US" altLang="en-US" sz="2400" dirty="0">
                <a:latin typeface="Calibri" panose="020F0502020204030204" pitchFamily="34" charset="0"/>
              </a:rPr>
              <a:t>→</a:t>
            </a:r>
            <a:r>
              <a:rPr lang="pt-BR" sz="2400" dirty="0"/>
              <a:t> B, A </a:t>
            </a:r>
            <a:r>
              <a:rPr lang="en-US" altLang="en-US" sz="2400" dirty="0">
                <a:latin typeface="Calibri" panose="020F0502020204030204" pitchFamily="34" charset="0"/>
              </a:rPr>
              <a:t>→</a:t>
            </a:r>
            <a:r>
              <a:rPr lang="pt-BR" sz="2400" dirty="0"/>
              <a:t> C, CD </a:t>
            </a:r>
            <a:r>
              <a:rPr lang="en-US" altLang="en-US" sz="2400" dirty="0">
                <a:latin typeface="Calibri" panose="020F0502020204030204" pitchFamily="34" charset="0"/>
              </a:rPr>
              <a:t>→</a:t>
            </a:r>
            <a:r>
              <a:rPr lang="pt-BR" sz="2400" dirty="0"/>
              <a:t> E, B </a:t>
            </a:r>
            <a:r>
              <a:rPr lang="en-US" altLang="en-US" sz="2400" dirty="0">
                <a:latin typeface="Calibri" panose="020F0502020204030204" pitchFamily="34" charset="0"/>
              </a:rPr>
              <a:t>→</a:t>
            </a:r>
            <a:r>
              <a:rPr lang="pt-BR" sz="2400" dirty="0"/>
              <a:t> D, E </a:t>
            </a:r>
            <a:r>
              <a:rPr lang="en-US" altLang="en-US" sz="2400" dirty="0">
                <a:latin typeface="Calibri" panose="020F0502020204030204" pitchFamily="34" charset="0"/>
              </a:rPr>
              <a:t>→</a:t>
            </a:r>
            <a:r>
              <a:rPr lang="pt-BR" sz="2400" dirty="0"/>
              <a:t> A}</a:t>
            </a:r>
          </a:p>
          <a:p>
            <a:r>
              <a:rPr lang="pt-BR" sz="2400" dirty="0"/>
              <a:t>Compute the keys for relation R.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0240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Revisit to some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56661"/>
            <a:ext cx="11732455" cy="4336214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 err="1">
                <a:solidFill>
                  <a:srgbClr val="00B0F0"/>
                </a:solidFill>
              </a:rPr>
              <a:t>Superkey</a:t>
            </a:r>
            <a:r>
              <a:rPr lang="en-US" altLang="en-US" sz="2400" dirty="0"/>
              <a:t>: Set of attributes S in relation R such that no two distinct tuples 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and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will have 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[S] =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[S] </a:t>
            </a:r>
          </a:p>
          <a:p>
            <a:r>
              <a:rPr lang="en-US" altLang="en-US" sz="2400" dirty="0">
                <a:solidFill>
                  <a:srgbClr val="00B0F0"/>
                </a:solidFill>
              </a:rPr>
              <a:t>Key</a:t>
            </a:r>
            <a:r>
              <a:rPr lang="en-US" altLang="en-US" sz="2400" dirty="0"/>
              <a:t>: A key is a </a:t>
            </a:r>
            <a:r>
              <a:rPr lang="en-US" altLang="en-US" sz="2400" dirty="0" err="1"/>
              <a:t>superkey</a:t>
            </a:r>
            <a:r>
              <a:rPr lang="en-US" altLang="en-US" sz="2400" dirty="0"/>
              <a:t> with the additional property that removal of any attributes from the key will not satisfy the key condition   </a:t>
            </a:r>
          </a:p>
          <a:p>
            <a:r>
              <a:rPr lang="en-US" altLang="en-US" sz="2400" dirty="0">
                <a:solidFill>
                  <a:srgbClr val="00B0F0"/>
                </a:solidFill>
              </a:rPr>
              <a:t>Candidate Key</a:t>
            </a:r>
            <a:r>
              <a:rPr lang="en-US" altLang="en-US" sz="2400" dirty="0"/>
              <a:t>: Each key of a relation is called a candidate key  </a:t>
            </a:r>
          </a:p>
          <a:p>
            <a:r>
              <a:rPr lang="en-US" altLang="en-US" sz="2400" dirty="0">
                <a:solidFill>
                  <a:srgbClr val="00B0F0"/>
                </a:solidFill>
              </a:rPr>
              <a:t>Primary Key</a:t>
            </a:r>
            <a:r>
              <a:rPr lang="en-US" altLang="en-US" sz="2400" dirty="0"/>
              <a:t>: A candidate key is chosen to be the primary key </a:t>
            </a:r>
          </a:p>
          <a:p>
            <a:r>
              <a:rPr lang="en-US" altLang="en-US" sz="2400" dirty="0">
                <a:solidFill>
                  <a:srgbClr val="00B0F0"/>
                </a:solidFill>
              </a:rPr>
              <a:t>Prime Attribute</a:t>
            </a:r>
            <a:r>
              <a:rPr lang="en-US" altLang="en-US" sz="2400" dirty="0"/>
              <a:t>: an attribute which is a member of a candidate key </a:t>
            </a:r>
          </a:p>
          <a:p>
            <a:r>
              <a:rPr lang="en-US" altLang="en-US" sz="2400" dirty="0">
                <a:solidFill>
                  <a:srgbClr val="00B0F0"/>
                </a:solidFill>
              </a:rPr>
              <a:t>Nonprime Attribute</a:t>
            </a:r>
            <a:r>
              <a:rPr lang="en-US" altLang="en-US" sz="2400" dirty="0"/>
              <a:t>: An attribute which is not prime</a:t>
            </a:r>
          </a:p>
          <a:p>
            <a:pPr marL="0" indent="0">
              <a:buNone/>
            </a:pPr>
            <a:r>
              <a:rPr lang="en-US" altLang="en-US" sz="24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93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Normal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0721"/>
            <a:ext cx="11029615" cy="4967279"/>
          </a:xfrm>
        </p:spPr>
        <p:txBody>
          <a:bodyPr>
            <a:normAutofit/>
          </a:bodyPr>
          <a:lstStyle/>
          <a:p>
            <a:r>
              <a:rPr lang="en-US" sz="2400" dirty="0"/>
              <a:t>Normal forms refers to a series of tests performed on relational schemas to improve their goodness.</a:t>
            </a:r>
          </a:p>
          <a:p>
            <a:r>
              <a:rPr lang="en-US" sz="2400" dirty="0"/>
              <a:t>We discuss four normal forms namely,</a:t>
            </a:r>
          </a:p>
          <a:p>
            <a:pPr lvl="1"/>
            <a:r>
              <a:rPr lang="en-US" sz="2200" dirty="0"/>
              <a:t>1</a:t>
            </a:r>
            <a:r>
              <a:rPr lang="en-US" sz="2200" baseline="30000" dirty="0"/>
              <a:t>st</a:t>
            </a:r>
            <a:r>
              <a:rPr lang="en-US" sz="2200" dirty="0"/>
              <a:t> Normal Form</a:t>
            </a:r>
          </a:p>
          <a:p>
            <a:pPr lvl="1"/>
            <a:r>
              <a:rPr lang="en-US" sz="2200" dirty="0"/>
              <a:t>2</a:t>
            </a:r>
            <a:r>
              <a:rPr lang="en-US" sz="2200" baseline="30000" dirty="0"/>
              <a:t>nd</a:t>
            </a:r>
            <a:r>
              <a:rPr lang="en-US" sz="2200" dirty="0"/>
              <a:t> Normal Form</a:t>
            </a:r>
          </a:p>
          <a:p>
            <a:pPr lvl="1"/>
            <a:r>
              <a:rPr lang="en-US" sz="2200" dirty="0"/>
              <a:t>3</a:t>
            </a:r>
            <a:r>
              <a:rPr lang="en-US" sz="2200" baseline="30000" dirty="0"/>
              <a:t>rd</a:t>
            </a:r>
            <a:r>
              <a:rPr lang="en-US" sz="2200" dirty="0"/>
              <a:t> Normal Form</a:t>
            </a:r>
          </a:p>
          <a:p>
            <a:pPr lvl="1"/>
            <a:r>
              <a:rPr lang="en-US" sz="2200" dirty="0"/>
              <a:t>Boyce </a:t>
            </a:r>
            <a:r>
              <a:rPr lang="en-US" sz="2200" dirty="0" err="1"/>
              <a:t>Codd</a:t>
            </a:r>
            <a:r>
              <a:rPr lang="en-US" sz="2200" dirty="0"/>
              <a:t> Normal Form</a:t>
            </a:r>
          </a:p>
          <a:p>
            <a:r>
              <a:rPr lang="en-US" sz="2400" dirty="0"/>
              <a:t>Test for each normal form is performed in a top-down fashion.</a:t>
            </a:r>
          </a:p>
          <a:p>
            <a:r>
              <a:rPr lang="en-US" sz="2400" dirty="0"/>
              <a:t>The Normal form of a relation refers to the highest normal form condition it meets.</a:t>
            </a:r>
          </a:p>
        </p:txBody>
      </p:sp>
    </p:spTree>
    <p:extLst>
      <p:ext uri="{BB962C8B-B14F-4D97-AF65-F5344CB8AC3E}">
        <p14:creationId xmlns:p14="http://schemas.microsoft.com/office/powerpoint/2010/main" val="4151312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1</a:t>
            </a:r>
            <a:r>
              <a:rPr lang="en-US" sz="3600" baseline="30000" dirty="0"/>
              <a:t>st</a:t>
            </a:r>
            <a:r>
              <a:rPr lang="en-US" sz="3600" dirty="0"/>
              <a:t> normal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182" y="2329208"/>
            <a:ext cx="10515600" cy="1972652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/>
              <a:t>A relation R is in first normal form (1NF) if domains of all attributes in the relation are </a:t>
            </a:r>
            <a:r>
              <a:rPr lang="en-US" altLang="en-US" sz="2400" i="1" dirty="0"/>
              <a:t>atomic </a:t>
            </a:r>
            <a:r>
              <a:rPr lang="en-US" altLang="en-US" sz="2400" dirty="0"/>
              <a:t>(simple &amp; indivisible). </a:t>
            </a:r>
          </a:p>
          <a:p>
            <a:r>
              <a:rPr lang="en-US" altLang="en-US" sz="2400" dirty="0"/>
              <a:t>1NF is now considered to be part of the formal definition of a relation in the relational model since it allows only atomic values and disallows multivalued attributes and composite attributes.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1833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</a:t>
            </a:r>
            <a:r>
              <a:rPr lang="en-US" sz="3600" baseline="30000" dirty="0"/>
              <a:t>nd</a:t>
            </a:r>
            <a:r>
              <a:rPr lang="en-US" sz="3600" dirty="0"/>
              <a:t> Normal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168" y="1631993"/>
            <a:ext cx="11029615" cy="3678303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A relation R is in second normal form (2NF) if every nonprime attribute A in R is not partially dependent on any key of R.</a:t>
            </a:r>
          </a:p>
          <a:p>
            <a:r>
              <a:rPr lang="en-US" sz="2000" dirty="0"/>
              <a:t>Second normal form (2NF) is based on the concept of full functional dependency.</a:t>
            </a:r>
          </a:p>
          <a:p>
            <a:pPr lvl="1"/>
            <a:r>
              <a:rPr lang="en-US" sz="1800" dirty="0"/>
              <a:t>A functional dependency X</a:t>
            </a:r>
            <a:r>
              <a:rPr lang="en-US" altLang="en-US" sz="1800" dirty="0">
                <a:latin typeface="Calibri" panose="020F0502020204030204" pitchFamily="34" charset="0"/>
              </a:rPr>
              <a:t> →Y is a full functional dependency if removal of any attribute A from X means that the dependency does not hold any more.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</a:rPr>
              <a:t>For example, in a relation R (ABCDE) where AB -&gt; {ABCDE}, if A-&gt; C , A-&gt;C is a partial dependency (not fully functional dependent)</a:t>
            </a:r>
          </a:p>
          <a:p>
            <a:r>
              <a:rPr lang="en-US" sz="2000" dirty="0">
                <a:latin typeface="Calibri" panose="020F0502020204030204" pitchFamily="34" charset="0"/>
              </a:rPr>
              <a:t>To normalize the relation to 2NF decomposition is performed as follows.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34604" y="4978061"/>
          <a:ext cx="3962399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3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1365161" y="5370020"/>
            <a:ext cx="3276600" cy="699868"/>
            <a:chOff x="914400" y="3993464"/>
            <a:chExt cx="3276600" cy="699868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914400" y="4312332"/>
              <a:ext cx="32766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7" name="Group 20"/>
            <p:cNvGrpSpPr>
              <a:grpSpLocks/>
            </p:cNvGrpSpPr>
            <p:nvPr/>
          </p:nvGrpSpPr>
          <p:grpSpPr bwMode="auto">
            <a:xfrm>
              <a:off x="914400" y="3993464"/>
              <a:ext cx="3276600" cy="699868"/>
              <a:chOff x="1905000" y="4031564"/>
              <a:chExt cx="3276600" cy="699868"/>
            </a:xfrm>
          </p:grpSpPr>
          <p:grpSp>
            <p:nvGrpSpPr>
              <p:cNvPr id="8" name="Group 13"/>
              <p:cNvGrpSpPr>
                <a:grpSpLocks/>
              </p:cNvGrpSpPr>
              <p:nvPr/>
            </p:nvGrpSpPr>
            <p:grpSpPr bwMode="auto">
              <a:xfrm>
                <a:off x="1905000" y="4031564"/>
                <a:ext cx="3276600" cy="304800"/>
                <a:chOff x="1905000" y="4031564"/>
                <a:chExt cx="3276600" cy="304800"/>
              </a:xfrm>
            </p:grpSpPr>
            <p:cxnSp>
              <p:nvCxnSpPr>
                <p:cNvPr id="13" name="Straight Arrow Connector 12"/>
                <p:cNvCxnSpPr/>
                <p:nvPr/>
              </p:nvCxnSpPr>
              <p:spPr>
                <a:xfrm flipV="1">
                  <a:off x="5181600" y="4031564"/>
                  <a:ext cx="0" cy="3048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/>
                <p:nvPr/>
              </p:nvCxnSpPr>
              <p:spPr>
                <a:xfrm flipV="1">
                  <a:off x="4648200" y="4031564"/>
                  <a:ext cx="0" cy="3048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/>
                <p:cNvCxnSpPr/>
                <p:nvPr/>
              </p:nvCxnSpPr>
              <p:spPr>
                <a:xfrm flipV="1">
                  <a:off x="4038600" y="4031564"/>
                  <a:ext cx="0" cy="3048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/>
                <p:cNvCxnSpPr/>
                <p:nvPr/>
              </p:nvCxnSpPr>
              <p:spPr>
                <a:xfrm flipV="1">
                  <a:off x="3352800" y="4031564"/>
                  <a:ext cx="0" cy="3048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2667000" y="4031564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1905000" y="4031564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19"/>
              <p:cNvGrpSpPr>
                <a:grpSpLocks/>
              </p:cNvGrpSpPr>
              <p:nvPr/>
            </p:nvGrpSpPr>
            <p:grpSpPr bwMode="auto">
              <a:xfrm>
                <a:off x="2667000" y="4426632"/>
                <a:ext cx="1371600" cy="304800"/>
                <a:chOff x="2667000" y="4426632"/>
                <a:chExt cx="1371600" cy="304800"/>
              </a:xfrm>
            </p:grpSpPr>
            <p:cxnSp>
              <p:nvCxnSpPr>
                <p:cNvPr id="10" name="Straight Connector 9"/>
                <p:cNvCxnSpPr/>
                <p:nvPr/>
              </p:nvCxnSpPr>
              <p:spPr>
                <a:xfrm>
                  <a:off x="2667000" y="4426632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2667000" y="4731432"/>
                  <a:ext cx="137160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/>
                <p:cNvCxnSpPr/>
                <p:nvPr/>
              </p:nvCxnSpPr>
              <p:spPr>
                <a:xfrm flipV="1">
                  <a:off x="4038600" y="4426632"/>
                  <a:ext cx="0" cy="3048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9" name="TextBox 23"/>
          <p:cNvSpPr txBox="1">
            <a:spLocks noChangeArrowheads="1"/>
          </p:cNvSpPr>
          <p:nvPr/>
        </p:nvSpPr>
        <p:spPr bwMode="auto">
          <a:xfrm>
            <a:off x="4690179" y="5408074"/>
            <a:ext cx="588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FD1</a:t>
            </a:r>
          </a:p>
        </p:txBody>
      </p:sp>
      <p:sp>
        <p:nvSpPr>
          <p:cNvPr id="20" name="TextBox 28"/>
          <p:cNvSpPr txBox="1">
            <a:spLocks noChangeArrowheads="1"/>
          </p:cNvSpPr>
          <p:nvPr/>
        </p:nvSpPr>
        <p:spPr bwMode="auto">
          <a:xfrm>
            <a:off x="3644432" y="5829326"/>
            <a:ext cx="588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FD2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939978" y="4982479"/>
          <a:ext cx="3429000" cy="369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887"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Group 55"/>
          <p:cNvGrpSpPr>
            <a:grpSpLocks/>
          </p:cNvGrpSpPr>
          <p:nvPr/>
        </p:nvGrpSpPr>
        <p:grpSpPr bwMode="auto">
          <a:xfrm>
            <a:off x="6368603" y="5352366"/>
            <a:ext cx="2667000" cy="350838"/>
            <a:chOff x="5943600" y="4419600"/>
            <a:chExt cx="2667000" cy="351580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5943600" y="4425963"/>
              <a:ext cx="0" cy="3372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629400" y="4419600"/>
              <a:ext cx="0" cy="3372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391400" y="4433918"/>
              <a:ext cx="0" cy="337262"/>
            </a:xfrm>
            <a:prstGeom prst="line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8001000" y="4419600"/>
              <a:ext cx="0" cy="337262"/>
            </a:xfrm>
            <a:prstGeom prst="line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8610600" y="4419600"/>
              <a:ext cx="0" cy="337262"/>
            </a:xfrm>
            <a:prstGeom prst="line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0107232" y="4960686"/>
          <a:ext cx="1371600" cy="369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887"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9" name="Group 61"/>
          <p:cNvGrpSpPr>
            <a:grpSpLocks/>
          </p:cNvGrpSpPr>
          <p:nvPr/>
        </p:nvGrpSpPr>
        <p:grpSpPr bwMode="auto">
          <a:xfrm>
            <a:off x="10450132" y="5278186"/>
            <a:ext cx="762000" cy="350837"/>
            <a:chOff x="6934200" y="5471886"/>
            <a:chExt cx="762000" cy="35158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6934200" y="5471886"/>
              <a:ext cx="0" cy="3372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696200" y="5486203"/>
              <a:ext cx="0" cy="337263"/>
            </a:xfrm>
            <a:prstGeom prst="line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934200" y="5805967"/>
              <a:ext cx="76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62"/>
          <p:cNvSpPr txBox="1">
            <a:spLocks noChangeArrowheads="1"/>
          </p:cNvSpPr>
          <p:nvPr/>
        </p:nvSpPr>
        <p:spPr bwMode="auto">
          <a:xfrm>
            <a:off x="268893" y="5589815"/>
            <a:ext cx="142773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Partial dependency 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1517562" y="5887684"/>
            <a:ext cx="504825" cy="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ight Arrow 34"/>
          <p:cNvSpPr/>
          <p:nvPr/>
        </p:nvSpPr>
        <p:spPr>
          <a:xfrm>
            <a:off x="5279142" y="5033407"/>
            <a:ext cx="438150" cy="6365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>
            <a:off x="6368603" y="5703196"/>
            <a:ext cx="2666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045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Activity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What normal form the relation in the slide is? If the relation is not in 2NF normalize the relation to 2NF.</a:t>
            </a:r>
          </a:p>
          <a:p>
            <a:endParaRPr lang="en-US" altLang="en-US" sz="1400" dirty="0"/>
          </a:p>
          <a:p>
            <a:pPr marL="0" indent="0">
              <a:buNone/>
            </a:pPr>
            <a:r>
              <a:rPr lang="en-US" altLang="en-US" sz="2400" dirty="0"/>
              <a:t>EMP_PROJ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graphicFrame>
        <p:nvGraphicFramePr>
          <p:cNvPr id="224260" name="Group 4"/>
          <p:cNvGraphicFramePr>
            <a:graphicFrameLocks noGrp="1"/>
          </p:cNvGraphicFramePr>
          <p:nvPr/>
        </p:nvGraphicFramePr>
        <p:xfrm>
          <a:off x="2286000" y="3429000"/>
          <a:ext cx="7924800" cy="517690"/>
        </p:xfrm>
        <a:graphic>
          <a:graphicData uri="http://schemas.openxmlformats.org/drawingml/2006/table">
            <a:tbl>
              <a:tblPr/>
              <a:tblGrid>
                <a:gridCol w="814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7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3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NIC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PNUM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HOURS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ENAME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PNAME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LOC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8692" name="Group 20"/>
          <p:cNvGrpSpPr>
            <a:grpSpLocks/>
          </p:cNvGrpSpPr>
          <p:nvPr/>
        </p:nvGrpSpPr>
        <p:grpSpPr bwMode="auto">
          <a:xfrm>
            <a:off x="1752600" y="4156075"/>
            <a:ext cx="3581400" cy="457200"/>
            <a:chOff x="0" y="2090"/>
            <a:chExt cx="2256" cy="288"/>
          </a:xfrm>
        </p:grpSpPr>
        <p:sp>
          <p:nvSpPr>
            <p:cNvPr id="28704" name="Line 21"/>
            <p:cNvSpPr>
              <a:spLocks noChangeShapeType="1"/>
            </p:cNvSpPr>
            <p:nvPr/>
          </p:nvSpPr>
          <p:spPr bwMode="auto">
            <a:xfrm>
              <a:off x="432" y="21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5" name="Line 22"/>
            <p:cNvSpPr>
              <a:spLocks noChangeShapeType="1"/>
            </p:cNvSpPr>
            <p:nvPr/>
          </p:nvSpPr>
          <p:spPr bwMode="auto">
            <a:xfrm>
              <a:off x="1104" y="21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6" name="Line 23"/>
            <p:cNvSpPr>
              <a:spLocks noChangeShapeType="1"/>
            </p:cNvSpPr>
            <p:nvPr/>
          </p:nvSpPr>
          <p:spPr bwMode="auto">
            <a:xfrm>
              <a:off x="432" y="2352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7" name="Line 24"/>
            <p:cNvSpPr>
              <a:spLocks noChangeShapeType="1"/>
            </p:cNvSpPr>
            <p:nvPr/>
          </p:nvSpPr>
          <p:spPr bwMode="auto">
            <a:xfrm flipV="1">
              <a:off x="2256" y="21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Text Box 25"/>
            <p:cNvSpPr txBox="1">
              <a:spLocks noChangeArrowheads="1"/>
            </p:cNvSpPr>
            <p:nvPr/>
          </p:nvSpPr>
          <p:spPr bwMode="auto">
            <a:xfrm>
              <a:off x="0" y="2090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FD1</a:t>
              </a:r>
            </a:p>
          </p:txBody>
        </p:sp>
      </p:grpSp>
      <p:grpSp>
        <p:nvGrpSpPr>
          <p:cNvPr id="28693" name="Group 26"/>
          <p:cNvGrpSpPr>
            <a:grpSpLocks/>
          </p:cNvGrpSpPr>
          <p:nvPr/>
        </p:nvGrpSpPr>
        <p:grpSpPr bwMode="auto">
          <a:xfrm>
            <a:off x="1752600" y="4648200"/>
            <a:ext cx="5029200" cy="457200"/>
            <a:chOff x="0" y="2400"/>
            <a:chExt cx="3168" cy="288"/>
          </a:xfrm>
        </p:grpSpPr>
        <p:sp>
          <p:nvSpPr>
            <p:cNvPr id="28700" name="Line 27"/>
            <p:cNvSpPr>
              <a:spLocks noChangeShapeType="1"/>
            </p:cNvSpPr>
            <p:nvPr/>
          </p:nvSpPr>
          <p:spPr bwMode="auto">
            <a:xfrm>
              <a:off x="432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1" name="Line 28"/>
            <p:cNvSpPr>
              <a:spLocks noChangeShapeType="1"/>
            </p:cNvSpPr>
            <p:nvPr/>
          </p:nvSpPr>
          <p:spPr bwMode="auto">
            <a:xfrm>
              <a:off x="432" y="2640"/>
              <a:ext cx="27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2" name="Line 29"/>
            <p:cNvSpPr>
              <a:spLocks noChangeShapeType="1"/>
            </p:cNvSpPr>
            <p:nvPr/>
          </p:nvSpPr>
          <p:spPr bwMode="auto">
            <a:xfrm flipV="1">
              <a:off x="3168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3" name="Text Box 30"/>
            <p:cNvSpPr txBox="1">
              <a:spLocks noChangeArrowheads="1"/>
            </p:cNvSpPr>
            <p:nvPr/>
          </p:nvSpPr>
          <p:spPr bwMode="auto">
            <a:xfrm>
              <a:off x="0" y="2400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FD2</a:t>
              </a:r>
            </a:p>
          </p:txBody>
        </p:sp>
      </p:grpSp>
      <p:grpSp>
        <p:nvGrpSpPr>
          <p:cNvPr id="28694" name="Group 31"/>
          <p:cNvGrpSpPr>
            <a:grpSpLocks/>
          </p:cNvGrpSpPr>
          <p:nvPr/>
        </p:nvGrpSpPr>
        <p:grpSpPr bwMode="auto">
          <a:xfrm>
            <a:off x="1752600" y="5105400"/>
            <a:ext cx="8001000" cy="533400"/>
            <a:chOff x="0" y="2688"/>
            <a:chExt cx="5040" cy="336"/>
          </a:xfrm>
        </p:grpSpPr>
        <p:sp>
          <p:nvSpPr>
            <p:cNvPr id="28695" name="Line 32"/>
            <p:cNvSpPr>
              <a:spLocks noChangeShapeType="1"/>
            </p:cNvSpPr>
            <p:nvPr/>
          </p:nvSpPr>
          <p:spPr bwMode="auto">
            <a:xfrm>
              <a:off x="1104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6" name="Line 33"/>
            <p:cNvSpPr>
              <a:spLocks noChangeShapeType="1"/>
            </p:cNvSpPr>
            <p:nvPr/>
          </p:nvSpPr>
          <p:spPr bwMode="auto">
            <a:xfrm>
              <a:off x="1104" y="2928"/>
              <a:ext cx="39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7" name="Line 34"/>
            <p:cNvSpPr>
              <a:spLocks noChangeShapeType="1"/>
            </p:cNvSpPr>
            <p:nvPr/>
          </p:nvSpPr>
          <p:spPr bwMode="auto">
            <a:xfrm flipV="1">
              <a:off x="4176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8" name="Line 35"/>
            <p:cNvSpPr>
              <a:spLocks noChangeShapeType="1"/>
            </p:cNvSpPr>
            <p:nvPr/>
          </p:nvSpPr>
          <p:spPr bwMode="auto">
            <a:xfrm flipV="1">
              <a:off x="5040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Text Box 36"/>
            <p:cNvSpPr txBox="1">
              <a:spLocks noChangeArrowheads="1"/>
            </p:cNvSpPr>
            <p:nvPr/>
          </p:nvSpPr>
          <p:spPr bwMode="auto">
            <a:xfrm>
              <a:off x="0" y="2736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FD3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108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3</a:t>
            </a:r>
            <a:r>
              <a:rPr lang="en-US" sz="3600" baseline="30000" dirty="0"/>
              <a:t>rd</a:t>
            </a:r>
            <a:r>
              <a:rPr lang="en-US" sz="3600" dirty="0"/>
              <a:t> Normal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130" y="2453787"/>
            <a:ext cx="11029615" cy="3678303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A relation R is in 3</a:t>
            </a:r>
            <a:r>
              <a:rPr lang="en-US" altLang="en-US" sz="2600" baseline="30000" dirty="0"/>
              <a:t>rd</a:t>
            </a:r>
            <a:r>
              <a:rPr lang="en-US" altLang="en-US" sz="2600" dirty="0"/>
              <a:t> normal form (3NF) if every </a:t>
            </a:r>
          </a:p>
          <a:p>
            <a:pPr lvl="1"/>
            <a:r>
              <a:rPr lang="en-US" altLang="en-US" sz="2600" dirty="0"/>
              <a:t>R is in 2NF, and no nonprime attribute is transitively dependent on any key</a:t>
            </a:r>
          </a:p>
          <a:p>
            <a:r>
              <a:rPr lang="en-US" sz="2400" dirty="0"/>
              <a:t>Third normal form is based on the concept of transitive dependency.</a:t>
            </a:r>
          </a:p>
          <a:p>
            <a:pPr lvl="1"/>
            <a:r>
              <a:rPr lang="en-US" sz="2000" dirty="0"/>
              <a:t>A functional dependency X</a:t>
            </a:r>
            <a:r>
              <a:rPr lang="en-US" altLang="en-US" sz="2000" dirty="0">
                <a:latin typeface="Calibri" panose="020F0502020204030204" pitchFamily="34" charset="0"/>
              </a:rPr>
              <a:t> →Y in a relational schema R is a transitive dependency if there is a set of non-prime attributes Z where both </a:t>
            </a:r>
            <a:r>
              <a:rPr lang="en-US" sz="2000" dirty="0"/>
              <a:t>X</a:t>
            </a:r>
            <a:r>
              <a:rPr lang="en-US" altLang="en-US" sz="2000" dirty="0">
                <a:latin typeface="Calibri" panose="020F0502020204030204" pitchFamily="34" charset="0"/>
              </a:rPr>
              <a:t> →Z and </a:t>
            </a:r>
            <a:r>
              <a:rPr lang="en-US" altLang="en-US" sz="2000" dirty="0"/>
              <a:t>Z</a:t>
            </a:r>
            <a:r>
              <a:rPr lang="en-US" altLang="en-US" sz="2000" dirty="0">
                <a:latin typeface="Calibri" panose="020F0502020204030204" pitchFamily="34" charset="0"/>
              </a:rPr>
              <a:t> →Y hold.</a:t>
            </a:r>
          </a:p>
          <a:p>
            <a:r>
              <a:rPr lang="en-US" sz="2400" dirty="0">
                <a:latin typeface="Calibri" panose="020F0502020204030204" pitchFamily="34" charset="0"/>
              </a:rPr>
              <a:t>To normalize the relation to 2NF decomposition is performed as follows.</a:t>
            </a: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</a:endParaRPr>
          </a:p>
          <a:p>
            <a:endParaRPr lang="en-US" sz="2400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58254" y="5264762"/>
          <a:ext cx="2971800" cy="365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2543797" y="4581655"/>
            <a:ext cx="2743200" cy="1716087"/>
            <a:chOff x="914400" y="4075113"/>
            <a:chExt cx="2743200" cy="1716087"/>
          </a:xfrm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914400" y="5105400"/>
              <a:ext cx="2743200" cy="685800"/>
              <a:chOff x="914400" y="4457700"/>
              <a:chExt cx="2743200" cy="6858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914400" y="4762500"/>
                <a:ext cx="27432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" name="Group 6"/>
              <p:cNvGrpSpPr>
                <a:grpSpLocks/>
              </p:cNvGrpSpPr>
              <p:nvPr/>
            </p:nvGrpSpPr>
            <p:grpSpPr bwMode="auto">
              <a:xfrm>
                <a:off x="914400" y="4457700"/>
                <a:ext cx="2743200" cy="685800"/>
                <a:chOff x="1905000" y="4495800"/>
                <a:chExt cx="2743200" cy="685800"/>
              </a:xfrm>
            </p:grpSpPr>
            <p:grpSp>
              <p:nvGrpSpPr>
                <p:cNvPr id="14" name="Group 7"/>
                <p:cNvGrpSpPr>
                  <a:grpSpLocks/>
                </p:cNvGrpSpPr>
                <p:nvPr/>
              </p:nvGrpSpPr>
              <p:grpSpPr bwMode="auto">
                <a:xfrm>
                  <a:off x="1905000" y="4495800"/>
                  <a:ext cx="2743200" cy="304800"/>
                  <a:chOff x="1905000" y="4495800"/>
                  <a:chExt cx="2743200" cy="304800"/>
                </a:xfrm>
              </p:grpSpPr>
              <p:cxnSp>
                <p:nvCxnSpPr>
                  <p:cNvPr id="19" name="Straight Arrow Connector 18"/>
                  <p:cNvCxnSpPr/>
                  <p:nvPr/>
                </p:nvCxnSpPr>
                <p:spPr>
                  <a:xfrm flipV="1">
                    <a:off x="4648200" y="4495800"/>
                    <a:ext cx="0" cy="3048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/>
                  <p:cNvCxnSpPr/>
                  <p:nvPr/>
                </p:nvCxnSpPr>
                <p:spPr>
                  <a:xfrm flipV="1">
                    <a:off x="4038600" y="4495800"/>
                    <a:ext cx="0" cy="3048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/>
                  <p:cNvCxnSpPr/>
                  <p:nvPr/>
                </p:nvCxnSpPr>
                <p:spPr>
                  <a:xfrm flipV="1">
                    <a:off x="3352800" y="4495800"/>
                    <a:ext cx="0" cy="3048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/>
                  <p:cNvCxnSpPr/>
                  <p:nvPr/>
                </p:nvCxnSpPr>
                <p:spPr>
                  <a:xfrm>
                    <a:off x="2667000" y="4495800"/>
                    <a:ext cx="0" cy="304800"/>
                  </a:xfrm>
                  <a:prstGeom prst="line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/>
                  <p:cNvCxnSpPr/>
                  <p:nvPr/>
                </p:nvCxnSpPr>
                <p:spPr>
                  <a:xfrm>
                    <a:off x="1905000" y="4495800"/>
                    <a:ext cx="0" cy="3048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" name="Group 8"/>
                <p:cNvGrpSpPr>
                  <a:grpSpLocks/>
                </p:cNvGrpSpPr>
                <p:nvPr/>
              </p:nvGrpSpPr>
              <p:grpSpPr bwMode="auto">
                <a:xfrm>
                  <a:off x="3352800" y="4876800"/>
                  <a:ext cx="685800" cy="304800"/>
                  <a:chOff x="3352800" y="4876800"/>
                  <a:chExt cx="685800" cy="3048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>
                    <a:off x="3352800" y="4876800"/>
                    <a:ext cx="0" cy="3048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/>
                  <p:cNvCxnSpPr/>
                  <p:nvPr/>
                </p:nvCxnSpPr>
                <p:spPr>
                  <a:xfrm>
                    <a:off x="3352800" y="5181600"/>
                    <a:ext cx="685800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 flipV="1">
                    <a:off x="4038600" y="4876800"/>
                    <a:ext cx="0" cy="3048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7" name="TextBox 19"/>
            <p:cNvSpPr txBox="1">
              <a:spLocks noChangeArrowheads="1"/>
            </p:cNvSpPr>
            <p:nvPr/>
          </p:nvSpPr>
          <p:spPr bwMode="auto">
            <a:xfrm>
              <a:off x="1361972" y="4075113"/>
              <a:ext cx="2295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Non-prime attributes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>
              <a:off x="1676400" y="4383088"/>
              <a:ext cx="304800" cy="304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2160588" y="4445000"/>
              <a:ext cx="201612" cy="177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2295525" y="4383088"/>
              <a:ext cx="600075" cy="27146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362200" y="4383088"/>
              <a:ext cx="1143000" cy="27146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30"/>
          <p:cNvSpPr txBox="1">
            <a:spLocks noChangeArrowheads="1"/>
          </p:cNvSpPr>
          <p:nvPr/>
        </p:nvSpPr>
        <p:spPr bwMode="auto">
          <a:xfrm>
            <a:off x="1028295" y="6078978"/>
            <a:ext cx="2447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Transitive dependency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3400449" y="6359106"/>
            <a:ext cx="443705" cy="76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7453473" y="4924414"/>
          <a:ext cx="2819400" cy="369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887"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8200404" y="5857359"/>
          <a:ext cx="1371600" cy="369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887"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603" marB="45603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2" name="Group 44"/>
          <p:cNvGrpSpPr>
            <a:grpSpLocks/>
          </p:cNvGrpSpPr>
          <p:nvPr/>
        </p:nvGrpSpPr>
        <p:grpSpPr bwMode="auto">
          <a:xfrm>
            <a:off x="8540961" y="6273447"/>
            <a:ext cx="762000" cy="350837"/>
            <a:chOff x="6934200" y="5471886"/>
            <a:chExt cx="762000" cy="351580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6934200" y="5471886"/>
              <a:ext cx="0" cy="3372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7696200" y="5486203"/>
              <a:ext cx="0" cy="337263"/>
            </a:xfrm>
            <a:prstGeom prst="line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6934200" y="5805967"/>
              <a:ext cx="76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Group 36870"/>
          <p:cNvGrpSpPr>
            <a:grpSpLocks/>
          </p:cNvGrpSpPr>
          <p:nvPr/>
        </p:nvGrpSpPr>
        <p:grpSpPr bwMode="auto">
          <a:xfrm>
            <a:off x="7855161" y="5339532"/>
            <a:ext cx="2057400" cy="350838"/>
            <a:chOff x="5943600" y="4419600"/>
            <a:chExt cx="2057400" cy="351580"/>
          </a:xfrm>
        </p:grpSpPr>
        <p:grpSp>
          <p:nvGrpSpPr>
            <p:cNvPr id="47" name="Group 37"/>
            <p:cNvGrpSpPr>
              <a:grpSpLocks/>
            </p:cNvGrpSpPr>
            <p:nvPr/>
          </p:nvGrpSpPr>
          <p:grpSpPr bwMode="auto">
            <a:xfrm>
              <a:off x="5943600" y="4419600"/>
              <a:ext cx="2057400" cy="351580"/>
              <a:chOff x="5943600" y="4419600"/>
              <a:chExt cx="2057400" cy="35158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5943600" y="4425963"/>
                <a:ext cx="0" cy="3372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6629400" y="4419600"/>
                <a:ext cx="0" cy="337262"/>
              </a:xfrm>
              <a:prstGeom prst="line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7391400" y="4433918"/>
                <a:ext cx="0" cy="337262"/>
              </a:xfrm>
              <a:prstGeom prst="line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8001000" y="4419600"/>
                <a:ext cx="0" cy="337262"/>
              </a:xfrm>
              <a:prstGeom prst="line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Straight Connector 47"/>
            <p:cNvCxnSpPr/>
            <p:nvPr/>
          </p:nvCxnSpPr>
          <p:spPr>
            <a:xfrm>
              <a:off x="5943600" y="4756862"/>
              <a:ext cx="20574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3" name="Right Arrow 52"/>
          <p:cNvSpPr/>
          <p:nvPr/>
        </p:nvSpPr>
        <p:spPr>
          <a:xfrm>
            <a:off x="5949338" y="5172999"/>
            <a:ext cx="457200" cy="5334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0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428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Activity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599653" y="2401626"/>
            <a:ext cx="10515600" cy="3074176"/>
          </a:xfrm>
        </p:spPr>
        <p:txBody>
          <a:bodyPr/>
          <a:lstStyle/>
          <a:p>
            <a:r>
              <a:rPr lang="en-US" altLang="en-US" sz="2400" dirty="0"/>
              <a:t>What normal form the relation in the slide is? </a:t>
            </a:r>
          </a:p>
          <a:p>
            <a:r>
              <a:rPr lang="en-US" altLang="en-US" sz="2400" dirty="0"/>
              <a:t>If the relation is not in 3NF normalize the relation to 3NF.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graphicFrame>
        <p:nvGraphicFramePr>
          <p:cNvPr id="22733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225645"/>
              </p:ext>
            </p:extLst>
          </p:nvPr>
        </p:nvGraphicFramePr>
        <p:xfrm>
          <a:off x="1600200" y="3679926"/>
          <a:ext cx="8991600" cy="517576"/>
        </p:xfrm>
        <a:graphic>
          <a:graphicData uri="http://schemas.openxmlformats.org/drawingml/2006/table">
            <a:tbl>
              <a:tblPr/>
              <a:tblGrid>
                <a:gridCol w="156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8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3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ENAME</a:t>
                      </a:r>
                    </a:p>
                  </a:txBody>
                  <a:tcPr marT="45428" marB="454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SSN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BDATE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ADD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DNUM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DNAME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DMGR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766" name="Group 22"/>
          <p:cNvGrpSpPr>
            <a:grpSpLocks/>
          </p:cNvGrpSpPr>
          <p:nvPr/>
        </p:nvGrpSpPr>
        <p:grpSpPr bwMode="auto">
          <a:xfrm>
            <a:off x="1818853" y="4486132"/>
            <a:ext cx="8077200" cy="762000"/>
            <a:chOff x="336" y="2208"/>
            <a:chExt cx="5088" cy="480"/>
          </a:xfrm>
        </p:grpSpPr>
        <p:sp>
          <p:nvSpPr>
            <p:cNvPr id="31768" name="Line 23"/>
            <p:cNvSpPr>
              <a:spLocks noChangeShapeType="1"/>
            </p:cNvSpPr>
            <p:nvPr/>
          </p:nvSpPr>
          <p:spPr bwMode="auto">
            <a:xfrm>
              <a:off x="1344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9" name="Line 24"/>
            <p:cNvSpPr>
              <a:spLocks noChangeShapeType="1"/>
            </p:cNvSpPr>
            <p:nvPr/>
          </p:nvSpPr>
          <p:spPr bwMode="auto">
            <a:xfrm>
              <a:off x="336" y="2448"/>
              <a:ext cx="3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0" name="Line 25"/>
            <p:cNvSpPr>
              <a:spLocks noChangeShapeType="1"/>
            </p:cNvSpPr>
            <p:nvPr/>
          </p:nvSpPr>
          <p:spPr bwMode="auto">
            <a:xfrm flipV="1">
              <a:off x="336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1" name="Line 26"/>
            <p:cNvSpPr>
              <a:spLocks noChangeShapeType="1"/>
            </p:cNvSpPr>
            <p:nvPr/>
          </p:nvSpPr>
          <p:spPr bwMode="auto">
            <a:xfrm flipV="1">
              <a:off x="2112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2" name="Line 27"/>
            <p:cNvSpPr>
              <a:spLocks noChangeShapeType="1"/>
            </p:cNvSpPr>
            <p:nvPr/>
          </p:nvSpPr>
          <p:spPr bwMode="auto">
            <a:xfrm flipV="1">
              <a:off x="2880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3" name="Line 28"/>
            <p:cNvSpPr>
              <a:spLocks noChangeShapeType="1"/>
            </p:cNvSpPr>
            <p:nvPr/>
          </p:nvSpPr>
          <p:spPr bwMode="auto">
            <a:xfrm flipV="1">
              <a:off x="3552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4" name="Line 29"/>
            <p:cNvSpPr>
              <a:spLocks noChangeShapeType="1"/>
            </p:cNvSpPr>
            <p:nvPr/>
          </p:nvSpPr>
          <p:spPr bwMode="auto">
            <a:xfrm>
              <a:off x="355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5" name="Line 30"/>
            <p:cNvSpPr>
              <a:spLocks noChangeShapeType="1"/>
            </p:cNvSpPr>
            <p:nvPr/>
          </p:nvSpPr>
          <p:spPr bwMode="auto">
            <a:xfrm>
              <a:off x="3552" y="268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6" name="Line 31"/>
            <p:cNvSpPr>
              <a:spLocks noChangeShapeType="1"/>
            </p:cNvSpPr>
            <p:nvPr/>
          </p:nvSpPr>
          <p:spPr bwMode="auto">
            <a:xfrm flipV="1">
              <a:off x="446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7" name="Line 32"/>
            <p:cNvSpPr>
              <a:spLocks noChangeShapeType="1"/>
            </p:cNvSpPr>
            <p:nvPr/>
          </p:nvSpPr>
          <p:spPr bwMode="auto">
            <a:xfrm flipV="1">
              <a:off x="542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 Box 33"/>
          <p:cNvSpPr txBox="1">
            <a:spLocks noChangeArrowheads="1"/>
          </p:cNvSpPr>
          <p:nvPr/>
        </p:nvSpPr>
        <p:spPr bwMode="auto">
          <a:xfrm>
            <a:off x="1451636" y="3116511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EMP_DEPT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E52235-74B1-4F0D-A22C-062742EFCAA2}"/>
              </a:ext>
            </a:extLst>
          </p:cNvPr>
          <p:cNvSpPr txBox="1"/>
          <p:nvPr/>
        </p:nvSpPr>
        <p:spPr>
          <a:xfrm>
            <a:off x="5162909" y="5006071"/>
            <a:ext cx="627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FD1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990450-6A9C-89EB-6718-776656BF8B13}"/>
              </a:ext>
            </a:extLst>
          </p:cNvPr>
          <p:cNvSpPr txBox="1"/>
          <p:nvPr/>
        </p:nvSpPr>
        <p:spPr>
          <a:xfrm>
            <a:off x="8058508" y="5450840"/>
            <a:ext cx="627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FD2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7211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Boyce-</a:t>
            </a:r>
            <a:r>
              <a:rPr lang="en-US" altLang="en-US" sz="3600" dirty="0" err="1"/>
              <a:t>Codd</a:t>
            </a:r>
            <a:r>
              <a:rPr lang="en-US" altLang="en-US" sz="3600" dirty="0"/>
              <a:t> Normal Form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74" y="2340704"/>
            <a:ext cx="11029615" cy="3678303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A relation schema is in Boyce-</a:t>
            </a:r>
            <a:r>
              <a:rPr lang="en-US" altLang="en-US" sz="2400" dirty="0" err="1"/>
              <a:t>Codd</a:t>
            </a:r>
            <a:r>
              <a:rPr lang="en-US" altLang="en-US" sz="2400" dirty="0"/>
              <a:t> Normal Form </a:t>
            </a:r>
          </a:p>
          <a:p>
            <a:pPr lvl="1">
              <a:defRPr/>
            </a:pPr>
            <a:r>
              <a:rPr lang="en-US" altLang="en-US" sz="2000" dirty="0"/>
              <a:t>If every nontrivial functional dependency X</a:t>
            </a:r>
            <a:r>
              <a:rPr lang="en-US" altLang="en-US" sz="2000" dirty="0">
                <a:sym typeface="Wingdings" panose="05000000000000000000" pitchFamily="2" charset="2"/>
              </a:rPr>
              <a:t>A hold in R, then X is a </a:t>
            </a:r>
            <a:r>
              <a:rPr lang="en-US" altLang="en-US" sz="2000" dirty="0" err="1">
                <a:sym typeface="Wingdings" panose="05000000000000000000" pitchFamily="2" charset="2"/>
              </a:rPr>
              <a:t>superkey</a:t>
            </a:r>
            <a:r>
              <a:rPr lang="en-US" altLang="en-US" sz="2000" dirty="0">
                <a:sym typeface="Wingdings" panose="05000000000000000000" pitchFamily="2" charset="2"/>
              </a:rPr>
              <a:t> of R</a:t>
            </a:r>
          </a:p>
          <a:p>
            <a:pPr marL="306000" lvl="1">
              <a:defRPr/>
            </a:pPr>
            <a:r>
              <a:rPr lang="en-US" altLang="en-US" sz="2400" dirty="0"/>
              <a:t>Decomposition into BCNF:</a:t>
            </a:r>
          </a:p>
          <a:p>
            <a:pPr marL="576000" lvl="2">
              <a:defRPr/>
            </a:pPr>
            <a:r>
              <a:rPr lang="en-US" altLang="en-US" sz="2200" dirty="0"/>
              <a:t>Consider relation R with FDs F.  If X </a:t>
            </a:r>
            <a:r>
              <a:rPr lang="en-US" altLang="en-US" sz="2200" dirty="0">
                <a:sym typeface="Wingdings" panose="05000000000000000000" pitchFamily="2" charset="2"/>
              </a:rPr>
              <a:t> </a:t>
            </a:r>
            <a:r>
              <a:rPr lang="en-US" altLang="en-US" sz="2200" dirty="0"/>
              <a:t>Y violates BCNF, decompose R</a:t>
            </a:r>
          </a:p>
          <a:p>
            <a:pPr marL="457200" lvl="1" indent="0">
              <a:buNone/>
              <a:defRPr/>
            </a:pPr>
            <a:endParaRPr lang="en-US" altLang="en-US" sz="1600" dirty="0">
              <a:sym typeface="Wingdings" panose="05000000000000000000" pitchFamily="2" charset="2"/>
            </a:endParaRPr>
          </a:p>
          <a:p>
            <a:pPr lvl="1">
              <a:defRPr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457200" lvl="1" indent="0">
              <a:buNone/>
              <a:defRPr/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1">
              <a:defRPr/>
            </a:pPr>
            <a:endParaRPr lang="en-US" altLang="en-US" sz="20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0BACD6-28CE-43BF-A5E6-0FABD9A1FDDC}"/>
              </a:ext>
            </a:extLst>
          </p:cNvPr>
          <p:cNvGrpSpPr>
            <a:grpSpLocks/>
          </p:cNvGrpSpPr>
          <p:nvPr/>
        </p:nvGrpSpPr>
        <p:grpSpPr bwMode="auto">
          <a:xfrm>
            <a:off x="1804248" y="5110163"/>
            <a:ext cx="2133600" cy="685800"/>
            <a:chOff x="914400" y="4457700"/>
            <a:chExt cx="2133600" cy="6858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266319-E23F-4EB5-8AFB-1F9E80D4BBD1}"/>
                </a:ext>
              </a:extLst>
            </p:cNvPr>
            <p:cNvCxnSpPr/>
            <p:nvPr/>
          </p:nvCxnSpPr>
          <p:spPr>
            <a:xfrm>
              <a:off x="914400" y="4762500"/>
              <a:ext cx="21336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B853AC6-4ABC-42FB-918F-F861BC9BBF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4400" y="4457700"/>
              <a:ext cx="2133600" cy="685800"/>
              <a:chOff x="1905000" y="4495800"/>
              <a:chExt cx="2133600" cy="6858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EBD95B71-A179-4EB7-85E9-9AF12D5994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5000" y="4495800"/>
                <a:ext cx="2133600" cy="304800"/>
                <a:chOff x="1905000" y="4495800"/>
                <a:chExt cx="2133600" cy="304800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17AF3D19-D302-480C-BF51-56B252B3B98C}"/>
                    </a:ext>
                  </a:extLst>
                </p:cNvPr>
                <p:cNvCxnSpPr/>
                <p:nvPr/>
              </p:nvCxnSpPr>
              <p:spPr>
                <a:xfrm flipV="1">
                  <a:off x="4038600" y="4495800"/>
                  <a:ext cx="0" cy="3048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0AA3BA54-EEE2-4BDC-9CBE-6D541986E110}"/>
                    </a:ext>
                  </a:extLst>
                </p:cNvPr>
                <p:cNvCxnSpPr/>
                <p:nvPr/>
              </p:nvCxnSpPr>
              <p:spPr>
                <a:xfrm flipV="1">
                  <a:off x="3352800" y="4495800"/>
                  <a:ext cx="0" cy="3048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8AFF1EF2-CB33-479E-8103-D00EC3B1ED15}"/>
                    </a:ext>
                  </a:extLst>
                </p:cNvPr>
                <p:cNvCxnSpPr/>
                <p:nvPr/>
              </p:nvCxnSpPr>
              <p:spPr>
                <a:xfrm>
                  <a:off x="2667000" y="4495800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FA9A87CA-A9D7-4E80-82DC-E45794DE9801}"/>
                    </a:ext>
                  </a:extLst>
                </p:cNvPr>
                <p:cNvCxnSpPr/>
                <p:nvPr/>
              </p:nvCxnSpPr>
              <p:spPr>
                <a:xfrm>
                  <a:off x="1905000" y="4495800"/>
                  <a:ext cx="0" cy="3048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99A67D0-51BD-4B24-900B-2D9731E883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67000" y="4876800"/>
                <a:ext cx="1371600" cy="304800"/>
                <a:chOff x="2667000" y="4876800"/>
                <a:chExt cx="1371600" cy="304800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2A889C77-93AB-4816-81CD-DAB5989A66D5}"/>
                    </a:ext>
                  </a:extLst>
                </p:cNvPr>
                <p:cNvCxnSpPr/>
                <p:nvPr/>
              </p:nvCxnSpPr>
              <p:spPr>
                <a:xfrm>
                  <a:off x="2667000" y="4876800"/>
                  <a:ext cx="0" cy="304800"/>
                </a:xfrm>
                <a:prstGeom prst="line">
                  <a:avLst/>
                </a:prstGeom>
                <a:ln>
                  <a:headEnd type="triangl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0648E6CE-3F34-4C4B-A4CE-9CD1D4F46BD0}"/>
                    </a:ext>
                  </a:extLst>
                </p:cNvPr>
                <p:cNvCxnSpPr/>
                <p:nvPr/>
              </p:nvCxnSpPr>
              <p:spPr>
                <a:xfrm>
                  <a:off x="2667000" y="5181600"/>
                  <a:ext cx="137160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8B50BB9D-AF1D-4138-8D19-3D9271BE74E7}"/>
                    </a:ext>
                  </a:extLst>
                </p:cNvPr>
                <p:cNvCxnSpPr/>
                <p:nvPr/>
              </p:nvCxnSpPr>
              <p:spPr>
                <a:xfrm flipV="1">
                  <a:off x="4038600" y="4876800"/>
                  <a:ext cx="0" cy="304800"/>
                </a:xfrm>
                <a:prstGeom prst="straightConnector1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F292739-D7C3-4B67-9CA8-F19B1403A289}"/>
              </a:ext>
            </a:extLst>
          </p:cNvPr>
          <p:cNvGraphicFramePr>
            <a:graphicFrameLocks noGrp="1"/>
          </p:cNvGraphicFramePr>
          <p:nvPr/>
        </p:nvGraphicFramePr>
        <p:xfrm>
          <a:off x="6271473" y="4478338"/>
          <a:ext cx="213360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none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A929647-6022-4555-A56F-1A47EB692BE4}"/>
              </a:ext>
            </a:extLst>
          </p:cNvPr>
          <p:cNvGraphicFramePr>
            <a:graphicFrameLocks noGrp="1"/>
          </p:cNvGraphicFramePr>
          <p:nvPr/>
        </p:nvGraphicFramePr>
        <p:xfrm>
          <a:off x="6919173" y="5507038"/>
          <a:ext cx="137160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Group 21">
            <a:extLst>
              <a:ext uri="{FF2B5EF4-FFF2-40B4-BE49-F238E27FC236}">
                <a16:creationId xmlns:a16="http://schemas.microsoft.com/office/drawing/2014/main" id="{7E550D17-9D0B-430F-97B7-FB51CE35D2A6}"/>
              </a:ext>
            </a:extLst>
          </p:cNvPr>
          <p:cNvGrpSpPr>
            <a:grpSpLocks/>
          </p:cNvGrpSpPr>
          <p:nvPr/>
        </p:nvGrpSpPr>
        <p:grpSpPr bwMode="auto">
          <a:xfrm>
            <a:off x="7262073" y="5826126"/>
            <a:ext cx="762000" cy="350837"/>
            <a:chOff x="6934200" y="5471886"/>
            <a:chExt cx="762000" cy="35158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C3F8B0-772D-4E0E-B649-5FBB8A049963}"/>
                </a:ext>
              </a:extLst>
            </p:cNvPr>
            <p:cNvCxnSpPr/>
            <p:nvPr/>
          </p:nvCxnSpPr>
          <p:spPr>
            <a:xfrm>
              <a:off x="6934200" y="5471886"/>
              <a:ext cx="0" cy="3372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8FEC871-2367-4426-8FA5-B6062A8688AF}"/>
                </a:ext>
              </a:extLst>
            </p:cNvPr>
            <p:cNvCxnSpPr/>
            <p:nvPr/>
          </p:nvCxnSpPr>
          <p:spPr>
            <a:xfrm>
              <a:off x="7696200" y="5486203"/>
              <a:ext cx="0" cy="337263"/>
            </a:xfrm>
            <a:prstGeom prst="line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F4382B-514F-45BC-A057-FBC0E69F1864}"/>
                </a:ext>
              </a:extLst>
            </p:cNvPr>
            <p:cNvCxnSpPr/>
            <p:nvPr/>
          </p:nvCxnSpPr>
          <p:spPr>
            <a:xfrm>
              <a:off x="6934200" y="5805967"/>
              <a:ext cx="76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5">
            <a:extLst>
              <a:ext uri="{FF2B5EF4-FFF2-40B4-BE49-F238E27FC236}">
                <a16:creationId xmlns:a16="http://schemas.microsoft.com/office/drawing/2014/main" id="{5014F131-4E3E-4F88-BF13-BF77487D3912}"/>
              </a:ext>
            </a:extLst>
          </p:cNvPr>
          <p:cNvGrpSpPr>
            <a:grpSpLocks/>
          </p:cNvGrpSpPr>
          <p:nvPr/>
        </p:nvGrpSpPr>
        <p:grpSpPr bwMode="auto">
          <a:xfrm>
            <a:off x="6681048" y="4835526"/>
            <a:ext cx="1495425" cy="350837"/>
            <a:chOff x="6505575" y="4419600"/>
            <a:chExt cx="1495425" cy="351580"/>
          </a:xfrm>
        </p:grpSpPr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747A4D33-CC6F-4CBE-8E07-89887D9642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05575" y="4419600"/>
              <a:ext cx="1495425" cy="351580"/>
              <a:chOff x="6505575" y="4419600"/>
              <a:chExt cx="1495425" cy="3515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BEEDCA4-1FC7-46BB-A51D-38BA0A071A09}"/>
                  </a:ext>
                </a:extLst>
              </p:cNvPr>
              <p:cNvCxnSpPr/>
              <p:nvPr/>
            </p:nvCxnSpPr>
            <p:spPr>
              <a:xfrm>
                <a:off x="6505575" y="4419600"/>
                <a:ext cx="0" cy="33726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CC15C2C-7536-4493-AC7E-36ED67A44157}"/>
                  </a:ext>
                </a:extLst>
              </p:cNvPr>
              <p:cNvCxnSpPr/>
              <p:nvPr/>
            </p:nvCxnSpPr>
            <p:spPr>
              <a:xfrm>
                <a:off x="7191375" y="4433917"/>
                <a:ext cx="0" cy="337263"/>
              </a:xfrm>
              <a:prstGeom prst="line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9B41AB4-02AE-480B-8265-B4A1FA00CB19}"/>
                  </a:ext>
                </a:extLst>
              </p:cNvPr>
              <p:cNvCxnSpPr/>
              <p:nvPr/>
            </p:nvCxnSpPr>
            <p:spPr>
              <a:xfrm>
                <a:off x="8001000" y="4419600"/>
                <a:ext cx="0" cy="337263"/>
              </a:xfrm>
              <a:prstGeom prst="line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EA04B08-EFEA-423D-9145-D6A60251CE8F}"/>
                </a:ext>
              </a:extLst>
            </p:cNvPr>
            <p:cNvCxnSpPr/>
            <p:nvPr/>
          </p:nvCxnSpPr>
          <p:spPr>
            <a:xfrm>
              <a:off x="6505575" y="4756863"/>
              <a:ext cx="14954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Right Arrow 28">
            <a:extLst>
              <a:ext uri="{FF2B5EF4-FFF2-40B4-BE49-F238E27FC236}">
                <a16:creationId xmlns:a16="http://schemas.microsoft.com/office/drawing/2014/main" id="{5024FF3C-C9AC-46E4-96CF-0D622C1EC7D6}"/>
              </a:ext>
            </a:extLst>
          </p:cNvPr>
          <p:cNvSpPr/>
          <p:nvPr/>
        </p:nvSpPr>
        <p:spPr>
          <a:xfrm>
            <a:off x="5185624" y="5018088"/>
            <a:ext cx="457200" cy="5334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8EB6BF7-4451-4EC8-8B97-2C1D28CD245C}"/>
              </a:ext>
            </a:extLst>
          </p:cNvPr>
          <p:cNvGraphicFramePr>
            <a:graphicFrameLocks noGrp="1"/>
          </p:cNvGraphicFramePr>
          <p:nvPr/>
        </p:nvGraphicFramePr>
        <p:xfrm>
          <a:off x="1587146" y="4738687"/>
          <a:ext cx="281940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798" marB="4579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979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Activity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l="4784" r="8378"/>
          <a:stretch/>
        </p:blipFill>
        <p:spPr bwMode="auto">
          <a:xfrm>
            <a:off x="4881093" y="1881913"/>
            <a:ext cx="6941712" cy="4093883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>
            <a:outerShdw blurRad="50800" dist="50800" dir="4800000" sx="1000" sy="1000" algn="ctr" rotWithShape="0">
              <a:srgbClr val="000000"/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81192" y="1981103"/>
            <a:ext cx="4106718" cy="541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n-US" altLang="en-US" sz="2400" dirty="0">
                <a:solidFill>
                  <a:schemeClr val="tx2"/>
                </a:solidFill>
              </a:rPr>
              <a:t>Consider the following relational schema for R: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defRPr/>
            </a:pPr>
            <a:r>
              <a:rPr lang="en-US" altLang="en-US" sz="2400" dirty="0">
                <a:solidFill>
                  <a:schemeClr val="tx2"/>
                </a:solidFill>
              </a:rPr>
              <a:t>       R(A, B,C,D,E,F,G)</a:t>
            </a:r>
          </a:p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n-US" altLang="en-US" sz="2400" dirty="0">
                <a:solidFill>
                  <a:schemeClr val="tx2"/>
                </a:solidFill>
              </a:rPr>
              <a:t>AB is the primary key in the relation.</a:t>
            </a:r>
          </a:p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/>
            </a:pPr>
            <a:endParaRPr lang="en-US" altLang="en-US" sz="2400" dirty="0">
              <a:solidFill>
                <a:schemeClr val="tx2"/>
              </a:solidFill>
            </a:endParaRPr>
          </a:p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n-US" altLang="en-US" sz="2400" dirty="0">
                <a:solidFill>
                  <a:schemeClr val="tx2"/>
                </a:solidFill>
              </a:rPr>
              <a:t>What normal form is the relation in?</a:t>
            </a:r>
          </a:p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n-US" altLang="en-US" sz="2400" dirty="0">
                <a:solidFill>
                  <a:schemeClr val="tx2"/>
                </a:solidFill>
              </a:rPr>
              <a:t>If R is not in BCNF, convert it to BCNF. </a:t>
            </a:r>
          </a:p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/>
            </a:pPr>
            <a:endParaRPr lang="en-US" alt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976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Activity</a:t>
            </a:r>
          </a:p>
        </p:txBody>
      </p:sp>
      <p:sp>
        <p:nvSpPr>
          <p:cNvPr id="34819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230404" name="Group 1028"/>
          <p:cNvGraphicFramePr>
            <a:graphicFrameLocks noGrp="1"/>
          </p:cNvGraphicFramePr>
          <p:nvPr/>
        </p:nvGraphicFramePr>
        <p:xfrm>
          <a:off x="1905000" y="2463800"/>
          <a:ext cx="8382000" cy="9652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65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PROPERTY_ID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COUNTY_NAME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LOT#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AREA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PRICE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TAX_RATE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4836" name="Group 1044"/>
          <p:cNvGrpSpPr>
            <a:grpSpLocks/>
          </p:cNvGrpSpPr>
          <p:nvPr/>
        </p:nvGrpSpPr>
        <p:grpSpPr bwMode="auto">
          <a:xfrm>
            <a:off x="1905000" y="3429000"/>
            <a:ext cx="7696200" cy="609600"/>
            <a:chOff x="240" y="2160"/>
            <a:chExt cx="4848" cy="384"/>
          </a:xfrm>
        </p:grpSpPr>
        <p:sp>
          <p:nvSpPr>
            <p:cNvPr id="34860" name="Line 1045"/>
            <p:cNvSpPr>
              <a:spLocks noChangeShapeType="1"/>
            </p:cNvSpPr>
            <p:nvPr/>
          </p:nvSpPr>
          <p:spPr bwMode="auto">
            <a:xfrm>
              <a:off x="768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1" name="Line 1046"/>
            <p:cNvSpPr>
              <a:spLocks noChangeShapeType="1"/>
            </p:cNvSpPr>
            <p:nvPr/>
          </p:nvSpPr>
          <p:spPr bwMode="auto">
            <a:xfrm>
              <a:off x="768" y="2544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2" name="Line 1047"/>
            <p:cNvSpPr>
              <a:spLocks noChangeShapeType="1"/>
            </p:cNvSpPr>
            <p:nvPr/>
          </p:nvSpPr>
          <p:spPr bwMode="auto">
            <a:xfrm flipV="1">
              <a:off x="5088" y="2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3" name="Line 1048"/>
            <p:cNvSpPr>
              <a:spLocks noChangeShapeType="1"/>
            </p:cNvSpPr>
            <p:nvPr/>
          </p:nvSpPr>
          <p:spPr bwMode="auto">
            <a:xfrm flipV="1">
              <a:off x="1968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4" name="Line 1049"/>
            <p:cNvSpPr>
              <a:spLocks noChangeShapeType="1"/>
            </p:cNvSpPr>
            <p:nvPr/>
          </p:nvSpPr>
          <p:spPr bwMode="auto">
            <a:xfrm flipV="1">
              <a:off x="2928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5" name="Line 1050"/>
            <p:cNvSpPr>
              <a:spLocks noChangeShapeType="1"/>
            </p:cNvSpPr>
            <p:nvPr/>
          </p:nvSpPr>
          <p:spPr bwMode="auto">
            <a:xfrm flipV="1">
              <a:off x="3792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6" name="Line 1051"/>
            <p:cNvSpPr>
              <a:spLocks noChangeShapeType="1"/>
            </p:cNvSpPr>
            <p:nvPr/>
          </p:nvSpPr>
          <p:spPr bwMode="auto">
            <a:xfrm flipV="1">
              <a:off x="4512" y="2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7" name="Text Box 1052"/>
            <p:cNvSpPr txBox="1">
              <a:spLocks noChangeArrowheads="1"/>
            </p:cNvSpPr>
            <p:nvPr/>
          </p:nvSpPr>
          <p:spPr bwMode="auto">
            <a:xfrm>
              <a:off x="240" y="2256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FD1</a:t>
              </a:r>
            </a:p>
          </p:txBody>
        </p:sp>
      </p:grpSp>
      <p:grpSp>
        <p:nvGrpSpPr>
          <p:cNvPr id="34837" name="Group 1053"/>
          <p:cNvGrpSpPr>
            <a:grpSpLocks/>
          </p:cNvGrpSpPr>
          <p:nvPr/>
        </p:nvGrpSpPr>
        <p:grpSpPr bwMode="auto">
          <a:xfrm>
            <a:off x="1905000" y="4191000"/>
            <a:ext cx="7696200" cy="533400"/>
            <a:chOff x="240" y="2640"/>
            <a:chExt cx="4848" cy="336"/>
          </a:xfrm>
        </p:grpSpPr>
        <p:sp>
          <p:nvSpPr>
            <p:cNvPr id="34852" name="Line 1054"/>
            <p:cNvSpPr>
              <a:spLocks noChangeShapeType="1"/>
            </p:cNvSpPr>
            <p:nvPr/>
          </p:nvSpPr>
          <p:spPr bwMode="auto">
            <a:xfrm>
              <a:off x="196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3" name="Line 1055"/>
            <p:cNvSpPr>
              <a:spLocks noChangeShapeType="1"/>
            </p:cNvSpPr>
            <p:nvPr/>
          </p:nvSpPr>
          <p:spPr bwMode="auto">
            <a:xfrm>
              <a:off x="292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Line 1056"/>
            <p:cNvSpPr>
              <a:spLocks noChangeShapeType="1"/>
            </p:cNvSpPr>
            <p:nvPr/>
          </p:nvSpPr>
          <p:spPr bwMode="auto">
            <a:xfrm>
              <a:off x="768" y="2880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5" name="Line 1057"/>
            <p:cNvSpPr>
              <a:spLocks noChangeShapeType="1"/>
            </p:cNvSpPr>
            <p:nvPr/>
          </p:nvSpPr>
          <p:spPr bwMode="auto">
            <a:xfrm flipV="1">
              <a:off x="76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6" name="Line 1058"/>
            <p:cNvSpPr>
              <a:spLocks noChangeShapeType="1"/>
            </p:cNvSpPr>
            <p:nvPr/>
          </p:nvSpPr>
          <p:spPr bwMode="auto">
            <a:xfrm flipV="1">
              <a:off x="3792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7" name="Line 1059"/>
            <p:cNvSpPr>
              <a:spLocks noChangeShapeType="1"/>
            </p:cNvSpPr>
            <p:nvPr/>
          </p:nvSpPr>
          <p:spPr bwMode="auto">
            <a:xfrm flipV="1">
              <a:off x="4512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8" name="Line 1060"/>
            <p:cNvSpPr>
              <a:spLocks noChangeShapeType="1"/>
            </p:cNvSpPr>
            <p:nvPr/>
          </p:nvSpPr>
          <p:spPr bwMode="auto">
            <a:xfrm flipV="1">
              <a:off x="508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9" name="Text Box 1061"/>
            <p:cNvSpPr txBox="1">
              <a:spLocks noChangeArrowheads="1"/>
            </p:cNvSpPr>
            <p:nvPr/>
          </p:nvSpPr>
          <p:spPr bwMode="auto">
            <a:xfrm>
              <a:off x="240" y="2688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FD2</a:t>
              </a:r>
            </a:p>
          </p:txBody>
        </p:sp>
      </p:grpSp>
      <p:grpSp>
        <p:nvGrpSpPr>
          <p:cNvPr id="34838" name="Group 1062"/>
          <p:cNvGrpSpPr>
            <a:grpSpLocks/>
          </p:cNvGrpSpPr>
          <p:nvPr/>
        </p:nvGrpSpPr>
        <p:grpSpPr bwMode="auto">
          <a:xfrm>
            <a:off x="3657600" y="4648200"/>
            <a:ext cx="5867400" cy="685800"/>
            <a:chOff x="1344" y="2928"/>
            <a:chExt cx="3696" cy="432"/>
          </a:xfrm>
        </p:grpSpPr>
        <p:sp>
          <p:nvSpPr>
            <p:cNvPr id="34848" name="Line 1063"/>
            <p:cNvSpPr>
              <a:spLocks noChangeShapeType="1"/>
            </p:cNvSpPr>
            <p:nvPr/>
          </p:nvSpPr>
          <p:spPr bwMode="auto">
            <a:xfrm>
              <a:off x="1968" y="30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9" name="Line 1064"/>
            <p:cNvSpPr>
              <a:spLocks noChangeShapeType="1"/>
            </p:cNvSpPr>
            <p:nvPr/>
          </p:nvSpPr>
          <p:spPr bwMode="auto">
            <a:xfrm>
              <a:off x="1968" y="3264"/>
              <a:ext cx="3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0" name="Line 1065"/>
            <p:cNvSpPr>
              <a:spLocks noChangeShapeType="1"/>
            </p:cNvSpPr>
            <p:nvPr/>
          </p:nvSpPr>
          <p:spPr bwMode="auto">
            <a:xfrm flipV="1"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1" name="Text Box 1066"/>
            <p:cNvSpPr txBox="1">
              <a:spLocks noChangeArrowheads="1"/>
            </p:cNvSpPr>
            <p:nvPr/>
          </p:nvSpPr>
          <p:spPr bwMode="auto">
            <a:xfrm>
              <a:off x="1344" y="3072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FD3</a:t>
              </a:r>
            </a:p>
          </p:txBody>
        </p:sp>
      </p:grpSp>
      <p:grpSp>
        <p:nvGrpSpPr>
          <p:cNvPr id="34839" name="Group 1067"/>
          <p:cNvGrpSpPr>
            <a:grpSpLocks/>
          </p:cNvGrpSpPr>
          <p:nvPr/>
        </p:nvGrpSpPr>
        <p:grpSpPr bwMode="auto">
          <a:xfrm>
            <a:off x="6553200" y="5257800"/>
            <a:ext cx="2133600" cy="457200"/>
            <a:chOff x="3168" y="3312"/>
            <a:chExt cx="1344" cy="288"/>
          </a:xfrm>
        </p:grpSpPr>
        <p:sp>
          <p:nvSpPr>
            <p:cNvPr id="34844" name="Line 1068"/>
            <p:cNvSpPr>
              <a:spLocks noChangeShapeType="1"/>
            </p:cNvSpPr>
            <p:nvPr/>
          </p:nvSpPr>
          <p:spPr bwMode="auto">
            <a:xfrm>
              <a:off x="379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5" name="Line 1069"/>
            <p:cNvSpPr>
              <a:spLocks noChangeShapeType="1"/>
            </p:cNvSpPr>
            <p:nvPr/>
          </p:nvSpPr>
          <p:spPr bwMode="auto">
            <a:xfrm>
              <a:off x="3792" y="350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6" name="Line 1070"/>
            <p:cNvSpPr>
              <a:spLocks noChangeShapeType="1"/>
            </p:cNvSpPr>
            <p:nvPr/>
          </p:nvSpPr>
          <p:spPr bwMode="auto">
            <a:xfrm flipV="1">
              <a:off x="451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7" name="Text Box 1071"/>
            <p:cNvSpPr txBox="1">
              <a:spLocks noChangeArrowheads="1"/>
            </p:cNvSpPr>
            <p:nvPr/>
          </p:nvSpPr>
          <p:spPr bwMode="auto">
            <a:xfrm>
              <a:off x="3168" y="3312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FD4</a:t>
              </a:r>
            </a:p>
          </p:txBody>
        </p:sp>
      </p:grpSp>
      <p:sp>
        <p:nvSpPr>
          <p:cNvPr id="34840" name="Line 1072"/>
          <p:cNvSpPr>
            <a:spLocks noChangeShapeType="1"/>
          </p:cNvSpPr>
          <p:nvPr/>
        </p:nvSpPr>
        <p:spPr bwMode="auto">
          <a:xfrm>
            <a:off x="7543800" y="5867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1" name="Line 1073"/>
          <p:cNvSpPr>
            <a:spLocks noChangeShapeType="1"/>
          </p:cNvSpPr>
          <p:nvPr/>
        </p:nvSpPr>
        <p:spPr bwMode="auto">
          <a:xfrm flipV="1">
            <a:off x="4495800" y="579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2" name="Line 1074"/>
          <p:cNvSpPr>
            <a:spLocks noChangeShapeType="1"/>
          </p:cNvSpPr>
          <p:nvPr/>
        </p:nvSpPr>
        <p:spPr bwMode="auto">
          <a:xfrm flipH="1">
            <a:off x="4495800" y="62484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3" name="Text Box 1075"/>
          <p:cNvSpPr txBox="1">
            <a:spLocks noChangeArrowheads="1"/>
          </p:cNvSpPr>
          <p:nvPr/>
        </p:nvSpPr>
        <p:spPr bwMode="auto">
          <a:xfrm>
            <a:off x="3565526" y="5756275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FD5</a:t>
            </a:r>
          </a:p>
        </p:txBody>
      </p:sp>
    </p:spTree>
    <p:extLst>
      <p:ext uri="{BB962C8B-B14F-4D97-AF65-F5344CB8AC3E}">
        <p14:creationId xmlns:p14="http://schemas.microsoft.com/office/powerpoint/2010/main" val="289479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you have to do by 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15956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Try out the self-test questions on the course web.</a:t>
            </a:r>
          </a:p>
          <a:p>
            <a:r>
              <a:rPr lang="en-US" sz="3200" dirty="0"/>
              <a:t>Complete the tutorial.</a:t>
            </a:r>
          </a:p>
          <a:p>
            <a:r>
              <a:rPr lang="en-US" sz="3200" dirty="0"/>
              <a:t>Read Chapter </a:t>
            </a:r>
          </a:p>
        </p:txBody>
      </p:sp>
    </p:spTree>
    <p:extLst>
      <p:ext uri="{BB962C8B-B14F-4D97-AF65-F5344CB8AC3E}">
        <p14:creationId xmlns:p14="http://schemas.microsoft.com/office/powerpoint/2010/main" val="7915786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3001</TotalTime>
  <Words>1993</Words>
  <Application>Microsoft Office PowerPoint</Application>
  <PresentationFormat>Widescreen</PresentationFormat>
  <Paragraphs>436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Calibri</vt:lpstr>
      <vt:lpstr>Gill Sans MT</vt:lpstr>
      <vt:lpstr>Tahoma</vt:lpstr>
      <vt:lpstr>Times New Roman</vt:lpstr>
      <vt:lpstr>Wingdings</vt:lpstr>
      <vt:lpstr>Wingdings 2</vt:lpstr>
      <vt:lpstr>Dividend</vt:lpstr>
      <vt:lpstr>Database management systems (it 2040)</vt:lpstr>
      <vt:lpstr>Lecture content</vt:lpstr>
      <vt:lpstr>Learning outcomes</vt:lpstr>
      <vt:lpstr>Why schema refinement?</vt:lpstr>
      <vt:lpstr>Why schema refinement? (contd.)</vt:lpstr>
      <vt:lpstr>Why schema refinement? (contd.)</vt:lpstr>
      <vt:lpstr>Why schema refinement? (CONTd.)</vt:lpstr>
      <vt:lpstr>Why schema refinement? (CONTd.)</vt:lpstr>
      <vt:lpstr>Why schema refinement? (CONTd.)</vt:lpstr>
      <vt:lpstr>Schema refinement</vt:lpstr>
      <vt:lpstr>Functional dependency in general terms</vt:lpstr>
      <vt:lpstr>Functional dependencies</vt:lpstr>
      <vt:lpstr>Activity</vt:lpstr>
      <vt:lpstr>Keys and FDs</vt:lpstr>
      <vt:lpstr>Computing keys using Amstrong Axioms</vt:lpstr>
      <vt:lpstr>Computing keys using Amstrong Axioms (Contd.)</vt:lpstr>
      <vt:lpstr>Activity</vt:lpstr>
      <vt:lpstr>Revisit to some definitions</vt:lpstr>
      <vt:lpstr>Normal forms</vt:lpstr>
      <vt:lpstr>1st normal form</vt:lpstr>
      <vt:lpstr>2nd Normal form</vt:lpstr>
      <vt:lpstr>Activity</vt:lpstr>
      <vt:lpstr>3rd Normal Form</vt:lpstr>
      <vt:lpstr>Activity</vt:lpstr>
      <vt:lpstr>Boyce-Codd Normal Form</vt:lpstr>
      <vt:lpstr>Activity</vt:lpstr>
      <vt:lpstr>Activity</vt:lpstr>
      <vt:lpstr>What you have to do by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(it 2040)</dc:title>
  <dc:creator>Anuradha Karunnasena</dc:creator>
  <cp:lastModifiedBy>Anuradha Karunasena</cp:lastModifiedBy>
  <cp:revision>165</cp:revision>
  <dcterms:created xsi:type="dcterms:W3CDTF">2017-12-01T06:14:40Z</dcterms:created>
  <dcterms:modified xsi:type="dcterms:W3CDTF">2022-07-22T15:51:10Z</dcterms:modified>
</cp:coreProperties>
</file>