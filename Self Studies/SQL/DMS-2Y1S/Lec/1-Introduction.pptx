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90" r:id="rId17"/>
    <p:sldId id="292" r:id="rId18"/>
    <p:sldId id="273" r:id="rId19"/>
    <p:sldId id="277" r:id="rId20"/>
    <p:sldId id="276" r:id="rId21"/>
    <p:sldId id="278" r:id="rId22"/>
    <p:sldId id="279" r:id="rId23"/>
    <p:sldId id="280" r:id="rId24"/>
    <p:sldId id="286" r:id="rId25"/>
    <p:sldId id="274" r:id="rId26"/>
    <p:sldId id="288" r:id="rId27"/>
    <p:sldId id="291" r:id="rId28"/>
    <p:sldId id="275" r:id="rId29"/>
    <p:sldId id="281" r:id="rId30"/>
    <p:sldId id="282" r:id="rId31"/>
    <p:sldId id="283" r:id="rId32"/>
    <p:sldId id="284" r:id="rId33"/>
    <p:sldId id="285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management systems (it 2040)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Lecture 01- Introduction to </a:t>
            </a:r>
            <a:r>
              <a:rPr lang="en-US" sz="2400" dirty="0" err="1"/>
              <a:t>dbms</a:t>
            </a:r>
            <a:r>
              <a:rPr lang="en-US" sz="2400" dirty="0"/>
              <a:t> and database </a:t>
            </a:r>
            <a:r>
              <a:rPr lang="en-US" sz="2400"/>
              <a:t>design process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423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Lecture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Introduction to databases, DBMS and their benefits</a:t>
            </a:r>
          </a:p>
          <a:p>
            <a:r>
              <a:rPr lang="en-US" sz="2800" dirty="0"/>
              <a:t>Database design process</a:t>
            </a:r>
          </a:p>
          <a:p>
            <a:r>
              <a:rPr lang="en-US" sz="2800" dirty="0"/>
              <a:t>Requirement analysis</a:t>
            </a:r>
          </a:p>
          <a:p>
            <a:r>
              <a:rPr lang="en-US" sz="2800" dirty="0"/>
              <a:t>Conceptual modelling using EER diagrams</a:t>
            </a:r>
          </a:p>
          <a:p>
            <a:r>
              <a:rPr lang="en-US" sz="2800" dirty="0"/>
              <a:t>Design traps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98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Explain what is a database and a DBMS.</a:t>
            </a:r>
          </a:p>
          <a:p>
            <a:r>
              <a:rPr lang="en-US" sz="2800" dirty="0"/>
              <a:t>Identify situations where using a database would be beneficial.</a:t>
            </a:r>
          </a:p>
          <a:p>
            <a:r>
              <a:rPr lang="en-US" sz="2800" dirty="0"/>
              <a:t>Explain the database design process.</a:t>
            </a:r>
          </a:p>
          <a:p>
            <a:r>
              <a:rPr lang="en-US" sz="2800" dirty="0"/>
              <a:t>Draw a EER diagram for a given scenario.</a:t>
            </a:r>
          </a:p>
        </p:txBody>
      </p:sp>
    </p:spTree>
    <p:extLst>
      <p:ext uri="{BB962C8B-B14F-4D97-AF65-F5344CB8AC3E}">
        <p14:creationId xmlns:p14="http://schemas.microsoft.com/office/powerpoint/2010/main" val="338927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is a database &amp; a </a:t>
            </a:r>
            <a:r>
              <a:rPr lang="en-US" sz="3600" dirty="0" err="1"/>
              <a:t>dbms</a:t>
            </a:r>
            <a:r>
              <a:rPr lang="en-US" sz="3600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database</a:t>
            </a:r>
            <a:r>
              <a:rPr lang="en-US" sz="2800" dirty="0"/>
              <a:t> is a collection of related data.</a:t>
            </a:r>
          </a:p>
          <a:p>
            <a:r>
              <a:rPr lang="en-US" sz="2800" dirty="0"/>
              <a:t>A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database management systems (DBMS) </a:t>
            </a:r>
            <a:r>
              <a:rPr lang="en-US" sz="2800" dirty="0"/>
              <a:t>is a general-purpose software system that facilitates the processes of defining, constructing, manipulating, and sharing databases among various users and applications.</a:t>
            </a:r>
          </a:p>
          <a:p>
            <a:pPr lvl="1"/>
            <a:r>
              <a:rPr lang="en-US" sz="2600" dirty="0"/>
              <a:t>What do you understand by defining, constructing, manipulating and sharing databases?</a:t>
            </a:r>
          </a:p>
        </p:txBody>
      </p:sp>
    </p:spTree>
    <p:extLst>
      <p:ext uri="{BB962C8B-B14F-4D97-AF65-F5344CB8AC3E}">
        <p14:creationId xmlns:p14="http://schemas.microsoft.com/office/powerpoint/2010/main" val="2334280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a database?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Traditionally data are stored in files. So why don’t we store all data in files.</a:t>
            </a:r>
          </a:p>
          <a:p>
            <a:r>
              <a:rPr lang="en-US" sz="2800" dirty="0"/>
              <a:t>Example :</a:t>
            </a:r>
          </a:p>
          <a:p>
            <a:pPr lvl="1"/>
            <a:r>
              <a:rPr lang="en-US" sz="2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Scenario 1 </a:t>
            </a:r>
            <a:r>
              <a:rPr lang="en-US" sz="2600" dirty="0"/>
              <a:t>: A several thousand of students are enrolled for courses at SLIIT. How do you recommend to store these students’ data and why?</a:t>
            </a:r>
          </a:p>
          <a:p>
            <a:pPr lvl="1"/>
            <a:r>
              <a:rPr lang="en-US" sz="2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Scenario 2 </a:t>
            </a:r>
            <a:r>
              <a:rPr lang="en-US" sz="2600" dirty="0"/>
              <a:t>:During the New Year season you need to buy various groceries and presents for family. How do you recommend to store your shopping list and why?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51019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Database approach </a:t>
            </a:r>
            <a:r>
              <a:rPr lang="en-US" sz="3600" dirty="0" err="1"/>
              <a:t>vs</a:t>
            </a:r>
            <a:r>
              <a:rPr lang="en-US" sz="3600" dirty="0"/>
              <a:t> file processing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Database system is of self-describing nature </a:t>
            </a:r>
          </a:p>
          <a:p>
            <a:r>
              <a:rPr lang="en-US" sz="2800" dirty="0"/>
              <a:t>Database enables insulation between programs and data, and data abstraction</a:t>
            </a:r>
          </a:p>
          <a:p>
            <a:r>
              <a:rPr lang="en-US" sz="2800" dirty="0"/>
              <a:t>Databases support of multiple views of the data</a:t>
            </a:r>
          </a:p>
          <a:p>
            <a:r>
              <a:rPr lang="en-US" sz="2800" dirty="0"/>
              <a:t>Sharing of data and multiuser transaction processing</a:t>
            </a:r>
          </a:p>
          <a:p>
            <a:r>
              <a:rPr lang="en-US" sz="2800" dirty="0"/>
              <a:t>Security and access levels</a:t>
            </a:r>
          </a:p>
        </p:txBody>
      </p:sp>
    </p:spTree>
    <p:extLst>
      <p:ext uri="{BB962C8B-B14F-4D97-AF65-F5344CB8AC3E}">
        <p14:creationId xmlns:p14="http://schemas.microsoft.com/office/powerpoint/2010/main" val="4063049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Advantages of database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independence </a:t>
            </a:r>
            <a:r>
              <a:rPr lang="en-US" sz="2400" dirty="0"/>
              <a:t>– application programs are independent of the way the data is structured and stored</a:t>
            </a: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Efficient data access </a:t>
            </a:r>
            <a:r>
              <a:rPr lang="en-US" sz="2400" dirty="0"/>
              <a:t>– make the data retrieval efficient using sophisticated techniques to store and access data</a:t>
            </a: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Enforcing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integrity</a:t>
            </a:r>
            <a:r>
              <a:rPr lang="en-US" sz="2400" dirty="0"/>
              <a:t> – provide capabilities to define and enforce constraints</a:t>
            </a:r>
          </a:p>
          <a:p>
            <a:pPr lvl="1"/>
            <a:r>
              <a:rPr lang="en-US" sz="2200" dirty="0"/>
              <a:t>Ex: Data type for a name should be string</a:t>
            </a: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Restricting unauthorized access</a:t>
            </a:r>
            <a:r>
              <a:rPr lang="en-US" sz="2400" dirty="0">
                <a:solidFill>
                  <a:schemeClr val="tx1"/>
                </a:solidFill>
              </a:rPr>
              <a:t> – </a:t>
            </a:r>
            <a:r>
              <a:rPr lang="en-US" sz="2200" dirty="0"/>
              <a:t>allows only authorized users to access data</a:t>
            </a:r>
          </a:p>
          <a:p>
            <a:r>
              <a:rPr lang="en-US" sz="2400" dirty="0">
                <a:solidFill>
                  <a:srgbClr val="0070C0"/>
                </a:solidFill>
              </a:rPr>
              <a:t>Providing backup and recovery </a:t>
            </a:r>
            <a:r>
              <a:rPr lang="en-US" sz="2400" dirty="0"/>
              <a:t>– protects users from the effect of system failures</a:t>
            </a:r>
          </a:p>
          <a:p>
            <a:r>
              <a:rPr lang="en-US" sz="2400" dirty="0">
                <a:solidFill>
                  <a:srgbClr val="0070C0"/>
                </a:solidFill>
              </a:rPr>
              <a:t>Concurrent access </a:t>
            </a:r>
            <a:r>
              <a:rPr lang="en-US" sz="2400" dirty="0"/>
              <a:t>– simultaneous access of data by different users</a:t>
            </a:r>
          </a:p>
        </p:txBody>
      </p:sp>
    </p:spTree>
    <p:extLst>
      <p:ext uri="{BB962C8B-B14F-4D97-AF65-F5344CB8AC3E}">
        <p14:creationId xmlns:p14="http://schemas.microsoft.com/office/powerpoint/2010/main" val="1320891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Database design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There are six main phases of the process to develop a database</a:t>
            </a:r>
          </a:p>
          <a:p>
            <a:pPr lvl="1"/>
            <a:r>
              <a:rPr lang="en-US" sz="2600" dirty="0"/>
              <a:t>Requirement collection and analysis</a:t>
            </a:r>
          </a:p>
          <a:p>
            <a:pPr lvl="1"/>
            <a:r>
              <a:rPr lang="en-US" sz="2600" dirty="0"/>
              <a:t>Conceptual database design</a:t>
            </a:r>
          </a:p>
          <a:p>
            <a:pPr lvl="1"/>
            <a:r>
              <a:rPr lang="en-US" sz="2600" dirty="0"/>
              <a:t>Logical database design</a:t>
            </a:r>
          </a:p>
          <a:p>
            <a:pPr lvl="1"/>
            <a:r>
              <a:rPr lang="en-US" sz="2600" dirty="0"/>
              <a:t>Schema refinement</a:t>
            </a:r>
          </a:p>
          <a:p>
            <a:pPr lvl="1"/>
            <a:r>
              <a:rPr lang="en-US" sz="2600" dirty="0"/>
              <a:t>Physical database design</a:t>
            </a:r>
          </a:p>
          <a:p>
            <a:pPr lvl="1"/>
            <a:r>
              <a:rPr lang="en-US" sz="2600" dirty="0"/>
              <a:t>Security design</a:t>
            </a:r>
          </a:p>
        </p:txBody>
      </p:sp>
    </p:spTree>
    <p:extLst>
      <p:ext uri="{BB962C8B-B14F-4D97-AF65-F5344CB8AC3E}">
        <p14:creationId xmlns:p14="http://schemas.microsoft.com/office/powerpoint/2010/main" val="62628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Requirement collection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purpose of the phase is to collect and analyze the expectations of the users &amp; the intended uses of the database.</a:t>
            </a:r>
          </a:p>
          <a:p>
            <a:r>
              <a:rPr lang="en-US" sz="2800" dirty="0"/>
              <a:t>The process would include interviewing clients and analyzing documents such as files used to record data and reports to be generated. </a:t>
            </a:r>
          </a:p>
          <a:p>
            <a:r>
              <a:rPr lang="en-US" sz="2800" dirty="0"/>
              <a:t>At the end of the requirement collection, the database developer should identify any unclear or incomplete requirements, redundant information and eliminate them.</a:t>
            </a:r>
          </a:p>
        </p:txBody>
      </p:sp>
    </p:spTree>
    <p:extLst>
      <p:ext uri="{BB962C8B-B14F-4D97-AF65-F5344CB8AC3E}">
        <p14:creationId xmlns:p14="http://schemas.microsoft.com/office/powerpoint/2010/main" val="714951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Requirement analysis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Aspects to consider include</a:t>
            </a:r>
          </a:p>
          <a:p>
            <a:pPr lvl="1"/>
            <a:r>
              <a:rPr lang="en-US" sz="2800" dirty="0"/>
              <a:t>What data is to be stored in the database?</a:t>
            </a:r>
          </a:p>
          <a:p>
            <a:pPr lvl="1"/>
            <a:r>
              <a:rPr lang="en-US" sz="2800" dirty="0"/>
              <a:t>What applications are to be built? </a:t>
            </a:r>
          </a:p>
          <a:p>
            <a:pPr lvl="1"/>
            <a:r>
              <a:rPr lang="en-US" sz="2800" dirty="0"/>
              <a:t>What operations have to be performed? </a:t>
            </a:r>
            <a:endParaRPr lang="en-US" sz="26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62540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Conceptual 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result of the requirement analysis step is a concisely written set of users’ requirements.</a:t>
            </a:r>
          </a:p>
          <a:p>
            <a:r>
              <a:rPr lang="en-US" sz="2400" dirty="0"/>
              <a:t>Once, this step is completed, the next step is to create a </a:t>
            </a:r>
            <a:r>
              <a:rPr lang="en-US" sz="2400" b="1" dirty="0">
                <a:solidFill>
                  <a:schemeClr val="accent2"/>
                </a:solidFill>
              </a:rPr>
              <a:t>conceptual database schema </a:t>
            </a:r>
            <a:r>
              <a:rPr lang="en-US" sz="2400" dirty="0"/>
              <a:t>for the database, using a high-level conceptual data model. </a:t>
            </a:r>
          </a:p>
          <a:p>
            <a:r>
              <a:rPr lang="en-US" sz="2400" dirty="0"/>
              <a:t>This step is called </a:t>
            </a:r>
            <a:r>
              <a:rPr lang="en-US" sz="2400" b="1" dirty="0">
                <a:solidFill>
                  <a:schemeClr val="accent2"/>
                </a:solidFill>
              </a:rPr>
              <a:t>conceptual database design</a:t>
            </a:r>
            <a:r>
              <a:rPr lang="en-US" sz="2400" dirty="0"/>
              <a:t>.</a:t>
            </a:r>
          </a:p>
          <a:p>
            <a:r>
              <a:rPr lang="en-US" sz="2400" b="1" dirty="0">
                <a:solidFill>
                  <a:schemeClr val="accent2"/>
                </a:solidFill>
              </a:rPr>
              <a:t>Entity-Relationship </a:t>
            </a:r>
            <a:r>
              <a:rPr lang="en-US" sz="2400" dirty="0">
                <a:solidFill>
                  <a:schemeClr val="accent2"/>
                </a:solidFill>
              </a:rPr>
              <a:t>(</a:t>
            </a:r>
            <a:r>
              <a:rPr lang="en-US" sz="2400" b="1" dirty="0">
                <a:solidFill>
                  <a:schemeClr val="accent2"/>
                </a:solidFill>
              </a:rPr>
              <a:t>ER</a:t>
            </a:r>
            <a:r>
              <a:rPr lang="en-US" sz="2400" dirty="0">
                <a:solidFill>
                  <a:schemeClr val="accent2"/>
                </a:solidFill>
              </a:rPr>
              <a:t>) </a:t>
            </a:r>
            <a:r>
              <a:rPr lang="en-US" sz="2400" b="1" dirty="0">
                <a:solidFill>
                  <a:schemeClr val="accent2"/>
                </a:solidFill>
              </a:rPr>
              <a:t>model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is a high-level conceptual data model. </a:t>
            </a:r>
          </a:p>
        </p:txBody>
      </p:sp>
    </p:spTree>
    <p:extLst>
      <p:ext uri="{BB962C8B-B14F-4D97-AF65-F5344CB8AC3E}">
        <p14:creationId xmlns:p14="http://schemas.microsoft.com/office/powerpoint/2010/main" val="267124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ER model - Entities &amp;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57770"/>
            <a:ext cx="11029615" cy="367830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You already know these !</a:t>
            </a:r>
          </a:p>
          <a:p>
            <a:pPr lvl="1"/>
            <a:r>
              <a:rPr lang="en-US" sz="2600" dirty="0"/>
              <a:t>Check the handout for the definitions and examples for entities, different types of attributes and keys. </a:t>
            </a:r>
          </a:p>
          <a:p>
            <a:r>
              <a:rPr lang="en-US" sz="2800" dirty="0"/>
              <a:t>Select an important entity in a context you are familiar.  Add simple attributes, a multivalued attribute, a composite attribute and a key to the entity you identified.</a:t>
            </a:r>
          </a:p>
          <a:p>
            <a:pPr lvl="1"/>
            <a:r>
              <a:rPr lang="en-US" sz="2600" dirty="0"/>
              <a:t>Try not to use the attributes shown in the handouts.</a:t>
            </a:r>
          </a:p>
          <a:p>
            <a:r>
              <a:rPr lang="en-US" sz="2800" dirty="0"/>
              <a:t>Exchange what you have drawn with your peer. What have they written?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80049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ER model - Binary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You already know these too !</a:t>
            </a:r>
          </a:p>
          <a:p>
            <a:pPr lvl="1"/>
            <a:r>
              <a:rPr lang="en-US" sz="2600" dirty="0"/>
              <a:t>Check the handout for the definitions and examples for different cardinalities in binary relationships such as 1:1, 1:N and M:N</a:t>
            </a:r>
          </a:p>
          <a:p>
            <a:pPr lvl="1"/>
            <a:r>
              <a:rPr lang="en-US" sz="2600" dirty="0"/>
              <a:t>Now draw examples for each cardinality ratio above associated with binary relationships.</a:t>
            </a:r>
          </a:p>
          <a:p>
            <a:pPr lvl="1"/>
            <a:r>
              <a:rPr lang="en-US" sz="2600" dirty="0"/>
              <a:t>Exchange what you have drawn with your peer. What has he/she drawn?</a:t>
            </a:r>
          </a:p>
          <a:p>
            <a:pPr lvl="1"/>
            <a:endParaRPr lang="en-US" sz="2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563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Er</a:t>
            </a:r>
            <a:r>
              <a:rPr lang="en-US" sz="3600" dirty="0"/>
              <a:t> model - Weak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618382"/>
            <a:ext cx="11029615" cy="3678303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Weak entities are entities that cannot be uniquely identified alone in a domain.</a:t>
            </a:r>
          </a:p>
          <a:p>
            <a:r>
              <a:rPr lang="en-US" sz="2600" dirty="0"/>
              <a:t>Following restrictions must hold with relevance to weak entities </a:t>
            </a:r>
          </a:p>
          <a:p>
            <a:pPr lvl="1"/>
            <a:r>
              <a:rPr lang="en-US" sz="2400" dirty="0"/>
              <a:t>The owner entity set and the weak entity set must participate in a one-to-many relationship set (one owner entity is associated with one or more weak entities, but each weak entity has a single owner). This relationship set is called the </a:t>
            </a:r>
            <a:r>
              <a:rPr lang="en-US" sz="2400" b="1" dirty="0">
                <a:solidFill>
                  <a:schemeClr val="accent2"/>
                </a:solidFill>
              </a:rPr>
              <a:t>identifying relationship set </a:t>
            </a:r>
            <a:r>
              <a:rPr lang="en-US" sz="2400" dirty="0"/>
              <a:t>of the weak entity set.</a:t>
            </a:r>
          </a:p>
          <a:p>
            <a:pPr lvl="1"/>
            <a:r>
              <a:rPr lang="en-US" sz="2400" dirty="0"/>
              <a:t>The weak entity set must have total participation in the identifying relationship set.</a:t>
            </a:r>
          </a:p>
          <a:p>
            <a:r>
              <a:rPr lang="en-US" sz="2600" dirty="0"/>
              <a:t>Can you think of an weak entity in a domain you know?</a:t>
            </a:r>
          </a:p>
          <a:p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6224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Er</a:t>
            </a:r>
            <a:r>
              <a:rPr lang="en-US" sz="3600" dirty="0"/>
              <a:t> model - Ternary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009104"/>
            <a:ext cx="11029615" cy="4713668"/>
          </a:xfrm>
        </p:spPr>
        <p:txBody>
          <a:bodyPr>
            <a:normAutofit fontScale="77500" lnSpcReduction="20000"/>
          </a:bodyPr>
          <a:lstStyle/>
          <a:p>
            <a:endParaRPr lang="en-US" sz="2600" dirty="0"/>
          </a:p>
          <a:p>
            <a:r>
              <a:rPr lang="en-US" sz="2800" dirty="0"/>
              <a:t>A ternary relationship is when three entities participate in the relationship. </a:t>
            </a:r>
          </a:p>
          <a:p>
            <a:r>
              <a:rPr lang="en-US" sz="2800" dirty="0"/>
              <a:t>When to use ternary </a:t>
            </a:r>
            <a:r>
              <a:rPr lang="en-US" sz="2800" dirty="0" err="1"/>
              <a:t>vs</a:t>
            </a:r>
            <a:r>
              <a:rPr lang="en-US" sz="2800" dirty="0"/>
              <a:t> binary?</a:t>
            </a:r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endParaRPr lang="en-US" sz="2800" dirty="0"/>
          </a:p>
          <a:p>
            <a:r>
              <a:rPr lang="en-US" sz="2800" dirty="0"/>
              <a:t>Ternary relationships could be used when there is a common attribute </a:t>
            </a:r>
            <a:r>
              <a:rPr lang="en-IE" sz="2800" dirty="0"/>
              <a:t>that needs all three entities together,  (ex: quantity)</a:t>
            </a:r>
            <a:endParaRPr lang="en-US" sz="2800" dirty="0"/>
          </a:p>
          <a:p>
            <a:r>
              <a:rPr lang="en-US" sz="2800" dirty="0"/>
              <a:t>Include the ternary relationship </a:t>
            </a:r>
            <a:r>
              <a:rPr lang="en-US" sz="2800" i="1" dirty="0"/>
              <a:t>plus </a:t>
            </a:r>
            <a:r>
              <a:rPr lang="en-US" sz="2800" dirty="0"/>
              <a:t>one or more of the binary relationships, if they represent different meanings and if all are needed</a:t>
            </a:r>
            <a:endParaRPr lang="en-US" sz="2600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17" y="3110119"/>
            <a:ext cx="4672797" cy="20543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044" y="2838348"/>
            <a:ext cx="4628300" cy="224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737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Activity 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708335" y="2017712"/>
            <a:ext cx="10902473" cy="4292935"/>
          </a:xfrm>
        </p:spPr>
        <p:txBody>
          <a:bodyPr>
            <a:noAutofit/>
          </a:bodyPr>
          <a:lstStyle/>
          <a:p>
            <a:r>
              <a:rPr lang="en-US" altLang="en-US" sz="2200" dirty="0"/>
              <a:t>Draw an ER diagram for the scenario below. </a:t>
            </a:r>
          </a:p>
          <a:p>
            <a:pPr lvl="1"/>
            <a:r>
              <a:rPr lang="en-US" altLang="en-US" sz="2000" dirty="0"/>
              <a:t>A Library is organized into several sections such as fiction, children and technology. Each section has a name and a number(unique) and its headed by a head librarian.</a:t>
            </a:r>
          </a:p>
          <a:p>
            <a:pPr lvl="1"/>
            <a:r>
              <a:rPr lang="en-US" altLang="en-US" sz="2000" dirty="0"/>
              <a:t>Each book belong to a section and has a title, authors, ISBN, year and a publisher.</a:t>
            </a:r>
          </a:p>
          <a:p>
            <a:pPr lvl="1"/>
            <a:r>
              <a:rPr lang="en-US" altLang="en-US" sz="2000" dirty="0"/>
              <a:t>A book may have several copies. Each copy is identified by an access number.</a:t>
            </a:r>
          </a:p>
          <a:p>
            <a:pPr lvl="1"/>
            <a:r>
              <a:rPr lang="en-US" altLang="en-US" sz="2000" dirty="0"/>
              <a:t>For each copy borrowed, current borrower and due date should be tracked.</a:t>
            </a:r>
          </a:p>
          <a:p>
            <a:pPr lvl="1"/>
            <a:r>
              <a:rPr lang="en-US" altLang="en-US" sz="2000" dirty="0"/>
              <a:t>Members have a membership number, an address and a phone number.</a:t>
            </a:r>
          </a:p>
          <a:p>
            <a:pPr lvl="1"/>
            <a:r>
              <a:rPr lang="en-US" altLang="en-US" sz="2000" dirty="0"/>
              <a:t>Members can borrow 5 books and could put hold request on a book</a:t>
            </a:r>
          </a:p>
          <a:p>
            <a:pPr lvl="1"/>
            <a:r>
              <a:rPr lang="en-US" altLang="en-US" sz="2000" dirty="0"/>
              <a:t>Librarian has a name, id number, phone and an address.</a:t>
            </a:r>
          </a:p>
        </p:txBody>
      </p:sp>
    </p:spTree>
    <p:extLst>
      <p:ext uri="{BB962C8B-B14F-4D97-AF65-F5344CB8AC3E}">
        <p14:creationId xmlns:p14="http://schemas.microsoft.com/office/powerpoint/2010/main" val="124257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ER model we discussed so far has been enhanced by adding several new concepts leading to the development of the </a:t>
            </a:r>
            <a:r>
              <a:rPr lang="en-US" sz="2400" dirty="0">
                <a:solidFill>
                  <a:schemeClr val="accent2"/>
                </a:solidFill>
              </a:rPr>
              <a:t>EER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/>
                </a:solidFill>
              </a:rPr>
              <a:t>model</a:t>
            </a:r>
            <a:r>
              <a:rPr lang="en-US" sz="2400" dirty="0"/>
              <a:t>.</a:t>
            </a:r>
          </a:p>
          <a:p>
            <a:r>
              <a:rPr lang="en-US" sz="2400" dirty="0"/>
              <a:t>An important extension included in the EER model is the specialization and generalization concepts.</a:t>
            </a:r>
          </a:p>
          <a:p>
            <a:pPr lvl="1"/>
            <a:r>
              <a:rPr lang="en-US" sz="2200" dirty="0">
                <a:solidFill>
                  <a:schemeClr val="accent2"/>
                </a:solidFill>
              </a:rPr>
              <a:t>Specialization </a:t>
            </a:r>
            <a:r>
              <a:rPr lang="en-US" sz="2200" dirty="0"/>
              <a:t>is the process of defining a set of subclasses of an entity type.</a:t>
            </a:r>
          </a:p>
          <a:p>
            <a:pPr lvl="2"/>
            <a:r>
              <a:rPr lang="en-US" sz="2000" dirty="0"/>
              <a:t>Employee &amp; permanent employee</a:t>
            </a:r>
          </a:p>
          <a:p>
            <a:pPr lvl="1"/>
            <a:r>
              <a:rPr lang="en-US" altLang="en-US" sz="2200" dirty="0">
                <a:solidFill>
                  <a:schemeClr val="accent2"/>
                </a:solidFill>
              </a:rPr>
              <a:t>Generalization</a:t>
            </a:r>
            <a:r>
              <a:rPr lang="en-US" altLang="en-US" sz="2200" dirty="0"/>
              <a:t> is the process of identifying commonalities between entity types and grouping them as super-classes.</a:t>
            </a:r>
          </a:p>
        </p:txBody>
      </p:sp>
    </p:spTree>
    <p:extLst>
      <p:ext uri="{BB962C8B-B14F-4D97-AF65-F5344CB8AC3E}">
        <p14:creationId xmlns:p14="http://schemas.microsoft.com/office/powerpoint/2010/main" val="143209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EER model - ISA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 many cases an entity type has numerous subgroupings or subtypes of its entities that are meaningful and need to be represented explicitly because of their significance to the database application. </a:t>
            </a:r>
          </a:p>
          <a:p>
            <a:pPr lvl="1"/>
            <a:r>
              <a:rPr lang="en-US" sz="2400" dirty="0"/>
              <a:t>Ex: the entities that are members of the </a:t>
            </a:r>
            <a:r>
              <a:rPr lang="en-US" sz="2000" dirty="0"/>
              <a:t>EMPLOYEE </a:t>
            </a:r>
            <a:r>
              <a:rPr lang="en-US" sz="2400" dirty="0"/>
              <a:t>entity type may be distinguished further into contract employees and permanent employees</a:t>
            </a:r>
          </a:p>
          <a:p>
            <a:r>
              <a:rPr lang="en-US" sz="2600" dirty="0"/>
              <a:t>Such subtypes could be represented in EER diagrams using ‘ISA’ relationships</a:t>
            </a:r>
          </a:p>
        </p:txBody>
      </p:sp>
    </p:spTree>
    <p:extLst>
      <p:ext uri="{BB962C8B-B14F-4D97-AF65-F5344CB8AC3E}">
        <p14:creationId xmlns:p14="http://schemas.microsoft.com/office/powerpoint/2010/main" val="4221172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EER model - ISA relationships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Note that the subclasses may have their own attributes and relationships.</a:t>
            </a:r>
          </a:p>
          <a:p>
            <a:r>
              <a:rPr lang="en-US" sz="2400" dirty="0"/>
              <a:t>Every entity in the subclass is also an employee entity and have all the have all of the attributes of Employees entity.</a:t>
            </a:r>
          </a:p>
          <a:p>
            <a:r>
              <a:rPr lang="en-US" sz="2400" dirty="0"/>
              <a:t>Thus attributes of the permanent employee include all attributes of employee entity and those of permanent employee.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003583" y="1944710"/>
            <a:ext cx="5763412" cy="4772118"/>
            <a:chOff x="6003583" y="1944710"/>
            <a:chExt cx="5763412" cy="4772118"/>
          </a:xfrm>
        </p:grpSpPr>
        <p:grpSp>
          <p:nvGrpSpPr>
            <p:cNvPr id="43" name="Group 42"/>
            <p:cNvGrpSpPr/>
            <p:nvPr/>
          </p:nvGrpSpPr>
          <p:grpSpPr>
            <a:xfrm>
              <a:off x="6471753" y="1944710"/>
              <a:ext cx="5295242" cy="4772118"/>
              <a:chOff x="6471753" y="1944710"/>
              <a:chExt cx="5295242" cy="4772118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8152327" y="2730321"/>
                <a:ext cx="1635617" cy="50227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Employee</a:t>
                </a:r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6819010" y="2382590"/>
                <a:ext cx="1030310" cy="437881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u="sng" dirty="0" err="1"/>
                  <a:t>eId</a:t>
                </a:r>
                <a:endParaRPr lang="en-US" u="sng" dirty="0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8097414" y="1944710"/>
                <a:ext cx="1571222" cy="56667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ename</a:t>
                </a:r>
                <a:endParaRPr lang="en-US" dirty="0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10084158" y="2305317"/>
                <a:ext cx="978794" cy="52803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age</a:t>
                </a:r>
              </a:p>
            </p:txBody>
          </p:sp>
          <p:sp>
            <p:nvSpPr>
              <p:cNvPr id="12" name="Isosceles Triangle 11"/>
              <p:cNvSpPr/>
              <p:nvPr/>
            </p:nvSpPr>
            <p:spPr>
              <a:xfrm>
                <a:off x="8332631" y="3734915"/>
                <a:ext cx="1171977" cy="772732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ISA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471753" y="5359937"/>
                <a:ext cx="2144214" cy="50111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Permanent Employee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9302958" y="5359937"/>
                <a:ext cx="2144214" cy="50111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Contract Employee</a:t>
                </a:r>
              </a:p>
            </p:txBody>
          </p:sp>
          <p:cxnSp>
            <p:nvCxnSpPr>
              <p:cNvPr id="16" name="Straight Connector 15"/>
              <p:cNvCxnSpPr>
                <a:stCxn id="12" idx="0"/>
              </p:cNvCxnSpPr>
              <p:nvPr/>
            </p:nvCxnSpPr>
            <p:spPr>
              <a:xfrm flipH="1" flipV="1">
                <a:off x="8918619" y="3255571"/>
                <a:ext cx="1" cy="47934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H="1">
                <a:off x="7543860" y="4507647"/>
                <a:ext cx="1072107" cy="85229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9133014" y="4507647"/>
                <a:ext cx="1242051" cy="85229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Oval 22"/>
              <p:cNvSpPr/>
              <p:nvPr/>
            </p:nvSpPr>
            <p:spPr>
              <a:xfrm>
                <a:off x="10400822" y="6095195"/>
                <a:ext cx="1366173" cy="61814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Hours_worked</a:t>
                </a:r>
                <a:endParaRPr lang="en-US" dirty="0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8605237" y="6098683"/>
                <a:ext cx="1366173" cy="61814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Hours_rate</a:t>
                </a:r>
                <a:endParaRPr lang="en-US" dirty="0"/>
              </a:p>
            </p:txBody>
          </p:sp>
          <p:cxnSp>
            <p:nvCxnSpPr>
              <p:cNvPr id="28" name="Straight Connector 27"/>
              <p:cNvCxnSpPr>
                <a:stCxn id="6" idx="5"/>
                <a:endCxn id="5" idx="1"/>
              </p:cNvCxnSpPr>
              <p:nvPr/>
            </p:nvCxnSpPr>
            <p:spPr>
              <a:xfrm>
                <a:off x="7698435" y="2756345"/>
                <a:ext cx="453892" cy="22511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>
                <a:stCxn id="9" idx="3"/>
                <a:endCxn id="5" idx="3"/>
              </p:cNvCxnSpPr>
              <p:nvPr/>
            </p:nvCxnSpPr>
            <p:spPr>
              <a:xfrm flipH="1">
                <a:off x="9787944" y="2756021"/>
                <a:ext cx="439555" cy="22543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7" idx="4"/>
                <a:endCxn id="5" idx="0"/>
              </p:cNvCxnSpPr>
              <p:nvPr/>
            </p:nvCxnSpPr>
            <p:spPr>
              <a:xfrm>
                <a:off x="8883025" y="2511380"/>
                <a:ext cx="87111" cy="2189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10778096" y="5861009"/>
                <a:ext cx="270456" cy="23414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>
                <a:stCxn id="25" idx="7"/>
              </p:cNvCxnSpPr>
              <p:nvPr/>
            </p:nvCxnSpPr>
            <p:spPr>
              <a:xfrm flipV="1">
                <a:off x="9771339" y="5891439"/>
                <a:ext cx="189341" cy="29776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Oval 3"/>
            <p:cNvSpPr/>
            <p:nvPr/>
          </p:nvSpPr>
          <p:spPr>
            <a:xfrm>
              <a:off x="6003583" y="4494809"/>
              <a:ext cx="1371167" cy="57608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salary</a:t>
              </a:r>
            </a:p>
          </p:txBody>
        </p:sp>
      </p:grpSp>
      <p:cxnSp>
        <p:nvCxnSpPr>
          <p:cNvPr id="10" name="Straight Connector 9"/>
          <p:cNvCxnSpPr>
            <a:stCxn id="4" idx="4"/>
          </p:cNvCxnSpPr>
          <p:nvPr/>
        </p:nvCxnSpPr>
        <p:spPr>
          <a:xfrm>
            <a:off x="6689167" y="5070890"/>
            <a:ext cx="427347" cy="289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94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Overlapping constraint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Overlapping constraint </a:t>
            </a:r>
            <a:r>
              <a:rPr lang="en-US" sz="2800" dirty="0"/>
              <a:t>determine whether two subclasses are allowed to contain the same entity.</a:t>
            </a:r>
          </a:p>
          <a:p>
            <a:pPr lvl="1"/>
            <a:r>
              <a:rPr lang="en-US" sz="2400" dirty="0"/>
              <a:t>For example can an employee E be a permanent employee and a contract employee? Probably not. Therefore, the permanent employee subclass and the contract employee subclass are </a:t>
            </a:r>
            <a:r>
              <a:rPr lang="en-US" sz="2400" dirty="0">
                <a:solidFill>
                  <a:schemeClr val="accent2"/>
                </a:solidFill>
              </a:rPr>
              <a:t>disjoint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Can a person P in a university environment be a student and a faculty member at the same time. If it is so, we denote this by writing </a:t>
            </a:r>
            <a:r>
              <a:rPr lang="en-US" sz="2400" dirty="0">
                <a:solidFill>
                  <a:srgbClr val="FF0000"/>
                </a:solidFill>
              </a:rPr>
              <a:t>student overlaps faculty member.</a:t>
            </a:r>
            <a:r>
              <a:rPr lang="en-US" sz="2400" dirty="0"/>
              <a:t> In absence on such a statement we assume that the sub classes are disjoint.</a:t>
            </a:r>
          </a:p>
        </p:txBody>
      </p:sp>
    </p:spTree>
    <p:extLst>
      <p:ext uri="{BB962C8B-B14F-4D97-AF65-F5344CB8AC3E}">
        <p14:creationId xmlns:p14="http://schemas.microsoft.com/office/powerpoint/2010/main" val="64493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Overlapping constraint (Contd.)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6642107" y="1995117"/>
            <a:ext cx="5253292" cy="3916340"/>
            <a:chOff x="6601946" y="1944710"/>
            <a:chExt cx="5253292" cy="3916340"/>
          </a:xfrm>
        </p:grpSpPr>
        <p:sp>
          <p:nvSpPr>
            <p:cNvPr id="27" name="Rectangle 26"/>
            <p:cNvSpPr/>
            <p:nvPr/>
          </p:nvSpPr>
          <p:spPr>
            <a:xfrm>
              <a:off x="8118422" y="2754458"/>
              <a:ext cx="1635617" cy="5022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Person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6819010" y="2382590"/>
              <a:ext cx="1030310" cy="43788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u="sng" dirty="0"/>
                <a:t>NIC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8097414" y="1944710"/>
              <a:ext cx="1571222" cy="56667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name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0084158" y="2305317"/>
              <a:ext cx="978794" cy="52803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age</a:t>
              </a:r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8332631" y="3734915"/>
              <a:ext cx="1171977" cy="772732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ISA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005601" y="5359937"/>
              <a:ext cx="1610366" cy="50111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Student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302958" y="5359937"/>
              <a:ext cx="2144214" cy="50111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Faculty member</a:t>
              </a:r>
            </a:p>
          </p:txBody>
        </p:sp>
        <p:cxnSp>
          <p:nvCxnSpPr>
            <p:cNvPr id="34" name="Straight Connector 33"/>
            <p:cNvCxnSpPr>
              <a:stCxn id="31" idx="0"/>
            </p:cNvCxnSpPr>
            <p:nvPr/>
          </p:nvCxnSpPr>
          <p:spPr>
            <a:xfrm flipH="1" flipV="1">
              <a:off x="8918619" y="3255571"/>
              <a:ext cx="1" cy="4793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7543860" y="4507647"/>
              <a:ext cx="1072107" cy="8522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9133014" y="4507647"/>
              <a:ext cx="1242051" cy="8522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6601946" y="4507646"/>
              <a:ext cx="1066292" cy="61814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GPA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9971410" y="4357711"/>
              <a:ext cx="1883828" cy="61814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salary</a:t>
              </a:r>
            </a:p>
          </p:txBody>
        </p:sp>
        <p:cxnSp>
          <p:nvCxnSpPr>
            <p:cNvPr id="40" name="Straight Connector 39"/>
            <p:cNvCxnSpPr>
              <a:stCxn id="28" idx="5"/>
              <a:endCxn id="27" idx="1"/>
            </p:cNvCxnSpPr>
            <p:nvPr/>
          </p:nvCxnSpPr>
          <p:spPr>
            <a:xfrm>
              <a:off x="7698435" y="2756345"/>
              <a:ext cx="419987" cy="24925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30" idx="3"/>
              <a:endCxn id="27" idx="3"/>
            </p:cNvCxnSpPr>
            <p:nvPr/>
          </p:nvCxnSpPr>
          <p:spPr>
            <a:xfrm flipH="1">
              <a:off x="9754039" y="2756021"/>
              <a:ext cx="473460" cy="24957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29" idx="4"/>
              <a:endCxn id="27" idx="0"/>
            </p:cNvCxnSpPr>
            <p:nvPr/>
          </p:nvCxnSpPr>
          <p:spPr>
            <a:xfrm>
              <a:off x="8883025" y="2511380"/>
              <a:ext cx="53206" cy="2430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7018988" y="5125791"/>
              <a:ext cx="270456" cy="23414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39" idx="4"/>
            </p:cNvCxnSpPr>
            <p:nvPr/>
          </p:nvCxnSpPr>
          <p:spPr>
            <a:xfrm flipH="1">
              <a:off x="10650828" y="4975856"/>
              <a:ext cx="262496" cy="3840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TextBox 48"/>
          <p:cNvSpPr txBox="1"/>
          <p:nvPr/>
        </p:nvSpPr>
        <p:spPr>
          <a:xfrm>
            <a:off x="7161899" y="6158982"/>
            <a:ext cx="3253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 overlaps faculty member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400577" y="1910065"/>
            <a:ext cx="5851655" cy="4772118"/>
            <a:chOff x="6003583" y="1944710"/>
            <a:chExt cx="5851655" cy="4772118"/>
          </a:xfrm>
        </p:grpSpPr>
        <p:grpSp>
          <p:nvGrpSpPr>
            <p:cNvPr id="46" name="Group 45"/>
            <p:cNvGrpSpPr/>
            <p:nvPr/>
          </p:nvGrpSpPr>
          <p:grpSpPr>
            <a:xfrm>
              <a:off x="6471753" y="1944710"/>
              <a:ext cx="5383485" cy="4772118"/>
              <a:chOff x="6471753" y="1944710"/>
              <a:chExt cx="5383485" cy="4772118"/>
            </a:xfrm>
          </p:grpSpPr>
          <p:sp>
            <p:nvSpPr>
              <p:cNvPr id="48" name="Rectangle 47"/>
              <p:cNvSpPr/>
              <p:nvPr/>
            </p:nvSpPr>
            <p:spPr>
              <a:xfrm>
                <a:off x="8152327" y="2730321"/>
                <a:ext cx="1635617" cy="50227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Employee</a:t>
                </a: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6819010" y="2382590"/>
                <a:ext cx="1030310" cy="437881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u="sng" dirty="0" err="1"/>
                  <a:t>eId</a:t>
                </a:r>
                <a:endParaRPr lang="en-US" u="sng" dirty="0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8097414" y="1944710"/>
                <a:ext cx="1571222" cy="56667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ename</a:t>
                </a:r>
                <a:endParaRPr lang="en-US" dirty="0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10084158" y="2305317"/>
                <a:ext cx="978794" cy="52803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age</a:t>
                </a:r>
              </a:p>
            </p:txBody>
          </p:sp>
          <p:sp>
            <p:nvSpPr>
              <p:cNvPr id="53" name="Isosceles Triangle 52"/>
              <p:cNvSpPr/>
              <p:nvPr/>
            </p:nvSpPr>
            <p:spPr>
              <a:xfrm>
                <a:off x="8332631" y="3734915"/>
                <a:ext cx="1171977" cy="772732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ISA</a:t>
                </a:r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6471753" y="5359937"/>
                <a:ext cx="2144214" cy="50111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Permanent Employee</a:t>
                </a:r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9302958" y="5359937"/>
                <a:ext cx="2144214" cy="50111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Contract Employee</a:t>
                </a:r>
              </a:p>
            </p:txBody>
          </p:sp>
          <p:cxnSp>
            <p:nvCxnSpPr>
              <p:cNvPr id="56" name="Straight Connector 55"/>
              <p:cNvCxnSpPr>
                <a:stCxn id="53" idx="0"/>
              </p:cNvCxnSpPr>
              <p:nvPr/>
            </p:nvCxnSpPr>
            <p:spPr>
              <a:xfrm flipH="1" flipV="1">
                <a:off x="8918619" y="3255571"/>
                <a:ext cx="1" cy="47934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 flipH="1">
                <a:off x="7543860" y="4507647"/>
                <a:ext cx="1072107" cy="85229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9133014" y="4507647"/>
                <a:ext cx="1242051" cy="85229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9" name="Oval 58"/>
              <p:cNvSpPr/>
              <p:nvPr/>
            </p:nvSpPr>
            <p:spPr>
              <a:xfrm>
                <a:off x="10400822" y="6095195"/>
                <a:ext cx="1366173" cy="61814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Hours_worked</a:t>
                </a:r>
                <a:endParaRPr lang="en-US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8605237" y="6098683"/>
                <a:ext cx="1366173" cy="61814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Hours_rate</a:t>
                </a:r>
                <a:endParaRPr lang="en-US" dirty="0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9971410" y="4357711"/>
                <a:ext cx="1883828" cy="61814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contractId</a:t>
                </a:r>
                <a:endParaRPr lang="en-US" dirty="0"/>
              </a:p>
            </p:txBody>
          </p:sp>
          <p:cxnSp>
            <p:nvCxnSpPr>
              <p:cNvPr id="62" name="Straight Connector 61"/>
              <p:cNvCxnSpPr>
                <a:stCxn id="50" idx="5"/>
                <a:endCxn id="48" idx="1"/>
              </p:cNvCxnSpPr>
              <p:nvPr/>
            </p:nvCxnSpPr>
            <p:spPr>
              <a:xfrm>
                <a:off x="7698435" y="2756345"/>
                <a:ext cx="453892" cy="22511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>
                <a:stCxn id="52" idx="3"/>
                <a:endCxn id="48" idx="3"/>
              </p:cNvCxnSpPr>
              <p:nvPr/>
            </p:nvCxnSpPr>
            <p:spPr>
              <a:xfrm flipH="1">
                <a:off x="9787944" y="2756021"/>
                <a:ext cx="439555" cy="22543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>
                <a:stCxn id="51" idx="4"/>
                <a:endCxn id="48" idx="0"/>
              </p:cNvCxnSpPr>
              <p:nvPr/>
            </p:nvCxnSpPr>
            <p:spPr>
              <a:xfrm>
                <a:off x="8883025" y="2511380"/>
                <a:ext cx="87111" cy="2189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10778096" y="5861009"/>
                <a:ext cx="270456" cy="23414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>
                <a:stCxn id="60" idx="7"/>
              </p:cNvCxnSpPr>
              <p:nvPr/>
            </p:nvCxnSpPr>
            <p:spPr>
              <a:xfrm flipV="1">
                <a:off x="9771339" y="5891439"/>
                <a:ext cx="189341" cy="29776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>
                <a:stCxn id="61" idx="4"/>
              </p:cNvCxnSpPr>
              <p:nvPr/>
            </p:nvCxnSpPr>
            <p:spPr>
              <a:xfrm flipH="1">
                <a:off x="10650828" y="4975856"/>
                <a:ext cx="262496" cy="3840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7" name="Oval 46"/>
            <p:cNvSpPr/>
            <p:nvPr/>
          </p:nvSpPr>
          <p:spPr>
            <a:xfrm>
              <a:off x="6003583" y="4494809"/>
              <a:ext cx="1371167" cy="57608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salary</a:t>
              </a:r>
            </a:p>
          </p:txBody>
        </p:sp>
      </p:grpSp>
      <p:cxnSp>
        <p:nvCxnSpPr>
          <p:cNvPr id="4" name="Straight Connector 3"/>
          <p:cNvCxnSpPr>
            <a:stCxn id="47" idx="4"/>
          </p:cNvCxnSpPr>
          <p:nvPr/>
        </p:nvCxnSpPr>
        <p:spPr>
          <a:xfrm>
            <a:off x="1086161" y="5036245"/>
            <a:ext cx="240363" cy="289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182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Covering constraint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812732"/>
          </a:xfrm>
        </p:spPr>
        <p:txBody>
          <a:bodyPr>
            <a:normAutofit/>
          </a:bodyPr>
          <a:lstStyle/>
          <a:p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Covering constraints </a:t>
            </a:r>
            <a:r>
              <a:rPr lang="en-US" sz="2600" dirty="0"/>
              <a:t>determine whether the entities in the subclasses collectively include all entities in the super class.</a:t>
            </a:r>
          </a:p>
          <a:p>
            <a:pPr lvl="1"/>
            <a:r>
              <a:rPr lang="en-US" sz="2200" dirty="0"/>
              <a:t>For example, does every employee entity e, belong to one of its subclasses (i.e. permanent employee or contract employee)? If so we denote this by writing </a:t>
            </a:r>
            <a:r>
              <a:rPr lang="en-US" sz="2200" dirty="0">
                <a:solidFill>
                  <a:srgbClr val="FF0000"/>
                </a:solidFill>
              </a:rPr>
              <a:t>permanent employee and contract employee covers employee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Does every person p in a university environment belong to either student sub class or the faculty member sub class? Probably not. Therefore, there is no covering constraint associated with the hierarchy.</a:t>
            </a:r>
          </a:p>
          <a:p>
            <a:r>
              <a:rPr lang="en-US" sz="2600" dirty="0"/>
              <a:t>Existence of a covering constraint is also know as having a </a:t>
            </a:r>
            <a:r>
              <a:rPr lang="en-US" sz="2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total specialization</a:t>
            </a:r>
            <a:r>
              <a:rPr lang="en-US" sz="2600" dirty="0"/>
              <a:t>.</a:t>
            </a:r>
          </a:p>
          <a:p>
            <a:r>
              <a:rPr lang="en-US" sz="2600" dirty="0"/>
              <a:t>Absence of a covering constraint in a class hierarchy is known as </a:t>
            </a:r>
            <a:r>
              <a:rPr lang="en-US" sz="2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partial specialization</a:t>
            </a:r>
            <a:r>
              <a:rPr lang="en-US" sz="2600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198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covering constraint (Contd.)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6642107" y="1995117"/>
            <a:ext cx="5253292" cy="3916340"/>
            <a:chOff x="6601946" y="1944710"/>
            <a:chExt cx="5253292" cy="3916340"/>
          </a:xfrm>
        </p:grpSpPr>
        <p:sp>
          <p:nvSpPr>
            <p:cNvPr id="27" name="Rectangle 26"/>
            <p:cNvSpPr/>
            <p:nvPr/>
          </p:nvSpPr>
          <p:spPr>
            <a:xfrm>
              <a:off x="8118422" y="2754458"/>
              <a:ext cx="1635617" cy="5022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Person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6819010" y="2382590"/>
              <a:ext cx="1030310" cy="43788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u="sng" dirty="0"/>
                <a:t>NIC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8097414" y="1944710"/>
              <a:ext cx="1571222" cy="56667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name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0084158" y="2305317"/>
              <a:ext cx="978794" cy="52803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age</a:t>
              </a:r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8332631" y="3734915"/>
              <a:ext cx="1171977" cy="772732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ISA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005601" y="5359937"/>
              <a:ext cx="1610366" cy="50111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Student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302958" y="5359937"/>
              <a:ext cx="2144214" cy="50111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Faculty member</a:t>
              </a:r>
            </a:p>
          </p:txBody>
        </p:sp>
        <p:cxnSp>
          <p:nvCxnSpPr>
            <p:cNvPr id="34" name="Straight Connector 33"/>
            <p:cNvCxnSpPr>
              <a:stCxn id="31" idx="0"/>
            </p:cNvCxnSpPr>
            <p:nvPr/>
          </p:nvCxnSpPr>
          <p:spPr>
            <a:xfrm flipH="1" flipV="1">
              <a:off x="8918619" y="3255571"/>
              <a:ext cx="1" cy="4793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7543860" y="4507647"/>
              <a:ext cx="1072107" cy="8522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9133014" y="4507647"/>
              <a:ext cx="1242051" cy="8522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6601946" y="4507646"/>
              <a:ext cx="1066292" cy="61814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GPA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9971410" y="4357711"/>
              <a:ext cx="1883828" cy="61814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salary</a:t>
              </a:r>
            </a:p>
          </p:txBody>
        </p:sp>
        <p:cxnSp>
          <p:nvCxnSpPr>
            <p:cNvPr id="40" name="Straight Connector 39"/>
            <p:cNvCxnSpPr>
              <a:stCxn id="28" idx="5"/>
              <a:endCxn id="27" idx="1"/>
            </p:cNvCxnSpPr>
            <p:nvPr/>
          </p:nvCxnSpPr>
          <p:spPr>
            <a:xfrm>
              <a:off x="7698435" y="2756345"/>
              <a:ext cx="419987" cy="24925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30" idx="3"/>
              <a:endCxn id="27" idx="3"/>
            </p:cNvCxnSpPr>
            <p:nvPr/>
          </p:nvCxnSpPr>
          <p:spPr>
            <a:xfrm flipH="1">
              <a:off x="9754039" y="2756021"/>
              <a:ext cx="473460" cy="24957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29" idx="4"/>
              <a:endCxn id="27" idx="0"/>
            </p:cNvCxnSpPr>
            <p:nvPr/>
          </p:nvCxnSpPr>
          <p:spPr>
            <a:xfrm>
              <a:off x="8883025" y="2511380"/>
              <a:ext cx="53206" cy="2430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7018988" y="5125791"/>
              <a:ext cx="270456" cy="23414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39" idx="4"/>
            </p:cNvCxnSpPr>
            <p:nvPr/>
          </p:nvCxnSpPr>
          <p:spPr>
            <a:xfrm flipH="1">
              <a:off x="10650828" y="4975856"/>
              <a:ext cx="262496" cy="3840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TextBox 48"/>
          <p:cNvSpPr txBox="1"/>
          <p:nvPr/>
        </p:nvSpPr>
        <p:spPr>
          <a:xfrm>
            <a:off x="416571" y="6072813"/>
            <a:ext cx="4355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Permanent employee and contract employee</a:t>
            </a:r>
          </a:p>
          <a:p>
            <a:r>
              <a:rPr lang="en-US" dirty="0"/>
              <a:t> covers employee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400577" y="1910065"/>
            <a:ext cx="5851655" cy="4768630"/>
            <a:chOff x="6003583" y="1944710"/>
            <a:chExt cx="5851655" cy="4768630"/>
          </a:xfrm>
        </p:grpSpPr>
        <p:grpSp>
          <p:nvGrpSpPr>
            <p:cNvPr id="46" name="Group 45"/>
            <p:cNvGrpSpPr/>
            <p:nvPr/>
          </p:nvGrpSpPr>
          <p:grpSpPr>
            <a:xfrm>
              <a:off x="6471753" y="1944710"/>
              <a:ext cx="5383485" cy="4768630"/>
              <a:chOff x="6471753" y="1944710"/>
              <a:chExt cx="5383485" cy="4768630"/>
            </a:xfrm>
          </p:grpSpPr>
          <p:sp>
            <p:nvSpPr>
              <p:cNvPr id="48" name="Rectangle 47"/>
              <p:cNvSpPr/>
              <p:nvPr/>
            </p:nvSpPr>
            <p:spPr>
              <a:xfrm>
                <a:off x="8152327" y="2730321"/>
                <a:ext cx="1635617" cy="50227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Employee</a:t>
                </a: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6819010" y="2382590"/>
                <a:ext cx="1030310" cy="437881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u="sng" dirty="0" err="1"/>
                  <a:t>eId</a:t>
                </a:r>
                <a:endParaRPr lang="en-US" u="sng" dirty="0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8097414" y="1944710"/>
                <a:ext cx="1571222" cy="56667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ename</a:t>
                </a:r>
                <a:endParaRPr lang="en-US" dirty="0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10084158" y="2305317"/>
                <a:ext cx="978794" cy="52803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age</a:t>
                </a:r>
              </a:p>
            </p:txBody>
          </p:sp>
          <p:sp>
            <p:nvSpPr>
              <p:cNvPr id="53" name="Isosceles Triangle 52"/>
              <p:cNvSpPr/>
              <p:nvPr/>
            </p:nvSpPr>
            <p:spPr>
              <a:xfrm>
                <a:off x="8332631" y="3734915"/>
                <a:ext cx="1171977" cy="772732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ISA</a:t>
                </a:r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6471753" y="5359937"/>
                <a:ext cx="2144214" cy="50111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Permanent Employee</a:t>
                </a:r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9302958" y="5359937"/>
                <a:ext cx="2144214" cy="50111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Contract Employee</a:t>
                </a:r>
              </a:p>
            </p:txBody>
          </p:sp>
          <p:cxnSp>
            <p:nvCxnSpPr>
              <p:cNvPr id="56" name="Straight Connector 55"/>
              <p:cNvCxnSpPr>
                <a:stCxn id="53" idx="0"/>
              </p:cNvCxnSpPr>
              <p:nvPr/>
            </p:nvCxnSpPr>
            <p:spPr>
              <a:xfrm flipH="1" flipV="1">
                <a:off x="8918619" y="3255571"/>
                <a:ext cx="1" cy="47934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 flipH="1">
                <a:off x="7543860" y="4507647"/>
                <a:ext cx="1072107" cy="85229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9133014" y="4507647"/>
                <a:ext cx="1242051" cy="85229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9" name="Oval 58"/>
              <p:cNvSpPr/>
              <p:nvPr/>
            </p:nvSpPr>
            <p:spPr>
              <a:xfrm>
                <a:off x="10400822" y="6095195"/>
                <a:ext cx="1366173" cy="61814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Hours_worked</a:t>
                </a:r>
                <a:endParaRPr lang="en-US" dirty="0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9971410" y="4357711"/>
                <a:ext cx="1883828" cy="61814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contractId</a:t>
                </a:r>
                <a:endParaRPr lang="en-US" dirty="0"/>
              </a:p>
            </p:txBody>
          </p:sp>
          <p:cxnSp>
            <p:nvCxnSpPr>
              <p:cNvPr id="62" name="Straight Connector 61"/>
              <p:cNvCxnSpPr>
                <a:stCxn id="50" idx="5"/>
                <a:endCxn id="48" idx="1"/>
              </p:cNvCxnSpPr>
              <p:nvPr/>
            </p:nvCxnSpPr>
            <p:spPr>
              <a:xfrm>
                <a:off x="7698435" y="2756345"/>
                <a:ext cx="453892" cy="22511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>
                <a:stCxn id="52" idx="3"/>
                <a:endCxn id="48" idx="3"/>
              </p:cNvCxnSpPr>
              <p:nvPr/>
            </p:nvCxnSpPr>
            <p:spPr>
              <a:xfrm flipH="1">
                <a:off x="9787944" y="2756021"/>
                <a:ext cx="439555" cy="22543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>
                <a:stCxn id="51" idx="4"/>
                <a:endCxn id="48" idx="0"/>
              </p:cNvCxnSpPr>
              <p:nvPr/>
            </p:nvCxnSpPr>
            <p:spPr>
              <a:xfrm>
                <a:off x="8883025" y="2511380"/>
                <a:ext cx="87111" cy="2189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10778096" y="5861009"/>
                <a:ext cx="270456" cy="23414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>
                <a:stCxn id="61" idx="4"/>
              </p:cNvCxnSpPr>
              <p:nvPr/>
            </p:nvCxnSpPr>
            <p:spPr>
              <a:xfrm flipH="1">
                <a:off x="10650828" y="4975856"/>
                <a:ext cx="262496" cy="38408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7" name="Oval 46"/>
            <p:cNvSpPr/>
            <p:nvPr/>
          </p:nvSpPr>
          <p:spPr>
            <a:xfrm>
              <a:off x="6003583" y="4494809"/>
              <a:ext cx="1371167" cy="57608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salary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1216004" y="5036245"/>
            <a:ext cx="316582" cy="289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342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ACTIVITY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a blank paper draw two ISA relationships, one which is having a covering constraint and another which is having a overlapping constraint.</a:t>
            </a:r>
          </a:p>
          <a:p>
            <a:r>
              <a:rPr lang="en-US" sz="2400" dirty="0"/>
              <a:t>Exchange what you have drawn with your peer. What have they drawn?</a:t>
            </a:r>
          </a:p>
          <a:p>
            <a:r>
              <a:rPr lang="en-US" sz="2400" dirty="0"/>
              <a:t>Have you understood the concepts properly? </a:t>
            </a:r>
          </a:p>
        </p:txBody>
      </p:sp>
    </p:spTree>
    <p:extLst>
      <p:ext uri="{BB962C8B-B14F-4D97-AF65-F5344CB8AC3E}">
        <p14:creationId xmlns:p14="http://schemas.microsoft.com/office/powerpoint/2010/main" val="4254384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Eer</a:t>
            </a:r>
            <a:r>
              <a:rPr lang="en-US" sz="3600" dirty="0"/>
              <a:t> model -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264" y="2695651"/>
            <a:ext cx="5132734" cy="4413487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Aggregation</a:t>
            </a:r>
            <a:r>
              <a:rPr lang="en-US" sz="2400" b="1" dirty="0"/>
              <a:t> </a:t>
            </a:r>
            <a:r>
              <a:rPr lang="en-US" sz="2400" dirty="0"/>
              <a:t>allows us to indicate that a relationship as a above which is between a relationship set that set participates in another relationship set.</a:t>
            </a:r>
          </a:p>
          <a:p>
            <a:r>
              <a:rPr lang="en-US" sz="2400" dirty="0"/>
              <a:t>For example, a cricket players play in cricket matches. When he plays a match for his performance he may win awards. </a:t>
            </a:r>
          </a:p>
          <a:p>
            <a:r>
              <a:rPr lang="en-US" sz="2400" dirty="0"/>
              <a:t>Note that, the difference between ternary and aggregation is that aggregation contain two independent relationships whereas in ternary relationship there is one.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47" name="Group 46"/>
          <p:cNvGrpSpPr/>
          <p:nvPr/>
        </p:nvGrpSpPr>
        <p:grpSpPr>
          <a:xfrm>
            <a:off x="5821251" y="2368419"/>
            <a:ext cx="6168979" cy="3285312"/>
            <a:chOff x="5821251" y="2368419"/>
            <a:chExt cx="6168979" cy="3285312"/>
          </a:xfrm>
        </p:grpSpPr>
        <p:grpSp>
          <p:nvGrpSpPr>
            <p:cNvPr id="46" name="Group 45"/>
            <p:cNvGrpSpPr/>
            <p:nvPr/>
          </p:nvGrpSpPr>
          <p:grpSpPr>
            <a:xfrm>
              <a:off x="5821251" y="2368419"/>
              <a:ext cx="6168979" cy="3285312"/>
              <a:chOff x="5821251" y="2265387"/>
              <a:chExt cx="6168979" cy="3285312"/>
            </a:xfrm>
          </p:grpSpPr>
          <p:grpSp>
            <p:nvGrpSpPr>
              <p:cNvPr id="45" name="Group 44"/>
              <p:cNvGrpSpPr/>
              <p:nvPr/>
            </p:nvGrpSpPr>
            <p:grpSpPr>
              <a:xfrm>
                <a:off x="5821251" y="2265387"/>
                <a:ext cx="6168979" cy="3285312"/>
                <a:chOff x="5821251" y="2252508"/>
                <a:chExt cx="6168979" cy="3285312"/>
              </a:xfrm>
            </p:grpSpPr>
            <p:grpSp>
              <p:nvGrpSpPr>
                <p:cNvPr id="15" name="Group 14"/>
                <p:cNvGrpSpPr/>
                <p:nvPr/>
              </p:nvGrpSpPr>
              <p:grpSpPr>
                <a:xfrm>
                  <a:off x="5821251" y="2252508"/>
                  <a:ext cx="6168979" cy="3285312"/>
                  <a:chOff x="5479457" y="1801748"/>
                  <a:chExt cx="6168979" cy="3285312"/>
                </a:xfrm>
              </p:grpSpPr>
              <p:grpSp>
                <p:nvGrpSpPr>
                  <p:cNvPr id="11" name="Group 10"/>
                  <p:cNvGrpSpPr/>
                  <p:nvPr/>
                </p:nvGrpSpPr>
                <p:grpSpPr>
                  <a:xfrm>
                    <a:off x="5479457" y="1801748"/>
                    <a:ext cx="6168979" cy="1636911"/>
                    <a:chOff x="1641553" y="4042672"/>
                    <a:chExt cx="6168979" cy="1636911"/>
                  </a:xfrm>
                </p:grpSpPr>
                <p:sp>
                  <p:nvSpPr>
                    <p:cNvPr id="9" name="Rectangle 8"/>
                    <p:cNvSpPr/>
                    <p:nvPr/>
                  </p:nvSpPr>
                  <p:spPr>
                    <a:xfrm>
                      <a:off x="1641553" y="4042672"/>
                      <a:ext cx="6168979" cy="1636911"/>
                    </a:xfrm>
                    <a:prstGeom prst="rect">
                      <a:avLst/>
                    </a:prstGeom>
                    <a:ln>
                      <a:prstDash val="dash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" name="TextBox 3"/>
                    <p:cNvSpPr txBox="1"/>
                    <p:nvPr/>
                  </p:nvSpPr>
                  <p:spPr>
                    <a:xfrm>
                      <a:off x="2356834" y="4958366"/>
                      <a:ext cx="1262129" cy="36933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dirty="0"/>
                        <a:t>Player </a:t>
                      </a:r>
                    </a:p>
                  </p:txBody>
                </p:sp>
                <p:sp>
                  <p:nvSpPr>
                    <p:cNvPr id="5" name="TextBox 4"/>
                    <p:cNvSpPr txBox="1"/>
                    <p:nvPr/>
                  </p:nvSpPr>
                  <p:spPr>
                    <a:xfrm>
                      <a:off x="5935014" y="4958366"/>
                      <a:ext cx="1262129" cy="36933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dirty="0"/>
                        <a:t>Match</a:t>
                      </a:r>
                    </a:p>
                  </p:txBody>
                </p:sp>
                <p:cxnSp>
                  <p:nvCxnSpPr>
                    <p:cNvPr id="8" name="Straight Connector 7"/>
                    <p:cNvCxnSpPr>
                      <a:stCxn id="4" idx="3"/>
                      <a:endCxn id="5" idx="1"/>
                    </p:cNvCxnSpPr>
                    <p:nvPr/>
                  </p:nvCxnSpPr>
                  <p:spPr>
                    <a:xfrm>
                      <a:off x="3618963" y="5143032"/>
                      <a:ext cx="2316051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" name="Diamond 5"/>
                    <p:cNvSpPr/>
                    <p:nvPr/>
                  </p:nvSpPr>
                  <p:spPr>
                    <a:xfrm>
                      <a:off x="4068081" y="4808181"/>
                      <a:ext cx="1326524" cy="669701"/>
                    </a:xfrm>
                    <a:prstGeom prst="diamond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play</a:t>
                      </a:r>
                    </a:p>
                  </p:txBody>
                </p:sp>
              </p:grpSp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7970380" y="4717728"/>
                    <a:ext cx="126212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/>
                      <a:t>Award</a:t>
                    </a:r>
                  </a:p>
                </p:txBody>
              </p:sp>
              <p:cxnSp>
                <p:nvCxnSpPr>
                  <p:cNvPr id="14" name="Straight Connector 13"/>
                  <p:cNvCxnSpPr>
                    <a:endCxn id="12" idx="0"/>
                  </p:cNvCxnSpPr>
                  <p:nvPr/>
                </p:nvCxnSpPr>
                <p:spPr>
                  <a:xfrm flipH="1">
                    <a:off x="8601445" y="3417315"/>
                    <a:ext cx="13447" cy="130041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" name="Diamond 9"/>
                  <p:cNvSpPr/>
                  <p:nvPr/>
                </p:nvSpPr>
                <p:spPr>
                  <a:xfrm>
                    <a:off x="8080671" y="3773510"/>
                    <a:ext cx="1054425" cy="540913"/>
                  </a:xfrm>
                  <a:prstGeom prst="diamond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win</a:t>
                    </a:r>
                  </a:p>
                </p:txBody>
              </p:sp>
            </p:grpSp>
            <p:sp>
              <p:nvSpPr>
                <p:cNvPr id="34" name="TextBox 33"/>
                <p:cNvSpPr txBox="1"/>
                <p:nvPr/>
              </p:nvSpPr>
              <p:spPr>
                <a:xfrm>
                  <a:off x="7896301" y="3034063"/>
                  <a:ext cx="3642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M</a:t>
                  </a:r>
                </a:p>
              </p:txBody>
            </p:sp>
            <p:sp>
              <p:nvSpPr>
                <p:cNvPr id="36" name="TextBox 35"/>
                <p:cNvSpPr txBox="1"/>
                <p:nvPr/>
              </p:nvSpPr>
              <p:spPr>
                <a:xfrm>
                  <a:off x="9624593" y="3034062"/>
                  <a:ext cx="3642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N</a:t>
                  </a:r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8969565" y="4799156"/>
                  <a:ext cx="3642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N</a:t>
                  </a:r>
                </a:p>
              </p:txBody>
            </p:sp>
            <p:sp>
              <p:nvSpPr>
                <p:cNvPr id="41" name="TextBox 40"/>
                <p:cNvSpPr txBox="1"/>
                <p:nvPr/>
              </p:nvSpPr>
              <p:spPr>
                <a:xfrm>
                  <a:off x="8969565" y="3932063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</a:t>
                  </a:r>
                </a:p>
              </p:txBody>
            </p:sp>
          </p:grpSp>
          <p:sp>
            <p:nvSpPr>
              <p:cNvPr id="42" name="Oval 41"/>
              <p:cNvSpPr/>
              <p:nvPr/>
            </p:nvSpPr>
            <p:spPr>
              <a:xfrm>
                <a:off x="6549411" y="4528905"/>
                <a:ext cx="1885933" cy="437881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u="sng" dirty="0" err="1"/>
                  <a:t>awardName</a:t>
                </a:r>
                <a:endParaRPr lang="en-US" u="sng" dirty="0"/>
              </a:p>
            </p:txBody>
          </p:sp>
        </p:grpSp>
        <p:sp>
          <p:nvSpPr>
            <p:cNvPr id="17" name="Oval 16"/>
            <p:cNvSpPr/>
            <p:nvPr/>
          </p:nvSpPr>
          <p:spPr>
            <a:xfrm>
              <a:off x="5975731" y="2623132"/>
              <a:ext cx="978794" cy="36694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u="sng" dirty="0" err="1"/>
                <a:t>pId</a:t>
              </a:r>
              <a:endParaRPr lang="en-US" u="sng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7139946" y="2623132"/>
              <a:ext cx="978794" cy="37348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name</a:t>
              </a: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6465128" y="3002957"/>
              <a:ext cx="489397" cy="26827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7403643" y="3009499"/>
              <a:ext cx="225700" cy="2617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9189723" y="2509097"/>
            <a:ext cx="2684597" cy="749258"/>
            <a:chOff x="9189723" y="2509097"/>
            <a:chExt cx="2684597" cy="749258"/>
          </a:xfrm>
        </p:grpSpPr>
        <p:sp>
          <p:nvSpPr>
            <p:cNvPr id="27" name="Oval 26"/>
            <p:cNvSpPr/>
            <p:nvPr/>
          </p:nvSpPr>
          <p:spPr>
            <a:xfrm>
              <a:off x="9189723" y="2509097"/>
              <a:ext cx="1350103" cy="41658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u="sng" dirty="0" err="1"/>
                <a:t>matchId</a:t>
              </a:r>
              <a:endParaRPr lang="en-US" u="sng" dirty="0"/>
            </a:p>
          </p:txBody>
        </p:sp>
        <p:sp>
          <p:nvSpPr>
            <p:cNvPr id="29" name="Oval 28"/>
            <p:cNvSpPr/>
            <p:nvPr/>
          </p:nvSpPr>
          <p:spPr>
            <a:xfrm>
              <a:off x="10789957" y="2573302"/>
              <a:ext cx="1084363" cy="37348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venue</a:t>
              </a:r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9959835" y="2927813"/>
              <a:ext cx="579991" cy="3305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3" name="Straight Connector 32"/>
          <p:cNvCxnSpPr/>
          <p:nvPr/>
        </p:nvCxnSpPr>
        <p:spPr>
          <a:xfrm flipH="1">
            <a:off x="10984936" y="2972548"/>
            <a:ext cx="347203" cy="2858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endCxn id="12" idx="1"/>
          </p:cNvCxnSpPr>
          <p:nvPr/>
        </p:nvCxnSpPr>
        <p:spPr>
          <a:xfrm>
            <a:off x="7616464" y="5082697"/>
            <a:ext cx="695710" cy="3863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136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ACTIVITY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Can you think of an aggregation relationship in a domain familiar to you?</a:t>
            </a:r>
          </a:p>
          <a:p>
            <a:r>
              <a:rPr lang="en-US" sz="2400" dirty="0"/>
              <a:t>Exchange what you have drawn with your peer. What have they drawn?</a:t>
            </a:r>
          </a:p>
          <a:p>
            <a:r>
              <a:rPr lang="en-US" sz="2400" dirty="0"/>
              <a:t>Have you understood the concepts properly? </a:t>
            </a:r>
          </a:p>
        </p:txBody>
      </p:sp>
    </p:spTree>
    <p:extLst>
      <p:ext uri="{BB962C8B-B14F-4D97-AF65-F5344CB8AC3E}">
        <p14:creationId xmlns:p14="http://schemas.microsoft.com/office/powerpoint/2010/main" val="1566613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Activity 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3639" y="2017712"/>
            <a:ext cx="11147169" cy="461490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Draw an E-ER diagram for the following requirements.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Students contain an id (unique), name and an address.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There are academic semesters containing an </a:t>
            </a:r>
            <a:r>
              <a:rPr lang="en-US" altLang="en-US" sz="2000" i="1" dirty="0"/>
              <a:t>semester id </a:t>
            </a:r>
            <a:r>
              <a:rPr lang="en-US" altLang="en-US" sz="2000" dirty="0"/>
              <a:t>(unique), </a:t>
            </a:r>
            <a:r>
              <a:rPr lang="en-US" altLang="en-US" sz="2000" i="1" dirty="0"/>
              <a:t>semester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year</a:t>
            </a:r>
            <a:r>
              <a:rPr lang="en-US" altLang="en-US" sz="2000" dirty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There are courses offered during academic semesters. A course has a </a:t>
            </a:r>
            <a:r>
              <a:rPr lang="en-US" altLang="en-US" sz="2000" i="1" dirty="0"/>
              <a:t>number</a:t>
            </a:r>
            <a:r>
              <a:rPr lang="en-US" altLang="en-US" sz="2000" dirty="0"/>
              <a:t> (unique), </a:t>
            </a:r>
            <a:r>
              <a:rPr lang="en-US" altLang="en-US" sz="2000" i="1" dirty="0"/>
              <a:t>name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credits</a:t>
            </a:r>
            <a:r>
              <a:rPr lang="en-US" altLang="en-US" sz="2000" dirty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Students make payments. A payment has </a:t>
            </a:r>
            <a:r>
              <a:rPr lang="en-US" altLang="en-US" sz="2000" i="1" dirty="0"/>
              <a:t>receipt number</a:t>
            </a:r>
            <a:r>
              <a:rPr lang="en-US" altLang="en-US" sz="2000" dirty="0"/>
              <a:t> (unique), </a:t>
            </a:r>
            <a:r>
              <a:rPr lang="en-US" altLang="en-US" sz="2000" i="1" dirty="0"/>
              <a:t>amount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date</a:t>
            </a:r>
            <a:r>
              <a:rPr lang="en-US" altLang="en-US" sz="2000" dirty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Payments can be classified into Tuition (semester payment), Examination and other (Library fine, Printouts).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A Tuition payment is made for an academic semester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For other payments description should be stored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Students register for courses offered during a particular semester. The registered date must be stored in the database.</a:t>
            </a: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39843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DESIGN traps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There are several different "modeling traps" (called </a:t>
            </a:r>
            <a:r>
              <a:rPr lang="en-US" sz="2800" i="1" dirty="0"/>
              <a:t>connection traps</a:t>
            </a:r>
            <a:r>
              <a:rPr lang="en-US" sz="2800" dirty="0"/>
              <a:t>) that you can fall into when designing your ER model.</a:t>
            </a:r>
          </a:p>
          <a:p>
            <a:r>
              <a:rPr lang="en-US" sz="2800" dirty="0"/>
              <a:t>Two connection traps that we will look at are:</a:t>
            </a:r>
          </a:p>
          <a:p>
            <a:pPr lvl="1"/>
            <a:r>
              <a:rPr lang="en-US" sz="2400" dirty="0"/>
              <a:t>Fan traps</a:t>
            </a:r>
          </a:p>
          <a:p>
            <a:pPr lvl="1"/>
            <a:r>
              <a:rPr lang="en-US" sz="2400" dirty="0"/>
              <a:t>Chasm traps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764775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FAN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800" dirty="0"/>
              <a:t>A </a:t>
            </a:r>
            <a:r>
              <a:rPr lang="en-US" sz="2800" b="1" i="1" dirty="0"/>
              <a:t>fan trap </a:t>
            </a:r>
            <a:r>
              <a:rPr lang="en-US" sz="2800" dirty="0"/>
              <a:t>is when a model represents a relationship between entity types, but the pathway between certain entity instances is ambiguous.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Often occurs when two or more one-to-many relationships fan out (come from) the same entity type.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Example: A department has multiple employees, a department has multiple projects, and each project has multiple employees.</a:t>
            </a:r>
          </a:p>
          <a:p>
            <a:pPr>
              <a:lnSpc>
                <a:spcPct val="80000"/>
              </a:lnSpc>
            </a:pPr>
            <a:endParaRPr lang="en-US" sz="2800" dirty="0"/>
          </a:p>
          <a:p>
            <a:endParaRPr lang="en-US" sz="2000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6533882" y="5413489"/>
            <a:ext cx="2361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1041042" y="5072744"/>
            <a:ext cx="9272789" cy="655733"/>
            <a:chOff x="1041042" y="5072744"/>
            <a:chExt cx="9272789" cy="655733"/>
          </a:xfrm>
        </p:grpSpPr>
        <p:sp>
          <p:nvSpPr>
            <p:cNvPr id="4" name="TextBox 3"/>
            <p:cNvSpPr txBox="1"/>
            <p:nvPr/>
          </p:nvSpPr>
          <p:spPr>
            <a:xfrm>
              <a:off x="4820992" y="5228823"/>
              <a:ext cx="171289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Department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41042" y="5228823"/>
              <a:ext cx="1418823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Employee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895008" y="5228823"/>
              <a:ext cx="1418823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Project</a:t>
              </a:r>
            </a:p>
          </p:txBody>
        </p:sp>
        <p:cxnSp>
          <p:nvCxnSpPr>
            <p:cNvPr id="10" name="Straight Connector 9"/>
            <p:cNvCxnSpPr>
              <a:stCxn id="5" idx="3"/>
              <a:endCxn id="4" idx="1"/>
            </p:cNvCxnSpPr>
            <p:nvPr/>
          </p:nvCxnSpPr>
          <p:spPr>
            <a:xfrm>
              <a:off x="2459865" y="5413489"/>
              <a:ext cx="236112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Diamond 6"/>
            <p:cNvSpPr/>
            <p:nvPr/>
          </p:nvSpPr>
          <p:spPr>
            <a:xfrm>
              <a:off x="2944968" y="5098501"/>
              <a:ext cx="1390919" cy="629976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has</a:t>
              </a:r>
            </a:p>
          </p:txBody>
        </p:sp>
        <p:sp>
          <p:nvSpPr>
            <p:cNvPr id="8" name="Diamond 7"/>
            <p:cNvSpPr/>
            <p:nvPr/>
          </p:nvSpPr>
          <p:spPr>
            <a:xfrm>
              <a:off x="7018985" y="5098501"/>
              <a:ext cx="1390919" cy="629976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552375" y="5098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335887" y="50727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454784" y="510133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07152" y="509850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15612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FAN TRAP (Contd.)</a:t>
            </a: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890" y="2914456"/>
            <a:ext cx="7488422" cy="3943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16253" y="2146106"/>
            <a:ext cx="6939400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306000" indent="-3060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800" dirty="0">
                <a:solidFill>
                  <a:schemeClr val="tx2"/>
                </a:solidFill>
                <a:latin typeface="+mn-lt"/>
              </a:rPr>
              <a:t>Which projects does employee E3 work on?</a:t>
            </a:r>
          </a:p>
        </p:txBody>
      </p:sp>
    </p:spTree>
    <p:extLst>
      <p:ext uri="{BB962C8B-B14F-4D97-AF65-F5344CB8AC3E}">
        <p14:creationId xmlns:p14="http://schemas.microsoft.com/office/powerpoint/2010/main" val="1415440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/>
          <p:cNvCxnSpPr>
            <a:stCxn id="5" idx="3"/>
            <a:endCxn id="7" idx="1"/>
          </p:cNvCxnSpPr>
          <p:nvPr/>
        </p:nvCxnSpPr>
        <p:spPr>
          <a:xfrm>
            <a:off x="6533882" y="5413489"/>
            <a:ext cx="23611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CHASM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600" dirty="0"/>
              <a:t>A </a:t>
            </a:r>
            <a:r>
              <a:rPr lang="en-US" sz="2600" b="1" i="1" dirty="0"/>
              <a:t>chasm trap </a:t>
            </a:r>
            <a:r>
              <a:rPr lang="en-US" sz="2600" dirty="0"/>
              <a:t>occurs when a model suggests that a relationship between entity types should be present, but the relationship does not actually exist. (</a:t>
            </a:r>
            <a:r>
              <a:rPr lang="en-US" sz="2600" i="1" dirty="0"/>
              <a:t>missing </a:t>
            </a:r>
            <a:r>
              <a:rPr lang="en-US" sz="2600" dirty="0"/>
              <a:t>relationship)</a:t>
            </a:r>
          </a:p>
          <a:p>
            <a:pPr lvl="1">
              <a:lnSpc>
                <a:spcPct val="80000"/>
              </a:lnSpc>
            </a:pPr>
            <a:r>
              <a:rPr lang="en-US" sz="2200" dirty="0"/>
              <a:t>May occur when there is a path of optional relationships between entities.</a:t>
            </a:r>
          </a:p>
          <a:p>
            <a:pPr>
              <a:lnSpc>
                <a:spcPct val="80000"/>
              </a:lnSpc>
            </a:pPr>
            <a:r>
              <a:rPr lang="en-US" sz="2600" dirty="0"/>
              <a:t>Example: A department has multiple employees, a department has multiple projects, and each project has multiple employees.</a:t>
            </a:r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041042" y="5072744"/>
            <a:ext cx="9272789" cy="655733"/>
            <a:chOff x="1041042" y="5072744"/>
            <a:chExt cx="9272789" cy="655733"/>
          </a:xfrm>
        </p:grpSpPr>
        <p:sp>
          <p:nvSpPr>
            <p:cNvPr id="5" name="TextBox 4"/>
            <p:cNvSpPr txBox="1"/>
            <p:nvPr/>
          </p:nvSpPr>
          <p:spPr>
            <a:xfrm>
              <a:off x="4820992" y="5228823"/>
              <a:ext cx="171289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Project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41042" y="5228823"/>
              <a:ext cx="1418823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Department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895008" y="5228823"/>
              <a:ext cx="1418823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Employee</a:t>
              </a:r>
            </a:p>
          </p:txBody>
        </p:sp>
        <p:cxnSp>
          <p:nvCxnSpPr>
            <p:cNvPr id="8" name="Straight Connector 7"/>
            <p:cNvCxnSpPr>
              <a:stCxn id="6" idx="3"/>
              <a:endCxn id="5" idx="1"/>
            </p:cNvCxnSpPr>
            <p:nvPr/>
          </p:nvCxnSpPr>
          <p:spPr>
            <a:xfrm>
              <a:off x="2459865" y="5413489"/>
              <a:ext cx="236112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Diamond 8"/>
            <p:cNvSpPr/>
            <p:nvPr/>
          </p:nvSpPr>
          <p:spPr>
            <a:xfrm>
              <a:off x="2944968" y="5098501"/>
              <a:ext cx="1390919" cy="629976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52375" y="509850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335887" y="507274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454784" y="510133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07152" y="509850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0" name="Diamond 9"/>
            <p:cNvSpPr/>
            <p:nvPr/>
          </p:nvSpPr>
          <p:spPr>
            <a:xfrm>
              <a:off x="7018985" y="5098501"/>
              <a:ext cx="1390919" cy="629976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83475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CHASM TRAP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322558"/>
          </a:xfrm>
        </p:spPr>
        <p:txBody>
          <a:bodyPr>
            <a:normAutofit/>
          </a:bodyPr>
          <a:lstStyle/>
          <a:p>
            <a:r>
              <a:rPr lang="en-US" sz="2400" dirty="0"/>
              <a:t>Which department is employee E8 in?</a:t>
            </a:r>
          </a:p>
          <a:p>
            <a:r>
              <a:rPr lang="en-US" sz="2400" dirty="0"/>
              <a:t>What are the employees of department D4?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169" y="3300684"/>
            <a:ext cx="6625644" cy="3461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89582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you have to do by next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Try out the self-test questions on the course web.</a:t>
            </a:r>
          </a:p>
          <a:p>
            <a:r>
              <a:rPr lang="en-US" sz="2400" dirty="0"/>
              <a:t>Try out tutorial and bring the answers to the class.</a:t>
            </a:r>
          </a:p>
          <a:p>
            <a:r>
              <a:rPr lang="en-US" sz="2400"/>
              <a:t>Answer </a:t>
            </a:r>
            <a:r>
              <a:rPr lang="en-US" sz="2400" dirty="0"/>
              <a:t>the questions at the end of chapter 2 of Database Management Systems by </a:t>
            </a:r>
            <a:r>
              <a:rPr lang="en-US" sz="2400" dirty="0" err="1"/>
              <a:t>Ramakrishnan</a:t>
            </a:r>
            <a:r>
              <a:rPr lang="en-US" sz="2400" dirty="0"/>
              <a:t> &amp; </a:t>
            </a:r>
            <a:r>
              <a:rPr lang="en-US" sz="2400" dirty="0" err="1"/>
              <a:t>Gehrke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9157869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1917</TotalTime>
  <Words>2112</Words>
  <Application>Microsoft Office PowerPoint</Application>
  <PresentationFormat>Widescreen</PresentationFormat>
  <Paragraphs>250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Gill Sans MT</vt:lpstr>
      <vt:lpstr>Wingdings 2</vt:lpstr>
      <vt:lpstr>Dividend</vt:lpstr>
      <vt:lpstr>Database management systems (it 2040)</vt:lpstr>
      <vt:lpstr>Lecture content</vt:lpstr>
      <vt:lpstr>Learning outcomes</vt:lpstr>
      <vt:lpstr>What is a database &amp; a dbms?</vt:lpstr>
      <vt:lpstr>Why a database?</vt:lpstr>
      <vt:lpstr>Database approach vs file processing system</vt:lpstr>
      <vt:lpstr>Advantages of database approach</vt:lpstr>
      <vt:lpstr>Database design process</vt:lpstr>
      <vt:lpstr>Requirement collection and analysis</vt:lpstr>
      <vt:lpstr>Requirement analysis (contd.)</vt:lpstr>
      <vt:lpstr>Conceptual database design</vt:lpstr>
      <vt:lpstr>ER model - Entities &amp; attributes</vt:lpstr>
      <vt:lpstr>ER model - Binary relationships</vt:lpstr>
      <vt:lpstr>Er model - Weak Entities</vt:lpstr>
      <vt:lpstr>Er model - Ternary relationships</vt:lpstr>
      <vt:lpstr>Activity </vt:lpstr>
      <vt:lpstr>EER model</vt:lpstr>
      <vt:lpstr>EER model - ISA relationships</vt:lpstr>
      <vt:lpstr>EER model - ISA relationships (Contd.)</vt:lpstr>
      <vt:lpstr>Overlapping constraint </vt:lpstr>
      <vt:lpstr>Overlapping constraint (Contd.)</vt:lpstr>
      <vt:lpstr>Covering constraint</vt:lpstr>
      <vt:lpstr>covering constraint (Contd.)</vt:lpstr>
      <vt:lpstr>ACTIVITY</vt:lpstr>
      <vt:lpstr>Eer model - AGGREGATION</vt:lpstr>
      <vt:lpstr>ACTIVITY</vt:lpstr>
      <vt:lpstr>Activity </vt:lpstr>
      <vt:lpstr>DESIGN traps</vt:lpstr>
      <vt:lpstr>FAN TRAP</vt:lpstr>
      <vt:lpstr>FAN TRAP (Contd.)</vt:lpstr>
      <vt:lpstr>CHASM trap</vt:lpstr>
      <vt:lpstr>CHASM TRAP (Contd.)</vt:lpstr>
      <vt:lpstr>What you have to do by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(it 2040)</dc:title>
  <dc:creator>Anuradha Karunnasena</dc:creator>
  <cp:lastModifiedBy>Sanji Chandrasiri</cp:lastModifiedBy>
  <cp:revision>102</cp:revision>
  <dcterms:created xsi:type="dcterms:W3CDTF">2017-12-01T06:14:40Z</dcterms:created>
  <dcterms:modified xsi:type="dcterms:W3CDTF">2023-07-25T10:43:58Z</dcterms:modified>
</cp:coreProperties>
</file>